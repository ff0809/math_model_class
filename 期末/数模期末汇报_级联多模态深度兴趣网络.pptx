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486" r:id="rId2"/>
    <p:sldId id="487" r:id="rId3"/>
    <p:sldId id="488" r:id="rId4"/>
    <p:sldId id="489" r:id="rId5"/>
    <p:sldId id="490" r:id="rId6"/>
    <p:sldId id="495" r:id="rId7"/>
    <p:sldId id="496" r:id="rId8"/>
    <p:sldId id="497" r:id="rId9"/>
    <p:sldId id="498" r:id="rId10"/>
    <p:sldId id="499" r:id="rId11"/>
    <p:sldId id="502" r:id="rId12"/>
    <p:sldId id="503" r:id="rId13"/>
    <p:sldId id="504" r:id="rId14"/>
    <p:sldId id="505" r:id="rId15"/>
    <p:sldId id="526" r:id="rId16"/>
    <p:sldId id="508" r:id="rId17"/>
    <p:sldId id="509" r:id="rId18"/>
    <p:sldId id="525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41" autoAdjust="0"/>
    <p:restoredTop sz="94660"/>
  </p:normalViewPr>
  <p:slideViewPr>
    <p:cSldViewPr snapToGrid="0">
      <p:cViewPr varScale="1">
        <p:scale>
          <a:sx n="80" d="100"/>
          <a:sy n="80" d="100"/>
        </p:scale>
        <p:origin x="54" y="3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D0533F-0FF2-42CD-B8D3-05896C0AD272}" type="datetimeFigureOut">
              <a:rPr lang="zh-CN" altLang="en-US" smtClean="0"/>
              <a:t>2026/7/5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5F78A3-4BF6-4CEB-ACDA-04BCD451A5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4723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12715C-60D8-4442-95C1-470452B8606C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967461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12715C-60D8-4442-95C1-470452B8606C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359452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12715C-60D8-4442-95C1-470452B8606C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093867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12715C-60D8-4442-95C1-470452B8606C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77950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12715C-60D8-4442-95C1-470452B8606C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822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12715C-60D8-4442-95C1-470452B8606C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3466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12715C-60D8-4442-95C1-470452B8606C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061905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12715C-60D8-4442-95C1-470452B8606C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501643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12715C-60D8-4442-95C1-470452B8606C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02825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12715C-60D8-4442-95C1-470452B8606C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318172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12715C-60D8-4442-95C1-470452B8606C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80436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12715C-60D8-4442-95C1-470452B8606C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168804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12715C-60D8-4442-95C1-470452B8606C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621386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12715C-60D8-4442-95C1-470452B8606C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924342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12715C-60D8-4442-95C1-470452B8606C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8361309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12715C-60D8-4442-95C1-470452B8606C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894432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12715C-60D8-4442-95C1-470452B8606C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879771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554C3C42-08DE-4D40-A7A8-2EB13DC7937E}"/>
              </a:ext>
            </a:extLst>
          </p:cNvPr>
          <p:cNvGrpSpPr/>
          <p:nvPr userDrawn="1"/>
        </p:nvGrpSpPr>
        <p:grpSpPr>
          <a:xfrm>
            <a:off x="9570720" y="306722"/>
            <a:ext cx="2468879" cy="699118"/>
            <a:chOff x="9488724" y="3354030"/>
            <a:chExt cx="2545960" cy="731019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48430E6E-9B73-464D-A948-1178B704F5C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488724" y="3354030"/>
              <a:ext cx="731583" cy="731019"/>
            </a:xfrm>
            <a:prstGeom prst="rect">
              <a:avLst/>
            </a:prstGeom>
          </p:spPr>
        </p:pic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733F97DC-1D64-4823-B543-A60DB381056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0327902" y="3370713"/>
              <a:ext cx="1643775" cy="512858"/>
            </a:xfrm>
            <a:prstGeom prst="rect">
              <a:avLst/>
            </a:prstGeom>
          </p:spPr>
        </p:pic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FAAD1259-FF92-4FE5-8D61-4308C4CABE06}"/>
                </a:ext>
              </a:extLst>
            </p:cNvPr>
            <p:cNvSpPr txBox="1"/>
            <p:nvPr/>
          </p:nvSpPr>
          <p:spPr>
            <a:xfrm>
              <a:off x="10219659" y="3839761"/>
              <a:ext cx="181502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900" b="1" spc="200" dirty="0">
                  <a:latin typeface="Calibri Light" panose="020F0302020204030204" pitchFamily="34" charset="0"/>
                  <a:ea typeface="思源黑体 CN Light"/>
                  <a:cs typeface="Segoe UI Light" panose="020B0502040204020203" pitchFamily="34" charset="0"/>
                </a:rPr>
                <a:t>TONGJI UNIVERSITY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96076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10849147" y="6382534"/>
            <a:ext cx="1093711" cy="369332"/>
          </a:xfrm>
          <a:prstGeom prst="rect">
            <a:avLst/>
          </a:prstGeom>
        </p:spPr>
        <p:txBody>
          <a:bodyPr lIns="91440" tIns="45720" rIns="91440" bIns="45720"/>
          <a:lstStyle/>
          <a:p>
            <a:pPr algn="ctr">
              <a:defRPr/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第 </a:t>
            </a:r>
            <a:fld id="{2EEF1883-7A0E-4F66-9932-E581691AD397}" type="slidenum"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</a:rPr>
              <a:pPr algn="ctr">
                <a:defRPr/>
              </a:pPr>
              <a:t>‹#›</a:t>
            </a:fld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页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AD93D81E-D2B9-424B-A83E-2322315ABC72}"/>
              </a:ext>
            </a:extLst>
          </p:cNvPr>
          <p:cNvGrpSpPr/>
          <p:nvPr userDrawn="1"/>
        </p:nvGrpSpPr>
        <p:grpSpPr>
          <a:xfrm>
            <a:off x="9570720" y="306722"/>
            <a:ext cx="2468879" cy="699118"/>
            <a:chOff x="9488724" y="3354030"/>
            <a:chExt cx="2545960" cy="731019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FA916270-ECFF-4EE3-95D2-D3ED29902BE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488724" y="3354030"/>
              <a:ext cx="731583" cy="731019"/>
            </a:xfrm>
            <a:prstGeom prst="rect">
              <a:avLst/>
            </a:prstGeom>
          </p:spPr>
        </p:pic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4B4D34FD-0394-4843-B3D4-5540827D163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0327902" y="3370713"/>
              <a:ext cx="1643775" cy="512858"/>
            </a:xfrm>
            <a:prstGeom prst="rect">
              <a:avLst/>
            </a:prstGeom>
          </p:spPr>
        </p:pic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12B7661D-9334-4A24-B487-C16DC3136F20}"/>
                </a:ext>
              </a:extLst>
            </p:cNvPr>
            <p:cNvSpPr txBox="1"/>
            <p:nvPr/>
          </p:nvSpPr>
          <p:spPr>
            <a:xfrm>
              <a:off x="10219659" y="3839761"/>
              <a:ext cx="181502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900" b="1" spc="200" dirty="0">
                  <a:latin typeface="Calibri Light" panose="020F0302020204030204" pitchFamily="34" charset="0"/>
                  <a:ea typeface="思源黑体 CN Light"/>
                  <a:cs typeface="Segoe UI Light" panose="020B0502040204020203" pitchFamily="34" charset="0"/>
                </a:rPr>
                <a:t>TONGJI UNIVERSITY</a:t>
              </a:r>
            </a:p>
          </p:txBody>
        </p:sp>
      </p:grpSp>
      <p:sp>
        <p:nvSpPr>
          <p:cNvPr id="7" name="矩形 6">
            <a:extLst>
              <a:ext uri="{FF2B5EF4-FFF2-40B4-BE49-F238E27FC236}">
                <a16:creationId xmlns:a16="http://schemas.microsoft.com/office/drawing/2014/main" id="{DC66285B-B7DD-4D6F-A3A2-6289CDCF9CD1}"/>
              </a:ext>
            </a:extLst>
          </p:cNvPr>
          <p:cNvSpPr/>
          <p:nvPr userDrawn="1"/>
        </p:nvSpPr>
        <p:spPr>
          <a:xfrm>
            <a:off x="129209" y="6241148"/>
            <a:ext cx="1254180" cy="487441"/>
          </a:xfrm>
          <a:prstGeom prst="rect">
            <a:avLst/>
          </a:prstGeom>
        </p:spPr>
        <p:txBody>
          <a:bodyPr wrap="square" lIns="91440" tIns="45720" rIns="91440" bIns="45720">
            <a:spAutoFit/>
          </a:bodyPr>
          <a:lstStyle/>
          <a:p>
            <a:pPr marL="0" marR="0" lvl="0" indent="0" algn="l" defTabSz="457189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6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隶书" panose="02010800040101010101" pitchFamily="2" charset="-122"/>
                <a:ea typeface="华文隶书" panose="02010800040101010101" pitchFamily="2" charset="-122"/>
              </a:rPr>
              <a:t>同舟共济</a:t>
            </a:r>
          </a:p>
        </p:txBody>
      </p:sp>
    </p:spTree>
    <p:extLst>
      <p:ext uri="{BB962C8B-B14F-4D97-AF65-F5344CB8AC3E}">
        <p14:creationId xmlns:p14="http://schemas.microsoft.com/office/powerpoint/2010/main" val="3132223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5167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10330283" y="6529705"/>
            <a:ext cx="1033515" cy="2968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219170"/>
            <a:r>
              <a:rPr lang="en-US" altLang="zh-CN" sz="133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33" dirty="0">
                <a:solidFill>
                  <a:prstClr val="white"/>
                </a:solidFill>
                <a:latin typeface="Calibri"/>
                <a:ea typeface="宋体"/>
              </a:rPr>
              <a:t>模板下载：</a:t>
            </a:r>
            <a:r>
              <a:rPr lang="en-US" altLang="zh-CN" sz="133" dirty="0">
                <a:solidFill>
                  <a:prstClr val="white"/>
                </a:solidFill>
                <a:latin typeface="Calibri"/>
                <a:ea typeface="宋体"/>
              </a:rPr>
              <a:t>www.1ppt.com/moban/     </a:t>
            </a:r>
            <a:r>
              <a:rPr lang="zh-CN" altLang="en-US" sz="133" dirty="0">
                <a:solidFill>
                  <a:prstClr val="white"/>
                </a:solidFill>
                <a:latin typeface="Calibri"/>
                <a:ea typeface="宋体"/>
              </a:rPr>
              <a:t>行业</a:t>
            </a:r>
            <a:r>
              <a:rPr lang="en-US" altLang="zh-CN" sz="133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33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33" dirty="0">
                <a:solidFill>
                  <a:prstClr val="white"/>
                </a:solidFill>
                <a:latin typeface="Calibri"/>
                <a:ea typeface="宋体"/>
              </a:rPr>
              <a:t>www.1ppt.com/hangye/ </a:t>
            </a:r>
          </a:p>
          <a:p>
            <a:pPr defTabSz="1219170"/>
            <a:r>
              <a:rPr lang="zh-CN" altLang="en-US" sz="133" dirty="0">
                <a:solidFill>
                  <a:prstClr val="white"/>
                </a:solidFill>
                <a:latin typeface="Calibri"/>
                <a:ea typeface="宋体"/>
              </a:rPr>
              <a:t>节日</a:t>
            </a:r>
            <a:r>
              <a:rPr lang="en-US" altLang="zh-CN" sz="133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33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33" dirty="0">
                <a:solidFill>
                  <a:prstClr val="white"/>
                </a:solidFill>
                <a:latin typeface="Calibri"/>
                <a:ea typeface="宋体"/>
              </a:rPr>
              <a:t>www.1ppt.com/jieri/           PPT</a:t>
            </a:r>
            <a:r>
              <a:rPr lang="zh-CN" altLang="en-US" sz="133" dirty="0">
                <a:solidFill>
                  <a:prstClr val="white"/>
                </a:solidFill>
                <a:latin typeface="Calibri"/>
                <a:ea typeface="宋体"/>
              </a:rPr>
              <a:t>素材下载：</a:t>
            </a:r>
            <a:r>
              <a:rPr lang="en-US" altLang="zh-CN" sz="133" dirty="0">
                <a:solidFill>
                  <a:prstClr val="white"/>
                </a:solidFill>
                <a:latin typeface="Calibri"/>
                <a:ea typeface="宋体"/>
              </a:rPr>
              <a:t>www.1ppt.com/sucai/</a:t>
            </a:r>
          </a:p>
          <a:p>
            <a:pPr defTabSz="1219170"/>
            <a:r>
              <a:rPr lang="en-US" altLang="zh-CN" sz="133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33" dirty="0">
                <a:solidFill>
                  <a:prstClr val="white"/>
                </a:solidFill>
                <a:latin typeface="Calibri"/>
                <a:ea typeface="宋体"/>
              </a:rPr>
              <a:t>背景图片：</a:t>
            </a:r>
            <a:r>
              <a:rPr lang="en-US" altLang="zh-CN" sz="133" dirty="0">
                <a:solidFill>
                  <a:prstClr val="white"/>
                </a:solidFill>
                <a:latin typeface="Calibri"/>
                <a:ea typeface="宋体"/>
              </a:rPr>
              <a:t>www.1ppt.com/beijing/      PPT</a:t>
            </a:r>
            <a:r>
              <a:rPr lang="zh-CN" altLang="en-US" sz="133" dirty="0">
                <a:solidFill>
                  <a:prstClr val="white"/>
                </a:solidFill>
                <a:latin typeface="Calibri"/>
                <a:ea typeface="宋体"/>
              </a:rPr>
              <a:t>图表下载：</a:t>
            </a:r>
            <a:r>
              <a:rPr lang="en-US" altLang="zh-CN" sz="133" dirty="0">
                <a:solidFill>
                  <a:prstClr val="white"/>
                </a:solidFill>
                <a:latin typeface="Calibri"/>
                <a:ea typeface="宋体"/>
              </a:rPr>
              <a:t>www.1ppt.com/tubiao/      </a:t>
            </a:r>
          </a:p>
          <a:p>
            <a:pPr defTabSz="1219170"/>
            <a:r>
              <a:rPr lang="zh-CN" altLang="en-US" sz="133" dirty="0">
                <a:solidFill>
                  <a:prstClr val="white"/>
                </a:solidFill>
                <a:latin typeface="Calibri"/>
                <a:ea typeface="宋体"/>
              </a:rPr>
              <a:t>优秀</a:t>
            </a:r>
            <a:r>
              <a:rPr lang="en-US" altLang="zh-CN" sz="133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33" dirty="0">
                <a:solidFill>
                  <a:prstClr val="white"/>
                </a:solidFill>
                <a:latin typeface="Calibri"/>
                <a:ea typeface="宋体"/>
              </a:rPr>
              <a:t>下载：</a:t>
            </a:r>
            <a:r>
              <a:rPr lang="en-US" altLang="zh-CN" sz="133" dirty="0">
                <a:solidFill>
                  <a:prstClr val="white"/>
                </a:solidFill>
                <a:latin typeface="Calibri"/>
                <a:ea typeface="宋体"/>
              </a:rPr>
              <a:t>www.1ppt.com/xiazai/        PPT</a:t>
            </a:r>
            <a:r>
              <a:rPr lang="zh-CN" altLang="en-US" sz="133" dirty="0">
                <a:solidFill>
                  <a:prstClr val="white"/>
                </a:solidFill>
                <a:latin typeface="Calibri"/>
                <a:ea typeface="宋体"/>
              </a:rPr>
              <a:t>教程： </a:t>
            </a:r>
            <a:r>
              <a:rPr lang="en-US" altLang="zh-CN" sz="133" dirty="0">
                <a:solidFill>
                  <a:prstClr val="white"/>
                </a:solidFill>
                <a:latin typeface="Calibri"/>
                <a:ea typeface="宋体"/>
              </a:rPr>
              <a:t>www.1ppt.com/powerpoint/      </a:t>
            </a:r>
          </a:p>
          <a:p>
            <a:pPr defTabSz="1219170"/>
            <a:r>
              <a:rPr lang="en-US" altLang="zh-CN" sz="133" dirty="0">
                <a:solidFill>
                  <a:prstClr val="white"/>
                </a:solidFill>
                <a:latin typeface="Calibri"/>
                <a:ea typeface="宋体"/>
              </a:rPr>
              <a:t>Word</a:t>
            </a:r>
            <a:r>
              <a:rPr lang="zh-CN" altLang="en-US" sz="133" dirty="0">
                <a:solidFill>
                  <a:prstClr val="white"/>
                </a:solidFill>
                <a:latin typeface="Calibri"/>
                <a:ea typeface="宋体"/>
              </a:rPr>
              <a:t>教程： </a:t>
            </a:r>
            <a:r>
              <a:rPr lang="en-US" altLang="zh-CN" sz="133" dirty="0">
                <a:solidFill>
                  <a:prstClr val="white"/>
                </a:solidFill>
                <a:latin typeface="Calibri"/>
                <a:ea typeface="宋体"/>
              </a:rPr>
              <a:t>www.1ppt.com/word/              Excel</a:t>
            </a:r>
            <a:r>
              <a:rPr lang="zh-CN" altLang="en-US" sz="133" dirty="0">
                <a:solidFill>
                  <a:prstClr val="white"/>
                </a:solidFill>
                <a:latin typeface="Calibri"/>
                <a:ea typeface="宋体"/>
              </a:rPr>
              <a:t>教程：</a:t>
            </a:r>
            <a:r>
              <a:rPr lang="en-US" altLang="zh-CN" sz="133" dirty="0">
                <a:solidFill>
                  <a:prstClr val="white"/>
                </a:solidFill>
                <a:latin typeface="Calibri"/>
                <a:ea typeface="宋体"/>
              </a:rPr>
              <a:t>www.1ppt.com/excel/  </a:t>
            </a:r>
          </a:p>
          <a:p>
            <a:pPr defTabSz="1219170"/>
            <a:r>
              <a:rPr lang="zh-CN" altLang="en-US" sz="133" dirty="0">
                <a:solidFill>
                  <a:prstClr val="white"/>
                </a:solidFill>
                <a:latin typeface="Calibri"/>
                <a:ea typeface="宋体"/>
              </a:rPr>
              <a:t>资料下载：</a:t>
            </a:r>
            <a:r>
              <a:rPr lang="en-US" altLang="zh-CN" sz="133" dirty="0">
                <a:solidFill>
                  <a:prstClr val="white"/>
                </a:solidFill>
                <a:latin typeface="Calibri"/>
                <a:ea typeface="宋体"/>
              </a:rPr>
              <a:t>www.1ppt.com/ziliao/                PPT</a:t>
            </a:r>
            <a:r>
              <a:rPr lang="zh-CN" altLang="en-US" sz="133" dirty="0">
                <a:solidFill>
                  <a:prstClr val="white"/>
                </a:solidFill>
                <a:latin typeface="Calibri"/>
                <a:ea typeface="宋体"/>
              </a:rPr>
              <a:t>课件下载：</a:t>
            </a:r>
            <a:r>
              <a:rPr lang="en-US" altLang="zh-CN" sz="133" dirty="0">
                <a:solidFill>
                  <a:prstClr val="white"/>
                </a:solidFill>
                <a:latin typeface="Calibri"/>
                <a:ea typeface="宋体"/>
              </a:rPr>
              <a:t>www.1ppt.com/kejian/ </a:t>
            </a:r>
          </a:p>
          <a:p>
            <a:pPr defTabSz="1219170"/>
            <a:r>
              <a:rPr lang="zh-CN" altLang="en-US" sz="133" dirty="0">
                <a:solidFill>
                  <a:prstClr val="white"/>
                </a:solidFill>
                <a:latin typeface="Calibri"/>
                <a:ea typeface="宋体"/>
              </a:rPr>
              <a:t>范文下载：</a:t>
            </a:r>
            <a:r>
              <a:rPr lang="en-US" altLang="zh-CN" sz="133" dirty="0">
                <a:solidFill>
                  <a:prstClr val="white"/>
                </a:solidFill>
                <a:latin typeface="Calibri"/>
                <a:ea typeface="宋体"/>
              </a:rPr>
              <a:t>www.1ppt.com/fanwen/             </a:t>
            </a:r>
            <a:r>
              <a:rPr lang="zh-CN" altLang="en-US" sz="133" dirty="0">
                <a:solidFill>
                  <a:prstClr val="white"/>
                </a:solidFill>
                <a:latin typeface="Calibri"/>
                <a:ea typeface="宋体"/>
              </a:rPr>
              <a:t>试卷下载：</a:t>
            </a:r>
            <a:r>
              <a:rPr lang="en-US" altLang="zh-CN" sz="133" dirty="0">
                <a:solidFill>
                  <a:prstClr val="white"/>
                </a:solidFill>
                <a:latin typeface="Calibri"/>
                <a:ea typeface="宋体"/>
              </a:rPr>
              <a:t>www.1ppt.com/shiti/  </a:t>
            </a:r>
          </a:p>
          <a:p>
            <a:pPr defTabSz="1219170"/>
            <a:r>
              <a:rPr lang="zh-CN" altLang="en-US" sz="133" dirty="0">
                <a:solidFill>
                  <a:prstClr val="white"/>
                </a:solidFill>
                <a:latin typeface="Calibri"/>
                <a:ea typeface="宋体"/>
              </a:rPr>
              <a:t>教案下载：</a:t>
            </a:r>
            <a:r>
              <a:rPr lang="en-US" altLang="zh-CN" sz="133" dirty="0">
                <a:solidFill>
                  <a:prstClr val="white"/>
                </a:solidFill>
                <a:latin typeface="Calibri"/>
                <a:ea typeface="宋体"/>
              </a:rPr>
              <a:t>www.1ppt.com/jiaoan/        </a:t>
            </a:r>
          </a:p>
          <a:p>
            <a:pPr defTabSz="1219170"/>
            <a:r>
              <a:rPr lang="zh-CN" altLang="en-US" sz="133" dirty="0">
                <a:solidFill>
                  <a:prstClr val="white"/>
                </a:solidFill>
                <a:latin typeface="Calibri"/>
                <a:ea typeface="宋体"/>
              </a:rPr>
              <a:t>字体下载：</a:t>
            </a:r>
            <a:r>
              <a:rPr lang="en-US" altLang="zh-CN" sz="133" dirty="0">
                <a:solidFill>
                  <a:prstClr val="white"/>
                </a:solidFill>
                <a:latin typeface="Calibri"/>
                <a:ea typeface="宋体"/>
              </a:rPr>
              <a:t>www.1ppt.com/ziti/</a:t>
            </a:r>
          </a:p>
          <a:p>
            <a:pPr defTabSz="1219170"/>
            <a:r>
              <a:rPr lang="en-US" altLang="zh-CN" sz="133" dirty="0">
                <a:solidFill>
                  <a:prstClr val="white"/>
                </a:solidFill>
                <a:latin typeface="Calibri"/>
                <a:ea typeface="宋体"/>
              </a:rPr>
              <a:t> </a:t>
            </a:r>
            <a:endParaRPr lang="zh-CN" altLang="en-US" sz="133" dirty="0">
              <a:solidFill>
                <a:prstClr val="white"/>
              </a:solidFill>
              <a:latin typeface="Calibri"/>
              <a:ea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4271302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4473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20201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  <p:hf hd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3200" b="1" i="0" kern="1200" baseline="0">
          <a:solidFill>
            <a:srgbClr val="071F65"/>
          </a:solidFill>
          <a:effectLst/>
          <a:latin typeface="Arial Black" panose="020B0A040201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357179" indent="-357179" algn="just" defTabSz="914377" rtl="0" eaLnBrk="1" latinLnBrk="0" hangingPunct="1">
        <a:lnSpc>
          <a:spcPct val="110000"/>
        </a:lnSpc>
        <a:spcBef>
          <a:spcPts val="1800"/>
        </a:spcBef>
        <a:spcAft>
          <a:spcPts val="0"/>
        </a:spcAft>
        <a:buClr>
          <a:schemeClr val="accent2">
            <a:lumMod val="75000"/>
          </a:schemeClr>
        </a:buClr>
        <a:buSzPct val="70000"/>
        <a:buFont typeface="Wingdings 2" panose="05020102010507070707" pitchFamily="18" charset="2"/>
        <a:buChar char=""/>
        <a:defRPr sz="2000" kern="1200" baseline="0">
          <a:solidFill>
            <a:srgbClr val="071F65"/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357179" indent="-357179" algn="just" defTabSz="914377" rtl="0" eaLnBrk="1" latinLnBrk="0" hangingPunct="1">
        <a:lnSpc>
          <a:spcPct val="130000"/>
        </a:lnSpc>
        <a:spcBef>
          <a:spcPts val="0"/>
        </a:spcBef>
        <a:spcAft>
          <a:spcPts val="600"/>
        </a:spcAft>
        <a:buClr>
          <a:schemeClr val="accent2">
            <a:lumMod val="60000"/>
            <a:lumOff val="40000"/>
          </a:schemeClr>
        </a:buClr>
        <a:buFont typeface="幼圆" panose="02010509060101010101" pitchFamily="49" charset="-122"/>
        <a:buChar char=" "/>
        <a:defRPr sz="1600" kern="1200" baseline="0">
          <a:solidFill>
            <a:srgbClr val="071F65"/>
          </a:solidFill>
          <a:latin typeface="幼圆" panose="02010509060101010101" pitchFamily="49" charset="-122"/>
          <a:ea typeface="幼圆" panose="02010509060101010101" pitchFamily="49" charset="-122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5"/>
          <p:cNvSpPr txBox="1"/>
          <p:nvPr/>
        </p:nvSpPr>
        <p:spPr>
          <a:xfrm>
            <a:off x="5525263" y="5074231"/>
            <a:ext cx="2387969" cy="379656"/>
          </a:xfrm>
          <a:prstGeom prst="rect">
            <a:avLst/>
          </a:prstGeom>
          <a:noFill/>
        </p:spPr>
        <p:txBody>
          <a:bodyPr wrap="square" lIns="91440" tIns="45720" rIns="91440" bIns="45720" rtlCol="0">
            <a:noAutofit/>
          </a:bodyPr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b="1" dirty="0" err="1">
                <a:solidFill>
                  <a:srgbClr val="000000"/>
                </a:solidFill>
                <a:latin typeface="Microsoft YaHei"/>
              </a:rPr>
              <a:t>数学建模期末汇报</a:t>
            </a:r>
            <a:endParaRPr b="1" dirty="0">
              <a:solidFill>
                <a:srgbClr val="000000"/>
              </a:solidFill>
              <a:latin typeface="Microsoft YaHei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4684529" y="4317113"/>
            <a:ext cx="4128078" cy="379656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2000" b="1" dirty="0" err="1">
                <a:solidFill>
                  <a:srgbClr val="000000"/>
                </a:solidFill>
                <a:latin typeface="Microsoft YaHei"/>
              </a:rPr>
              <a:t>答辩人：费凡、张哲豪、王浩羽</a:t>
            </a:r>
            <a:endParaRPr kumimoji="1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5825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2785160" y="1944322"/>
            <a:ext cx="7785980" cy="1118319"/>
          </a:xfrm>
          <a:prstGeom prst="rect">
            <a:avLst/>
          </a:prstGeom>
        </p:spPr>
        <p:txBody>
          <a:bodyPr wrap="square" lIns="91440" tIns="45720" rIns="91440" bIns="45720">
            <a:normAutofit/>
          </a:bodyPr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5400" b="1" dirty="0" err="1">
                <a:solidFill>
                  <a:srgbClr val="000000"/>
                </a:solidFill>
                <a:latin typeface="KaiTi"/>
              </a:rPr>
              <a:t>级联多模态深度兴趣网络</a:t>
            </a:r>
            <a:endParaRPr sz="5400" b="1" dirty="0">
              <a:solidFill>
                <a:srgbClr val="000000"/>
              </a:solidFill>
              <a:latin typeface="KaiTi"/>
            </a:endParaRPr>
          </a:p>
        </p:txBody>
      </p:sp>
      <p:cxnSp>
        <p:nvCxnSpPr>
          <p:cNvPr id="24" name="直接连接符 23"/>
          <p:cNvCxnSpPr/>
          <p:nvPr/>
        </p:nvCxnSpPr>
        <p:spPr>
          <a:xfrm flipH="1">
            <a:off x="3364708" y="3645991"/>
            <a:ext cx="67090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reeform 5"/>
          <p:cNvSpPr>
            <a:spLocks noEditPoints="1"/>
          </p:cNvSpPr>
          <p:nvPr/>
        </p:nvSpPr>
        <p:spPr bwMode="auto">
          <a:xfrm>
            <a:off x="1" y="1552169"/>
            <a:ext cx="2387969" cy="3826419"/>
          </a:xfrm>
          <a:custGeom>
            <a:avLst/>
            <a:gdLst>
              <a:gd name="T0" fmla="*/ 0 w 7449"/>
              <a:gd name="T1" fmla="*/ 0 h 11906"/>
              <a:gd name="T2" fmla="*/ 7449 w 7449"/>
              <a:gd name="T3" fmla="*/ 4223 h 11906"/>
              <a:gd name="T4" fmla="*/ 0 w 7449"/>
              <a:gd name="T5" fmla="*/ 4223 h 11906"/>
              <a:gd name="T6" fmla="*/ 0 w 7449"/>
              <a:gd name="T7" fmla="*/ 0 h 11906"/>
              <a:gd name="T8" fmla="*/ 7449 w 7449"/>
              <a:gd name="T9" fmla="*/ 4302 h 11906"/>
              <a:gd name="T10" fmla="*/ 0 w 7449"/>
              <a:gd name="T11" fmla="*/ 8525 h 11906"/>
              <a:gd name="T12" fmla="*/ 0 w 7449"/>
              <a:gd name="T13" fmla="*/ 4302 h 11906"/>
              <a:gd name="T14" fmla="*/ 7449 w 7449"/>
              <a:gd name="T15" fmla="*/ 4302 h 11906"/>
              <a:gd name="T16" fmla="*/ 2857 w 7449"/>
              <a:gd name="T17" fmla="*/ 10038 h 11906"/>
              <a:gd name="T18" fmla="*/ 5 w 7449"/>
              <a:gd name="T19" fmla="*/ 11903 h 11906"/>
              <a:gd name="T20" fmla="*/ 0 w 7449"/>
              <a:gd name="T21" fmla="*/ 11906 h 11906"/>
              <a:gd name="T22" fmla="*/ 0 w 7449"/>
              <a:gd name="T23" fmla="*/ 8789 h 11906"/>
              <a:gd name="T24" fmla="*/ 2857 w 7449"/>
              <a:gd name="T25" fmla="*/ 7136 h 11906"/>
              <a:gd name="T26" fmla="*/ 2857 w 7449"/>
              <a:gd name="T27" fmla="*/ 10038 h 119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7449" h="11906">
                <a:moveTo>
                  <a:pt x="0" y="0"/>
                </a:moveTo>
                <a:lnTo>
                  <a:pt x="7449" y="4223"/>
                </a:lnTo>
                <a:lnTo>
                  <a:pt x="0" y="4223"/>
                </a:lnTo>
                <a:lnTo>
                  <a:pt x="0" y="0"/>
                </a:lnTo>
                <a:close/>
                <a:moveTo>
                  <a:pt x="7449" y="4302"/>
                </a:moveTo>
                <a:lnTo>
                  <a:pt x="0" y="8525"/>
                </a:lnTo>
                <a:lnTo>
                  <a:pt x="0" y="4302"/>
                </a:lnTo>
                <a:lnTo>
                  <a:pt x="7449" y="4302"/>
                </a:lnTo>
                <a:close/>
                <a:moveTo>
                  <a:pt x="2857" y="10038"/>
                </a:moveTo>
                <a:cubicBezTo>
                  <a:pt x="2537" y="11326"/>
                  <a:pt x="721" y="11825"/>
                  <a:pt x="5" y="11903"/>
                </a:cubicBezTo>
                <a:lnTo>
                  <a:pt x="0" y="11906"/>
                </a:lnTo>
                <a:lnTo>
                  <a:pt x="0" y="8789"/>
                </a:lnTo>
                <a:lnTo>
                  <a:pt x="2857" y="7136"/>
                </a:lnTo>
                <a:lnTo>
                  <a:pt x="2857" y="10038"/>
                </a:lnTo>
                <a:close/>
              </a:path>
            </a:pathLst>
          </a:custGeom>
          <a:solidFill>
            <a:srgbClr val="005825"/>
          </a:solidFill>
          <a:ln w="5" cap="flat">
            <a:solidFill>
              <a:srgbClr val="005825"/>
            </a:solidFill>
            <a:prstDash val="solid"/>
            <a:miter lim="800000"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6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15" name="Freeform 6"/>
          <p:cNvSpPr>
            <a:spLocks noEditPoints="1"/>
          </p:cNvSpPr>
          <p:nvPr/>
        </p:nvSpPr>
        <p:spPr bwMode="auto">
          <a:xfrm>
            <a:off x="2296560" y="2937549"/>
            <a:ext cx="182819" cy="2259004"/>
          </a:xfrm>
          <a:custGeom>
            <a:avLst/>
            <a:gdLst>
              <a:gd name="T0" fmla="*/ 246 w 571"/>
              <a:gd name="T1" fmla="*/ 0 h 7028"/>
              <a:gd name="T2" fmla="*/ 246 w 571"/>
              <a:gd name="T3" fmla="*/ 2716 h 7028"/>
              <a:gd name="T4" fmla="*/ 178 w 571"/>
              <a:gd name="T5" fmla="*/ 2816 h 7028"/>
              <a:gd name="T6" fmla="*/ 286 w 571"/>
              <a:gd name="T7" fmla="*/ 2924 h 7028"/>
              <a:gd name="T8" fmla="*/ 394 w 571"/>
              <a:gd name="T9" fmla="*/ 2816 h 7028"/>
              <a:gd name="T10" fmla="*/ 325 w 571"/>
              <a:gd name="T11" fmla="*/ 2716 h 7028"/>
              <a:gd name="T12" fmla="*/ 325 w 571"/>
              <a:gd name="T13" fmla="*/ 0 h 7028"/>
              <a:gd name="T14" fmla="*/ 246 w 571"/>
              <a:gd name="T15" fmla="*/ 0 h 7028"/>
              <a:gd name="T16" fmla="*/ 0 w 571"/>
              <a:gd name="T17" fmla="*/ 3749 h 7028"/>
              <a:gd name="T18" fmla="*/ 571 w 571"/>
              <a:gd name="T19" fmla="*/ 3749 h 7028"/>
              <a:gd name="T20" fmla="*/ 571 w 571"/>
              <a:gd name="T21" fmla="*/ 3790 h 7028"/>
              <a:gd name="T22" fmla="*/ 0 w 571"/>
              <a:gd name="T23" fmla="*/ 3790 h 7028"/>
              <a:gd name="T24" fmla="*/ 0 w 571"/>
              <a:gd name="T25" fmla="*/ 3749 h 7028"/>
              <a:gd name="T26" fmla="*/ 0 w 571"/>
              <a:gd name="T27" fmla="*/ 3323 h 7028"/>
              <a:gd name="T28" fmla="*/ 0 w 571"/>
              <a:gd name="T29" fmla="*/ 3323 h 7028"/>
              <a:gd name="T30" fmla="*/ 0 w 571"/>
              <a:gd name="T31" fmla="*/ 3323 h 7028"/>
              <a:gd name="T32" fmla="*/ 286 w 571"/>
              <a:gd name="T33" fmla="*/ 3037 h 7028"/>
              <a:gd name="T34" fmla="*/ 571 w 571"/>
              <a:gd name="T35" fmla="*/ 3323 h 7028"/>
              <a:gd name="T36" fmla="*/ 571 w 571"/>
              <a:gd name="T37" fmla="*/ 3323 h 7028"/>
              <a:gd name="T38" fmla="*/ 571 w 571"/>
              <a:gd name="T39" fmla="*/ 3323 h 7028"/>
              <a:gd name="T40" fmla="*/ 571 w 571"/>
              <a:gd name="T41" fmla="*/ 3683 h 7028"/>
              <a:gd name="T42" fmla="*/ 0 w 571"/>
              <a:gd name="T43" fmla="*/ 3683 h 7028"/>
              <a:gd name="T44" fmla="*/ 0 w 571"/>
              <a:gd name="T45" fmla="*/ 3323 h 7028"/>
              <a:gd name="T46" fmla="*/ 37 w 571"/>
              <a:gd name="T47" fmla="*/ 3885 h 7028"/>
              <a:gd name="T48" fmla="*/ 0 w 571"/>
              <a:gd name="T49" fmla="*/ 3885 h 7028"/>
              <a:gd name="T50" fmla="*/ 0 w 571"/>
              <a:gd name="T51" fmla="*/ 7028 h 7028"/>
              <a:gd name="T52" fmla="*/ 37 w 571"/>
              <a:gd name="T53" fmla="*/ 7028 h 7028"/>
              <a:gd name="T54" fmla="*/ 37 w 571"/>
              <a:gd name="T55" fmla="*/ 3885 h 7028"/>
              <a:gd name="T56" fmla="*/ 126 w 571"/>
              <a:gd name="T57" fmla="*/ 3885 h 7028"/>
              <a:gd name="T58" fmla="*/ 89 w 571"/>
              <a:gd name="T59" fmla="*/ 3885 h 7028"/>
              <a:gd name="T60" fmla="*/ 89 w 571"/>
              <a:gd name="T61" fmla="*/ 7028 h 7028"/>
              <a:gd name="T62" fmla="*/ 126 w 571"/>
              <a:gd name="T63" fmla="*/ 7028 h 7028"/>
              <a:gd name="T64" fmla="*/ 126 w 571"/>
              <a:gd name="T65" fmla="*/ 3885 h 7028"/>
              <a:gd name="T66" fmla="*/ 215 w 571"/>
              <a:gd name="T67" fmla="*/ 3885 h 7028"/>
              <a:gd name="T68" fmla="*/ 178 w 571"/>
              <a:gd name="T69" fmla="*/ 3885 h 7028"/>
              <a:gd name="T70" fmla="*/ 178 w 571"/>
              <a:gd name="T71" fmla="*/ 7028 h 7028"/>
              <a:gd name="T72" fmla="*/ 215 w 571"/>
              <a:gd name="T73" fmla="*/ 7028 h 7028"/>
              <a:gd name="T74" fmla="*/ 215 w 571"/>
              <a:gd name="T75" fmla="*/ 3885 h 7028"/>
              <a:gd name="T76" fmla="*/ 304 w 571"/>
              <a:gd name="T77" fmla="*/ 3885 h 7028"/>
              <a:gd name="T78" fmla="*/ 267 w 571"/>
              <a:gd name="T79" fmla="*/ 3885 h 7028"/>
              <a:gd name="T80" fmla="*/ 267 w 571"/>
              <a:gd name="T81" fmla="*/ 7028 h 7028"/>
              <a:gd name="T82" fmla="*/ 304 w 571"/>
              <a:gd name="T83" fmla="*/ 7028 h 7028"/>
              <a:gd name="T84" fmla="*/ 304 w 571"/>
              <a:gd name="T85" fmla="*/ 3885 h 7028"/>
              <a:gd name="T86" fmla="*/ 393 w 571"/>
              <a:gd name="T87" fmla="*/ 3885 h 7028"/>
              <a:gd name="T88" fmla="*/ 356 w 571"/>
              <a:gd name="T89" fmla="*/ 3885 h 7028"/>
              <a:gd name="T90" fmla="*/ 356 w 571"/>
              <a:gd name="T91" fmla="*/ 7028 h 7028"/>
              <a:gd name="T92" fmla="*/ 393 w 571"/>
              <a:gd name="T93" fmla="*/ 7028 h 7028"/>
              <a:gd name="T94" fmla="*/ 393 w 571"/>
              <a:gd name="T95" fmla="*/ 3885 h 7028"/>
              <a:gd name="T96" fmla="*/ 482 w 571"/>
              <a:gd name="T97" fmla="*/ 3885 h 7028"/>
              <a:gd name="T98" fmla="*/ 445 w 571"/>
              <a:gd name="T99" fmla="*/ 3885 h 7028"/>
              <a:gd name="T100" fmla="*/ 445 w 571"/>
              <a:gd name="T101" fmla="*/ 7028 h 7028"/>
              <a:gd name="T102" fmla="*/ 482 w 571"/>
              <a:gd name="T103" fmla="*/ 7028 h 7028"/>
              <a:gd name="T104" fmla="*/ 482 w 571"/>
              <a:gd name="T105" fmla="*/ 3885 h 7028"/>
              <a:gd name="T106" fmla="*/ 571 w 571"/>
              <a:gd name="T107" fmla="*/ 3885 h 7028"/>
              <a:gd name="T108" fmla="*/ 534 w 571"/>
              <a:gd name="T109" fmla="*/ 3885 h 7028"/>
              <a:gd name="T110" fmla="*/ 534 w 571"/>
              <a:gd name="T111" fmla="*/ 7028 h 7028"/>
              <a:gd name="T112" fmla="*/ 571 w 571"/>
              <a:gd name="T113" fmla="*/ 7028 h 7028"/>
              <a:gd name="T114" fmla="*/ 571 w 571"/>
              <a:gd name="T115" fmla="*/ 3885 h 70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571" h="7028">
                <a:moveTo>
                  <a:pt x="246" y="0"/>
                </a:moveTo>
                <a:lnTo>
                  <a:pt x="246" y="2716"/>
                </a:lnTo>
                <a:cubicBezTo>
                  <a:pt x="206" y="2731"/>
                  <a:pt x="178" y="2770"/>
                  <a:pt x="178" y="2816"/>
                </a:cubicBezTo>
                <a:cubicBezTo>
                  <a:pt x="178" y="2876"/>
                  <a:pt x="226" y="2924"/>
                  <a:pt x="286" y="2924"/>
                </a:cubicBezTo>
                <a:cubicBezTo>
                  <a:pt x="345" y="2924"/>
                  <a:pt x="394" y="2876"/>
                  <a:pt x="394" y="2816"/>
                </a:cubicBezTo>
                <a:cubicBezTo>
                  <a:pt x="394" y="2770"/>
                  <a:pt x="365" y="2731"/>
                  <a:pt x="325" y="2716"/>
                </a:cubicBezTo>
                <a:lnTo>
                  <a:pt x="325" y="0"/>
                </a:lnTo>
                <a:lnTo>
                  <a:pt x="246" y="0"/>
                </a:lnTo>
                <a:close/>
                <a:moveTo>
                  <a:pt x="0" y="3749"/>
                </a:moveTo>
                <a:lnTo>
                  <a:pt x="571" y="3749"/>
                </a:lnTo>
                <a:lnTo>
                  <a:pt x="571" y="3790"/>
                </a:lnTo>
                <a:lnTo>
                  <a:pt x="0" y="3790"/>
                </a:lnTo>
                <a:lnTo>
                  <a:pt x="0" y="3749"/>
                </a:lnTo>
                <a:close/>
                <a:moveTo>
                  <a:pt x="0" y="3323"/>
                </a:moveTo>
                <a:lnTo>
                  <a:pt x="0" y="3323"/>
                </a:lnTo>
                <a:lnTo>
                  <a:pt x="0" y="3323"/>
                </a:lnTo>
                <a:cubicBezTo>
                  <a:pt x="0" y="3165"/>
                  <a:pt x="128" y="3037"/>
                  <a:pt x="286" y="3037"/>
                </a:cubicBezTo>
                <a:cubicBezTo>
                  <a:pt x="443" y="3037"/>
                  <a:pt x="571" y="3165"/>
                  <a:pt x="571" y="3323"/>
                </a:cubicBezTo>
                <a:lnTo>
                  <a:pt x="571" y="3323"/>
                </a:lnTo>
                <a:lnTo>
                  <a:pt x="571" y="3323"/>
                </a:lnTo>
                <a:lnTo>
                  <a:pt x="571" y="3683"/>
                </a:lnTo>
                <a:lnTo>
                  <a:pt x="0" y="3683"/>
                </a:lnTo>
                <a:lnTo>
                  <a:pt x="0" y="3323"/>
                </a:lnTo>
                <a:close/>
                <a:moveTo>
                  <a:pt x="37" y="3885"/>
                </a:moveTo>
                <a:lnTo>
                  <a:pt x="0" y="3885"/>
                </a:lnTo>
                <a:lnTo>
                  <a:pt x="0" y="7028"/>
                </a:lnTo>
                <a:lnTo>
                  <a:pt x="37" y="7028"/>
                </a:lnTo>
                <a:lnTo>
                  <a:pt x="37" y="3885"/>
                </a:lnTo>
                <a:close/>
                <a:moveTo>
                  <a:pt x="126" y="3885"/>
                </a:moveTo>
                <a:lnTo>
                  <a:pt x="89" y="3885"/>
                </a:lnTo>
                <a:lnTo>
                  <a:pt x="89" y="7028"/>
                </a:lnTo>
                <a:lnTo>
                  <a:pt x="126" y="7028"/>
                </a:lnTo>
                <a:lnTo>
                  <a:pt x="126" y="3885"/>
                </a:lnTo>
                <a:close/>
                <a:moveTo>
                  <a:pt x="215" y="3885"/>
                </a:moveTo>
                <a:lnTo>
                  <a:pt x="178" y="3885"/>
                </a:lnTo>
                <a:lnTo>
                  <a:pt x="178" y="7028"/>
                </a:lnTo>
                <a:lnTo>
                  <a:pt x="215" y="7028"/>
                </a:lnTo>
                <a:lnTo>
                  <a:pt x="215" y="3885"/>
                </a:lnTo>
                <a:close/>
                <a:moveTo>
                  <a:pt x="304" y="3885"/>
                </a:moveTo>
                <a:lnTo>
                  <a:pt x="267" y="3885"/>
                </a:lnTo>
                <a:lnTo>
                  <a:pt x="267" y="7028"/>
                </a:lnTo>
                <a:lnTo>
                  <a:pt x="304" y="7028"/>
                </a:lnTo>
                <a:lnTo>
                  <a:pt x="304" y="3885"/>
                </a:lnTo>
                <a:close/>
                <a:moveTo>
                  <a:pt x="393" y="3885"/>
                </a:moveTo>
                <a:lnTo>
                  <a:pt x="356" y="3885"/>
                </a:lnTo>
                <a:lnTo>
                  <a:pt x="356" y="7028"/>
                </a:lnTo>
                <a:lnTo>
                  <a:pt x="393" y="7028"/>
                </a:lnTo>
                <a:lnTo>
                  <a:pt x="393" y="3885"/>
                </a:lnTo>
                <a:close/>
                <a:moveTo>
                  <a:pt x="482" y="3885"/>
                </a:moveTo>
                <a:lnTo>
                  <a:pt x="445" y="3885"/>
                </a:lnTo>
                <a:lnTo>
                  <a:pt x="445" y="7028"/>
                </a:lnTo>
                <a:lnTo>
                  <a:pt x="482" y="7028"/>
                </a:lnTo>
                <a:lnTo>
                  <a:pt x="482" y="3885"/>
                </a:lnTo>
                <a:close/>
                <a:moveTo>
                  <a:pt x="571" y="3885"/>
                </a:moveTo>
                <a:lnTo>
                  <a:pt x="534" y="3885"/>
                </a:lnTo>
                <a:lnTo>
                  <a:pt x="534" y="7028"/>
                </a:lnTo>
                <a:lnTo>
                  <a:pt x="571" y="7028"/>
                </a:lnTo>
                <a:lnTo>
                  <a:pt x="571" y="3885"/>
                </a:lnTo>
                <a:close/>
              </a:path>
            </a:pathLst>
          </a:custGeom>
          <a:solidFill>
            <a:srgbClr val="005825"/>
          </a:solidFill>
          <a:ln>
            <a:noFill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6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461265" y="3150411"/>
            <a:ext cx="6217920" cy="320040"/>
          </a:xfrm>
          <a:prstGeom prst="rect">
            <a:avLst/>
          </a:prstGeom>
          <a:noFill/>
        </p:spPr>
        <p:txBody>
          <a:bodyPr wrap="square" lIns="50800" tIns="25400" rIns="50800" bIns="25400">
            <a:normAutofit lnSpcReduction="10000"/>
          </a:bodyPr>
          <a:lstStyle/>
          <a:p>
            <a:pPr algn="ctr"/>
            <a:r>
              <a:rPr sz="1800" b="1" dirty="0" err="1">
                <a:solidFill>
                  <a:srgbClr val="000000"/>
                </a:solidFill>
                <a:latin typeface="Microsoft YaHei"/>
              </a:rPr>
              <a:t>面向</a:t>
            </a:r>
            <a:r>
              <a:rPr sz="1800" b="1" dirty="0">
                <a:solidFill>
                  <a:srgbClr val="000000"/>
                </a:solidFill>
                <a:latin typeface="Microsoft YaHei"/>
              </a:rPr>
              <a:t> MMCTR Challenge </a:t>
            </a:r>
            <a:r>
              <a:rPr sz="1800" b="1" dirty="0" err="1">
                <a:solidFill>
                  <a:srgbClr val="000000"/>
                </a:solidFill>
                <a:latin typeface="Microsoft YaHei"/>
              </a:rPr>
              <a:t>的多模态</a:t>
            </a:r>
            <a:r>
              <a:rPr sz="1800" b="1" dirty="0">
                <a:solidFill>
                  <a:srgbClr val="000000"/>
                </a:solidFill>
                <a:latin typeface="Microsoft YaHei"/>
              </a:rPr>
              <a:t> CTR </a:t>
            </a:r>
            <a:r>
              <a:rPr sz="1800" b="1" dirty="0" err="1">
                <a:solidFill>
                  <a:srgbClr val="000000"/>
                </a:solidFill>
                <a:latin typeface="Microsoft YaHei"/>
              </a:rPr>
              <a:t>预测方案</a:t>
            </a:r>
            <a:endParaRPr sz="1800" b="1" dirty="0">
              <a:solidFill>
                <a:srgbClr val="000000"/>
              </a:solidFill>
              <a:latin typeface="Microsoft YaHei"/>
            </a:endParaRPr>
          </a:p>
        </p:txBody>
      </p:sp>
      <p:sp>
        <p:nvSpPr>
          <p:cNvPr id="3" name="AutoShape 11">
            <a:extLst>
              <a:ext uri="{FF2B5EF4-FFF2-40B4-BE49-F238E27FC236}">
                <a16:creationId xmlns:a16="http://schemas.microsoft.com/office/drawing/2014/main" id="{31059461-11B2-F4DF-B275-AE830ED79168}"/>
              </a:ext>
            </a:extLst>
          </p:cNvPr>
          <p:cNvSpPr/>
          <p:nvPr/>
        </p:nvSpPr>
        <p:spPr>
          <a:xfrm>
            <a:off x="127000" y="6235700"/>
            <a:ext cx="2706688" cy="482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900" b="1" i="0" u="none" strike="noStrike" dirty="0" err="1">
                <a:solidFill>
                  <a:srgbClr val="000000"/>
                </a:solidFill>
                <a:latin typeface="华文隶书"/>
                <a:ea typeface="华文隶书"/>
                <a:cs typeface="华文隶书"/>
                <a:sym typeface="华文隶书"/>
              </a:rPr>
              <a:t>同舟共济</a:t>
            </a:r>
            <a:endParaRPr lang="en-US" sz="1100" b="1" dirty="0"/>
          </a:p>
        </p:txBody>
      </p:sp>
    </p:spTree>
    <p:extLst>
      <p:ext uri="{BB962C8B-B14F-4D97-AF65-F5344CB8AC3E}">
        <p14:creationId xmlns:p14="http://schemas.microsoft.com/office/powerpoint/2010/main" val="2813006948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1164188" y="622441"/>
            <a:ext cx="1528413" cy="1528413"/>
            <a:chOff x="1602769" y="143838"/>
            <a:chExt cx="1331936" cy="1331936"/>
          </a:xfrm>
        </p:grpSpPr>
        <p:sp>
          <p:nvSpPr>
            <p:cNvPr id="4" name="椭圆 3"/>
            <p:cNvSpPr/>
            <p:nvPr/>
          </p:nvSpPr>
          <p:spPr>
            <a:xfrm>
              <a:off x="1602769" y="143838"/>
              <a:ext cx="1331936" cy="1331936"/>
            </a:xfrm>
            <a:prstGeom prst="ellipse">
              <a:avLst/>
            </a:prstGeom>
            <a:ln w="1651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67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46" name="TextBox 145"/>
            <p:cNvSpPr txBox="1"/>
            <p:nvPr/>
          </p:nvSpPr>
          <p:spPr>
            <a:xfrm>
              <a:off x="1679041" y="396413"/>
              <a:ext cx="1189310" cy="5632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/>
            </a:p>
          </p:txBody>
        </p:sp>
        <p:sp>
          <p:nvSpPr>
            <p:cNvPr id="147" name="TextBox 146"/>
            <p:cNvSpPr txBox="1"/>
            <p:nvPr/>
          </p:nvSpPr>
          <p:spPr>
            <a:xfrm>
              <a:off x="1638153" y="937949"/>
              <a:ext cx="1263808" cy="2772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67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endParaRPr>
            </a:p>
          </p:txBody>
        </p:sp>
      </p:grpSp>
      <p:sp>
        <p:nvSpPr>
          <p:cNvPr id="9" name="Freeform 5"/>
          <p:cNvSpPr>
            <a:spLocks/>
          </p:cNvSpPr>
          <p:nvPr/>
        </p:nvSpPr>
        <p:spPr bwMode="auto">
          <a:xfrm>
            <a:off x="3177" y="3017035"/>
            <a:ext cx="12188825" cy="1446568"/>
          </a:xfrm>
          <a:custGeom>
            <a:avLst/>
            <a:gdLst>
              <a:gd name="T0" fmla="*/ 0 w 2601"/>
              <a:gd name="T1" fmla="*/ 139 h 306"/>
              <a:gd name="T2" fmla="*/ 647 w 2601"/>
              <a:gd name="T3" fmla="*/ 304 h 306"/>
              <a:gd name="T4" fmla="*/ 1863 w 2601"/>
              <a:gd name="T5" fmla="*/ 11 h 306"/>
              <a:gd name="T6" fmla="*/ 2601 w 2601"/>
              <a:gd name="T7" fmla="*/ 259 h 3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601" h="306">
                <a:moveTo>
                  <a:pt x="0" y="139"/>
                </a:moveTo>
                <a:cubicBezTo>
                  <a:pt x="0" y="139"/>
                  <a:pt x="179" y="301"/>
                  <a:pt x="647" y="304"/>
                </a:cubicBezTo>
                <a:cubicBezTo>
                  <a:pt x="1090" y="306"/>
                  <a:pt x="1474" y="0"/>
                  <a:pt x="1863" y="11"/>
                </a:cubicBezTo>
                <a:cubicBezTo>
                  <a:pt x="2253" y="21"/>
                  <a:pt x="2601" y="259"/>
                  <a:pt x="2601" y="259"/>
                </a:cubicBezTo>
              </a:path>
            </a:pathLst>
          </a:custGeom>
          <a:noFill/>
          <a:ln w="22225" cap="flat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6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44" name="矩形 30"/>
          <p:cNvSpPr>
            <a:spLocks noChangeArrowheads="1"/>
          </p:cNvSpPr>
          <p:nvPr/>
        </p:nvSpPr>
        <p:spPr bwMode="auto">
          <a:xfrm>
            <a:off x="1072692" y="4910231"/>
            <a:ext cx="958085" cy="430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9" rIns="121917" bIns="60959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endParaRPr/>
          </a:p>
        </p:txBody>
      </p:sp>
      <p:sp>
        <p:nvSpPr>
          <p:cNvPr id="45" name="矩形 68"/>
          <p:cNvSpPr>
            <a:spLocks noChangeArrowheads="1"/>
          </p:cNvSpPr>
          <p:nvPr/>
        </p:nvSpPr>
        <p:spPr bwMode="auto">
          <a:xfrm>
            <a:off x="6950656" y="2037620"/>
            <a:ext cx="2092243" cy="430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9" rIns="121917" bIns="60959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endParaRPr/>
          </a:p>
        </p:txBody>
      </p:sp>
      <p:sp>
        <p:nvSpPr>
          <p:cNvPr id="47" name="矩形 66"/>
          <p:cNvSpPr>
            <a:spLocks noChangeArrowheads="1"/>
          </p:cNvSpPr>
          <p:nvPr/>
        </p:nvSpPr>
        <p:spPr bwMode="auto">
          <a:xfrm>
            <a:off x="4504554" y="4375958"/>
            <a:ext cx="2700245" cy="430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9" rIns="121917" bIns="60959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endParaRPr/>
          </a:p>
        </p:txBody>
      </p:sp>
      <p:grpSp>
        <p:nvGrpSpPr>
          <p:cNvPr id="48" name="组合 47"/>
          <p:cNvGrpSpPr/>
          <p:nvPr/>
        </p:nvGrpSpPr>
        <p:grpSpPr>
          <a:xfrm>
            <a:off x="1088011" y="3675719"/>
            <a:ext cx="999564" cy="1001764"/>
            <a:chOff x="3437020" y="1033173"/>
            <a:chExt cx="863676" cy="865577"/>
          </a:xfrm>
        </p:grpSpPr>
        <p:sp>
          <p:nvSpPr>
            <p:cNvPr id="49" name="椭圆 18"/>
            <p:cNvSpPr>
              <a:spLocks noChangeArrowheads="1"/>
            </p:cNvSpPr>
            <p:nvPr/>
          </p:nvSpPr>
          <p:spPr bwMode="auto">
            <a:xfrm>
              <a:off x="3437020" y="1033173"/>
              <a:ext cx="863676" cy="865577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>
                  <a:lumMod val="75000"/>
                </a:schemeClr>
              </a:solidFill>
              <a:miter lim="800000"/>
              <a:headEnd/>
              <a:tailEnd/>
            </a:ln>
          </p:spPr>
          <p:txBody>
            <a:bodyPr anchor="ctr"/>
            <a:lstStyle>
              <a:lvl1pPr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  <a:sym typeface="Calibri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  <a:sym typeface="Calibri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  <a:sym typeface="Calibri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  <a:sym typeface="Calibri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  <a:sym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  <a:sym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  <a:sym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  <a:sym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  <a:sym typeface="Calibri" pitchFamily="34" charset="0"/>
                </a:defRPr>
              </a:lvl9pPr>
            </a:lstStyle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Arial" charset="0"/>
                <a:buNone/>
                <a:tabLst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  <a:sym typeface="微软雅黑" pitchFamily="34" charset="-122"/>
              </a:endParaRPr>
            </a:p>
          </p:txBody>
        </p:sp>
        <p:pic>
          <p:nvPicPr>
            <p:cNvPr id="50" name="图片 49"/>
            <p:cNvPicPr>
              <a:picLocks noChangeAspect="1"/>
            </p:cNvPicPr>
            <p:nvPr/>
          </p:nvPicPr>
          <p:blipFill>
            <a:blip r:embed="rId3" cstate="screen">
              <a:biLevel thresh="2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587275" y="1169757"/>
              <a:ext cx="552644" cy="566109"/>
            </a:xfrm>
            <a:prstGeom prst="rect">
              <a:avLst/>
            </a:prstGeom>
          </p:spPr>
        </p:pic>
      </p:grpSp>
      <p:sp>
        <p:nvSpPr>
          <p:cNvPr id="51" name="矩形 68"/>
          <p:cNvSpPr>
            <a:spLocks noChangeArrowheads="1"/>
          </p:cNvSpPr>
          <p:nvPr/>
        </p:nvSpPr>
        <p:spPr bwMode="auto">
          <a:xfrm>
            <a:off x="9040449" y="4141043"/>
            <a:ext cx="2651547" cy="430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9" rIns="121917" bIns="60959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endParaRPr/>
          </a:p>
        </p:txBody>
      </p:sp>
      <p:grpSp>
        <p:nvGrpSpPr>
          <p:cNvPr id="52" name="组合 51"/>
          <p:cNvGrpSpPr/>
          <p:nvPr/>
        </p:nvGrpSpPr>
        <p:grpSpPr>
          <a:xfrm>
            <a:off x="3899600" y="3764076"/>
            <a:ext cx="999564" cy="1001764"/>
            <a:chOff x="3437020" y="2074814"/>
            <a:chExt cx="863676" cy="865577"/>
          </a:xfrm>
        </p:grpSpPr>
        <p:sp>
          <p:nvSpPr>
            <p:cNvPr id="53" name="椭圆 19"/>
            <p:cNvSpPr>
              <a:spLocks noChangeArrowheads="1"/>
            </p:cNvSpPr>
            <p:nvPr/>
          </p:nvSpPr>
          <p:spPr bwMode="auto">
            <a:xfrm>
              <a:off x="3437020" y="2074814"/>
              <a:ext cx="863676" cy="865577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>
                  <a:lumMod val="75000"/>
                </a:schemeClr>
              </a:solidFill>
              <a:miter lim="800000"/>
              <a:headEnd/>
              <a:tailEnd/>
            </a:ln>
          </p:spPr>
          <p:txBody>
            <a:bodyPr anchor="ctr"/>
            <a:lstStyle>
              <a:lvl1pPr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  <a:sym typeface="Calibri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  <a:sym typeface="Calibri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  <a:sym typeface="Calibri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  <a:sym typeface="Calibri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  <a:sym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  <a:sym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  <a:sym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  <a:sym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  <a:sym typeface="Calibri" pitchFamily="34" charset="0"/>
                </a:defRPr>
              </a:lvl9pPr>
            </a:lstStyle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Arial" charset="0"/>
                <a:buNone/>
                <a:tabLst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  <a:sym typeface="微软雅黑" pitchFamily="34" charset="-122"/>
              </a:endParaRPr>
            </a:p>
          </p:txBody>
        </p:sp>
        <p:pic>
          <p:nvPicPr>
            <p:cNvPr id="54" name="图片 53"/>
            <p:cNvPicPr>
              <a:picLocks noChangeAspect="1"/>
            </p:cNvPicPr>
            <p:nvPr/>
          </p:nvPicPr>
          <p:blipFill>
            <a:blip r:embed="rId4" cstate="screen">
              <a:biLevel thresh="2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596360" y="2243692"/>
              <a:ext cx="553608" cy="567096"/>
            </a:xfrm>
            <a:prstGeom prst="rect">
              <a:avLst/>
            </a:prstGeom>
          </p:spPr>
        </p:pic>
      </p:grpSp>
      <p:grpSp>
        <p:nvGrpSpPr>
          <p:cNvPr id="55" name="组合 54"/>
          <p:cNvGrpSpPr/>
          <p:nvPr/>
        </p:nvGrpSpPr>
        <p:grpSpPr>
          <a:xfrm>
            <a:off x="6607435" y="2929405"/>
            <a:ext cx="999564" cy="999925"/>
            <a:chOff x="3437020" y="3157655"/>
            <a:chExt cx="863676" cy="863988"/>
          </a:xfrm>
        </p:grpSpPr>
        <p:sp>
          <p:nvSpPr>
            <p:cNvPr id="56" name="椭圆 20"/>
            <p:cNvSpPr>
              <a:spLocks noChangeArrowheads="1"/>
            </p:cNvSpPr>
            <p:nvPr/>
          </p:nvSpPr>
          <p:spPr bwMode="auto">
            <a:xfrm>
              <a:off x="3437020" y="3157655"/>
              <a:ext cx="863676" cy="863988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>
                  <a:lumMod val="75000"/>
                </a:schemeClr>
              </a:solidFill>
              <a:miter lim="800000"/>
              <a:headEnd/>
              <a:tailEnd/>
            </a:ln>
          </p:spPr>
          <p:txBody>
            <a:bodyPr anchor="ctr"/>
            <a:lstStyle>
              <a:lvl1pPr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  <a:sym typeface="Calibri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  <a:sym typeface="Calibri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  <a:sym typeface="Calibri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  <a:sym typeface="Calibri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  <a:sym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  <a:sym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  <a:sym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  <a:sym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  <a:sym typeface="Calibri" pitchFamily="34" charset="0"/>
                </a:defRPr>
              </a:lvl9pPr>
            </a:lstStyle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Arial" charset="0"/>
                <a:buNone/>
                <a:tabLst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  <a:sym typeface="微软雅黑" pitchFamily="34" charset="-122"/>
              </a:endParaRPr>
            </a:p>
          </p:txBody>
        </p:sp>
        <p:grpSp>
          <p:nvGrpSpPr>
            <p:cNvPr id="57" name="组合 56"/>
            <p:cNvGrpSpPr/>
            <p:nvPr/>
          </p:nvGrpSpPr>
          <p:grpSpPr>
            <a:xfrm>
              <a:off x="3603965" y="3301680"/>
              <a:ext cx="519264" cy="531742"/>
              <a:chOff x="9901114" y="2870043"/>
              <a:chExt cx="1094967" cy="1121279"/>
            </a:xfrm>
          </p:grpSpPr>
          <p:sp>
            <p:nvSpPr>
              <p:cNvPr id="58" name="Freeform 5"/>
              <p:cNvSpPr>
                <a:spLocks/>
              </p:cNvSpPr>
              <p:nvPr/>
            </p:nvSpPr>
            <p:spPr bwMode="auto">
              <a:xfrm>
                <a:off x="10585467" y="2870043"/>
                <a:ext cx="234963" cy="800500"/>
              </a:xfrm>
              <a:custGeom>
                <a:avLst/>
                <a:gdLst>
                  <a:gd name="T0" fmla="*/ 2 w 43"/>
                  <a:gd name="T1" fmla="*/ 115 h 115"/>
                  <a:gd name="T2" fmla="*/ 3 w 43"/>
                  <a:gd name="T3" fmla="*/ 115 h 115"/>
                  <a:gd name="T4" fmla="*/ 3 w 43"/>
                  <a:gd name="T5" fmla="*/ 115 h 115"/>
                  <a:gd name="T6" fmla="*/ 3 w 43"/>
                  <a:gd name="T7" fmla="*/ 115 h 115"/>
                  <a:gd name="T8" fmla="*/ 4 w 43"/>
                  <a:gd name="T9" fmla="*/ 115 h 115"/>
                  <a:gd name="T10" fmla="*/ 4 w 43"/>
                  <a:gd name="T11" fmla="*/ 115 h 115"/>
                  <a:gd name="T12" fmla="*/ 5 w 43"/>
                  <a:gd name="T13" fmla="*/ 114 h 115"/>
                  <a:gd name="T14" fmla="*/ 22 w 43"/>
                  <a:gd name="T15" fmla="*/ 98 h 115"/>
                  <a:gd name="T16" fmla="*/ 38 w 43"/>
                  <a:gd name="T17" fmla="*/ 114 h 115"/>
                  <a:gd name="T18" fmla="*/ 39 w 43"/>
                  <a:gd name="T19" fmla="*/ 115 h 115"/>
                  <a:gd name="T20" fmla="*/ 39 w 43"/>
                  <a:gd name="T21" fmla="*/ 115 h 115"/>
                  <a:gd name="T22" fmla="*/ 40 w 43"/>
                  <a:gd name="T23" fmla="*/ 115 h 115"/>
                  <a:gd name="T24" fmla="*/ 40 w 43"/>
                  <a:gd name="T25" fmla="*/ 115 h 115"/>
                  <a:gd name="T26" fmla="*/ 40 w 43"/>
                  <a:gd name="T27" fmla="*/ 115 h 115"/>
                  <a:gd name="T28" fmla="*/ 41 w 43"/>
                  <a:gd name="T29" fmla="*/ 115 h 115"/>
                  <a:gd name="T30" fmla="*/ 42 w 43"/>
                  <a:gd name="T31" fmla="*/ 114 h 115"/>
                  <a:gd name="T32" fmla="*/ 43 w 43"/>
                  <a:gd name="T33" fmla="*/ 112 h 115"/>
                  <a:gd name="T34" fmla="*/ 43 w 43"/>
                  <a:gd name="T35" fmla="*/ 27 h 115"/>
                  <a:gd name="T36" fmla="*/ 43 w 43"/>
                  <a:gd name="T37" fmla="*/ 13 h 115"/>
                  <a:gd name="T38" fmla="*/ 43 w 43"/>
                  <a:gd name="T39" fmla="*/ 3 h 115"/>
                  <a:gd name="T40" fmla="*/ 42 w 43"/>
                  <a:gd name="T41" fmla="*/ 1 h 115"/>
                  <a:gd name="T42" fmla="*/ 40 w 43"/>
                  <a:gd name="T43" fmla="*/ 0 h 115"/>
                  <a:gd name="T44" fmla="*/ 3 w 43"/>
                  <a:gd name="T45" fmla="*/ 0 h 115"/>
                  <a:gd name="T46" fmla="*/ 3 w 43"/>
                  <a:gd name="T47" fmla="*/ 0 h 115"/>
                  <a:gd name="T48" fmla="*/ 2 w 43"/>
                  <a:gd name="T49" fmla="*/ 1 h 115"/>
                  <a:gd name="T50" fmla="*/ 2 w 43"/>
                  <a:gd name="T51" fmla="*/ 1 h 115"/>
                  <a:gd name="T52" fmla="*/ 0 w 43"/>
                  <a:gd name="T53" fmla="*/ 3 h 115"/>
                  <a:gd name="T54" fmla="*/ 0 w 43"/>
                  <a:gd name="T55" fmla="*/ 13 h 115"/>
                  <a:gd name="T56" fmla="*/ 0 w 43"/>
                  <a:gd name="T57" fmla="*/ 27 h 115"/>
                  <a:gd name="T58" fmla="*/ 0 w 43"/>
                  <a:gd name="T59" fmla="*/ 112 h 115"/>
                  <a:gd name="T60" fmla="*/ 2 w 43"/>
                  <a:gd name="T61" fmla="*/ 115 h 1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43" h="115">
                    <a:moveTo>
                      <a:pt x="2" y="115"/>
                    </a:moveTo>
                    <a:cubicBezTo>
                      <a:pt x="2" y="115"/>
                      <a:pt x="2" y="115"/>
                      <a:pt x="3" y="115"/>
                    </a:cubicBezTo>
                    <a:cubicBezTo>
                      <a:pt x="3" y="115"/>
                      <a:pt x="3" y="115"/>
                      <a:pt x="3" y="115"/>
                    </a:cubicBezTo>
                    <a:cubicBezTo>
                      <a:pt x="3" y="115"/>
                      <a:pt x="3" y="115"/>
                      <a:pt x="3" y="115"/>
                    </a:cubicBezTo>
                    <a:cubicBezTo>
                      <a:pt x="3" y="115"/>
                      <a:pt x="4" y="115"/>
                      <a:pt x="4" y="115"/>
                    </a:cubicBezTo>
                    <a:cubicBezTo>
                      <a:pt x="4" y="115"/>
                      <a:pt x="4" y="115"/>
                      <a:pt x="4" y="115"/>
                    </a:cubicBezTo>
                    <a:cubicBezTo>
                      <a:pt x="4" y="115"/>
                      <a:pt x="5" y="114"/>
                      <a:pt x="5" y="114"/>
                    </a:cubicBezTo>
                    <a:cubicBezTo>
                      <a:pt x="22" y="98"/>
                      <a:pt x="22" y="98"/>
                      <a:pt x="22" y="98"/>
                    </a:cubicBezTo>
                    <a:cubicBezTo>
                      <a:pt x="38" y="114"/>
                      <a:pt x="38" y="114"/>
                      <a:pt x="38" y="114"/>
                    </a:cubicBezTo>
                    <a:cubicBezTo>
                      <a:pt x="38" y="114"/>
                      <a:pt x="39" y="115"/>
                      <a:pt x="39" y="115"/>
                    </a:cubicBezTo>
                    <a:cubicBezTo>
                      <a:pt x="39" y="115"/>
                      <a:pt x="39" y="115"/>
                      <a:pt x="39" y="115"/>
                    </a:cubicBezTo>
                    <a:cubicBezTo>
                      <a:pt x="40" y="115"/>
                      <a:pt x="40" y="115"/>
                      <a:pt x="40" y="115"/>
                    </a:cubicBezTo>
                    <a:cubicBezTo>
                      <a:pt x="40" y="115"/>
                      <a:pt x="40" y="115"/>
                      <a:pt x="40" y="115"/>
                    </a:cubicBezTo>
                    <a:cubicBezTo>
                      <a:pt x="40" y="115"/>
                      <a:pt x="40" y="115"/>
                      <a:pt x="40" y="115"/>
                    </a:cubicBezTo>
                    <a:cubicBezTo>
                      <a:pt x="41" y="115"/>
                      <a:pt x="41" y="115"/>
                      <a:pt x="41" y="115"/>
                    </a:cubicBezTo>
                    <a:cubicBezTo>
                      <a:pt x="42" y="115"/>
                      <a:pt x="42" y="114"/>
                      <a:pt x="42" y="114"/>
                    </a:cubicBezTo>
                    <a:cubicBezTo>
                      <a:pt x="43" y="114"/>
                      <a:pt x="43" y="113"/>
                      <a:pt x="43" y="112"/>
                    </a:cubicBezTo>
                    <a:cubicBezTo>
                      <a:pt x="43" y="27"/>
                      <a:pt x="43" y="27"/>
                      <a:pt x="43" y="27"/>
                    </a:cubicBezTo>
                    <a:cubicBezTo>
                      <a:pt x="43" y="13"/>
                      <a:pt x="43" y="13"/>
                      <a:pt x="43" y="13"/>
                    </a:cubicBezTo>
                    <a:cubicBezTo>
                      <a:pt x="43" y="3"/>
                      <a:pt x="43" y="3"/>
                      <a:pt x="43" y="3"/>
                    </a:cubicBezTo>
                    <a:cubicBezTo>
                      <a:pt x="43" y="3"/>
                      <a:pt x="43" y="2"/>
                      <a:pt x="42" y="1"/>
                    </a:cubicBezTo>
                    <a:cubicBezTo>
                      <a:pt x="42" y="1"/>
                      <a:pt x="41" y="0"/>
                      <a:pt x="40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2" y="0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112"/>
                      <a:pt x="0" y="112"/>
                      <a:pt x="0" y="112"/>
                    </a:cubicBezTo>
                    <a:cubicBezTo>
                      <a:pt x="0" y="113"/>
                      <a:pt x="1" y="114"/>
                      <a:pt x="2" y="115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18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67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endParaRPr>
              </a:p>
            </p:txBody>
          </p:sp>
          <p:sp>
            <p:nvSpPr>
              <p:cNvPr id="59" name="Freeform 6"/>
              <p:cNvSpPr>
                <a:spLocks/>
              </p:cNvSpPr>
              <p:nvPr/>
            </p:nvSpPr>
            <p:spPr bwMode="auto">
              <a:xfrm>
                <a:off x="10044830" y="3280407"/>
                <a:ext cx="289711" cy="34679"/>
              </a:xfrm>
              <a:custGeom>
                <a:avLst/>
                <a:gdLst>
                  <a:gd name="T0" fmla="*/ 0 w 53"/>
                  <a:gd name="T1" fmla="*/ 3 h 5"/>
                  <a:gd name="T2" fmla="*/ 3 w 53"/>
                  <a:gd name="T3" fmla="*/ 5 h 5"/>
                  <a:gd name="T4" fmla="*/ 50 w 53"/>
                  <a:gd name="T5" fmla="*/ 5 h 5"/>
                  <a:gd name="T6" fmla="*/ 53 w 53"/>
                  <a:gd name="T7" fmla="*/ 3 h 5"/>
                  <a:gd name="T8" fmla="*/ 50 w 53"/>
                  <a:gd name="T9" fmla="*/ 0 h 5"/>
                  <a:gd name="T10" fmla="*/ 3 w 53"/>
                  <a:gd name="T11" fmla="*/ 0 h 5"/>
                  <a:gd name="T12" fmla="*/ 0 w 53"/>
                  <a:gd name="T13" fmla="*/ 3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3" h="5">
                    <a:moveTo>
                      <a:pt x="0" y="3"/>
                    </a:moveTo>
                    <a:cubicBezTo>
                      <a:pt x="0" y="4"/>
                      <a:pt x="2" y="5"/>
                      <a:pt x="3" y="5"/>
                    </a:cubicBezTo>
                    <a:cubicBezTo>
                      <a:pt x="50" y="5"/>
                      <a:pt x="50" y="5"/>
                      <a:pt x="50" y="5"/>
                    </a:cubicBezTo>
                    <a:cubicBezTo>
                      <a:pt x="52" y="5"/>
                      <a:pt x="53" y="4"/>
                      <a:pt x="53" y="3"/>
                    </a:cubicBezTo>
                    <a:cubicBezTo>
                      <a:pt x="53" y="1"/>
                      <a:pt x="52" y="0"/>
                      <a:pt x="50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2" y="0"/>
                      <a:pt x="0" y="1"/>
                      <a:pt x="0" y="3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18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67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endParaRPr>
              </a:p>
            </p:txBody>
          </p:sp>
          <p:sp>
            <p:nvSpPr>
              <p:cNvPr id="60" name="Freeform 7"/>
              <p:cNvSpPr>
                <a:spLocks/>
              </p:cNvSpPr>
              <p:nvPr/>
            </p:nvSpPr>
            <p:spPr bwMode="auto">
              <a:xfrm>
                <a:off x="10044830" y="3442241"/>
                <a:ext cx="289711" cy="34679"/>
              </a:xfrm>
              <a:custGeom>
                <a:avLst/>
                <a:gdLst>
                  <a:gd name="T0" fmla="*/ 50 w 53"/>
                  <a:gd name="T1" fmla="*/ 0 h 5"/>
                  <a:gd name="T2" fmla="*/ 3 w 53"/>
                  <a:gd name="T3" fmla="*/ 0 h 5"/>
                  <a:gd name="T4" fmla="*/ 0 w 53"/>
                  <a:gd name="T5" fmla="*/ 2 h 5"/>
                  <a:gd name="T6" fmla="*/ 3 w 53"/>
                  <a:gd name="T7" fmla="*/ 5 h 5"/>
                  <a:gd name="T8" fmla="*/ 50 w 53"/>
                  <a:gd name="T9" fmla="*/ 5 h 5"/>
                  <a:gd name="T10" fmla="*/ 53 w 53"/>
                  <a:gd name="T11" fmla="*/ 2 h 5"/>
                  <a:gd name="T12" fmla="*/ 50 w 53"/>
                  <a:gd name="T13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3" h="5">
                    <a:moveTo>
                      <a:pt x="50" y="0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2" y="0"/>
                      <a:pt x="0" y="1"/>
                      <a:pt x="0" y="2"/>
                    </a:cubicBezTo>
                    <a:cubicBezTo>
                      <a:pt x="0" y="4"/>
                      <a:pt x="2" y="5"/>
                      <a:pt x="3" y="5"/>
                    </a:cubicBezTo>
                    <a:cubicBezTo>
                      <a:pt x="50" y="5"/>
                      <a:pt x="50" y="5"/>
                      <a:pt x="50" y="5"/>
                    </a:cubicBezTo>
                    <a:cubicBezTo>
                      <a:pt x="52" y="5"/>
                      <a:pt x="53" y="4"/>
                      <a:pt x="53" y="2"/>
                    </a:cubicBezTo>
                    <a:cubicBezTo>
                      <a:pt x="53" y="1"/>
                      <a:pt x="52" y="0"/>
                      <a:pt x="50" y="0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18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67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endParaRPr>
              </a:p>
            </p:txBody>
          </p:sp>
          <p:sp>
            <p:nvSpPr>
              <p:cNvPr id="61" name="Freeform 8"/>
              <p:cNvSpPr>
                <a:spLocks/>
              </p:cNvSpPr>
              <p:nvPr/>
            </p:nvSpPr>
            <p:spPr bwMode="auto">
              <a:xfrm>
                <a:off x="10044830" y="3601186"/>
                <a:ext cx="289711" cy="34679"/>
              </a:xfrm>
              <a:custGeom>
                <a:avLst/>
                <a:gdLst>
                  <a:gd name="T0" fmla="*/ 50 w 53"/>
                  <a:gd name="T1" fmla="*/ 0 h 5"/>
                  <a:gd name="T2" fmla="*/ 3 w 53"/>
                  <a:gd name="T3" fmla="*/ 0 h 5"/>
                  <a:gd name="T4" fmla="*/ 0 w 53"/>
                  <a:gd name="T5" fmla="*/ 2 h 5"/>
                  <a:gd name="T6" fmla="*/ 3 w 53"/>
                  <a:gd name="T7" fmla="*/ 5 h 5"/>
                  <a:gd name="T8" fmla="*/ 50 w 53"/>
                  <a:gd name="T9" fmla="*/ 5 h 5"/>
                  <a:gd name="T10" fmla="*/ 53 w 53"/>
                  <a:gd name="T11" fmla="*/ 2 h 5"/>
                  <a:gd name="T12" fmla="*/ 50 w 53"/>
                  <a:gd name="T13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3" h="5">
                    <a:moveTo>
                      <a:pt x="50" y="0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2" y="0"/>
                      <a:pt x="0" y="1"/>
                      <a:pt x="0" y="2"/>
                    </a:cubicBezTo>
                    <a:cubicBezTo>
                      <a:pt x="0" y="4"/>
                      <a:pt x="2" y="5"/>
                      <a:pt x="3" y="5"/>
                    </a:cubicBezTo>
                    <a:cubicBezTo>
                      <a:pt x="50" y="5"/>
                      <a:pt x="50" y="5"/>
                      <a:pt x="50" y="5"/>
                    </a:cubicBezTo>
                    <a:cubicBezTo>
                      <a:pt x="52" y="5"/>
                      <a:pt x="53" y="4"/>
                      <a:pt x="53" y="2"/>
                    </a:cubicBezTo>
                    <a:cubicBezTo>
                      <a:pt x="53" y="1"/>
                      <a:pt x="52" y="0"/>
                      <a:pt x="50" y="0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18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67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endParaRPr>
              </a:p>
            </p:txBody>
          </p:sp>
          <p:sp>
            <p:nvSpPr>
              <p:cNvPr id="62" name="Freeform 9"/>
              <p:cNvSpPr>
                <a:spLocks noEditPoints="1"/>
              </p:cNvSpPr>
              <p:nvPr/>
            </p:nvSpPr>
            <p:spPr bwMode="auto">
              <a:xfrm>
                <a:off x="9901114" y="2953851"/>
                <a:ext cx="1094967" cy="1037471"/>
              </a:xfrm>
              <a:custGeom>
                <a:avLst/>
                <a:gdLst>
                  <a:gd name="T0" fmla="*/ 177 w 200"/>
                  <a:gd name="T1" fmla="*/ 3 h 149"/>
                  <a:gd name="T2" fmla="*/ 177 w 200"/>
                  <a:gd name="T3" fmla="*/ 17 h 149"/>
                  <a:gd name="T4" fmla="*/ 186 w 200"/>
                  <a:gd name="T5" fmla="*/ 21 h 149"/>
                  <a:gd name="T6" fmla="*/ 186 w 200"/>
                  <a:gd name="T7" fmla="*/ 134 h 149"/>
                  <a:gd name="T8" fmla="*/ 107 w 200"/>
                  <a:gd name="T9" fmla="*/ 134 h 149"/>
                  <a:gd name="T10" fmla="*/ 107 w 200"/>
                  <a:gd name="T11" fmla="*/ 21 h 149"/>
                  <a:gd name="T12" fmla="*/ 117 w 200"/>
                  <a:gd name="T13" fmla="*/ 17 h 149"/>
                  <a:gd name="T14" fmla="*/ 117 w 200"/>
                  <a:gd name="T15" fmla="*/ 3 h 149"/>
                  <a:gd name="T16" fmla="*/ 100 w 200"/>
                  <a:gd name="T17" fmla="*/ 9 h 149"/>
                  <a:gd name="T18" fmla="*/ 53 w 200"/>
                  <a:gd name="T19" fmla="*/ 0 h 149"/>
                  <a:gd name="T20" fmla="*/ 0 w 200"/>
                  <a:gd name="T21" fmla="*/ 20 h 149"/>
                  <a:gd name="T22" fmla="*/ 0 w 200"/>
                  <a:gd name="T23" fmla="*/ 142 h 149"/>
                  <a:gd name="T24" fmla="*/ 2 w 200"/>
                  <a:gd name="T25" fmla="*/ 147 h 149"/>
                  <a:gd name="T26" fmla="*/ 8 w 200"/>
                  <a:gd name="T27" fmla="*/ 149 h 149"/>
                  <a:gd name="T28" fmla="*/ 53 w 200"/>
                  <a:gd name="T29" fmla="*/ 145 h 149"/>
                  <a:gd name="T30" fmla="*/ 99 w 200"/>
                  <a:gd name="T31" fmla="*/ 149 h 149"/>
                  <a:gd name="T32" fmla="*/ 99 w 200"/>
                  <a:gd name="T33" fmla="*/ 149 h 149"/>
                  <a:gd name="T34" fmla="*/ 100 w 200"/>
                  <a:gd name="T35" fmla="*/ 149 h 149"/>
                  <a:gd name="T36" fmla="*/ 100 w 200"/>
                  <a:gd name="T37" fmla="*/ 149 h 149"/>
                  <a:gd name="T38" fmla="*/ 101 w 200"/>
                  <a:gd name="T39" fmla="*/ 149 h 149"/>
                  <a:gd name="T40" fmla="*/ 101 w 200"/>
                  <a:gd name="T41" fmla="*/ 149 h 149"/>
                  <a:gd name="T42" fmla="*/ 146 w 200"/>
                  <a:gd name="T43" fmla="*/ 145 h 149"/>
                  <a:gd name="T44" fmla="*/ 192 w 200"/>
                  <a:gd name="T45" fmla="*/ 149 h 149"/>
                  <a:gd name="T46" fmla="*/ 193 w 200"/>
                  <a:gd name="T47" fmla="*/ 149 h 149"/>
                  <a:gd name="T48" fmla="*/ 197 w 200"/>
                  <a:gd name="T49" fmla="*/ 147 h 149"/>
                  <a:gd name="T50" fmla="*/ 200 w 200"/>
                  <a:gd name="T51" fmla="*/ 142 h 149"/>
                  <a:gd name="T52" fmla="*/ 200 w 200"/>
                  <a:gd name="T53" fmla="*/ 20 h 149"/>
                  <a:gd name="T54" fmla="*/ 177 w 200"/>
                  <a:gd name="T55" fmla="*/ 3 h 149"/>
                  <a:gd name="T56" fmla="*/ 93 w 200"/>
                  <a:gd name="T57" fmla="*/ 134 h 149"/>
                  <a:gd name="T58" fmla="*/ 53 w 200"/>
                  <a:gd name="T59" fmla="*/ 131 h 149"/>
                  <a:gd name="T60" fmla="*/ 14 w 200"/>
                  <a:gd name="T61" fmla="*/ 134 h 149"/>
                  <a:gd name="T62" fmla="*/ 14 w 200"/>
                  <a:gd name="T63" fmla="*/ 21 h 149"/>
                  <a:gd name="T64" fmla="*/ 53 w 200"/>
                  <a:gd name="T65" fmla="*/ 14 h 149"/>
                  <a:gd name="T66" fmla="*/ 93 w 200"/>
                  <a:gd name="T67" fmla="*/ 21 h 149"/>
                  <a:gd name="T68" fmla="*/ 93 w 200"/>
                  <a:gd name="T69" fmla="*/ 134 h 1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200" h="149">
                    <a:moveTo>
                      <a:pt x="177" y="3"/>
                    </a:moveTo>
                    <a:cubicBezTo>
                      <a:pt x="177" y="17"/>
                      <a:pt x="177" y="17"/>
                      <a:pt x="177" y="17"/>
                    </a:cubicBezTo>
                    <a:cubicBezTo>
                      <a:pt x="181" y="18"/>
                      <a:pt x="185" y="20"/>
                      <a:pt x="186" y="21"/>
                    </a:cubicBezTo>
                    <a:cubicBezTo>
                      <a:pt x="186" y="134"/>
                      <a:pt x="186" y="134"/>
                      <a:pt x="186" y="134"/>
                    </a:cubicBezTo>
                    <a:cubicBezTo>
                      <a:pt x="161" y="130"/>
                      <a:pt x="131" y="130"/>
                      <a:pt x="107" y="134"/>
                    </a:cubicBezTo>
                    <a:cubicBezTo>
                      <a:pt x="107" y="21"/>
                      <a:pt x="107" y="21"/>
                      <a:pt x="107" y="21"/>
                    </a:cubicBezTo>
                    <a:cubicBezTo>
                      <a:pt x="108" y="20"/>
                      <a:pt x="111" y="18"/>
                      <a:pt x="117" y="17"/>
                    </a:cubicBezTo>
                    <a:cubicBezTo>
                      <a:pt x="117" y="3"/>
                      <a:pt x="117" y="3"/>
                      <a:pt x="117" y="3"/>
                    </a:cubicBezTo>
                    <a:cubicBezTo>
                      <a:pt x="110" y="4"/>
                      <a:pt x="104" y="6"/>
                      <a:pt x="100" y="9"/>
                    </a:cubicBezTo>
                    <a:cubicBezTo>
                      <a:pt x="90" y="2"/>
                      <a:pt x="70" y="0"/>
                      <a:pt x="53" y="0"/>
                    </a:cubicBezTo>
                    <a:cubicBezTo>
                      <a:pt x="29" y="0"/>
                      <a:pt x="0" y="5"/>
                      <a:pt x="0" y="20"/>
                    </a:cubicBezTo>
                    <a:cubicBezTo>
                      <a:pt x="0" y="142"/>
                      <a:pt x="0" y="142"/>
                      <a:pt x="0" y="142"/>
                    </a:cubicBezTo>
                    <a:cubicBezTo>
                      <a:pt x="0" y="144"/>
                      <a:pt x="1" y="146"/>
                      <a:pt x="2" y="147"/>
                    </a:cubicBezTo>
                    <a:cubicBezTo>
                      <a:pt x="4" y="148"/>
                      <a:pt x="6" y="149"/>
                      <a:pt x="8" y="149"/>
                    </a:cubicBezTo>
                    <a:cubicBezTo>
                      <a:pt x="22" y="146"/>
                      <a:pt x="37" y="145"/>
                      <a:pt x="53" y="145"/>
                    </a:cubicBezTo>
                    <a:cubicBezTo>
                      <a:pt x="69" y="145"/>
                      <a:pt x="85" y="146"/>
                      <a:pt x="99" y="149"/>
                    </a:cubicBezTo>
                    <a:cubicBezTo>
                      <a:pt x="99" y="149"/>
                      <a:pt x="99" y="149"/>
                      <a:pt x="99" y="149"/>
                    </a:cubicBezTo>
                    <a:cubicBezTo>
                      <a:pt x="99" y="149"/>
                      <a:pt x="99" y="149"/>
                      <a:pt x="100" y="149"/>
                    </a:cubicBezTo>
                    <a:cubicBezTo>
                      <a:pt x="100" y="149"/>
                      <a:pt x="100" y="149"/>
                      <a:pt x="100" y="149"/>
                    </a:cubicBezTo>
                    <a:cubicBezTo>
                      <a:pt x="100" y="149"/>
                      <a:pt x="100" y="149"/>
                      <a:pt x="101" y="149"/>
                    </a:cubicBezTo>
                    <a:cubicBezTo>
                      <a:pt x="101" y="149"/>
                      <a:pt x="101" y="149"/>
                      <a:pt x="101" y="149"/>
                    </a:cubicBezTo>
                    <a:cubicBezTo>
                      <a:pt x="115" y="146"/>
                      <a:pt x="130" y="145"/>
                      <a:pt x="146" y="145"/>
                    </a:cubicBezTo>
                    <a:cubicBezTo>
                      <a:pt x="162" y="145"/>
                      <a:pt x="178" y="146"/>
                      <a:pt x="192" y="149"/>
                    </a:cubicBezTo>
                    <a:cubicBezTo>
                      <a:pt x="192" y="149"/>
                      <a:pt x="192" y="149"/>
                      <a:pt x="193" y="149"/>
                    </a:cubicBezTo>
                    <a:cubicBezTo>
                      <a:pt x="194" y="149"/>
                      <a:pt x="196" y="148"/>
                      <a:pt x="197" y="147"/>
                    </a:cubicBezTo>
                    <a:cubicBezTo>
                      <a:pt x="199" y="146"/>
                      <a:pt x="200" y="144"/>
                      <a:pt x="200" y="142"/>
                    </a:cubicBezTo>
                    <a:cubicBezTo>
                      <a:pt x="200" y="20"/>
                      <a:pt x="200" y="20"/>
                      <a:pt x="200" y="20"/>
                    </a:cubicBezTo>
                    <a:cubicBezTo>
                      <a:pt x="200" y="11"/>
                      <a:pt x="190" y="6"/>
                      <a:pt x="177" y="3"/>
                    </a:cubicBezTo>
                    <a:close/>
                    <a:moveTo>
                      <a:pt x="93" y="134"/>
                    </a:moveTo>
                    <a:cubicBezTo>
                      <a:pt x="80" y="132"/>
                      <a:pt x="67" y="131"/>
                      <a:pt x="53" y="131"/>
                    </a:cubicBezTo>
                    <a:cubicBezTo>
                      <a:pt x="40" y="131"/>
                      <a:pt x="26" y="132"/>
                      <a:pt x="14" y="134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6" y="18"/>
                      <a:pt x="30" y="14"/>
                      <a:pt x="53" y="14"/>
                    </a:cubicBezTo>
                    <a:cubicBezTo>
                      <a:pt x="76" y="14"/>
                      <a:pt x="90" y="18"/>
                      <a:pt x="93" y="21"/>
                    </a:cubicBezTo>
                    <a:lnTo>
                      <a:pt x="93" y="134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18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67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endParaRPr>
              </a:p>
            </p:txBody>
          </p:sp>
        </p:grpSp>
      </p:grpSp>
      <p:grpSp>
        <p:nvGrpSpPr>
          <p:cNvPr id="73" name="组合 72"/>
          <p:cNvGrpSpPr/>
          <p:nvPr/>
        </p:nvGrpSpPr>
        <p:grpSpPr>
          <a:xfrm>
            <a:off x="9858482" y="2882545"/>
            <a:ext cx="999564" cy="1001763"/>
            <a:chOff x="3437020" y="5246272"/>
            <a:chExt cx="863676" cy="865576"/>
          </a:xfrm>
        </p:grpSpPr>
        <p:sp>
          <p:nvSpPr>
            <p:cNvPr id="74" name="椭圆 21"/>
            <p:cNvSpPr>
              <a:spLocks noChangeArrowheads="1"/>
            </p:cNvSpPr>
            <p:nvPr/>
          </p:nvSpPr>
          <p:spPr bwMode="auto">
            <a:xfrm>
              <a:off x="3437020" y="5246272"/>
              <a:ext cx="863676" cy="86557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>
                  <a:lumMod val="75000"/>
                </a:schemeClr>
              </a:solidFill>
              <a:miter lim="800000"/>
              <a:headEnd/>
              <a:tailEnd/>
            </a:ln>
          </p:spPr>
          <p:txBody>
            <a:bodyPr anchor="ctr"/>
            <a:lstStyle>
              <a:lvl1pPr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  <a:sym typeface="Calibri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  <a:sym typeface="Calibri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  <a:sym typeface="Calibri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  <a:sym typeface="Calibri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  <a:sym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  <a:sym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  <a:sym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  <a:sym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  <a:sym typeface="Calibri" pitchFamily="34" charset="0"/>
                </a:defRPr>
              </a:lvl9pPr>
            </a:lstStyle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Arial" charset="0"/>
                <a:buNone/>
                <a:tabLst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  <a:sym typeface="微软雅黑" pitchFamily="34" charset="-122"/>
              </a:endParaRPr>
            </a:p>
          </p:txBody>
        </p:sp>
        <p:sp>
          <p:nvSpPr>
            <p:cNvPr id="75" name="Freeform 9"/>
            <p:cNvSpPr>
              <a:spLocks noEditPoints="1"/>
            </p:cNvSpPr>
            <p:nvPr/>
          </p:nvSpPr>
          <p:spPr bwMode="auto">
            <a:xfrm>
              <a:off x="3564624" y="5446833"/>
              <a:ext cx="605440" cy="464249"/>
            </a:xfrm>
            <a:custGeom>
              <a:avLst/>
              <a:gdLst>
                <a:gd name="T0" fmla="*/ 16 w 104"/>
                <a:gd name="T1" fmla="*/ 2 h 79"/>
                <a:gd name="T2" fmla="*/ 27 w 104"/>
                <a:gd name="T3" fmla="*/ 4 h 79"/>
                <a:gd name="T4" fmla="*/ 19 w 104"/>
                <a:gd name="T5" fmla="*/ 48 h 79"/>
                <a:gd name="T6" fmla="*/ 4 w 104"/>
                <a:gd name="T7" fmla="*/ 45 h 79"/>
                <a:gd name="T8" fmla="*/ 16 w 104"/>
                <a:gd name="T9" fmla="*/ 2 h 79"/>
                <a:gd name="T10" fmla="*/ 18 w 104"/>
                <a:gd name="T11" fmla="*/ 65 h 79"/>
                <a:gd name="T12" fmla="*/ 16 w 104"/>
                <a:gd name="T13" fmla="*/ 72 h 79"/>
                <a:gd name="T14" fmla="*/ 101 w 104"/>
                <a:gd name="T15" fmla="*/ 72 h 79"/>
                <a:gd name="T16" fmla="*/ 104 w 104"/>
                <a:gd name="T17" fmla="*/ 72 h 79"/>
                <a:gd name="T18" fmla="*/ 104 w 104"/>
                <a:gd name="T19" fmla="*/ 68 h 79"/>
                <a:gd name="T20" fmla="*/ 104 w 104"/>
                <a:gd name="T21" fmla="*/ 26 h 79"/>
                <a:gd name="T22" fmla="*/ 104 w 104"/>
                <a:gd name="T23" fmla="*/ 24 h 79"/>
                <a:gd name="T24" fmla="*/ 103 w 104"/>
                <a:gd name="T25" fmla="*/ 23 h 79"/>
                <a:gd name="T26" fmla="*/ 90 w 104"/>
                <a:gd name="T27" fmla="*/ 10 h 79"/>
                <a:gd name="T28" fmla="*/ 89 w 104"/>
                <a:gd name="T29" fmla="*/ 9 h 79"/>
                <a:gd name="T30" fmla="*/ 87 w 104"/>
                <a:gd name="T31" fmla="*/ 9 h 79"/>
                <a:gd name="T32" fmla="*/ 31 w 104"/>
                <a:gd name="T33" fmla="*/ 9 h 79"/>
                <a:gd name="T34" fmla="*/ 31 w 104"/>
                <a:gd name="T35" fmla="*/ 17 h 79"/>
                <a:gd name="T36" fmla="*/ 84 w 104"/>
                <a:gd name="T37" fmla="*/ 17 h 79"/>
                <a:gd name="T38" fmla="*/ 83 w 104"/>
                <a:gd name="T39" fmla="*/ 28 h 79"/>
                <a:gd name="T40" fmla="*/ 83 w 104"/>
                <a:gd name="T41" fmla="*/ 30 h 79"/>
                <a:gd name="T42" fmla="*/ 85 w 104"/>
                <a:gd name="T43" fmla="*/ 30 h 79"/>
                <a:gd name="T44" fmla="*/ 97 w 104"/>
                <a:gd name="T45" fmla="*/ 29 h 79"/>
                <a:gd name="T46" fmla="*/ 97 w 104"/>
                <a:gd name="T47" fmla="*/ 65 h 79"/>
                <a:gd name="T48" fmla="*/ 18 w 104"/>
                <a:gd name="T49" fmla="*/ 65 h 79"/>
                <a:gd name="T50" fmla="*/ 95 w 104"/>
                <a:gd name="T51" fmla="*/ 26 h 79"/>
                <a:gd name="T52" fmla="*/ 86 w 104"/>
                <a:gd name="T53" fmla="*/ 26 h 79"/>
                <a:gd name="T54" fmla="*/ 87 w 104"/>
                <a:gd name="T55" fmla="*/ 18 h 79"/>
                <a:gd name="T56" fmla="*/ 95 w 104"/>
                <a:gd name="T57" fmla="*/ 26 h 79"/>
                <a:gd name="T58" fmla="*/ 32 w 104"/>
                <a:gd name="T59" fmla="*/ 43 h 79"/>
                <a:gd name="T60" fmla="*/ 74 w 104"/>
                <a:gd name="T61" fmla="*/ 43 h 79"/>
                <a:gd name="T62" fmla="*/ 74 w 104"/>
                <a:gd name="T63" fmla="*/ 45 h 79"/>
                <a:gd name="T64" fmla="*/ 32 w 104"/>
                <a:gd name="T65" fmla="*/ 45 h 79"/>
                <a:gd name="T66" fmla="*/ 32 w 104"/>
                <a:gd name="T67" fmla="*/ 43 h 79"/>
                <a:gd name="T68" fmla="*/ 32 w 104"/>
                <a:gd name="T69" fmla="*/ 32 h 79"/>
                <a:gd name="T70" fmla="*/ 71 w 104"/>
                <a:gd name="T71" fmla="*/ 32 h 79"/>
                <a:gd name="T72" fmla="*/ 71 w 104"/>
                <a:gd name="T73" fmla="*/ 35 h 79"/>
                <a:gd name="T74" fmla="*/ 32 w 104"/>
                <a:gd name="T75" fmla="*/ 35 h 79"/>
                <a:gd name="T76" fmla="*/ 32 w 104"/>
                <a:gd name="T77" fmla="*/ 32 h 79"/>
                <a:gd name="T78" fmla="*/ 32 w 104"/>
                <a:gd name="T79" fmla="*/ 22 h 79"/>
                <a:gd name="T80" fmla="*/ 71 w 104"/>
                <a:gd name="T81" fmla="*/ 22 h 79"/>
                <a:gd name="T82" fmla="*/ 71 w 104"/>
                <a:gd name="T83" fmla="*/ 25 h 79"/>
                <a:gd name="T84" fmla="*/ 32 w 104"/>
                <a:gd name="T85" fmla="*/ 25 h 79"/>
                <a:gd name="T86" fmla="*/ 32 w 104"/>
                <a:gd name="T87" fmla="*/ 22 h 79"/>
                <a:gd name="T88" fmla="*/ 3 w 104"/>
                <a:gd name="T89" fmla="*/ 66 h 79"/>
                <a:gd name="T90" fmla="*/ 9 w 104"/>
                <a:gd name="T91" fmla="*/ 68 h 79"/>
                <a:gd name="T92" fmla="*/ 9 w 104"/>
                <a:gd name="T93" fmla="*/ 74 h 79"/>
                <a:gd name="T94" fmla="*/ 5 w 104"/>
                <a:gd name="T95" fmla="*/ 79 h 79"/>
                <a:gd name="T96" fmla="*/ 2 w 104"/>
                <a:gd name="T97" fmla="*/ 78 h 79"/>
                <a:gd name="T98" fmla="*/ 0 w 104"/>
                <a:gd name="T99" fmla="*/ 72 h 79"/>
                <a:gd name="T100" fmla="*/ 3 w 104"/>
                <a:gd name="T101" fmla="*/ 66 h 79"/>
                <a:gd name="T102" fmla="*/ 4 w 104"/>
                <a:gd name="T103" fmla="*/ 48 h 79"/>
                <a:gd name="T104" fmla="*/ 2 w 104"/>
                <a:gd name="T105" fmla="*/ 65 h 79"/>
                <a:gd name="T106" fmla="*/ 12 w 104"/>
                <a:gd name="T107" fmla="*/ 67 h 79"/>
                <a:gd name="T108" fmla="*/ 17 w 104"/>
                <a:gd name="T109" fmla="*/ 51 h 79"/>
                <a:gd name="T110" fmla="*/ 4 w 104"/>
                <a:gd name="T111" fmla="*/ 48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04" h="79">
                  <a:moveTo>
                    <a:pt x="16" y="2"/>
                  </a:moveTo>
                  <a:cubicBezTo>
                    <a:pt x="21" y="0"/>
                    <a:pt x="24" y="1"/>
                    <a:pt x="27" y="4"/>
                  </a:cubicBezTo>
                  <a:cubicBezTo>
                    <a:pt x="26" y="20"/>
                    <a:pt x="23" y="35"/>
                    <a:pt x="19" y="48"/>
                  </a:cubicBezTo>
                  <a:cubicBezTo>
                    <a:pt x="14" y="47"/>
                    <a:pt x="9" y="46"/>
                    <a:pt x="4" y="45"/>
                  </a:cubicBezTo>
                  <a:cubicBezTo>
                    <a:pt x="6" y="29"/>
                    <a:pt x="10" y="15"/>
                    <a:pt x="16" y="2"/>
                  </a:cubicBezTo>
                  <a:close/>
                  <a:moveTo>
                    <a:pt x="18" y="65"/>
                  </a:moveTo>
                  <a:cubicBezTo>
                    <a:pt x="16" y="72"/>
                    <a:pt x="16" y="72"/>
                    <a:pt x="16" y="72"/>
                  </a:cubicBezTo>
                  <a:cubicBezTo>
                    <a:pt x="69" y="72"/>
                    <a:pt x="74" y="72"/>
                    <a:pt x="101" y="72"/>
                  </a:cubicBezTo>
                  <a:cubicBezTo>
                    <a:pt x="104" y="72"/>
                    <a:pt x="104" y="72"/>
                    <a:pt x="104" y="72"/>
                  </a:cubicBezTo>
                  <a:cubicBezTo>
                    <a:pt x="104" y="68"/>
                    <a:pt x="104" y="68"/>
                    <a:pt x="104" y="68"/>
                  </a:cubicBezTo>
                  <a:cubicBezTo>
                    <a:pt x="104" y="26"/>
                    <a:pt x="104" y="26"/>
                    <a:pt x="104" y="26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31" y="9"/>
                    <a:pt x="31" y="9"/>
                    <a:pt x="31" y="9"/>
                  </a:cubicBezTo>
                  <a:cubicBezTo>
                    <a:pt x="31" y="12"/>
                    <a:pt x="31" y="14"/>
                    <a:pt x="31" y="17"/>
                  </a:cubicBezTo>
                  <a:cubicBezTo>
                    <a:pt x="84" y="17"/>
                    <a:pt x="84" y="17"/>
                    <a:pt x="84" y="17"/>
                  </a:cubicBezTo>
                  <a:cubicBezTo>
                    <a:pt x="83" y="28"/>
                    <a:pt x="83" y="28"/>
                    <a:pt x="83" y="28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5" y="30"/>
                    <a:pt x="85" y="30"/>
                    <a:pt x="85" y="30"/>
                  </a:cubicBezTo>
                  <a:cubicBezTo>
                    <a:pt x="97" y="29"/>
                    <a:pt x="97" y="29"/>
                    <a:pt x="97" y="29"/>
                  </a:cubicBezTo>
                  <a:cubicBezTo>
                    <a:pt x="97" y="65"/>
                    <a:pt x="97" y="65"/>
                    <a:pt x="97" y="65"/>
                  </a:cubicBezTo>
                  <a:cubicBezTo>
                    <a:pt x="79" y="65"/>
                    <a:pt x="57" y="65"/>
                    <a:pt x="18" y="65"/>
                  </a:cubicBezTo>
                  <a:close/>
                  <a:moveTo>
                    <a:pt x="95" y="26"/>
                  </a:moveTo>
                  <a:cubicBezTo>
                    <a:pt x="86" y="26"/>
                    <a:pt x="86" y="26"/>
                    <a:pt x="86" y="26"/>
                  </a:cubicBezTo>
                  <a:cubicBezTo>
                    <a:pt x="87" y="18"/>
                    <a:pt x="87" y="18"/>
                    <a:pt x="87" y="18"/>
                  </a:cubicBezTo>
                  <a:cubicBezTo>
                    <a:pt x="95" y="26"/>
                    <a:pt x="95" y="26"/>
                    <a:pt x="95" y="26"/>
                  </a:cubicBezTo>
                  <a:close/>
                  <a:moveTo>
                    <a:pt x="32" y="43"/>
                  </a:moveTo>
                  <a:cubicBezTo>
                    <a:pt x="74" y="43"/>
                    <a:pt x="74" y="43"/>
                    <a:pt x="74" y="43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32" y="45"/>
                    <a:pt x="32" y="45"/>
                    <a:pt x="32" y="45"/>
                  </a:cubicBezTo>
                  <a:cubicBezTo>
                    <a:pt x="32" y="43"/>
                    <a:pt x="32" y="43"/>
                    <a:pt x="32" y="43"/>
                  </a:cubicBezTo>
                  <a:close/>
                  <a:moveTo>
                    <a:pt x="32" y="32"/>
                  </a:moveTo>
                  <a:cubicBezTo>
                    <a:pt x="71" y="32"/>
                    <a:pt x="71" y="32"/>
                    <a:pt x="71" y="32"/>
                  </a:cubicBezTo>
                  <a:cubicBezTo>
                    <a:pt x="71" y="35"/>
                    <a:pt x="71" y="35"/>
                    <a:pt x="71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2" y="32"/>
                    <a:pt x="32" y="32"/>
                    <a:pt x="32" y="32"/>
                  </a:cubicBezTo>
                  <a:close/>
                  <a:moveTo>
                    <a:pt x="32" y="22"/>
                  </a:moveTo>
                  <a:cubicBezTo>
                    <a:pt x="71" y="22"/>
                    <a:pt x="71" y="22"/>
                    <a:pt x="71" y="22"/>
                  </a:cubicBezTo>
                  <a:cubicBezTo>
                    <a:pt x="71" y="25"/>
                    <a:pt x="71" y="25"/>
                    <a:pt x="71" y="25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2" y="22"/>
                    <a:pt x="32" y="22"/>
                    <a:pt x="32" y="22"/>
                  </a:cubicBezTo>
                  <a:close/>
                  <a:moveTo>
                    <a:pt x="3" y="66"/>
                  </a:moveTo>
                  <a:cubicBezTo>
                    <a:pt x="9" y="68"/>
                    <a:pt x="9" y="68"/>
                    <a:pt x="9" y="68"/>
                  </a:cubicBezTo>
                  <a:cubicBezTo>
                    <a:pt x="9" y="74"/>
                    <a:pt x="9" y="74"/>
                    <a:pt x="9" y="74"/>
                  </a:cubicBezTo>
                  <a:cubicBezTo>
                    <a:pt x="5" y="79"/>
                    <a:pt x="5" y="79"/>
                    <a:pt x="5" y="79"/>
                  </a:cubicBezTo>
                  <a:cubicBezTo>
                    <a:pt x="4" y="79"/>
                    <a:pt x="3" y="79"/>
                    <a:pt x="2" y="78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3" y="66"/>
                    <a:pt x="3" y="66"/>
                    <a:pt x="3" y="66"/>
                  </a:cubicBezTo>
                  <a:close/>
                  <a:moveTo>
                    <a:pt x="4" y="48"/>
                  </a:moveTo>
                  <a:cubicBezTo>
                    <a:pt x="3" y="53"/>
                    <a:pt x="3" y="59"/>
                    <a:pt x="2" y="65"/>
                  </a:cubicBezTo>
                  <a:cubicBezTo>
                    <a:pt x="5" y="65"/>
                    <a:pt x="9" y="66"/>
                    <a:pt x="12" y="67"/>
                  </a:cubicBezTo>
                  <a:cubicBezTo>
                    <a:pt x="14" y="61"/>
                    <a:pt x="15" y="56"/>
                    <a:pt x="17" y="51"/>
                  </a:cubicBezTo>
                  <a:cubicBezTo>
                    <a:pt x="13" y="50"/>
                    <a:pt x="9" y="49"/>
                    <a:pt x="4" y="4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67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</p:grpSp>
      <p:sp>
        <p:nvSpPr>
          <p:cNvPr id="149" name="TextBox 148"/>
          <p:cNvSpPr txBox="1"/>
          <p:nvPr/>
        </p:nvSpPr>
        <p:spPr>
          <a:xfrm>
            <a:off x="1467852" y="936447"/>
            <a:ext cx="1828800" cy="502920"/>
          </a:xfrm>
          <a:prstGeom prst="rect">
            <a:avLst/>
          </a:prstGeom>
          <a:noFill/>
        </p:spPr>
        <p:txBody>
          <a:bodyPr wrap="square" lIns="50800" tIns="25400" rIns="50800" bIns="25400">
            <a:normAutofit lnSpcReduction="10000"/>
          </a:bodyPr>
          <a:lstStyle/>
          <a:p>
            <a:r>
              <a:rPr sz="3200" b="1" dirty="0" err="1">
                <a:solidFill>
                  <a:schemeClr val="bg1"/>
                </a:solidFill>
                <a:latin typeface="KaiTi"/>
              </a:rPr>
              <a:t>目录</a:t>
            </a:r>
            <a:endParaRPr sz="3200" b="1" dirty="0">
              <a:solidFill>
                <a:schemeClr val="bg1"/>
              </a:solidFill>
              <a:latin typeface="KaiTi"/>
            </a:endParaRPr>
          </a:p>
        </p:txBody>
      </p:sp>
      <p:sp>
        <p:nvSpPr>
          <p:cNvPr id="150" name="TextBox 149"/>
          <p:cNvSpPr txBox="1"/>
          <p:nvPr/>
        </p:nvSpPr>
        <p:spPr>
          <a:xfrm>
            <a:off x="1339939" y="1464736"/>
            <a:ext cx="2377440" cy="274320"/>
          </a:xfrm>
          <a:prstGeom prst="rect">
            <a:avLst/>
          </a:prstGeom>
          <a:noFill/>
        </p:spPr>
        <p:txBody>
          <a:bodyPr wrap="square" lIns="50800" tIns="25400" rIns="50800" bIns="25400">
            <a:normAutofit lnSpcReduction="10000"/>
          </a:bodyPr>
          <a:lstStyle/>
          <a:p>
            <a:r>
              <a:rPr sz="1500" b="1" dirty="0">
                <a:solidFill>
                  <a:schemeClr val="bg1"/>
                </a:solidFill>
                <a:latin typeface="Microsoft YaHei"/>
              </a:rPr>
              <a:t>CONTENTS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254CC912-78A8-DFDD-9851-CF7EB738C38A}"/>
              </a:ext>
            </a:extLst>
          </p:cNvPr>
          <p:cNvGrpSpPr/>
          <p:nvPr/>
        </p:nvGrpSpPr>
        <p:grpSpPr>
          <a:xfrm>
            <a:off x="298003" y="3026088"/>
            <a:ext cx="4480561" cy="384048"/>
            <a:chOff x="1874519" y="1856231"/>
            <a:chExt cx="4480561" cy="384048"/>
          </a:xfrm>
        </p:grpSpPr>
        <p:sp>
          <p:nvSpPr>
            <p:cNvPr id="151" name="TextBox 150"/>
            <p:cNvSpPr txBox="1"/>
            <p:nvPr/>
          </p:nvSpPr>
          <p:spPr>
            <a:xfrm>
              <a:off x="1874519" y="1874519"/>
              <a:ext cx="502920" cy="320040"/>
            </a:xfrm>
            <a:prstGeom prst="rect">
              <a:avLst/>
            </a:prstGeom>
            <a:noFill/>
          </p:spPr>
          <p:txBody>
            <a:bodyPr wrap="square" lIns="50800" tIns="25400" rIns="50800" bIns="25400">
              <a:normAutofit/>
            </a:bodyPr>
            <a:lstStyle/>
            <a:p>
              <a:r>
                <a:rPr sz="1600" b="1">
                  <a:solidFill>
                    <a:srgbClr val="000000"/>
                  </a:solidFill>
                  <a:latin typeface="Microsoft YaHei"/>
                </a:rPr>
                <a:t>01</a:t>
              </a:r>
            </a:p>
          </p:txBody>
        </p:sp>
        <p:sp>
          <p:nvSpPr>
            <p:cNvPr id="152" name="TextBox 151"/>
            <p:cNvSpPr txBox="1"/>
            <p:nvPr/>
          </p:nvSpPr>
          <p:spPr>
            <a:xfrm>
              <a:off x="2514600" y="1856231"/>
              <a:ext cx="3840480" cy="384048"/>
            </a:xfrm>
            <a:prstGeom prst="rect">
              <a:avLst/>
            </a:prstGeom>
            <a:noFill/>
          </p:spPr>
          <p:txBody>
            <a:bodyPr wrap="square" lIns="50800" tIns="25400" rIns="50800" bIns="25400">
              <a:normAutofit lnSpcReduction="10000"/>
            </a:bodyPr>
            <a:lstStyle/>
            <a:p>
              <a:r>
                <a:rPr sz="2200" b="1" dirty="0" err="1">
                  <a:solidFill>
                    <a:srgbClr val="000000"/>
                  </a:solidFill>
                  <a:latin typeface="Microsoft YaHei"/>
                </a:rPr>
                <a:t>研究背景与任务定义</a:t>
              </a:r>
              <a:endParaRPr sz="2200" b="1" dirty="0">
                <a:solidFill>
                  <a:srgbClr val="000000"/>
                </a:solidFill>
                <a:latin typeface="Microsoft YaHei"/>
              </a:endParaRP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348222BF-D879-11AB-F1CC-B6D01B580BBF}"/>
              </a:ext>
            </a:extLst>
          </p:cNvPr>
          <p:cNvGrpSpPr/>
          <p:nvPr/>
        </p:nvGrpSpPr>
        <p:grpSpPr>
          <a:xfrm>
            <a:off x="3255744" y="5149092"/>
            <a:ext cx="4480561" cy="384048"/>
            <a:chOff x="1874519" y="2587751"/>
            <a:chExt cx="4480561" cy="384048"/>
          </a:xfrm>
        </p:grpSpPr>
        <p:sp>
          <p:nvSpPr>
            <p:cNvPr id="153" name="TextBox 152"/>
            <p:cNvSpPr txBox="1"/>
            <p:nvPr/>
          </p:nvSpPr>
          <p:spPr>
            <a:xfrm>
              <a:off x="1874519" y="2606039"/>
              <a:ext cx="502920" cy="320040"/>
            </a:xfrm>
            <a:prstGeom prst="rect">
              <a:avLst/>
            </a:prstGeom>
            <a:noFill/>
          </p:spPr>
          <p:txBody>
            <a:bodyPr wrap="square" lIns="50800" tIns="25400" rIns="50800" bIns="25400">
              <a:normAutofit/>
            </a:bodyPr>
            <a:lstStyle/>
            <a:p>
              <a:r>
                <a:rPr sz="1600" b="1">
                  <a:solidFill>
                    <a:srgbClr val="000000"/>
                  </a:solidFill>
                  <a:latin typeface="Microsoft YaHei"/>
                </a:rPr>
                <a:t>02</a:t>
              </a:r>
            </a:p>
          </p:txBody>
        </p:sp>
        <p:sp>
          <p:nvSpPr>
            <p:cNvPr id="154" name="TextBox 153"/>
            <p:cNvSpPr txBox="1"/>
            <p:nvPr/>
          </p:nvSpPr>
          <p:spPr>
            <a:xfrm>
              <a:off x="2514600" y="2587751"/>
              <a:ext cx="3840480" cy="384048"/>
            </a:xfrm>
            <a:prstGeom prst="rect">
              <a:avLst/>
            </a:prstGeom>
            <a:noFill/>
          </p:spPr>
          <p:txBody>
            <a:bodyPr wrap="square" lIns="50800" tIns="25400" rIns="50800" bIns="25400">
              <a:normAutofit lnSpcReduction="10000"/>
            </a:bodyPr>
            <a:lstStyle/>
            <a:p>
              <a:r>
                <a:rPr sz="2200" b="1" dirty="0" err="1">
                  <a:solidFill>
                    <a:srgbClr val="000000"/>
                  </a:solidFill>
                  <a:latin typeface="Microsoft YaHei"/>
                </a:rPr>
                <a:t>级联多模态模型设计</a:t>
              </a:r>
              <a:endParaRPr sz="2200" b="1" dirty="0">
                <a:solidFill>
                  <a:srgbClr val="000000"/>
                </a:solidFill>
                <a:latin typeface="Microsoft YaHei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05C8A0FB-338E-9162-9393-5F8F07D2B463}"/>
              </a:ext>
            </a:extLst>
          </p:cNvPr>
          <p:cNvGrpSpPr/>
          <p:nvPr/>
        </p:nvGrpSpPr>
        <p:grpSpPr>
          <a:xfrm>
            <a:off x="5604309" y="2206542"/>
            <a:ext cx="4480561" cy="384048"/>
            <a:chOff x="1874519" y="3319272"/>
            <a:chExt cx="4480561" cy="384048"/>
          </a:xfrm>
        </p:grpSpPr>
        <p:sp>
          <p:nvSpPr>
            <p:cNvPr id="155" name="TextBox 154"/>
            <p:cNvSpPr txBox="1"/>
            <p:nvPr/>
          </p:nvSpPr>
          <p:spPr>
            <a:xfrm>
              <a:off x="1874519" y="3337560"/>
              <a:ext cx="502920" cy="320040"/>
            </a:xfrm>
            <a:prstGeom prst="rect">
              <a:avLst/>
            </a:prstGeom>
            <a:noFill/>
          </p:spPr>
          <p:txBody>
            <a:bodyPr wrap="square" lIns="50800" tIns="25400" rIns="50800" bIns="25400">
              <a:normAutofit/>
            </a:bodyPr>
            <a:lstStyle/>
            <a:p>
              <a:r>
                <a:rPr sz="1600" b="1">
                  <a:solidFill>
                    <a:srgbClr val="000000"/>
                  </a:solidFill>
                  <a:latin typeface="Microsoft YaHei"/>
                </a:rPr>
                <a:t>03</a:t>
              </a:r>
            </a:p>
          </p:txBody>
        </p:sp>
        <p:sp>
          <p:nvSpPr>
            <p:cNvPr id="156" name="TextBox 155"/>
            <p:cNvSpPr txBox="1"/>
            <p:nvPr/>
          </p:nvSpPr>
          <p:spPr>
            <a:xfrm>
              <a:off x="2514600" y="3319272"/>
              <a:ext cx="3840480" cy="384048"/>
            </a:xfrm>
            <a:prstGeom prst="rect">
              <a:avLst/>
            </a:prstGeom>
            <a:noFill/>
          </p:spPr>
          <p:txBody>
            <a:bodyPr wrap="square" lIns="50800" tIns="25400" rIns="50800" bIns="25400">
              <a:normAutofit lnSpcReduction="10000"/>
            </a:bodyPr>
            <a:lstStyle/>
            <a:p>
              <a:r>
                <a:rPr sz="2200" b="1" dirty="0" err="1">
                  <a:solidFill>
                    <a:srgbClr val="000000"/>
                  </a:solidFill>
                  <a:latin typeface="Microsoft YaHei"/>
                </a:rPr>
                <a:t>实验结果与模型分析</a:t>
              </a:r>
              <a:endParaRPr sz="2200" b="1" dirty="0">
                <a:solidFill>
                  <a:srgbClr val="000000"/>
                </a:solidFill>
                <a:latin typeface="Microsoft YaHei"/>
              </a:endParaRP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819FE1A0-AD67-E309-ABF2-F9138A672C46}"/>
              </a:ext>
            </a:extLst>
          </p:cNvPr>
          <p:cNvGrpSpPr/>
          <p:nvPr/>
        </p:nvGrpSpPr>
        <p:grpSpPr>
          <a:xfrm>
            <a:off x="9239093" y="4253974"/>
            <a:ext cx="4480561" cy="384048"/>
            <a:chOff x="1874519" y="4050792"/>
            <a:chExt cx="4480561" cy="384048"/>
          </a:xfrm>
        </p:grpSpPr>
        <p:sp>
          <p:nvSpPr>
            <p:cNvPr id="157" name="TextBox 156"/>
            <p:cNvSpPr txBox="1"/>
            <p:nvPr/>
          </p:nvSpPr>
          <p:spPr>
            <a:xfrm>
              <a:off x="1874519" y="4069080"/>
              <a:ext cx="502920" cy="320040"/>
            </a:xfrm>
            <a:prstGeom prst="rect">
              <a:avLst/>
            </a:prstGeom>
            <a:noFill/>
          </p:spPr>
          <p:txBody>
            <a:bodyPr wrap="square" lIns="50800" tIns="25400" rIns="50800" bIns="25400">
              <a:normAutofit/>
            </a:bodyPr>
            <a:lstStyle/>
            <a:p>
              <a:r>
                <a:rPr sz="1600" b="1">
                  <a:solidFill>
                    <a:srgbClr val="000000"/>
                  </a:solidFill>
                  <a:latin typeface="Microsoft YaHei"/>
                </a:rPr>
                <a:t>04</a:t>
              </a:r>
            </a:p>
          </p:txBody>
        </p:sp>
        <p:sp>
          <p:nvSpPr>
            <p:cNvPr id="158" name="TextBox 157"/>
            <p:cNvSpPr txBox="1"/>
            <p:nvPr/>
          </p:nvSpPr>
          <p:spPr>
            <a:xfrm>
              <a:off x="2514600" y="4050792"/>
              <a:ext cx="3840480" cy="384048"/>
            </a:xfrm>
            <a:prstGeom prst="rect">
              <a:avLst/>
            </a:prstGeom>
            <a:noFill/>
          </p:spPr>
          <p:txBody>
            <a:bodyPr wrap="square" lIns="50800" tIns="25400" rIns="50800" bIns="25400">
              <a:normAutofit lnSpcReduction="10000"/>
            </a:bodyPr>
            <a:lstStyle/>
            <a:p>
              <a:r>
                <a:rPr sz="2200" b="1" dirty="0" err="1">
                  <a:solidFill>
                    <a:srgbClr val="000000"/>
                  </a:solidFill>
                  <a:latin typeface="Microsoft YaHei"/>
                </a:rPr>
                <a:t>总结与展望</a:t>
              </a:r>
              <a:endParaRPr sz="2200" b="1" dirty="0">
                <a:solidFill>
                  <a:srgbClr val="000000"/>
                </a:solidFill>
                <a:latin typeface="Microsoft YaHei"/>
              </a:endParaRPr>
            </a:p>
          </p:txBody>
        </p:sp>
      </p:grpSp>
      <p:sp>
        <p:nvSpPr>
          <p:cNvPr id="10" name="AutoShape 11">
            <a:extLst>
              <a:ext uri="{FF2B5EF4-FFF2-40B4-BE49-F238E27FC236}">
                <a16:creationId xmlns:a16="http://schemas.microsoft.com/office/drawing/2014/main" id="{B2E77039-63B4-0DB3-4A6E-7E246F0BD988}"/>
              </a:ext>
            </a:extLst>
          </p:cNvPr>
          <p:cNvSpPr/>
          <p:nvPr/>
        </p:nvSpPr>
        <p:spPr>
          <a:xfrm>
            <a:off x="127000" y="6235700"/>
            <a:ext cx="2706688" cy="482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900" b="1" i="0" u="none" strike="noStrike" dirty="0" err="1">
                <a:solidFill>
                  <a:srgbClr val="000000"/>
                </a:solidFill>
                <a:latin typeface="华文隶书"/>
                <a:ea typeface="华文隶书"/>
                <a:cs typeface="华文隶书"/>
                <a:sym typeface="华文隶书"/>
              </a:rPr>
              <a:t>同舟共济</a:t>
            </a:r>
            <a:endParaRPr lang="en-US" sz="1100" b="1" dirty="0"/>
          </a:p>
        </p:txBody>
      </p:sp>
    </p:spTree>
    <p:extLst>
      <p:ext uri="{BB962C8B-B14F-4D97-AF65-F5344CB8AC3E}">
        <p14:creationId xmlns:p14="http://schemas.microsoft.com/office/powerpoint/2010/main" val="1710332446"/>
      </p:ext>
    </p:extLst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梯形 36"/>
          <p:cNvSpPr/>
          <p:nvPr/>
        </p:nvSpPr>
        <p:spPr>
          <a:xfrm rot="5400000">
            <a:off x="1331640" y="636804"/>
            <a:ext cx="2344067" cy="5007345"/>
          </a:xfrm>
          <a:prstGeom prst="trapezoid">
            <a:avLst>
              <a:gd name="adj" fmla="val 17865"/>
            </a:avLst>
          </a:prstGeom>
          <a:solidFill>
            <a:schemeClr val="bg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5" name="梯形 34"/>
          <p:cNvSpPr/>
          <p:nvPr/>
        </p:nvSpPr>
        <p:spPr>
          <a:xfrm rot="16200000">
            <a:off x="7446198" y="-451317"/>
            <a:ext cx="2291737" cy="7199871"/>
          </a:xfrm>
          <a:prstGeom prst="trapezoid">
            <a:avLst>
              <a:gd name="adj" fmla="val 16935"/>
            </a:avLst>
          </a:prstGeom>
          <a:solidFill>
            <a:srgbClr val="0058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6" name="文本框 1"/>
          <p:cNvSpPr txBox="1"/>
          <p:nvPr/>
        </p:nvSpPr>
        <p:spPr>
          <a:xfrm>
            <a:off x="3729079" y="1779865"/>
            <a:ext cx="1261884" cy="523220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/>
          </a:p>
        </p:txBody>
      </p:sp>
      <p:sp>
        <p:nvSpPr>
          <p:cNvPr id="27" name="文本框 2"/>
          <p:cNvSpPr txBox="1"/>
          <p:nvPr/>
        </p:nvSpPr>
        <p:spPr>
          <a:xfrm>
            <a:off x="3729079" y="2556165"/>
            <a:ext cx="1164101" cy="1200329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7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5638798" y="2692405"/>
            <a:ext cx="1415772" cy="830997"/>
          </a:xfrm>
          <a:prstGeom prst="rect">
            <a:avLst/>
          </a:prstGeom>
        </p:spPr>
        <p:txBody>
          <a:bodyPr wrap="none" lIns="91440" tIns="45720" rIns="91440" bIns="45720">
            <a:spAutoFit/>
          </a:bodyPr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/>
          </a:p>
        </p:txBody>
      </p:sp>
      <p:grpSp>
        <p:nvGrpSpPr>
          <p:cNvPr id="2" name="组合 1"/>
          <p:cNvGrpSpPr/>
          <p:nvPr/>
        </p:nvGrpSpPr>
        <p:grpSpPr>
          <a:xfrm>
            <a:off x="7785008" y="2366027"/>
            <a:ext cx="1570637" cy="1537031"/>
            <a:chOff x="5838758" y="1774520"/>
            <a:chExt cx="1177978" cy="1152773"/>
          </a:xfrm>
        </p:grpSpPr>
        <p:grpSp>
          <p:nvGrpSpPr>
            <p:cNvPr id="31" name="组合 30"/>
            <p:cNvGrpSpPr/>
            <p:nvPr/>
          </p:nvGrpSpPr>
          <p:grpSpPr>
            <a:xfrm>
              <a:off x="5838758" y="1774520"/>
              <a:ext cx="1164021" cy="869113"/>
              <a:chOff x="9140243" y="2649839"/>
              <a:chExt cx="1552027" cy="1158817"/>
            </a:xfrm>
          </p:grpSpPr>
          <p:sp>
            <p:nvSpPr>
              <p:cNvPr id="32" name="矩形 31"/>
              <p:cNvSpPr/>
              <p:nvPr/>
            </p:nvSpPr>
            <p:spPr>
              <a:xfrm>
                <a:off x="9140243" y="2649839"/>
                <a:ext cx="1552027" cy="37965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457189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67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  <a:sym typeface="微软雅黑" pitchFamily="34" charset="-122"/>
                </a:endParaRPr>
              </a:p>
            </p:txBody>
          </p:sp>
          <p:sp>
            <p:nvSpPr>
              <p:cNvPr id="33" name="矩形 32"/>
              <p:cNvSpPr/>
              <p:nvPr/>
            </p:nvSpPr>
            <p:spPr>
              <a:xfrm>
                <a:off x="9140243" y="3037021"/>
                <a:ext cx="1552027" cy="37965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45718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/>
              </a:p>
            </p:txBody>
          </p:sp>
          <p:sp>
            <p:nvSpPr>
              <p:cNvPr id="34" name="矩形 33"/>
              <p:cNvSpPr/>
              <p:nvPr/>
            </p:nvSpPr>
            <p:spPr>
              <a:xfrm>
                <a:off x="9140243" y="3429000"/>
                <a:ext cx="1552027" cy="37965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45718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67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endParaRPr>
              </a:p>
            </p:txBody>
          </p:sp>
        </p:grpSp>
        <p:sp>
          <p:nvSpPr>
            <p:cNvPr id="38" name="矩形 37"/>
            <p:cNvSpPr/>
            <p:nvPr/>
          </p:nvSpPr>
          <p:spPr>
            <a:xfrm>
              <a:off x="5852715" y="2642551"/>
              <a:ext cx="1164021" cy="28474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67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</p:grpSp>
      <p:sp>
        <p:nvSpPr>
          <p:cNvPr id="3" name="椭圆 2">
            <a:extLst>
              <a:ext uri="{FF2B5EF4-FFF2-40B4-BE49-F238E27FC236}">
                <a16:creationId xmlns:a16="http://schemas.microsoft.com/office/drawing/2014/main" id="{676C1634-B3EC-44CF-B11E-2458550271C3}"/>
              </a:ext>
            </a:extLst>
          </p:cNvPr>
          <p:cNvSpPr/>
          <p:nvPr/>
        </p:nvSpPr>
        <p:spPr>
          <a:xfrm>
            <a:off x="464768" y="1391626"/>
            <a:ext cx="3102819" cy="310281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BE35F091-A0E3-4B7C-A5BB-71F75B1A345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7965" y="1504503"/>
            <a:ext cx="2879284" cy="2877064"/>
          </a:xfrm>
          <a:prstGeom prst="rect">
            <a:avLst/>
          </a:prstGeom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737A3244-9666-430D-8F2B-7896D9577AA8}"/>
              </a:ext>
            </a:extLst>
          </p:cNvPr>
          <p:cNvSpPr/>
          <p:nvPr/>
        </p:nvSpPr>
        <p:spPr>
          <a:xfrm>
            <a:off x="129209" y="6241148"/>
            <a:ext cx="1254180" cy="487441"/>
          </a:xfrm>
          <a:prstGeom prst="rect">
            <a:avLst/>
          </a:prstGeom>
        </p:spPr>
        <p:txBody>
          <a:bodyPr wrap="square" lIns="91440" tIns="45720" rIns="91440" bIns="45720">
            <a:spAutoFit/>
          </a:bodyPr>
          <a:lstStyle/>
          <a:p>
            <a:pPr marL="0" marR="0" lvl="0" indent="0" algn="l" defTabSz="457189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809998" y="3002920"/>
            <a:ext cx="1828800" cy="457200"/>
          </a:xfrm>
          <a:prstGeom prst="rect">
            <a:avLst/>
          </a:prstGeom>
          <a:noFill/>
        </p:spPr>
        <p:txBody>
          <a:bodyPr wrap="square" lIns="50800" tIns="25400" rIns="50800" bIns="25400">
            <a:normAutofit/>
          </a:bodyPr>
          <a:lstStyle/>
          <a:p>
            <a:r>
              <a:rPr sz="2400" b="1" dirty="0">
                <a:solidFill>
                  <a:schemeClr val="bg1"/>
                </a:solidFill>
                <a:latin typeface="Microsoft YaHei"/>
              </a:rPr>
              <a:t>Part1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51857" y="2873319"/>
            <a:ext cx="5303520" cy="594360"/>
          </a:xfrm>
          <a:prstGeom prst="rect">
            <a:avLst/>
          </a:prstGeom>
          <a:noFill/>
        </p:spPr>
        <p:txBody>
          <a:bodyPr wrap="square" lIns="50800" tIns="25400" rIns="50800" bIns="25400">
            <a:normAutofit/>
          </a:bodyPr>
          <a:lstStyle/>
          <a:p>
            <a:r>
              <a:rPr sz="3200" b="1" dirty="0" err="1">
                <a:solidFill>
                  <a:schemeClr val="bg1"/>
                </a:solidFill>
                <a:latin typeface="KaiTi"/>
              </a:rPr>
              <a:t>研究背景与任务定义</a:t>
            </a:r>
            <a:endParaRPr sz="3200" b="1" dirty="0">
              <a:solidFill>
                <a:schemeClr val="bg1"/>
              </a:solidFill>
              <a:latin typeface="KaiTi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9412415" y="2681485"/>
            <a:ext cx="5029200" cy="256032"/>
          </a:xfrm>
          <a:prstGeom prst="rect">
            <a:avLst/>
          </a:prstGeom>
          <a:noFill/>
        </p:spPr>
        <p:txBody>
          <a:bodyPr wrap="square" lIns="50800" tIns="25400" rIns="50800" bIns="25400">
            <a:normAutofit fontScale="92500" lnSpcReduction="20000"/>
          </a:bodyPr>
          <a:lstStyle/>
          <a:p>
            <a:r>
              <a:rPr sz="1600" b="0" dirty="0">
                <a:solidFill>
                  <a:schemeClr val="bg1"/>
                </a:solidFill>
                <a:latin typeface="Microsoft YaHei"/>
              </a:rPr>
              <a:t>1-1  </a:t>
            </a:r>
            <a:r>
              <a:rPr sz="1600" b="0" dirty="0" err="1">
                <a:solidFill>
                  <a:schemeClr val="bg1"/>
                </a:solidFill>
                <a:latin typeface="Microsoft YaHei"/>
              </a:rPr>
              <a:t>背景与挑战</a:t>
            </a:r>
            <a:endParaRPr sz="1600" b="0" dirty="0">
              <a:solidFill>
                <a:schemeClr val="bg1"/>
              </a:solidFill>
              <a:latin typeface="Microsoft YaHei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9412415" y="3092643"/>
            <a:ext cx="5029200" cy="256032"/>
          </a:xfrm>
          <a:prstGeom prst="rect">
            <a:avLst/>
          </a:prstGeom>
          <a:noFill/>
        </p:spPr>
        <p:txBody>
          <a:bodyPr wrap="square" lIns="50800" tIns="25400" rIns="50800" bIns="25400">
            <a:normAutofit fontScale="92500" lnSpcReduction="20000"/>
          </a:bodyPr>
          <a:lstStyle/>
          <a:p>
            <a:r>
              <a:rPr sz="1600" b="0" dirty="0">
                <a:solidFill>
                  <a:schemeClr val="bg1"/>
                </a:solidFill>
                <a:latin typeface="Microsoft YaHei"/>
              </a:rPr>
              <a:t>1-2  </a:t>
            </a:r>
            <a:r>
              <a:rPr sz="1600" b="0" dirty="0" err="1">
                <a:solidFill>
                  <a:schemeClr val="bg1"/>
                </a:solidFill>
                <a:latin typeface="Microsoft YaHei"/>
              </a:rPr>
              <a:t>赛题任务</a:t>
            </a:r>
            <a:endParaRPr sz="1600" b="0" dirty="0">
              <a:solidFill>
                <a:schemeClr val="bg1"/>
              </a:solidFill>
              <a:latin typeface="Microsoft YaHei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9412415" y="3531497"/>
            <a:ext cx="5029200" cy="256032"/>
          </a:xfrm>
          <a:prstGeom prst="rect">
            <a:avLst/>
          </a:prstGeom>
          <a:noFill/>
        </p:spPr>
        <p:txBody>
          <a:bodyPr wrap="square" lIns="50800" tIns="25400" rIns="50800" bIns="25400">
            <a:normAutofit fontScale="92500" lnSpcReduction="20000"/>
          </a:bodyPr>
          <a:lstStyle/>
          <a:p>
            <a:r>
              <a:rPr sz="1600" b="0" dirty="0">
                <a:solidFill>
                  <a:schemeClr val="bg1"/>
                </a:solidFill>
                <a:latin typeface="Microsoft YaHei"/>
              </a:rPr>
              <a:t>1-3  </a:t>
            </a:r>
            <a:r>
              <a:rPr sz="1600" b="0" dirty="0" err="1">
                <a:solidFill>
                  <a:schemeClr val="bg1"/>
                </a:solidFill>
                <a:latin typeface="Microsoft YaHei"/>
              </a:rPr>
              <a:t>数据与指标</a:t>
            </a:r>
            <a:endParaRPr sz="1600" b="0" dirty="0">
              <a:solidFill>
                <a:schemeClr val="bg1"/>
              </a:solidFill>
              <a:latin typeface="Microsoft YaHei"/>
            </a:endParaRPr>
          </a:p>
        </p:txBody>
      </p:sp>
      <p:sp>
        <p:nvSpPr>
          <p:cNvPr id="9" name="AutoShape 11">
            <a:extLst>
              <a:ext uri="{FF2B5EF4-FFF2-40B4-BE49-F238E27FC236}">
                <a16:creationId xmlns:a16="http://schemas.microsoft.com/office/drawing/2014/main" id="{0EA4F809-999B-A6C5-18A9-14F03F8A5C77}"/>
              </a:ext>
            </a:extLst>
          </p:cNvPr>
          <p:cNvSpPr/>
          <p:nvPr/>
        </p:nvSpPr>
        <p:spPr>
          <a:xfrm>
            <a:off x="127000" y="6235700"/>
            <a:ext cx="2706688" cy="482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900" b="1" i="0" u="none" strike="noStrike" dirty="0" err="1">
                <a:solidFill>
                  <a:srgbClr val="000000"/>
                </a:solidFill>
                <a:latin typeface="华文隶书"/>
                <a:ea typeface="华文隶书"/>
                <a:cs typeface="华文隶书"/>
                <a:sym typeface="华文隶书"/>
              </a:rPr>
              <a:t>同舟共济</a:t>
            </a:r>
            <a:endParaRPr lang="en-US" sz="1100" b="1" dirty="0"/>
          </a:p>
        </p:txBody>
      </p:sp>
    </p:spTree>
    <p:extLst>
      <p:ext uri="{BB962C8B-B14F-4D97-AF65-F5344CB8AC3E}">
        <p14:creationId xmlns:p14="http://schemas.microsoft.com/office/powerpoint/2010/main" val="1431056302"/>
      </p:ext>
    </p:extLst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组合 78"/>
          <p:cNvGrpSpPr/>
          <p:nvPr/>
        </p:nvGrpSpPr>
        <p:grpSpPr>
          <a:xfrm>
            <a:off x="4417038" y="3545529"/>
            <a:ext cx="2611908" cy="2495879"/>
            <a:chOff x="3065829" y="2668267"/>
            <a:chExt cx="1872107" cy="1761728"/>
          </a:xfrm>
        </p:grpSpPr>
        <p:sp>
          <p:nvSpPr>
            <p:cNvPr id="80" name="椭圆 79"/>
            <p:cNvSpPr/>
            <p:nvPr/>
          </p:nvSpPr>
          <p:spPr>
            <a:xfrm>
              <a:off x="3115072" y="2668267"/>
              <a:ext cx="1761728" cy="1761728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67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81" name="椭圆 80"/>
            <p:cNvSpPr/>
            <p:nvPr/>
          </p:nvSpPr>
          <p:spPr>
            <a:xfrm>
              <a:off x="4442509" y="2761135"/>
              <a:ext cx="119507" cy="11950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67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82" name="椭圆 81"/>
            <p:cNvSpPr/>
            <p:nvPr/>
          </p:nvSpPr>
          <p:spPr>
            <a:xfrm>
              <a:off x="3439209" y="2761135"/>
              <a:ext cx="119507" cy="11950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67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83" name="椭圆 82"/>
            <p:cNvSpPr/>
            <p:nvPr/>
          </p:nvSpPr>
          <p:spPr>
            <a:xfrm>
              <a:off x="3065829" y="3492655"/>
              <a:ext cx="119507" cy="11950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67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84" name="椭圆 83"/>
            <p:cNvSpPr/>
            <p:nvPr/>
          </p:nvSpPr>
          <p:spPr>
            <a:xfrm>
              <a:off x="4818429" y="3492655"/>
              <a:ext cx="119507" cy="11950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67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85" name="椭圆 84"/>
            <p:cNvSpPr/>
            <p:nvPr/>
          </p:nvSpPr>
          <p:spPr>
            <a:xfrm>
              <a:off x="4442509" y="4224175"/>
              <a:ext cx="119507" cy="11950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67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86" name="椭圆 85"/>
            <p:cNvSpPr/>
            <p:nvPr/>
          </p:nvSpPr>
          <p:spPr>
            <a:xfrm>
              <a:off x="3439209" y="4201315"/>
              <a:ext cx="119507" cy="11950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67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grpSp>
          <p:nvGrpSpPr>
            <p:cNvPr id="87" name="组合 86"/>
            <p:cNvGrpSpPr/>
            <p:nvPr/>
          </p:nvGrpSpPr>
          <p:grpSpPr>
            <a:xfrm>
              <a:off x="3269293" y="2943616"/>
              <a:ext cx="1465545" cy="1202499"/>
              <a:chOff x="3269293" y="2943616"/>
              <a:chExt cx="1465545" cy="1202499"/>
            </a:xfrm>
          </p:grpSpPr>
          <p:sp>
            <p:nvSpPr>
              <p:cNvPr id="88" name="任意多边形 87"/>
              <p:cNvSpPr/>
              <p:nvPr/>
            </p:nvSpPr>
            <p:spPr>
              <a:xfrm>
                <a:off x="4008329" y="2956142"/>
                <a:ext cx="425885" cy="588724"/>
              </a:xfrm>
              <a:custGeom>
                <a:avLst/>
                <a:gdLst>
                  <a:gd name="connsiteX0" fmla="*/ 0 w 425885"/>
                  <a:gd name="connsiteY0" fmla="*/ 588724 h 588724"/>
                  <a:gd name="connsiteX1" fmla="*/ 425885 w 425885"/>
                  <a:gd name="connsiteY1" fmla="*/ 0 h 588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25885" h="588724">
                    <a:moveTo>
                      <a:pt x="0" y="588724"/>
                    </a:moveTo>
                    <a:lnTo>
                      <a:pt x="425885" y="0"/>
                    </a:lnTo>
                  </a:path>
                </a:pathLst>
              </a:custGeom>
              <a:noFill/>
              <a:ln w="38100">
                <a:solidFill>
                  <a:schemeClr val="accent1"/>
                </a:solidFill>
                <a:tailEnd type="stealt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18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67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endParaRPr>
              </a:p>
            </p:txBody>
          </p:sp>
          <p:sp>
            <p:nvSpPr>
              <p:cNvPr id="89" name="任意多边形 88"/>
              <p:cNvSpPr/>
              <p:nvPr/>
            </p:nvSpPr>
            <p:spPr>
              <a:xfrm>
                <a:off x="3995803" y="3544866"/>
                <a:ext cx="739035" cy="0"/>
              </a:xfrm>
              <a:custGeom>
                <a:avLst/>
                <a:gdLst>
                  <a:gd name="connsiteX0" fmla="*/ 0 w 739035"/>
                  <a:gd name="connsiteY0" fmla="*/ 0 h 0"/>
                  <a:gd name="connsiteX1" fmla="*/ 739035 w 739035"/>
                  <a:gd name="connsiteY1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39035">
                    <a:moveTo>
                      <a:pt x="0" y="0"/>
                    </a:moveTo>
                    <a:lnTo>
                      <a:pt x="739035" y="0"/>
                    </a:lnTo>
                  </a:path>
                </a:pathLst>
              </a:custGeom>
              <a:noFill/>
              <a:ln w="38100">
                <a:solidFill>
                  <a:schemeClr val="accent1"/>
                </a:solidFill>
                <a:tailEnd type="stealt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18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67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endParaRPr>
              </a:p>
            </p:txBody>
          </p:sp>
          <p:sp>
            <p:nvSpPr>
              <p:cNvPr id="90" name="任意多边形 89"/>
              <p:cNvSpPr/>
              <p:nvPr/>
            </p:nvSpPr>
            <p:spPr>
              <a:xfrm>
                <a:off x="3594970" y="2943616"/>
                <a:ext cx="413359" cy="588724"/>
              </a:xfrm>
              <a:custGeom>
                <a:avLst/>
                <a:gdLst>
                  <a:gd name="connsiteX0" fmla="*/ 413359 w 413359"/>
                  <a:gd name="connsiteY0" fmla="*/ 588724 h 588724"/>
                  <a:gd name="connsiteX1" fmla="*/ 0 w 413359"/>
                  <a:gd name="connsiteY1" fmla="*/ 0 h 588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13359" h="588724">
                    <a:moveTo>
                      <a:pt x="413359" y="588724"/>
                    </a:move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chemeClr val="accent1"/>
                </a:solidFill>
                <a:tailEnd type="stealt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18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67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endParaRPr>
              </a:p>
            </p:txBody>
          </p:sp>
          <p:sp>
            <p:nvSpPr>
              <p:cNvPr id="91" name="任意多边形 90"/>
              <p:cNvSpPr/>
              <p:nvPr/>
            </p:nvSpPr>
            <p:spPr>
              <a:xfrm>
                <a:off x="3269293" y="3557392"/>
                <a:ext cx="726510" cy="0"/>
              </a:xfrm>
              <a:custGeom>
                <a:avLst/>
                <a:gdLst>
                  <a:gd name="connsiteX0" fmla="*/ 726510 w 726510"/>
                  <a:gd name="connsiteY0" fmla="*/ 0 h 0"/>
                  <a:gd name="connsiteX1" fmla="*/ 0 w 726510"/>
                  <a:gd name="connsiteY1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26510">
                    <a:moveTo>
                      <a:pt x="726510" y="0"/>
                    </a:move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chemeClr val="accent1"/>
                </a:solidFill>
                <a:tailEnd type="stealt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18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67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endParaRPr>
              </a:p>
            </p:txBody>
          </p:sp>
          <p:sp>
            <p:nvSpPr>
              <p:cNvPr id="92" name="任意多边形 91"/>
              <p:cNvSpPr/>
              <p:nvPr/>
            </p:nvSpPr>
            <p:spPr>
              <a:xfrm>
                <a:off x="3582444" y="3569918"/>
                <a:ext cx="425885" cy="576197"/>
              </a:xfrm>
              <a:custGeom>
                <a:avLst/>
                <a:gdLst>
                  <a:gd name="connsiteX0" fmla="*/ 425885 w 425885"/>
                  <a:gd name="connsiteY0" fmla="*/ 0 h 576197"/>
                  <a:gd name="connsiteX1" fmla="*/ 0 w 425885"/>
                  <a:gd name="connsiteY1" fmla="*/ 576197 h 576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25885" h="576197">
                    <a:moveTo>
                      <a:pt x="425885" y="0"/>
                    </a:moveTo>
                    <a:lnTo>
                      <a:pt x="0" y="576197"/>
                    </a:lnTo>
                  </a:path>
                </a:pathLst>
              </a:custGeom>
              <a:noFill/>
              <a:ln w="38100">
                <a:solidFill>
                  <a:schemeClr val="accent1"/>
                </a:solidFill>
                <a:tailEnd type="stealt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18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67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endParaRPr>
              </a:p>
            </p:txBody>
          </p:sp>
          <p:sp>
            <p:nvSpPr>
              <p:cNvPr id="93" name="任意多边形 92"/>
              <p:cNvSpPr/>
              <p:nvPr/>
            </p:nvSpPr>
            <p:spPr>
              <a:xfrm>
                <a:off x="4020855" y="3569918"/>
                <a:ext cx="388307" cy="576197"/>
              </a:xfrm>
              <a:custGeom>
                <a:avLst/>
                <a:gdLst>
                  <a:gd name="connsiteX0" fmla="*/ 0 w 388307"/>
                  <a:gd name="connsiteY0" fmla="*/ 0 h 576197"/>
                  <a:gd name="connsiteX1" fmla="*/ 388307 w 388307"/>
                  <a:gd name="connsiteY1" fmla="*/ 576197 h 576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88307" h="576197">
                    <a:moveTo>
                      <a:pt x="0" y="0"/>
                    </a:moveTo>
                    <a:lnTo>
                      <a:pt x="388307" y="576197"/>
                    </a:lnTo>
                  </a:path>
                </a:pathLst>
              </a:custGeom>
              <a:noFill/>
              <a:ln w="38100">
                <a:solidFill>
                  <a:schemeClr val="accent1"/>
                </a:solidFill>
                <a:tailEnd type="stealt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18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67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endParaRPr>
              </a:p>
            </p:txBody>
          </p:sp>
        </p:grpSp>
      </p:grpSp>
      <p:grpSp>
        <p:nvGrpSpPr>
          <p:cNvPr id="94" name="组合 93"/>
          <p:cNvGrpSpPr/>
          <p:nvPr/>
        </p:nvGrpSpPr>
        <p:grpSpPr>
          <a:xfrm>
            <a:off x="1103302" y="1265223"/>
            <a:ext cx="9992583" cy="2249394"/>
            <a:chOff x="2954339" y="1279908"/>
            <a:chExt cx="7162269" cy="1587748"/>
          </a:xfrm>
        </p:grpSpPr>
        <p:sp>
          <p:nvSpPr>
            <p:cNvPr id="95" name="矩形 94"/>
            <p:cNvSpPr>
              <a:spLocks noChangeArrowheads="1"/>
            </p:cNvSpPr>
            <p:nvPr/>
          </p:nvSpPr>
          <p:spPr bwMode="auto">
            <a:xfrm>
              <a:off x="2954339" y="1694800"/>
              <a:ext cx="7162269" cy="11728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marL="0" marR="0" lvl="0" indent="0" algn="l" defTabSz="457189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endParaRPr>
            </a:p>
          </p:txBody>
        </p:sp>
        <p:sp>
          <p:nvSpPr>
            <p:cNvPr id="96" name="矩形 95"/>
            <p:cNvSpPr/>
            <p:nvPr/>
          </p:nvSpPr>
          <p:spPr>
            <a:xfrm>
              <a:off x="2963100" y="1279908"/>
              <a:ext cx="867699" cy="2824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/>
            </a:p>
          </p:txBody>
        </p:sp>
      </p:grpSp>
      <p:grpSp>
        <p:nvGrpSpPr>
          <p:cNvPr id="97" name="组合 96"/>
          <p:cNvGrpSpPr/>
          <p:nvPr/>
        </p:nvGrpSpPr>
        <p:grpSpPr>
          <a:xfrm>
            <a:off x="5061680" y="4130367"/>
            <a:ext cx="1306025" cy="1326200"/>
            <a:chOff x="3254772" y="2872916"/>
            <a:chExt cx="936104" cy="936104"/>
          </a:xfrm>
          <a:solidFill>
            <a:srgbClr val="444455"/>
          </a:solidFill>
        </p:grpSpPr>
        <p:sp>
          <p:nvSpPr>
            <p:cNvPr id="98" name="椭圆 97"/>
            <p:cNvSpPr/>
            <p:nvPr/>
          </p:nvSpPr>
          <p:spPr>
            <a:xfrm>
              <a:off x="3254772" y="2872916"/>
              <a:ext cx="936104" cy="93610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67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99" name="矩形 98"/>
            <p:cNvSpPr/>
            <p:nvPr/>
          </p:nvSpPr>
          <p:spPr>
            <a:xfrm>
              <a:off x="3469764" y="3187079"/>
              <a:ext cx="554032" cy="28241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endParaRPr>
            </a:p>
          </p:txBody>
        </p:sp>
      </p:grpSp>
      <p:grpSp>
        <p:nvGrpSpPr>
          <p:cNvPr id="100" name="组合 99"/>
          <p:cNvGrpSpPr/>
          <p:nvPr/>
        </p:nvGrpSpPr>
        <p:grpSpPr>
          <a:xfrm>
            <a:off x="7435072" y="4114133"/>
            <a:ext cx="2770739" cy="1546268"/>
            <a:chOff x="789157" y="3505487"/>
            <a:chExt cx="1985951" cy="1091441"/>
          </a:xfrm>
        </p:grpSpPr>
        <p:sp>
          <p:nvSpPr>
            <p:cNvPr id="101" name="TextBox 100"/>
            <p:cNvSpPr txBox="1"/>
            <p:nvPr/>
          </p:nvSpPr>
          <p:spPr>
            <a:xfrm>
              <a:off x="789157" y="3505487"/>
              <a:ext cx="867699" cy="2824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/>
            </a:p>
          </p:txBody>
        </p:sp>
        <p:sp>
          <p:nvSpPr>
            <p:cNvPr id="102" name="矩形 101"/>
            <p:cNvSpPr/>
            <p:nvPr/>
          </p:nvSpPr>
          <p:spPr>
            <a:xfrm>
              <a:off x="812496" y="3800586"/>
              <a:ext cx="1962612" cy="79634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457189" rtl="0" eaLnBrk="1" fontAlgn="auto" latinLnBrk="0" hangingPunct="1">
                <a:lnSpc>
                  <a:spcPts val="2804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charset="0"/>
                <a:ea typeface="微软雅黑"/>
                <a:cs typeface="+mn-cs"/>
              </a:endParaRPr>
            </a:p>
          </p:txBody>
        </p:sp>
      </p:grpSp>
      <p:grpSp>
        <p:nvGrpSpPr>
          <p:cNvPr id="103" name="组合 102"/>
          <p:cNvGrpSpPr/>
          <p:nvPr/>
        </p:nvGrpSpPr>
        <p:grpSpPr>
          <a:xfrm>
            <a:off x="1383389" y="4127571"/>
            <a:ext cx="2738177" cy="1532826"/>
            <a:chOff x="891718" y="3514973"/>
            <a:chExt cx="1962612" cy="1081952"/>
          </a:xfrm>
        </p:grpSpPr>
        <p:sp>
          <p:nvSpPr>
            <p:cNvPr id="104" name="TextBox 103"/>
            <p:cNvSpPr txBox="1"/>
            <p:nvPr/>
          </p:nvSpPr>
          <p:spPr>
            <a:xfrm>
              <a:off x="891718" y="3514973"/>
              <a:ext cx="867699" cy="2824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/>
            </a:p>
          </p:txBody>
        </p:sp>
        <p:sp>
          <p:nvSpPr>
            <p:cNvPr id="105" name="矩形 104"/>
            <p:cNvSpPr/>
            <p:nvPr/>
          </p:nvSpPr>
          <p:spPr>
            <a:xfrm>
              <a:off x="891718" y="3800585"/>
              <a:ext cx="1962612" cy="79634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457189" rtl="0" eaLnBrk="1" fontAlgn="auto" latinLnBrk="0" hangingPunct="1">
                <a:lnSpc>
                  <a:spcPts val="2804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charset="0"/>
                <a:ea typeface="微软雅黑"/>
                <a:cs typeface="+mn-cs"/>
              </a:endParaRPr>
            </a:p>
          </p:txBody>
        </p:sp>
      </p:grpSp>
      <p:sp>
        <p:nvSpPr>
          <p:cNvPr id="33" name="矩形 46"/>
          <p:cNvSpPr>
            <a:spLocks noChangeArrowheads="1"/>
          </p:cNvSpPr>
          <p:nvPr/>
        </p:nvSpPr>
        <p:spPr bwMode="auto">
          <a:xfrm>
            <a:off x="634918" y="237124"/>
            <a:ext cx="1887690" cy="615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1917" tIns="60959" rIns="121917" bIns="60959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05825"/>
              </a:solidFill>
              <a:effectLst/>
              <a:uLnTx/>
              <a:uFillTx/>
              <a:latin typeface="Arial" panose="020B0604020202020204" pitchFamily="34" charset="0"/>
              <a:ea typeface="微软雅黑" pitchFamily="34" charset="-122"/>
              <a:cs typeface="+mn-cs"/>
              <a:sym typeface="Calibri" pitchFamily="34" charset="0"/>
            </a:endParaRPr>
          </a:p>
        </p:txBody>
      </p:sp>
      <p:sp>
        <p:nvSpPr>
          <p:cNvPr id="34" name="等腰三角形 47"/>
          <p:cNvSpPr>
            <a:spLocks noChangeArrowheads="1"/>
          </p:cNvSpPr>
          <p:nvPr/>
        </p:nvSpPr>
        <p:spPr bwMode="auto">
          <a:xfrm rot="5400000">
            <a:off x="-53049" y="209721"/>
            <a:ext cx="774879" cy="66878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121917" tIns="60959" rIns="121917" bIns="60959" anchor="ctr"/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zh-CN" altLang="zh-CN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  <a:sym typeface="微软雅黑" pitchFamily="34" charset="-122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B1B1969F-4377-4734-A2AE-62009A29391F}"/>
              </a:ext>
            </a:extLst>
          </p:cNvPr>
          <p:cNvSpPr/>
          <p:nvPr/>
        </p:nvSpPr>
        <p:spPr>
          <a:xfrm>
            <a:off x="129209" y="6241148"/>
            <a:ext cx="1254180" cy="487441"/>
          </a:xfrm>
          <a:prstGeom prst="rect">
            <a:avLst/>
          </a:prstGeom>
        </p:spPr>
        <p:txBody>
          <a:bodyPr wrap="square" lIns="91440" tIns="45720" rIns="91440" bIns="45720">
            <a:spAutoFit/>
          </a:bodyPr>
          <a:lstStyle/>
          <a:p>
            <a:pPr marL="0" marR="0" lvl="0" indent="0" algn="l" defTabSz="457189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/>
          </a:p>
        </p:txBody>
      </p:sp>
      <p:sp>
        <p:nvSpPr>
          <p:cNvPr id="106" name="Rectangle 105"/>
          <p:cNvSpPr/>
          <p:nvPr/>
        </p:nvSpPr>
        <p:spPr>
          <a:xfrm>
            <a:off x="0" y="1024128"/>
            <a:ext cx="12188952" cy="526694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685800" y="347472"/>
            <a:ext cx="10698480" cy="502920"/>
          </a:xfrm>
          <a:prstGeom prst="rect">
            <a:avLst/>
          </a:prstGeom>
          <a:noFill/>
        </p:spPr>
        <p:txBody>
          <a:bodyPr wrap="square" lIns="50800" tIns="25400" rIns="50800" bIns="25400">
            <a:normAutofit lnSpcReduction="10000"/>
          </a:bodyPr>
          <a:lstStyle/>
          <a:p>
            <a:r>
              <a:rPr sz="3000" b="1">
                <a:solidFill>
                  <a:srgbClr val="000000"/>
                </a:solidFill>
                <a:latin typeface="KaiTi"/>
              </a:rPr>
              <a:t>短视频 CTR 预测中的表示瓶颈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68781" y="1015559"/>
            <a:ext cx="10332720" cy="27432"/>
          </a:xfrm>
          <a:prstGeom prst="rect">
            <a:avLst/>
          </a:prstGeom>
          <a:solidFill>
            <a:srgbClr val="005643"/>
          </a:solidFill>
          <a:ln>
            <a:solidFill>
              <a:srgbClr val="005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ounded Rectangle 108"/>
          <p:cNvSpPr/>
          <p:nvPr/>
        </p:nvSpPr>
        <p:spPr>
          <a:xfrm>
            <a:off x="761597" y="1205875"/>
            <a:ext cx="3261763" cy="3503285"/>
          </a:xfrm>
          <a:prstGeom prst="roundRect">
            <a:avLst/>
          </a:prstGeom>
          <a:solidFill>
            <a:srgbClr val="E8F6F0"/>
          </a:solidFill>
          <a:ln w="15240">
            <a:solidFill>
              <a:srgbClr val="005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Oval 109"/>
          <p:cNvSpPr/>
          <p:nvPr/>
        </p:nvSpPr>
        <p:spPr>
          <a:xfrm>
            <a:off x="941832" y="1322657"/>
            <a:ext cx="329184" cy="329184"/>
          </a:xfrm>
          <a:prstGeom prst="ellipse">
            <a:avLst/>
          </a:prstGeom>
          <a:solidFill>
            <a:srgbClr val="005643"/>
          </a:solidFill>
          <a:ln>
            <a:solidFill>
              <a:srgbClr val="005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932688" y="1408176"/>
            <a:ext cx="329184" cy="182880"/>
          </a:xfrm>
          <a:prstGeom prst="rect">
            <a:avLst/>
          </a:prstGeom>
          <a:noFill/>
        </p:spPr>
        <p:txBody>
          <a:bodyPr wrap="square" lIns="50800" tIns="25400" rIns="50800" bIns="25400">
            <a:normAutofit fontScale="92500" lnSpcReduction="10000"/>
          </a:bodyPr>
          <a:lstStyle/>
          <a:p>
            <a:pPr algn="ctr"/>
            <a:r>
              <a:rPr sz="1000" b="1" dirty="0">
                <a:solidFill>
                  <a:schemeClr val="bg1"/>
                </a:solidFill>
                <a:latin typeface="Microsoft YaHei"/>
              </a:rPr>
              <a:t>1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325880" y="1344168"/>
            <a:ext cx="2880360" cy="292608"/>
          </a:xfrm>
          <a:prstGeom prst="rect">
            <a:avLst/>
          </a:prstGeom>
          <a:noFill/>
        </p:spPr>
        <p:txBody>
          <a:bodyPr wrap="square" lIns="50800" tIns="25400" rIns="50800" bIns="25400">
            <a:normAutofit fontScale="92500" lnSpcReduction="20000"/>
          </a:bodyPr>
          <a:lstStyle/>
          <a:p>
            <a:r>
              <a:rPr sz="2000" b="1" dirty="0" err="1">
                <a:solidFill>
                  <a:srgbClr val="000000"/>
                </a:solidFill>
                <a:latin typeface="KaiTi"/>
              </a:rPr>
              <a:t>传统</a:t>
            </a:r>
            <a:r>
              <a:rPr sz="2000" b="1" dirty="0">
                <a:solidFill>
                  <a:srgbClr val="000000"/>
                </a:solidFill>
                <a:latin typeface="KaiTi"/>
              </a:rPr>
              <a:t> CTR </a:t>
            </a:r>
            <a:r>
              <a:rPr sz="2000" b="1" dirty="0" err="1">
                <a:solidFill>
                  <a:srgbClr val="000000"/>
                </a:solidFill>
                <a:latin typeface="KaiTi"/>
              </a:rPr>
              <a:t>输入</a:t>
            </a:r>
            <a:endParaRPr sz="2000" b="1" dirty="0">
              <a:solidFill>
                <a:srgbClr val="000000"/>
              </a:solidFill>
              <a:latin typeface="KaiTi"/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987552" y="1801368"/>
            <a:ext cx="2871216" cy="2788920"/>
          </a:xfrm>
          <a:prstGeom prst="rect">
            <a:avLst/>
          </a:prstGeom>
          <a:noFill/>
        </p:spPr>
        <p:txBody>
          <a:bodyPr wrap="square" lIns="50800" tIns="25400" rIns="50800" bIns="25400">
            <a:normAutofit/>
          </a:bodyPr>
          <a:lstStyle/>
          <a:p>
            <a:r>
              <a:rPr b="0" dirty="0" err="1">
                <a:solidFill>
                  <a:srgbClr val="000000"/>
                </a:solidFill>
                <a:latin typeface="Microsoft YaHei"/>
              </a:rPr>
              <a:t>user_id、item_id</a:t>
            </a:r>
            <a:r>
              <a:rPr b="0" dirty="0">
                <a:solidFill>
                  <a:srgbClr val="000000"/>
                </a:solidFill>
                <a:latin typeface="Microsoft YaHei"/>
              </a:rPr>
              <a:t> </a:t>
            </a:r>
            <a:r>
              <a:rPr b="0" dirty="0" err="1">
                <a:solidFill>
                  <a:srgbClr val="000000"/>
                </a:solidFill>
                <a:latin typeface="Microsoft YaHei"/>
              </a:rPr>
              <a:t>通过独热编码进入嵌入矩阵。新视频和长尾物品交互少，ID</a:t>
            </a:r>
            <a:r>
              <a:rPr b="0" dirty="0">
                <a:solidFill>
                  <a:srgbClr val="000000"/>
                </a:solidFill>
                <a:latin typeface="Microsoft YaHei"/>
              </a:rPr>
              <a:t> </a:t>
            </a:r>
            <a:r>
              <a:rPr b="0" dirty="0" err="1">
                <a:solidFill>
                  <a:srgbClr val="000000"/>
                </a:solidFill>
                <a:latin typeface="Microsoft YaHei"/>
              </a:rPr>
              <a:t>向量难以充分训练</a:t>
            </a:r>
            <a:r>
              <a:rPr sz="1800" b="0" dirty="0">
                <a:solidFill>
                  <a:srgbClr val="000000"/>
                </a:solidFill>
                <a:latin typeface="Microsoft YaHei"/>
              </a:rPr>
              <a:t>。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4419197" y="1197599"/>
            <a:ext cx="3261763" cy="3511561"/>
          </a:xfrm>
          <a:prstGeom prst="roundRect">
            <a:avLst/>
          </a:prstGeom>
          <a:solidFill>
            <a:srgbClr val="E8F6F0"/>
          </a:solidFill>
          <a:ln w="15240">
            <a:solidFill>
              <a:srgbClr val="005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Oval 114"/>
          <p:cNvSpPr/>
          <p:nvPr/>
        </p:nvSpPr>
        <p:spPr>
          <a:xfrm>
            <a:off x="4590288" y="1336149"/>
            <a:ext cx="329184" cy="329184"/>
          </a:xfrm>
          <a:prstGeom prst="ellipse">
            <a:avLst/>
          </a:prstGeom>
          <a:solidFill>
            <a:srgbClr val="005643"/>
          </a:solidFill>
          <a:ln>
            <a:solidFill>
              <a:srgbClr val="005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4590288" y="1408176"/>
            <a:ext cx="329184" cy="182880"/>
          </a:xfrm>
          <a:prstGeom prst="rect">
            <a:avLst/>
          </a:prstGeom>
          <a:noFill/>
        </p:spPr>
        <p:txBody>
          <a:bodyPr wrap="square" lIns="50800" tIns="25400" rIns="50800" bIns="25400">
            <a:normAutofit fontScale="92500" lnSpcReduction="10000"/>
          </a:bodyPr>
          <a:lstStyle/>
          <a:p>
            <a:pPr algn="ctr"/>
            <a:r>
              <a:rPr sz="1000" b="1" dirty="0">
                <a:solidFill>
                  <a:schemeClr val="bg1"/>
                </a:solidFill>
                <a:latin typeface="Microsoft YaHei"/>
              </a:rPr>
              <a:t>2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983480" y="1344168"/>
            <a:ext cx="2880360" cy="292608"/>
          </a:xfrm>
          <a:prstGeom prst="rect">
            <a:avLst/>
          </a:prstGeom>
          <a:noFill/>
        </p:spPr>
        <p:txBody>
          <a:bodyPr wrap="square" lIns="50800" tIns="25400" rIns="50800" bIns="25400">
            <a:normAutofit fontScale="92500" lnSpcReduction="20000"/>
          </a:bodyPr>
          <a:lstStyle/>
          <a:p>
            <a:r>
              <a:rPr sz="2000" b="1">
                <a:solidFill>
                  <a:srgbClr val="000000"/>
                </a:solidFill>
                <a:latin typeface="KaiTi"/>
              </a:rPr>
              <a:t>短视频内容特征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4645152" y="1801368"/>
            <a:ext cx="2871216" cy="2788920"/>
          </a:xfrm>
          <a:prstGeom prst="rect">
            <a:avLst/>
          </a:prstGeom>
          <a:noFill/>
        </p:spPr>
        <p:txBody>
          <a:bodyPr wrap="square" lIns="50800" tIns="25400" rIns="50800" bIns="25400">
            <a:normAutofit/>
          </a:bodyPr>
          <a:lstStyle/>
          <a:p>
            <a:r>
              <a:rPr sz="1800" b="0">
                <a:solidFill>
                  <a:srgbClr val="000000"/>
                </a:solidFill>
                <a:latin typeface="Microsoft YaHei"/>
              </a:rPr>
              <a:t>封面图像包含主体、场景、画风；标题文本提供语义描述。内容特征能够为冷启动物品提供先验信息。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8087667" y="1197599"/>
            <a:ext cx="3250893" cy="3511561"/>
          </a:xfrm>
          <a:prstGeom prst="roundRect">
            <a:avLst/>
          </a:prstGeom>
          <a:solidFill>
            <a:srgbClr val="E8F6F0"/>
          </a:solidFill>
          <a:ln w="15240">
            <a:solidFill>
              <a:srgbClr val="005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Oval 119"/>
          <p:cNvSpPr/>
          <p:nvPr/>
        </p:nvSpPr>
        <p:spPr>
          <a:xfrm>
            <a:off x="8247888" y="1347803"/>
            <a:ext cx="329184" cy="329184"/>
          </a:xfrm>
          <a:prstGeom prst="ellipse">
            <a:avLst/>
          </a:prstGeom>
          <a:solidFill>
            <a:srgbClr val="005643"/>
          </a:solidFill>
          <a:ln>
            <a:solidFill>
              <a:srgbClr val="005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8247888" y="1408176"/>
            <a:ext cx="329184" cy="182880"/>
          </a:xfrm>
          <a:prstGeom prst="rect">
            <a:avLst/>
          </a:prstGeom>
          <a:noFill/>
        </p:spPr>
        <p:txBody>
          <a:bodyPr wrap="square" lIns="50800" tIns="25400" rIns="50800" bIns="25400">
            <a:normAutofit fontScale="92500" lnSpcReduction="10000"/>
          </a:bodyPr>
          <a:lstStyle/>
          <a:p>
            <a:pPr algn="ctr"/>
            <a:r>
              <a:rPr sz="1000" b="1" dirty="0">
                <a:solidFill>
                  <a:schemeClr val="bg1"/>
                </a:solidFill>
                <a:latin typeface="Microsoft YaHei"/>
              </a:rPr>
              <a:t>3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641080" y="1344168"/>
            <a:ext cx="2880360" cy="292608"/>
          </a:xfrm>
          <a:prstGeom prst="rect">
            <a:avLst/>
          </a:prstGeom>
          <a:noFill/>
        </p:spPr>
        <p:txBody>
          <a:bodyPr wrap="square" lIns="50800" tIns="25400" rIns="50800" bIns="25400">
            <a:normAutofit fontScale="92500" lnSpcReduction="20000"/>
          </a:bodyPr>
          <a:lstStyle/>
          <a:p>
            <a:r>
              <a:rPr sz="2000" b="1">
                <a:solidFill>
                  <a:srgbClr val="000000"/>
                </a:solidFill>
                <a:latin typeface="KaiTi"/>
              </a:rPr>
              <a:t>多模态 CTR 目标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8196444" y="1810247"/>
            <a:ext cx="3081528" cy="2788919"/>
          </a:xfrm>
          <a:prstGeom prst="rect">
            <a:avLst/>
          </a:prstGeom>
          <a:noFill/>
        </p:spPr>
        <p:txBody>
          <a:bodyPr wrap="square" lIns="50800" tIns="25400" rIns="50800" bIns="25400">
            <a:normAutofit/>
          </a:bodyPr>
          <a:lstStyle/>
          <a:p>
            <a:r>
              <a:rPr sz="1800" b="0">
                <a:solidFill>
                  <a:srgbClr val="000000"/>
                </a:solidFill>
                <a:latin typeface="Microsoft YaHei"/>
              </a:rPr>
              <a:t>在固定数据划分下，利用物品内容表示和用户行为序列，提高点击概率排序质量。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2286000" y="5074920"/>
            <a:ext cx="7589520" cy="256032"/>
          </a:xfrm>
          <a:prstGeom prst="rect">
            <a:avLst/>
          </a:prstGeom>
          <a:noFill/>
        </p:spPr>
        <p:txBody>
          <a:bodyPr wrap="square" lIns="50800" tIns="25400" rIns="50800" bIns="25400">
            <a:normAutofit fontScale="92500" lnSpcReduction="20000"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KaiTi"/>
              </a:rPr>
              <a:t>图1  从 ID 依赖到内容增强的 CTR 建模思路</a:t>
            </a:r>
          </a:p>
        </p:txBody>
      </p:sp>
    </p:spTree>
    <p:extLst>
      <p:ext uri="{BB962C8B-B14F-4D97-AF65-F5344CB8AC3E}">
        <p14:creationId xmlns:p14="http://schemas.microsoft.com/office/powerpoint/2010/main" val="1327684513"/>
      </p:ext>
    </p:extLst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46"/>
          <p:cNvSpPr>
            <a:spLocks noChangeArrowheads="1"/>
          </p:cNvSpPr>
          <p:nvPr/>
        </p:nvSpPr>
        <p:spPr bwMode="auto">
          <a:xfrm>
            <a:off x="634918" y="237124"/>
            <a:ext cx="1887690" cy="615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1917" tIns="60959" rIns="121917" bIns="60959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endParaRPr/>
          </a:p>
        </p:txBody>
      </p:sp>
      <p:sp>
        <p:nvSpPr>
          <p:cNvPr id="34" name="等腰三角形 47"/>
          <p:cNvSpPr>
            <a:spLocks noChangeArrowheads="1"/>
          </p:cNvSpPr>
          <p:nvPr/>
        </p:nvSpPr>
        <p:spPr bwMode="auto">
          <a:xfrm rot="5400000">
            <a:off x="-53049" y="209721"/>
            <a:ext cx="774879" cy="66878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121917" tIns="60959" rIns="121917" bIns="60959" anchor="ctr"/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zh-CN" altLang="zh-CN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  <a:sym typeface="微软雅黑" pitchFamily="34" charset="-122"/>
            </a:endParaRPr>
          </a:p>
        </p:txBody>
      </p:sp>
      <p:sp>
        <p:nvSpPr>
          <p:cNvPr id="17" name="箭头3"/>
          <p:cNvSpPr>
            <a:spLocks/>
          </p:cNvSpPr>
          <p:nvPr/>
        </p:nvSpPr>
        <p:spPr bwMode="gray">
          <a:xfrm flipV="1">
            <a:off x="2042467" y="3852890"/>
            <a:ext cx="1093019" cy="1520708"/>
          </a:xfrm>
          <a:custGeom>
            <a:avLst/>
            <a:gdLst>
              <a:gd name="T0" fmla="*/ 118 w 933"/>
              <a:gd name="T1" fmla="*/ 1044 h 1182"/>
              <a:gd name="T2" fmla="*/ 128 w 933"/>
              <a:gd name="T3" fmla="*/ 340 h 1182"/>
              <a:gd name="T4" fmla="*/ 264 w 933"/>
              <a:gd name="T5" fmla="*/ 210 h 1182"/>
              <a:gd name="T6" fmla="*/ 720 w 933"/>
              <a:gd name="T7" fmla="*/ 202 h 1182"/>
              <a:gd name="T8" fmla="*/ 720 w 933"/>
              <a:gd name="T9" fmla="*/ 320 h 1182"/>
              <a:gd name="T10" fmla="*/ 933 w 933"/>
              <a:gd name="T11" fmla="*/ 153 h 1182"/>
              <a:gd name="T12" fmla="*/ 712 w 933"/>
              <a:gd name="T13" fmla="*/ 0 h 1182"/>
              <a:gd name="T14" fmla="*/ 714 w 933"/>
              <a:gd name="T15" fmla="*/ 92 h 1182"/>
              <a:gd name="T16" fmla="*/ 234 w 933"/>
              <a:gd name="T17" fmla="*/ 94 h 1182"/>
              <a:gd name="T18" fmla="*/ 0 w 933"/>
              <a:gd name="T19" fmla="*/ 298 h 1182"/>
              <a:gd name="T20" fmla="*/ 0 w 933"/>
              <a:gd name="T21" fmla="*/ 1058 h 1182"/>
              <a:gd name="T22" fmla="*/ 118 w 933"/>
              <a:gd name="T23" fmla="*/ 1044 h 11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933" h="1182">
                <a:moveTo>
                  <a:pt x="118" y="1044"/>
                </a:moveTo>
                <a:lnTo>
                  <a:pt x="128" y="340"/>
                </a:lnTo>
                <a:cubicBezTo>
                  <a:pt x="134" y="214"/>
                  <a:pt x="182" y="212"/>
                  <a:pt x="264" y="210"/>
                </a:cubicBezTo>
                <a:lnTo>
                  <a:pt x="720" y="202"/>
                </a:lnTo>
                <a:lnTo>
                  <a:pt x="720" y="320"/>
                </a:lnTo>
                <a:lnTo>
                  <a:pt x="933" y="153"/>
                </a:lnTo>
                <a:lnTo>
                  <a:pt x="712" y="0"/>
                </a:lnTo>
                <a:lnTo>
                  <a:pt x="714" y="92"/>
                </a:lnTo>
                <a:cubicBezTo>
                  <a:pt x="714" y="92"/>
                  <a:pt x="406" y="94"/>
                  <a:pt x="234" y="94"/>
                </a:cubicBezTo>
                <a:cubicBezTo>
                  <a:pt x="60" y="96"/>
                  <a:pt x="2" y="156"/>
                  <a:pt x="0" y="298"/>
                </a:cubicBezTo>
                <a:lnTo>
                  <a:pt x="0" y="1058"/>
                </a:lnTo>
                <a:cubicBezTo>
                  <a:pt x="20" y="1182"/>
                  <a:pt x="93" y="1170"/>
                  <a:pt x="118" y="1044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  <a:effectLst/>
        </p:spPr>
        <p:txBody>
          <a:bodyPr wrap="none" lIns="82824" tIns="41411" rIns="82824" bIns="41411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宋体"/>
              <a:cs typeface="+mn-cs"/>
            </a:endParaRPr>
          </a:p>
        </p:txBody>
      </p:sp>
      <p:sp>
        <p:nvSpPr>
          <p:cNvPr id="18" name="箭头2"/>
          <p:cNvSpPr>
            <a:spLocks/>
          </p:cNvSpPr>
          <p:nvPr/>
        </p:nvSpPr>
        <p:spPr bwMode="gray">
          <a:xfrm rot="16200000">
            <a:off x="2330482" y="3220017"/>
            <a:ext cx="324863" cy="1299204"/>
          </a:xfrm>
          <a:custGeom>
            <a:avLst/>
            <a:gdLst>
              <a:gd name="T0" fmla="*/ 37 w 142"/>
              <a:gd name="T1" fmla="*/ 1 h 604"/>
              <a:gd name="T2" fmla="*/ 45 w 142"/>
              <a:gd name="T3" fmla="*/ 472 h 604"/>
              <a:gd name="T4" fmla="*/ 0 w 142"/>
              <a:gd name="T5" fmla="*/ 474 h 604"/>
              <a:gd name="T6" fmla="*/ 72 w 142"/>
              <a:gd name="T7" fmla="*/ 604 h 604"/>
              <a:gd name="T8" fmla="*/ 142 w 142"/>
              <a:gd name="T9" fmla="*/ 474 h 604"/>
              <a:gd name="T10" fmla="*/ 100 w 142"/>
              <a:gd name="T11" fmla="*/ 474 h 604"/>
              <a:gd name="T12" fmla="*/ 99 w 142"/>
              <a:gd name="T13" fmla="*/ 0 h 604"/>
              <a:gd name="T14" fmla="*/ 37 w 142"/>
              <a:gd name="T15" fmla="*/ 1 h 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42" h="604">
                <a:moveTo>
                  <a:pt x="37" y="1"/>
                </a:moveTo>
                <a:lnTo>
                  <a:pt x="45" y="472"/>
                </a:lnTo>
                <a:lnTo>
                  <a:pt x="0" y="474"/>
                </a:lnTo>
                <a:lnTo>
                  <a:pt x="72" y="604"/>
                </a:lnTo>
                <a:lnTo>
                  <a:pt x="142" y="474"/>
                </a:lnTo>
                <a:lnTo>
                  <a:pt x="100" y="474"/>
                </a:lnTo>
                <a:lnTo>
                  <a:pt x="99" y="0"/>
                </a:lnTo>
                <a:lnTo>
                  <a:pt x="37" y="1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  <a:effectLst/>
        </p:spPr>
        <p:txBody>
          <a:bodyPr wrap="none" lIns="82824" tIns="41411" rIns="82824" bIns="41411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宋体"/>
              <a:cs typeface="+mn-cs"/>
            </a:endParaRPr>
          </a:p>
        </p:txBody>
      </p:sp>
      <p:sp>
        <p:nvSpPr>
          <p:cNvPr id="19" name="箭头1"/>
          <p:cNvSpPr>
            <a:spLocks/>
          </p:cNvSpPr>
          <p:nvPr/>
        </p:nvSpPr>
        <p:spPr bwMode="gray">
          <a:xfrm>
            <a:off x="2035439" y="2191679"/>
            <a:ext cx="1093019" cy="1761588"/>
          </a:xfrm>
          <a:custGeom>
            <a:avLst/>
            <a:gdLst>
              <a:gd name="T0" fmla="*/ 118 w 933"/>
              <a:gd name="T1" fmla="*/ 1044 h 1182"/>
              <a:gd name="T2" fmla="*/ 128 w 933"/>
              <a:gd name="T3" fmla="*/ 340 h 1182"/>
              <a:gd name="T4" fmla="*/ 264 w 933"/>
              <a:gd name="T5" fmla="*/ 210 h 1182"/>
              <a:gd name="T6" fmla="*/ 720 w 933"/>
              <a:gd name="T7" fmla="*/ 202 h 1182"/>
              <a:gd name="T8" fmla="*/ 720 w 933"/>
              <a:gd name="T9" fmla="*/ 320 h 1182"/>
              <a:gd name="T10" fmla="*/ 933 w 933"/>
              <a:gd name="T11" fmla="*/ 153 h 1182"/>
              <a:gd name="T12" fmla="*/ 712 w 933"/>
              <a:gd name="T13" fmla="*/ 0 h 1182"/>
              <a:gd name="T14" fmla="*/ 714 w 933"/>
              <a:gd name="T15" fmla="*/ 92 h 1182"/>
              <a:gd name="T16" fmla="*/ 234 w 933"/>
              <a:gd name="T17" fmla="*/ 94 h 1182"/>
              <a:gd name="T18" fmla="*/ 0 w 933"/>
              <a:gd name="T19" fmla="*/ 298 h 1182"/>
              <a:gd name="T20" fmla="*/ 0 w 933"/>
              <a:gd name="T21" fmla="*/ 1058 h 1182"/>
              <a:gd name="T22" fmla="*/ 118 w 933"/>
              <a:gd name="T23" fmla="*/ 1044 h 11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933" h="1182">
                <a:moveTo>
                  <a:pt x="118" y="1044"/>
                </a:moveTo>
                <a:lnTo>
                  <a:pt x="128" y="340"/>
                </a:lnTo>
                <a:cubicBezTo>
                  <a:pt x="134" y="214"/>
                  <a:pt x="182" y="212"/>
                  <a:pt x="264" y="210"/>
                </a:cubicBezTo>
                <a:lnTo>
                  <a:pt x="720" y="202"/>
                </a:lnTo>
                <a:lnTo>
                  <a:pt x="720" y="320"/>
                </a:lnTo>
                <a:lnTo>
                  <a:pt x="933" y="153"/>
                </a:lnTo>
                <a:lnTo>
                  <a:pt x="712" y="0"/>
                </a:lnTo>
                <a:lnTo>
                  <a:pt x="714" y="92"/>
                </a:lnTo>
                <a:cubicBezTo>
                  <a:pt x="714" y="92"/>
                  <a:pt x="406" y="94"/>
                  <a:pt x="234" y="94"/>
                </a:cubicBezTo>
                <a:cubicBezTo>
                  <a:pt x="60" y="96"/>
                  <a:pt x="2" y="156"/>
                  <a:pt x="0" y="298"/>
                </a:cubicBezTo>
                <a:lnTo>
                  <a:pt x="0" y="1058"/>
                </a:lnTo>
                <a:cubicBezTo>
                  <a:pt x="20" y="1182"/>
                  <a:pt x="93" y="1170"/>
                  <a:pt x="118" y="1044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  <a:effectLst/>
        </p:spPr>
        <p:txBody>
          <a:bodyPr wrap="none" lIns="82824" tIns="41411" rIns="82824" bIns="41411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宋体"/>
              <a:cs typeface="+mn-cs"/>
            </a:endParaRPr>
          </a:p>
        </p:txBody>
      </p:sp>
      <p:sp>
        <p:nvSpPr>
          <p:cNvPr id="20" name="文本1"/>
          <p:cNvSpPr>
            <a:spLocks noChangeArrowheads="1"/>
          </p:cNvSpPr>
          <p:nvPr/>
        </p:nvSpPr>
        <p:spPr bwMode="gray">
          <a:xfrm>
            <a:off x="4504357" y="1802941"/>
            <a:ext cx="5912124" cy="1195991"/>
          </a:xfrm>
          <a:prstGeom prst="roundRect">
            <a:avLst>
              <a:gd name="adj" fmla="val 11505"/>
            </a:avLst>
          </a:prstGeom>
          <a:noFill/>
          <a:ln w="15875" cap="flat" cmpd="sng" algn="ctr">
            <a:solidFill>
              <a:schemeClr val="accent1"/>
            </a:solidFill>
            <a:prstDash val="solid"/>
          </a:ln>
          <a:effectLst/>
        </p:spPr>
        <p:txBody>
          <a:bodyPr lIns="82824" tIns="41411" rIns="82824" bIns="41411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21917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21" name="标题1"/>
          <p:cNvSpPr>
            <a:spLocks noChangeArrowheads="1"/>
          </p:cNvSpPr>
          <p:nvPr/>
        </p:nvSpPr>
        <p:spPr bwMode="gray">
          <a:xfrm>
            <a:off x="3261751" y="1796820"/>
            <a:ext cx="1242605" cy="1202113"/>
          </a:xfrm>
          <a:prstGeom prst="roundRect">
            <a:avLst>
              <a:gd name="adj" fmla="val 11921"/>
            </a:avLst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2824" tIns="41411" rIns="82824" bIns="41411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21917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zh-CN" sz="1867" b="1" i="0" u="none" strike="noStrike" kern="1200" cap="none" spc="0" normalizeH="0" baseline="0" noProof="0" dirty="0">
              <a:ln>
                <a:noFill/>
              </a:ln>
              <a:solidFill>
                <a:sysClr val="window" lastClr="FFFFFF">
                  <a:lumMod val="95000"/>
                </a:sysClr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22" name="文本2"/>
          <p:cNvSpPr>
            <a:spLocks noChangeArrowheads="1"/>
          </p:cNvSpPr>
          <p:nvPr/>
        </p:nvSpPr>
        <p:spPr bwMode="gray">
          <a:xfrm>
            <a:off x="4504357" y="3256318"/>
            <a:ext cx="5912124" cy="1192036"/>
          </a:xfrm>
          <a:prstGeom prst="roundRect">
            <a:avLst>
              <a:gd name="adj" fmla="val 11505"/>
            </a:avLst>
          </a:prstGeom>
          <a:noFill/>
          <a:ln w="15875" cap="flat" cmpd="sng" algn="ctr">
            <a:solidFill>
              <a:schemeClr val="accent1"/>
            </a:solidFill>
            <a:prstDash val="solid"/>
          </a:ln>
          <a:effectLst/>
        </p:spPr>
        <p:txBody>
          <a:bodyPr lIns="82824" tIns="41411" rIns="82824" bIns="41411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21917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23" name="标题2"/>
          <p:cNvSpPr>
            <a:spLocks noChangeArrowheads="1"/>
          </p:cNvSpPr>
          <p:nvPr/>
        </p:nvSpPr>
        <p:spPr bwMode="gray">
          <a:xfrm>
            <a:off x="3261751" y="3256318"/>
            <a:ext cx="1242607" cy="1192036"/>
          </a:xfrm>
          <a:prstGeom prst="roundRect">
            <a:avLst>
              <a:gd name="adj" fmla="val 11921"/>
            </a:avLst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2824" tIns="41411" rIns="82824" bIns="41411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21917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zh-CN" sz="1867" b="1" i="0" u="none" strike="noStrike" kern="1200" cap="none" spc="0" normalizeH="0" baseline="0" noProof="0" dirty="0">
              <a:ln>
                <a:noFill/>
              </a:ln>
              <a:solidFill>
                <a:sysClr val="window" lastClr="FFFFFF">
                  <a:lumMod val="95000"/>
                </a:sysClr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24" name="文本3"/>
          <p:cNvSpPr>
            <a:spLocks noChangeArrowheads="1"/>
          </p:cNvSpPr>
          <p:nvPr/>
        </p:nvSpPr>
        <p:spPr bwMode="ltGray">
          <a:xfrm>
            <a:off x="4504357" y="4697390"/>
            <a:ext cx="5912124" cy="1181401"/>
          </a:xfrm>
          <a:prstGeom prst="roundRect">
            <a:avLst>
              <a:gd name="adj" fmla="val 11505"/>
            </a:avLst>
          </a:prstGeom>
          <a:noFill/>
          <a:ln w="15875" cap="flat" cmpd="sng" algn="ctr">
            <a:solidFill>
              <a:schemeClr val="accent1"/>
            </a:solidFill>
            <a:prstDash val="solid"/>
          </a:ln>
          <a:effectLst/>
        </p:spPr>
        <p:txBody>
          <a:bodyPr lIns="82824" tIns="41411" rIns="82824" bIns="41411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21917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25" name="标题3"/>
          <p:cNvSpPr>
            <a:spLocks noChangeArrowheads="1"/>
          </p:cNvSpPr>
          <p:nvPr/>
        </p:nvSpPr>
        <p:spPr bwMode="gray">
          <a:xfrm>
            <a:off x="3261751" y="4697390"/>
            <a:ext cx="1242605" cy="1181401"/>
          </a:xfrm>
          <a:prstGeom prst="roundRect">
            <a:avLst>
              <a:gd name="adj" fmla="val 11921"/>
            </a:avLst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2824" tIns="41411" rIns="82824" bIns="41411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21917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zh-CN" sz="1867" b="1" i="0" u="none" strike="noStrike" kern="1200" cap="none" spc="0" normalizeH="0" baseline="0" noProof="0" dirty="0">
              <a:ln>
                <a:noFill/>
              </a:ln>
              <a:solidFill>
                <a:sysClr val="window" lastClr="FFFFFF">
                  <a:lumMod val="95000"/>
                </a:sysClr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26" name="Oval 19"/>
          <p:cNvSpPr>
            <a:spLocks noChangeArrowheads="1"/>
          </p:cNvSpPr>
          <p:nvPr/>
        </p:nvSpPr>
        <p:spPr bwMode="auto">
          <a:xfrm>
            <a:off x="1482571" y="3256318"/>
            <a:ext cx="1190548" cy="1192036"/>
          </a:xfrm>
          <a:prstGeom prst="ellipse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  <a:effectLst/>
        </p:spPr>
        <p:txBody>
          <a:bodyPr lIns="82824" tIns="41411" rIns="82824" bIns="41411" anchor="ctr"/>
          <a:lstStyle/>
          <a:p>
            <a:pPr marL="0" marR="0" lvl="0" indent="0" algn="ctr" defTabSz="457189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0" y="1024128"/>
            <a:ext cx="12188952" cy="526694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85800" y="347472"/>
            <a:ext cx="10698480" cy="502920"/>
          </a:xfrm>
          <a:prstGeom prst="rect">
            <a:avLst/>
          </a:prstGeom>
          <a:noFill/>
        </p:spPr>
        <p:txBody>
          <a:bodyPr wrap="square" lIns="50800" tIns="25400" rIns="50800" bIns="25400">
            <a:normAutofit lnSpcReduction="10000"/>
          </a:bodyPr>
          <a:lstStyle/>
          <a:p>
            <a:r>
              <a:rPr sz="3000" b="1">
                <a:solidFill>
                  <a:srgbClr val="000000"/>
                </a:solidFill>
                <a:latin typeface="KaiTi"/>
              </a:rPr>
              <a:t>赛题任务与数据划分</a:t>
            </a:r>
          </a:p>
        </p:txBody>
      </p:sp>
      <p:graphicFrame>
        <p:nvGraphicFramePr>
          <p:cNvPr id="38" name="Table 37"/>
          <p:cNvGraphicFramePr>
            <a:graphicFrameLocks noGrp="1"/>
          </p:cNvGraphicFramePr>
          <p:nvPr/>
        </p:nvGraphicFramePr>
        <p:xfrm>
          <a:off x="777240" y="1143000"/>
          <a:ext cx="52578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722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icrosoft YaHei"/>
                        </a:rPr>
                        <a:t>任务</a:t>
                      </a:r>
                    </a:p>
                  </a:txBody>
                  <a:tcPr marL="25400" marR="25400" marT="25400" marB="25400">
                    <a:solidFill>
                      <a:srgbClr val="D9EE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icrosoft YaHei"/>
                        </a:rPr>
                        <a:t>固定部分</a:t>
                      </a:r>
                    </a:p>
                  </a:txBody>
                  <a:tcPr marL="25400" marR="25400" marT="25400" marB="25400">
                    <a:solidFill>
                      <a:srgbClr val="D9EE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icrosoft YaHei"/>
                        </a:rPr>
                        <a:t>优化部分</a:t>
                      </a:r>
                    </a:p>
                  </a:txBody>
                  <a:tcPr marL="25400" marR="25400" marT="25400" marB="25400">
                    <a:solidFill>
                      <a:srgbClr val="D9EE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Microsoft YaHei"/>
                        </a:rPr>
                        <a:t>Task 1</a:t>
                      </a:r>
                    </a:p>
                  </a:txBody>
                  <a:tcPr marL="25400" marR="254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Microsoft YaHei"/>
                        </a:rPr>
                        <a:t>DIN</a:t>
                      </a:r>
                    </a:p>
                  </a:txBody>
                  <a:tcPr marL="25400" marR="254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Microsoft YaHei"/>
                        </a:rPr>
                        <a:t>128维 item embedding</a:t>
                      </a:r>
                    </a:p>
                  </a:txBody>
                  <a:tcPr marL="25400" marR="254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Microsoft YaHei"/>
                        </a:rPr>
                        <a:t>Task 2</a:t>
                      </a:r>
                    </a:p>
                  </a:txBody>
                  <a:tcPr marL="25400" marR="254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Microsoft YaHei"/>
                        </a:rPr>
                        <a:t>官方 item embedding</a:t>
                      </a:r>
                    </a:p>
                  </a:txBody>
                  <a:tcPr marL="25400" marR="254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Microsoft YaHei"/>
                        </a:rPr>
                        <a:t>CTR 模型</a:t>
                      </a:r>
                    </a:p>
                  </a:txBody>
                  <a:tcPr marL="25400" marR="254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Microsoft YaHei"/>
                        </a:rPr>
                        <a:t>Task 1&amp;2</a:t>
                      </a:r>
                    </a:p>
                  </a:txBody>
                  <a:tcPr marL="25400" marR="254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Microsoft YaHei"/>
                        </a:rPr>
                        <a:t>两阶段解耦</a:t>
                      </a:r>
                    </a:p>
                  </a:txBody>
                  <a:tcPr marL="25400" marR="254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Microsoft YaHei"/>
                        </a:rPr>
                        <a:t>embedding 和 CTR 模型</a:t>
                      </a:r>
                    </a:p>
                  </a:txBody>
                  <a:tcPr marL="25400" marR="254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6400800" y="1143000"/>
          <a:ext cx="48006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3776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icrosoft YaHei"/>
                        </a:rPr>
                        <a:t>数据</a:t>
                      </a:r>
                    </a:p>
                  </a:txBody>
                  <a:tcPr marL="25400" marR="25400" marT="25400" marB="25400">
                    <a:solidFill>
                      <a:srgbClr val="D9EE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icrosoft YaHei"/>
                        </a:rPr>
                        <a:t>数量</a:t>
                      </a:r>
                    </a:p>
                  </a:txBody>
                  <a:tcPr marL="25400" marR="25400" marT="25400" marB="25400">
                    <a:solidFill>
                      <a:srgbClr val="D9EE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icrosoft YaHei"/>
                        </a:rPr>
                        <a:t>用途</a:t>
                      </a:r>
                    </a:p>
                  </a:txBody>
                  <a:tcPr marL="25400" marR="25400" marT="25400" marB="25400">
                    <a:solidFill>
                      <a:srgbClr val="D9EE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Microsoft YaHei"/>
                        </a:rPr>
                        <a:t>Train</a:t>
                      </a:r>
                    </a:p>
                  </a:txBody>
                  <a:tcPr marL="25400" marR="254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Microsoft YaHei"/>
                        </a:rPr>
                        <a:t>3,600,000</a:t>
                      </a:r>
                    </a:p>
                  </a:txBody>
                  <a:tcPr marL="25400" marR="254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Microsoft YaHei"/>
                        </a:rPr>
                        <a:t>模型训练</a:t>
                      </a:r>
                    </a:p>
                  </a:txBody>
                  <a:tcPr marL="25400" marR="254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Microsoft YaHei"/>
                        </a:rPr>
                        <a:t>Valid</a:t>
                      </a:r>
                    </a:p>
                  </a:txBody>
                  <a:tcPr marL="25400" marR="254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Microsoft YaHei"/>
                        </a:rPr>
                        <a:t>10,000</a:t>
                      </a:r>
                    </a:p>
                  </a:txBody>
                  <a:tcPr marL="25400" marR="254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Microsoft YaHei"/>
                        </a:rPr>
                        <a:t>模型选择</a:t>
                      </a:r>
                    </a:p>
                  </a:txBody>
                  <a:tcPr marL="25400" marR="254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Microsoft YaHei"/>
                        </a:rPr>
                        <a:t>Test</a:t>
                      </a:r>
                    </a:p>
                  </a:txBody>
                  <a:tcPr marL="25400" marR="254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Microsoft YaHei"/>
                        </a:rPr>
                        <a:t>379,142</a:t>
                      </a:r>
                    </a:p>
                  </a:txBody>
                  <a:tcPr marL="25400" marR="254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Microsoft YaHei"/>
                        </a:rPr>
                        <a:t>平台评估</a:t>
                      </a:r>
                    </a:p>
                  </a:txBody>
                  <a:tcPr marL="25400" marR="254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Microsoft YaHei"/>
                        </a:rPr>
                        <a:t>Items</a:t>
                      </a:r>
                    </a:p>
                  </a:txBody>
                  <a:tcPr marL="25400" marR="254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Microsoft YaHei"/>
                        </a:rPr>
                        <a:t>91,718</a:t>
                      </a:r>
                    </a:p>
                  </a:txBody>
                  <a:tcPr marL="25400" marR="254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Microsoft YaHei"/>
                        </a:rPr>
                        <a:t>物品表示</a:t>
                      </a:r>
                    </a:p>
                  </a:txBody>
                  <a:tcPr marL="25400" marR="254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0" name="TextBox 39"/>
          <p:cNvSpPr txBox="1"/>
          <p:nvPr/>
        </p:nvSpPr>
        <p:spPr>
          <a:xfrm>
            <a:off x="914400" y="4160520"/>
            <a:ext cx="10241280" cy="502920"/>
          </a:xfrm>
          <a:prstGeom prst="rect">
            <a:avLst/>
          </a:prstGeom>
          <a:noFill/>
        </p:spPr>
        <p:txBody>
          <a:bodyPr wrap="square" lIns="50800" tIns="25400" rIns="50800" bIns="25400">
            <a:normAutofit/>
          </a:bodyPr>
          <a:lstStyle/>
          <a:p>
            <a:r>
              <a:rPr sz="1800" b="0">
                <a:solidFill>
                  <a:srgbClr val="000000"/>
                </a:solidFill>
                <a:latin typeface="Microsoft YaHei"/>
              </a:rPr>
              <a:t>评价指标：AUC。所有实验均使用官方 train / valid / test 划分，避免重新划分带来的评价偏差。</a:t>
            </a:r>
          </a:p>
        </p:txBody>
      </p:sp>
      <p:sp>
        <p:nvSpPr>
          <p:cNvPr id="3" name="Rectangle 107">
            <a:extLst>
              <a:ext uri="{FF2B5EF4-FFF2-40B4-BE49-F238E27FC236}">
                <a16:creationId xmlns:a16="http://schemas.microsoft.com/office/drawing/2014/main" id="{2A89AA3F-206B-D059-0EE8-988E62BF4270}"/>
              </a:ext>
            </a:extLst>
          </p:cNvPr>
          <p:cNvSpPr/>
          <p:nvPr/>
        </p:nvSpPr>
        <p:spPr>
          <a:xfrm>
            <a:off x="668781" y="1015559"/>
            <a:ext cx="10332720" cy="27432"/>
          </a:xfrm>
          <a:prstGeom prst="rect">
            <a:avLst/>
          </a:prstGeom>
          <a:solidFill>
            <a:srgbClr val="005643"/>
          </a:solidFill>
          <a:ln>
            <a:solidFill>
              <a:srgbClr val="005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417841799"/>
      </p:ext>
    </p:extLst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梯形 34"/>
          <p:cNvSpPr/>
          <p:nvPr/>
        </p:nvSpPr>
        <p:spPr>
          <a:xfrm rot="16200000">
            <a:off x="7446198" y="-451317"/>
            <a:ext cx="2291737" cy="7199871"/>
          </a:xfrm>
          <a:prstGeom prst="trapezoid">
            <a:avLst>
              <a:gd name="adj" fmla="val 16935"/>
            </a:avLst>
          </a:prstGeom>
          <a:solidFill>
            <a:srgbClr val="0058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7" name="梯形 36"/>
          <p:cNvSpPr/>
          <p:nvPr/>
        </p:nvSpPr>
        <p:spPr>
          <a:xfrm rot="5400000">
            <a:off x="1331640" y="636804"/>
            <a:ext cx="2344067" cy="5007345"/>
          </a:xfrm>
          <a:prstGeom prst="trapezoid">
            <a:avLst>
              <a:gd name="adj" fmla="val 17865"/>
            </a:avLst>
          </a:prstGeom>
          <a:solidFill>
            <a:schemeClr val="bg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6" name="文本框 1"/>
          <p:cNvSpPr txBox="1"/>
          <p:nvPr/>
        </p:nvSpPr>
        <p:spPr>
          <a:xfrm>
            <a:off x="3729079" y="1779865"/>
            <a:ext cx="1261884" cy="523220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/>
          </a:p>
        </p:txBody>
      </p:sp>
      <p:sp>
        <p:nvSpPr>
          <p:cNvPr id="27" name="文本框 2"/>
          <p:cNvSpPr txBox="1"/>
          <p:nvPr/>
        </p:nvSpPr>
        <p:spPr>
          <a:xfrm>
            <a:off x="3729079" y="2556165"/>
            <a:ext cx="1164101" cy="1200329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7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5638798" y="2692405"/>
            <a:ext cx="3262432" cy="830997"/>
          </a:xfrm>
          <a:prstGeom prst="rect">
            <a:avLst/>
          </a:prstGeom>
        </p:spPr>
        <p:txBody>
          <a:bodyPr wrap="none" lIns="91440" tIns="45720" rIns="91440" bIns="45720">
            <a:spAutoFit/>
          </a:bodyPr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/>
          </a:p>
        </p:txBody>
      </p:sp>
      <p:grpSp>
        <p:nvGrpSpPr>
          <p:cNvPr id="31" name="组合 30"/>
          <p:cNvGrpSpPr/>
          <p:nvPr/>
        </p:nvGrpSpPr>
        <p:grpSpPr>
          <a:xfrm>
            <a:off x="9140245" y="2608001"/>
            <a:ext cx="1790875" cy="1158817"/>
            <a:chOff x="9140243" y="2649839"/>
            <a:chExt cx="1790875" cy="1158817"/>
          </a:xfrm>
        </p:grpSpPr>
        <p:sp>
          <p:nvSpPr>
            <p:cNvPr id="32" name="矩形 31"/>
            <p:cNvSpPr/>
            <p:nvPr/>
          </p:nvSpPr>
          <p:spPr>
            <a:xfrm>
              <a:off x="9140243" y="2649839"/>
              <a:ext cx="1552028" cy="37965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/>
            </a:p>
          </p:txBody>
        </p:sp>
        <p:sp>
          <p:nvSpPr>
            <p:cNvPr id="33" name="矩形 32"/>
            <p:cNvSpPr/>
            <p:nvPr/>
          </p:nvSpPr>
          <p:spPr>
            <a:xfrm>
              <a:off x="9140243" y="3037021"/>
              <a:ext cx="1552028" cy="37965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/>
            </a:p>
          </p:txBody>
        </p:sp>
        <p:sp>
          <p:nvSpPr>
            <p:cNvPr id="34" name="矩形 33"/>
            <p:cNvSpPr/>
            <p:nvPr/>
          </p:nvSpPr>
          <p:spPr>
            <a:xfrm>
              <a:off x="9140243" y="3429000"/>
              <a:ext cx="1790875" cy="37965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67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</p:grpSp>
      <p:sp>
        <p:nvSpPr>
          <p:cNvPr id="14" name="椭圆 13">
            <a:extLst>
              <a:ext uri="{FF2B5EF4-FFF2-40B4-BE49-F238E27FC236}">
                <a16:creationId xmlns:a16="http://schemas.microsoft.com/office/drawing/2014/main" id="{E5EFD90A-FD94-43B5-9957-62603A15942C}"/>
              </a:ext>
            </a:extLst>
          </p:cNvPr>
          <p:cNvSpPr/>
          <p:nvPr/>
        </p:nvSpPr>
        <p:spPr>
          <a:xfrm>
            <a:off x="464768" y="1391626"/>
            <a:ext cx="3102819" cy="310281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C1DE54DD-627D-4804-ADE8-98EB404C5AD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7965" y="1504503"/>
            <a:ext cx="2879284" cy="2877064"/>
          </a:xfrm>
          <a:prstGeom prst="rect">
            <a:avLst/>
          </a:prstGeom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D49390A3-000A-482E-AF20-B73C465E306D}"/>
              </a:ext>
            </a:extLst>
          </p:cNvPr>
          <p:cNvSpPr/>
          <p:nvPr/>
        </p:nvSpPr>
        <p:spPr>
          <a:xfrm>
            <a:off x="129209" y="6241148"/>
            <a:ext cx="1254180" cy="487441"/>
          </a:xfrm>
          <a:prstGeom prst="rect">
            <a:avLst/>
          </a:prstGeom>
        </p:spPr>
        <p:txBody>
          <a:bodyPr wrap="square" lIns="91440" tIns="45720" rIns="91440" bIns="45720">
            <a:spAutoFit/>
          </a:bodyPr>
          <a:lstStyle/>
          <a:p>
            <a:pPr marL="0" marR="0" lvl="0" indent="0" algn="l" defTabSz="457189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146633" y="2888802"/>
            <a:ext cx="5303520" cy="594360"/>
          </a:xfrm>
          <a:prstGeom prst="rect">
            <a:avLst/>
          </a:prstGeom>
          <a:noFill/>
        </p:spPr>
        <p:txBody>
          <a:bodyPr wrap="square" lIns="50800" tIns="25400" rIns="50800" bIns="25400">
            <a:normAutofit/>
          </a:bodyPr>
          <a:lstStyle/>
          <a:p>
            <a:r>
              <a:rPr sz="3200" b="1" dirty="0" err="1">
                <a:solidFill>
                  <a:schemeClr val="bg1"/>
                </a:solidFill>
                <a:latin typeface="KaiTi"/>
              </a:rPr>
              <a:t>级联多模态模型设计</a:t>
            </a:r>
            <a:endParaRPr sz="3200" b="1" dirty="0">
              <a:solidFill>
                <a:schemeClr val="bg1"/>
              </a:solidFill>
              <a:latin typeface="KaiTi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9474327" y="2608001"/>
            <a:ext cx="5029200" cy="256032"/>
          </a:xfrm>
          <a:prstGeom prst="rect">
            <a:avLst/>
          </a:prstGeom>
          <a:noFill/>
        </p:spPr>
        <p:txBody>
          <a:bodyPr wrap="square" lIns="50800" tIns="25400" rIns="50800" bIns="25400">
            <a:normAutofit fontScale="92500" lnSpcReduction="20000"/>
          </a:bodyPr>
          <a:lstStyle/>
          <a:p>
            <a:r>
              <a:rPr sz="1600" b="0" dirty="0">
                <a:solidFill>
                  <a:schemeClr val="bg1"/>
                </a:solidFill>
                <a:latin typeface="Microsoft YaHei"/>
              </a:rPr>
              <a:t>2-1  </a:t>
            </a:r>
            <a:r>
              <a:rPr sz="1600" b="0" dirty="0" err="1">
                <a:solidFill>
                  <a:schemeClr val="bg1"/>
                </a:solidFill>
                <a:latin typeface="Microsoft YaHei"/>
              </a:rPr>
              <a:t>总体框架</a:t>
            </a:r>
            <a:endParaRPr sz="1600" b="0" dirty="0">
              <a:solidFill>
                <a:schemeClr val="bg1"/>
              </a:solidFill>
              <a:latin typeface="Microsoft YaHei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9474327" y="2942761"/>
            <a:ext cx="5029200" cy="256032"/>
          </a:xfrm>
          <a:prstGeom prst="rect">
            <a:avLst/>
          </a:prstGeom>
          <a:noFill/>
        </p:spPr>
        <p:txBody>
          <a:bodyPr wrap="square" lIns="50800" tIns="25400" rIns="50800" bIns="25400">
            <a:normAutofit fontScale="92500" lnSpcReduction="20000"/>
          </a:bodyPr>
          <a:lstStyle/>
          <a:p>
            <a:r>
              <a:rPr sz="1600" b="0" dirty="0">
                <a:solidFill>
                  <a:schemeClr val="bg1"/>
                </a:solidFill>
                <a:latin typeface="Microsoft YaHei"/>
              </a:rPr>
              <a:t>2-2  Task 1 </a:t>
            </a:r>
            <a:r>
              <a:rPr sz="1600" b="0" dirty="0" err="1">
                <a:solidFill>
                  <a:schemeClr val="bg1"/>
                </a:solidFill>
                <a:latin typeface="Microsoft YaHei"/>
              </a:rPr>
              <a:t>多模态表征</a:t>
            </a:r>
            <a:endParaRPr sz="1600" b="0" dirty="0">
              <a:solidFill>
                <a:schemeClr val="bg1"/>
              </a:solidFill>
              <a:latin typeface="Microsoft YaHei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9474327" y="3290233"/>
            <a:ext cx="5029200" cy="256032"/>
          </a:xfrm>
          <a:prstGeom prst="rect">
            <a:avLst/>
          </a:prstGeom>
          <a:noFill/>
        </p:spPr>
        <p:txBody>
          <a:bodyPr wrap="square" lIns="50800" tIns="25400" rIns="50800" bIns="25400">
            <a:normAutofit fontScale="92500" lnSpcReduction="20000"/>
          </a:bodyPr>
          <a:lstStyle/>
          <a:p>
            <a:r>
              <a:rPr sz="1600" b="0" dirty="0">
                <a:solidFill>
                  <a:schemeClr val="bg1"/>
                </a:solidFill>
                <a:latin typeface="Microsoft YaHei"/>
              </a:rPr>
              <a:t>2-3  Task 2 CTR </a:t>
            </a:r>
            <a:r>
              <a:rPr sz="1600" b="0" dirty="0" err="1">
                <a:solidFill>
                  <a:schemeClr val="bg1"/>
                </a:solidFill>
                <a:latin typeface="Microsoft YaHei"/>
              </a:rPr>
              <a:t>网络</a:t>
            </a:r>
            <a:endParaRPr sz="1600" b="0" dirty="0">
              <a:solidFill>
                <a:schemeClr val="bg1"/>
              </a:solidFill>
              <a:latin typeface="Microsoft YaHei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9474327" y="3637705"/>
            <a:ext cx="5029200" cy="256032"/>
          </a:xfrm>
          <a:prstGeom prst="rect">
            <a:avLst/>
          </a:prstGeom>
          <a:noFill/>
        </p:spPr>
        <p:txBody>
          <a:bodyPr wrap="square" lIns="50800" tIns="25400" rIns="50800" bIns="25400">
            <a:normAutofit fontScale="92500" lnSpcReduction="20000"/>
          </a:bodyPr>
          <a:lstStyle/>
          <a:p>
            <a:r>
              <a:rPr sz="1600" b="0" dirty="0">
                <a:solidFill>
                  <a:schemeClr val="bg1"/>
                </a:solidFill>
                <a:latin typeface="Microsoft YaHei"/>
              </a:rPr>
              <a:t>2-4  Task 1&amp;2 </a:t>
            </a:r>
            <a:r>
              <a:rPr sz="1600" b="0" dirty="0" err="1">
                <a:solidFill>
                  <a:schemeClr val="bg1"/>
                </a:solidFill>
                <a:latin typeface="Microsoft YaHei"/>
              </a:rPr>
              <a:t>级联桥接</a:t>
            </a:r>
            <a:endParaRPr sz="1600" b="0" dirty="0">
              <a:solidFill>
                <a:schemeClr val="bg1"/>
              </a:solidFill>
              <a:latin typeface="Microsoft YaHei"/>
            </a:endParaRPr>
          </a:p>
        </p:txBody>
      </p:sp>
      <p:sp>
        <p:nvSpPr>
          <p:cNvPr id="3" name="TextBox 40">
            <a:extLst>
              <a:ext uri="{FF2B5EF4-FFF2-40B4-BE49-F238E27FC236}">
                <a16:creationId xmlns:a16="http://schemas.microsoft.com/office/drawing/2014/main" id="{94F15D7C-7A17-A131-8B4E-5CF036A829C6}"/>
              </a:ext>
            </a:extLst>
          </p:cNvPr>
          <p:cNvSpPr txBox="1"/>
          <p:nvPr/>
        </p:nvSpPr>
        <p:spPr>
          <a:xfrm>
            <a:off x="3809998" y="3002920"/>
            <a:ext cx="1828800" cy="457200"/>
          </a:xfrm>
          <a:prstGeom prst="rect">
            <a:avLst/>
          </a:prstGeom>
          <a:noFill/>
        </p:spPr>
        <p:txBody>
          <a:bodyPr wrap="square" lIns="50800" tIns="25400" rIns="50800" bIns="25400">
            <a:normAutofit/>
          </a:bodyPr>
          <a:lstStyle/>
          <a:p>
            <a:r>
              <a:rPr sz="2400" b="1" dirty="0">
                <a:solidFill>
                  <a:schemeClr val="bg1"/>
                </a:solidFill>
                <a:latin typeface="Microsoft YaHei"/>
              </a:rPr>
              <a:t>Part</a:t>
            </a:r>
            <a:r>
              <a:rPr lang="en-US" sz="2400" b="1" dirty="0">
                <a:solidFill>
                  <a:schemeClr val="bg1"/>
                </a:solidFill>
                <a:latin typeface="Microsoft YaHei"/>
              </a:rPr>
              <a:t>2</a:t>
            </a:r>
            <a:endParaRPr sz="2400" b="1" dirty="0">
              <a:solidFill>
                <a:schemeClr val="bg1"/>
              </a:solidFill>
              <a:latin typeface="Microsoft YaHei"/>
            </a:endParaRPr>
          </a:p>
        </p:txBody>
      </p:sp>
      <p:sp>
        <p:nvSpPr>
          <p:cNvPr id="5" name="AutoShape 11">
            <a:extLst>
              <a:ext uri="{FF2B5EF4-FFF2-40B4-BE49-F238E27FC236}">
                <a16:creationId xmlns:a16="http://schemas.microsoft.com/office/drawing/2014/main" id="{FC2B6485-CBE1-134D-1DAB-029145FCDD69}"/>
              </a:ext>
            </a:extLst>
          </p:cNvPr>
          <p:cNvSpPr/>
          <p:nvPr/>
        </p:nvSpPr>
        <p:spPr>
          <a:xfrm>
            <a:off x="127000" y="6235700"/>
            <a:ext cx="2706688" cy="482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900" b="1" i="0" u="none" strike="noStrike" dirty="0" err="1">
                <a:solidFill>
                  <a:srgbClr val="000000"/>
                </a:solidFill>
                <a:latin typeface="华文隶书"/>
                <a:ea typeface="华文隶书"/>
                <a:cs typeface="华文隶书"/>
                <a:sym typeface="华文隶书"/>
              </a:rPr>
              <a:t>同舟共济</a:t>
            </a:r>
            <a:endParaRPr lang="en-US" sz="1100" b="1" dirty="0"/>
          </a:p>
        </p:txBody>
      </p:sp>
    </p:spTree>
    <p:extLst>
      <p:ext uri="{BB962C8B-B14F-4D97-AF65-F5344CB8AC3E}">
        <p14:creationId xmlns:p14="http://schemas.microsoft.com/office/powerpoint/2010/main" val="1297990019"/>
      </p:ext>
    </p:extLst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787191" y="3041543"/>
            <a:ext cx="10612856" cy="1719669"/>
            <a:chOff x="787171" y="2988535"/>
            <a:chExt cx="10612880" cy="1719669"/>
          </a:xfrm>
        </p:grpSpPr>
        <p:sp>
          <p:nvSpPr>
            <p:cNvPr id="7" name="椭圆 6"/>
            <p:cNvSpPr/>
            <p:nvPr/>
          </p:nvSpPr>
          <p:spPr>
            <a:xfrm>
              <a:off x="787171" y="3378470"/>
              <a:ext cx="939802" cy="939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/>
            </a:p>
          </p:txBody>
        </p:sp>
        <p:sp>
          <p:nvSpPr>
            <p:cNvPr id="8" name="虚尾箭头 7"/>
            <p:cNvSpPr/>
            <p:nvPr/>
          </p:nvSpPr>
          <p:spPr>
            <a:xfrm>
              <a:off x="1975573" y="3670570"/>
              <a:ext cx="546101" cy="355600"/>
            </a:xfrm>
            <a:prstGeom prst="stripedRight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67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endParaRPr>
            </a:p>
          </p:txBody>
        </p:sp>
        <p:sp>
          <p:nvSpPr>
            <p:cNvPr id="9" name="椭圆 8"/>
            <p:cNvSpPr/>
            <p:nvPr/>
          </p:nvSpPr>
          <p:spPr>
            <a:xfrm>
              <a:off x="2664243" y="3378470"/>
              <a:ext cx="939800" cy="939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/>
            </a:p>
          </p:txBody>
        </p:sp>
        <p:sp>
          <p:nvSpPr>
            <p:cNvPr id="10" name="虚尾箭头 9"/>
            <p:cNvSpPr/>
            <p:nvPr/>
          </p:nvSpPr>
          <p:spPr>
            <a:xfrm>
              <a:off x="3736008" y="3670570"/>
              <a:ext cx="546101" cy="355600"/>
            </a:xfrm>
            <a:prstGeom prst="stripedRight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67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endParaRPr>
            </a:p>
          </p:txBody>
        </p:sp>
        <p:sp>
          <p:nvSpPr>
            <p:cNvPr id="11" name="椭圆 10"/>
            <p:cNvSpPr/>
            <p:nvPr/>
          </p:nvSpPr>
          <p:spPr>
            <a:xfrm>
              <a:off x="4445879" y="3378470"/>
              <a:ext cx="939800" cy="939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/>
            </a:p>
          </p:txBody>
        </p:sp>
        <p:sp>
          <p:nvSpPr>
            <p:cNvPr id="12" name="虚尾箭头 11"/>
            <p:cNvSpPr/>
            <p:nvPr/>
          </p:nvSpPr>
          <p:spPr>
            <a:xfrm>
              <a:off x="5496443" y="3670570"/>
              <a:ext cx="546101" cy="355600"/>
            </a:xfrm>
            <a:prstGeom prst="stripedRight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67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6163909" y="2988535"/>
              <a:ext cx="1719669" cy="171966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/>
            </a:p>
          </p:txBody>
        </p:sp>
        <p:sp>
          <p:nvSpPr>
            <p:cNvPr id="14" name="椭圆 13"/>
            <p:cNvSpPr/>
            <p:nvPr/>
          </p:nvSpPr>
          <p:spPr>
            <a:xfrm>
              <a:off x="8619402" y="3378470"/>
              <a:ext cx="939800" cy="939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/>
            </a:p>
          </p:txBody>
        </p:sp>
        <p:sp>
          <p:nvSpPr>
            <p:cNvPr id="15" name="虚尾箭头 14"/>
            <p:cNvSpPr/>
            <p:nvPr/>
          </p:nvSpPr>
          <p:spPr>
            <a:xfrm>
              <a:off x="7983741" y="3670570"/>
              <a:ext cx="546100" cy="355600"/>
            </a:xfrm>
            <a:prstGeom prst="stripedRight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67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endParaRPr>
            </a:p>
          </p:txBody>
        </p:sp>
        <p:sp>
          <p:nvSpPr>
            <p:cNvPr id="16" name="虚尾箭头 15"/>
            <p:cNvSpPr/>
            <p:nvPr/>
          </p:nvSpPr>
          <p:spPr>
            <a:xfrm>
              <a:off x="9659366" y="3670570"/>
              <a:ext cx="546100" cy="355600"/>
            </a:xfrm>
            <a:prstGeom prst="stripedRight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67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endParaRPr>
            </a:p>
          </p:txBody>
        </p:sp>
        <p:sp>
          <p:nvSpPr>
            <p:cNvPr id="17" name="椭圆 16"/>
            <p:cNvSpPr/>
            <p:nvPr/>
          </p:nvSpPr>
          <p:spPr>
            <a:xfrm>
              <a:off x="10316234" y="3306462"/>
              <a:ext cx="1083817" cy="108381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/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1187780" y="1442645"/>
            <a:ext cx="2619990" cy="1852387"/>
            <a:chOff x="895845" y="1030514"/>
            <a:chExt cx="2619989" cy="1852386"/>
          </a:xfrm>
        </p:grpSpPr>
        <p:sp>
          <p:nvSpPr>
            <p:cNvPr id="31" name="椭圆 30"/>
            <p:cNvSpPr/>
            <p:nvPr/>
          </p:nvSpPr>
          <p:spPr>
            <a:xfrm>
              <a:off x="895845" y="2755900"/>
              <a:ext cx="127000" cy="12700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67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endParaRPr>
            </a:p>
          </p:txBody>
        </p:sp>
        <p:cxnSp>
          <p:nvCxnSpPr>
            <p:cNvPr id="32" name="直接连接符 31"/>
            <p:cNvCxnSpPr>
              <a:stCxn id="31" idx="0"/>
            </p:cNvCxnSpPr>
            <p:nvPr/>
          </p:nvCxnSpPr>
          <p:spPr>
            <a:xfrm flipV="1">
              <a:off x="959345" y="1030514"/>
              <a:ext cx="0" cy="1725386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文本框 3"/>
            <p:cNvSpPr txBox="1"/>
            <p:nvPr/>
          </p:nvSpPr>
          <p:spPr>
            <a:xfrm>
              <a:off x="1022845" y="1054578"/>
              <a:ext cx="2492989" cy="16312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905867" y="4481704"/>
            <a:ext cx="2308518" cy="1546208"/>
            <a:chOff x="2344941" y="4214343"/>
            <a:chExt cx="2308518" cy="1546207"/>
          </a:xfrm>
        </p:grpSpPr>
        <p:sp>
          <p:nvSpPr>
            <p:cNvPr id="28" name="椭圆 27"/>
            <p:cNvSpPr/>
            <p:nvPr/>
          </p:nvSpPr>
          <p:spPr>
            <a:xfrm>
              <a:off x="4526459" y="4214343"/>
              <a:ext cx="127000" cy="12700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67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endParaRPr>
            </a:p>
          </p:txBody>
        </p:sp>
        <p:cxnSp>
          <p:nvCxnSpPr>
            <p:cNvPr id="29" name="直接连接符 28"/>
            <p:cNvCxnSpPr/>
            <p:nvPr/>
          </p:nvCxnSpPr>
          <p:spPr>
            <a:xfrm>
              <a:off x="4586152" y="4338634"/>
              <a:ext cx="0" cy="1322614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文本框 3"/>
            <p:cNvSpPr txBox="1"/>
            <p:nvPr/>
          </p:nvSpPr>
          <p:spPr>
            <a:xfrm>
              <a:off x="2344941" y="4437112"/>
              <a:ext cx="2236510" cy="132343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8989607" y="1480983"/>
            <a:ext cx="1343303" cy="1828323"/>
            <a:chOff x="4831624" y="1054578"/>
            <a:chExt cx="1343304" cy="1828322"/>
          </a:xfrm>
        </p:grpSpPr>
        <p:sp>
          <p:nvSpPr>
            <p:cNvPr id="25" name="椭圆 24"/>
            <p:cNvSpPr/>
            <p:nvPr/>
          </p:nvSpPr>
          <p:spPr>
            <a:xfrm>
              <a:off x="4831624" y="2755900"/>
              <a:ext cx="127000" cy="12700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67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endParaRPr>
            </a:p>
          </p:txBody>
        </p:sp>
        <p:cxnSp>
          <p:nvCxnSpPr>
            <p:cNvPr id="26" name="直接连接符 25"/>
            <p:cNvCxnSpPr/>
            <p:nvPr/>
          </p:nvCxnSpPr>
          <p:spPr>
            <a:xfrm flipV="1">
              <a:off x="4885010" y="1054578"/>
              <a:ext cx="0" cy="1701322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文本框 3"/>
            <p:cNvSpPr txBox="1"/>
            <p:nvPr/>
          </p:nvSpPr>
          <p:spPr>
            <a:xfrm>
              <a:off x="4964339" y="1054578"/>
              <a:ext cx="1210589" cy="16312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4822277" y="1442645"/>
            <a:ext cx="2619990" cy="1852387"/>
            <a:chOff x="895845" y="1030514"/>
            <a:chExt cx="2619989" cy="1852386"/>
          </a:xfrm>
        </p:grpSpPr>
        <p:sp>
          <p:nvSpPr>
            <p:cNvPr id="35" name="椭圆 34"/>
            <p:cNvSpPr/>
            <p:nvPr/>
          </p:nvSpPr>
          <p:spPr>
            <a:xfrm>
              <a:off x="895845" y="2755900"/>
              <a:ext cx="127000" cy="12700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67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endParaRPr>
            </a:p>
          </p:txBody>
        </p:sp>
        <p:cxnSp>
          <p:nvCxnSpPr>
            <p:cNvPr id="36" name="直接连接符 35"/>
            <p:cNvCxnSpPr>
              <a:stCxn id="35" idx="0"/>
            </p:cNvCxnSpPr>
            <p:nvPr/>
          </p:nvCxnSpPr>
          <p:spPr>
            <a:xfrm flipV="1">
              <a:off x="959345" y="1030514"/>
              <a:ext cx="0" cy="1725386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文本框 3"/>
            <p:cNvSpPr txBox="1"/>
            <p:nvPr/>
          </p:nvSpPr>
          <p:spPr>
            <a:xfrm>
              <a:off x="1022845" y="1054578"/>
              <a:ext cx="2492989" cy="16312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8640338" y="4481704"/>
            <a:ext cx="2308518" cy="1546208"/>
            <a:chOff x="2344941" y="4214343"/>
            <a:chExt cx="2308518" cy="1546207"/>
          </a:xfrm>
        </p:grpSpPr>
        <p:sp>
          <p:nvSpPr>
            <p:cNvPr id="39" name="椭圆 38"/>
            <p:cNvSpPr/>
            <p:nvPr/>
          </p:nvSpPr>
          <p:spPr>
            <a:xfrm>
              <a:off x="4526459" y="4214343"/>
              <a:ext cx="127000" cy="12700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67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endParaRPr>
            </a:p>
          </p:txBody>
        </p:sp>
        <p:cxnSp>
          <p:nvCxnSpPr>
            <p:cNvPr id="40" name="直接连接符 39"/>
            <p:cNvCxnSpPr/>
            <p:nvPr/>
          </p:nvCxnSpPr>
          <p:spPr>
            <a:xfrm>
              <a:off x="4586152" y="4338634"/>
              <a:ext cx="0" cy="1322614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文本框 3"/>
            <p:cNvSpPr txBox="1"/>
            <p:nvPr/>
          </p:nvSpPr>
          <p:spPr>
            <a:xfrm>
              <a:off x="2344941" y="4437112"/>
              <a:ext cx="2236510" cy="132343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4823963" y="4856873"/>
            <a:ext cx="2308518" cy="1546208"/>
            <a:chOff x="2344941" y="4214343"/>
            <a:chExt cx="2308518" cy="1546207"/>
          </a:xfrm>
        </p:grpSpPr>
        <p:sp>
          <p:nvSpPr>
            <p:cNvPr id="43" name="椭圆 42"/>
            <p:cNvSpPr/>
            <p:nvPr/>
          </p:nvSpPr>
          <p:spPr>
            <a:xfrm>
              <a:off x="4526459" y="4214343"/>
              <a:ext cx="127000" cy="12700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67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endParaRPr>
            </a:p>
          </p:txBody>
        </p:sp>
        <p:cxnSp>
          <p:nvCxnSpPr>
            <p:cNvPr id="44" name="直接连接符 43"/>
            <p:cNvCxnSpPr/>
            <p:nvPr/>
          </p:nvCxnSpPr>
          <p:spPr>
            <a:xfrm>
              <a:off x="4586152" y="4338634"/>
              <a:ext cx="0" cy="1322614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文本框 3"/>
            <p:cNvSpPr txBox="1"/>
            <p:nvPr/>
          </p:nvSpPr>
          <p:spPr>
            <a:xfrm>
              <a:off x="2344941" y="4437112"/>
              <a:ext cx="2236510" cy="132343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46" name="矩形 46"/>
          <p:cNvSpPr>
            <a:spLocks noChangeArrowheads="1"/>
          </p:cNvSpPr>
          <p:nvPr/>
        </p:nvSpPr>
        <p:spPr bwMode="auto">
          <a:xfrm>
            <a:off x="634918" y="237124"/>
            <a:ext cx="1887690" cy="615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1917" tIns="60959" rIns="121917" bIns="60959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endParaRPr/>
          </a:p>
        </p:txBody>
      </p:sp>
      <p:sp>
        <p:nvSpPr>
          <p:cNvPr id="47" name="等腰三角形 47"/>
          <p:cNvSpPr>
            <a:spLocks noChangeArrowheads="1"/>
          </p:cNvSpPr>
          <p:nvPr/>
        </p:nvSpPr>
        <p:spPr bwMode="auto">
          <a:xfrm rot="5400000">
            <a:off x="-53049" y="209721"/>
            <a:ext cx="774879" cy="66878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121917" tIns="60959" rIns="121917" bIns="60959" anchor="ctr"/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zh-CN" altLang="zh-CN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  <a:sym typeface="微软雅黑" pitchFamily="34" charset="-122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0" y="1024128"/>
            <a:ext cx="12188952" cy="526694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85800" y="347472"/>
            <a:ext cx="10698480" cy="502920"/>
          </a:xfrm>
          <a:prstGeom prst="rect">
            <a:avLst/>
          </a:prstGeom>
          <a:noFill/>
        </p:spPr>
        <p:txBody>
          <a:bodyPr wrap="square" lIns="50800" tIns="25400" rIns="50800" bIns="25400">
            <a:normAutofit lnSpcReduction="10000"/>
          </a:bodyPr>
          <a:lstStyle/>
          <a:p>
            <a:r>
              <a:rPr sz="3000" b="1">
                <a:solidFill>
                  <a:srgbClr val="000000"/>
                </a:solidFill>
                <a:latin typeface="KaiTi"/>
              </a:rPr>
              <a:t>总体框架：离线表征提取与在线 CTR 预测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31520" y="1417320"/>
            <a:ext cx="2011680" cy="640080"/>
          </a:xfrm>
          <a:prstGeom prst="roundRect">
            <a:avLst/>
          </a:prstGeom>
          <a:solidFill>
            <a:srgbClr val="E8F6F0"/>
          </a:solidFill>
          <a:ln w="13970">
            <a:solidFill>
              <a:srgbClr val="005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77240" y="1527048"/>
            <a:ext cx="1920240" cy="493775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normAutofit fontScale="92500" lnSpcReduction="20000"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Microsoft YaHei"/>
              </a:rPr>
              <a:t>封面图像</a:t>
            </a:r>
            <a:br>
              <a:rPr b="1"/>
            </a:br>
            <a:r>
              <a:rPr sz="1800" b="1">
                <a:solidFill>
                  <a:srgbClr val="000000"/>
                </a:solidFill>
                <a:latin typeface="Microsoft YaHei"/>
              </a:rPr>
              <a:t>标题文本</a:t>
            </a:r>
          </a:p>
        </p:txBody>
      </p:sp>
      <p:cxnSp>
        <p:nvCxnSpPr>
          <p:cNvPr id="53" name="Connector 52"/>
          <p:cNvCxnSpPr>
            <a:cxnSpLocks/>
            <a:endCxn id="54" idx="1"/>
          </p:cNvCxnSpPr>
          <p:nvPr/>
        </p:nvCxnSpPr>
        <p:spPr>
          <a:xfrm>
            <a:off x="2743200" y="1737360"/>
            <a:ext cx="594360" cy="0"/>
          </a:xfrm>
          <a:prstGeom prst="line">
            <a:avLst/>
          </a:prstGeom>
          <a:ln w="25400">
            <a:solidFill>
              <a:srgbClr val="0056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>
            <a:off x="3337560" y="1417320"/>
            <a:ext cx="2011680" cy="640080"/>
          </a:xfrm>
          <a:prstGeom prst="roundRect">
            <a:avLst/>
          </a:prstGeom>
          <a:solidFill>
            <a:srgbClr val="D9EEE4"/>
          </a:solidFill>
          <a:ln w="13970">
            <a:solidFill>
              <a:srgbClr val="005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3383279" y="1527048"/>
            <a:ext cx="1920240" cy="493775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normAutofit fontScale="92500" lnSpcReduction="20000"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Microsoft YaHei"/>
              </a:rPr>
              <a:t>Jina-CLIP-v2</a:t>
            </a:r>
            <a:br>
              <a:rPr b="1"/>
            </a:br>
            <a:r>
              <a:rPr sz="1800" b="1">
                <a:solidFill>
                  <a:srgbClr val="000000"/>
                </a:solidFill>
                <a:latin typeface="Microsoft YaHei"/>
              </a:rPr>
              <a:t>图文编码</a:t>
            </a:r>
          </a:p>
        </p:txBody>
      </p:sp>
      <p:cxnSp>
        <p:nvCxnSpPr>
          <p:cNvPr id="56" name="Connector 55"/>
          <p:cNvCxnSpPr>
            <a:cxnSpLocks/>
            <a:endCxn id="57" idx="1"/>
          </p:cNvCxnSpPr>
          <p:nvPr/>
        </p:nvCxnSpPr>
        <p:spPr>
          <a:xfrm>
            <a:off x="5349240" y="1737360"/>
            <a:ext cx="594360" cy="0"/>
          </a:xfrm>
          <a:prstGeom prst="line">
            <a:avLst/>
          </a:prstGeom>
          <a:ln w="25400">
            <a:solidFill>
              <a:srgbClr val="0056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5943600" y="1417320"/>
            <a:ext cx="2103120" cy="640080"/>
          </a:xfrm>
          <a:prstGeom prst="roundRect">
            <a:avLst/>
          </a:prstGeom>
          <a:solidFill>
            <a:srgbClr val="E8F6F0"/>
          </a:solidFill>
          <a:ln w="13970">
            <a:solidFill>
              <a:srgbClr val="005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5989320" y="1527048"/>
            <a:ext cx="2011679" cy="493775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normAutofit fontScale="92500" lnSpcReduction="20000"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Microsoft YaHei"/>
              </a:rPr>
              <a:t>融合 + PCA</a:t>
            </a:r>
            <a:br>
              <a:rPr b="1"/>
            </a:br>
            <a:r>
              <a:rPr sz="1800" b="1">
                <a:solidFill>
                  <a:srgbClr val="000000"/>
                </a:solidFill>
                <a:latin typeface="Microsoft YaHei"/>
              </a:rPr>
              <a:t>128维向量</a:t>
            </a:r>
          </a:p>
        </p:txBody>
      </p:sp>
      <p:cxnSp>
        <p:nvCxnSpPr>
          <p:cNvPr id="59" name="Connector 58"/>
          <p:cNvCxnSpPr>
            <a:cxnSpLocks/>
            <a:endCxn id="60" idx="1"/>
          </p:cNvCxnSpPr>
          <p:nvPr/>
        </p:nvCxnSpPr>
        <p:spPr>
          <a:xfrm>
            <a:off x="8046720" y="1737360"/>
            <a:ext cx="594360" cy="0"/>
          </a:xfrm>
          <a:prstGeom prst="line">
            <a:avLst/>
          </a:prstGeom>
          <a:ln w="25400">
            <a:solidFill>
              <a:srgbClr val="0056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8641080" y="1417320"/>
            <a:ext cx="2651760" cy="640080"/>
          </a:xfrm>
          <a:prstGeom prst="roundRect">
            <a:avLst/>
          </a:prstGeom>
          <a:solidFill>
            <a:srgbClr val="D9EEE4"/>
          </a:solidFill>
          <a:ln w="13970">
            <a:solidFill>
              <a:srgbClr val="005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686800" y="1527048"/>
            <a:ext cx="2560320" cy="493775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normAutofit fontScale="92500" lnSpcReduction="20000"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Microsoft YaHei"/>
              </a:rPr>
              <a:t>item_emb_d128</a:t>
            </a:r>
            <a:br>
              <a:rPr b="1"/>
            </a:br>
            <a:r>
              <a:rPr sz="1800" b="1">
                <a:solidFill>
                  <a:srgbClr val="000000"/>
                </a:solidFill>
                <a:latin typeface="Microsoft YaHei"/>
              </a:rPr>
              <a:t>写入特征表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280160" y="3063240"/>
            <a:ext cx="2743200" cy="685800"/>
          </a:xfrm>
          <a:prstGeom prst="roundRect">
            <a:avLst/>
          </a:prstGeom>
          <a:solidFill>
            <a:srgbClr val="E8F6F0"/>
          </a:solidFill>
          <a:ln w="13970">
            <a:solidFill>
              <a:srgbClr val="005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325880" y="3172968"/>
            <a:ext cx="2651760" cy="539496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normAutofit fontScale="92500" lnSpcReduction="10000"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Microsoft YaHei"/>
              </a:rPr>
              <a:t>用户行为序列</a:t>
            </a:r>
            <a:br>
              <a:rPr b="1"/>
            </a:br>
            <a:r>
              <a:rPr sz="1800" b="1">
                <a:solidFill>
                  <a:srgbClr val="000000"/>
                </a:solidFill>
                <a:latin typeface="Microsoft YaHei"/>
              </a:rPr>
              <a:t>item_seq</a:t>
            </a:r>
          </a:p>
        </p:txBody>
      </p:sp>
      <p:cxnSp>
        <p:nvCxnSpPr>
          <p:cNvPr id="64" name="Connector 63"/>
          <p:cNvCxnSpPr>
            <a:cxnSpLocks/>
            <a:endCxn id="65" idx="1"/>
          </p:cNvCxnSpPr>
          <p:nvPr/>
        </p:nvCxnSpPr>
        <p:spPr>
          <a:xfrm>
            <a:off x="4023360" y="3401568"/>
            <a:ext cx="640080" cy="4572"/>
          </a:xfrm>
          <a:prstGeom prst="line">
            <a:avLst/>
          </a:prstGeom>
          <a:ln w="25400">
            <a:solidFill>
              <a:srgbClr val="0056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ounded Rectangle 64"/>
          <p:cNvSpPr/>
          <p:nvPr/>
        </p:nvSpPr>
        <p:spPr>
          <a:xfrm>
            <a:off x="4663440" y="3063240"/>
            <a:ext cx="2743200" cy="685800"/>
          </a:xfrm>
          <a:prstGeom prst="roundRect">
            <a:avLst/>
          </a:prstGeom>
          <a:solidFill>
            <a:srgbClr val="D9EEE4"/>
          </a:solidFill>
          <a:ln w="13970">
            <a:solidFill>
              <a:srgbClr val="005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4709159" y="3172968"/>
            <a:ext cx="2651760" cy="539496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normAutofit fontScale="92500" lnSpcReduction="10000"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Microsoft YaHei"/>
              </a:rPr>
              <a:t>Transformer</a:t>
            </a:r>
            <a:br>
              <a:rPr b="1"/>
            </a:br>
            <a:r>
              <a:rPr sz="1800" b="1">
                <a:solidFill>
                  <a:srgbClr val="000000"/>
                </a:solidFill>
                <a:latin typeface="Microsoft YaHei"/>
              </a:rPr>
              <a:t>兴趣编码</a:t>
            </a:r>
          </a:p>
        </p:txBody>
      </p:sp>
      <p:cxnSp>
        <p:nvCxnSpPr>
          <p:cNvPr id="67" name="Connector 66"/>
          <p:cNvCxnSpPr>
            <a:cxnSpLocks/>
            <a:endCxn id="68" idx="1"/>
          </p:cNvCxnSpPr>
          <p:nvPr/>
        </p:nvCxnSpPr>
        <p:spPr>
          <a:xfrm>
            <a:off x="7406640" y="3401568"/>
            <a:ext cx="640080" cy="4572"/>
          </a:xfrm>
          <a:prstGeom prst="line">
            <a:avLst/>
          </a:prstGeom>
          <a:ln w="25400">
            <a:solidFill>
              <a:srgbClr val="0056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ounded Rectangle 67"/>
          <p:cNvSpPr/>
          <p:nvPr/>
        </p:nvSpPr>
        <p:spPr>
          <a:xfrm>
            <a:off x="8046720" y="3063240"/>
            <a:ext cx="2926080" cy="685800"/>
          </a:xfrm>
          <a:prstGeom prst="roundRect">
            <a:avLst/>
          </a:prstGeom>
          <a:solidFill>
            <a:srgbClr val="E8F6F0"/>
          </a:solidFill>
          <a:ln w="13970">
            <a:solidFill>
              <a:srgbClr val="005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8092440" y="3172968"/>
            <a:ext cx="2834640" cy="539496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normAutofit fontScale="92500" lnSpcReduction="10000"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Microsoft YaHei"/>
              </a:rPr>
              <a:t>CrossNetV2 + DNN</a:t>
            </a:r>
            <a:br>
              <a:rPr b="1"/>
            </a:br>
            <a:r>
              <a:rPr sz="1800" b="1">
                <a:solidFill>
                  <a:srgbClr val="000000"/>
                </a:solidFill>
                <a:latin typeface="Microsoft YaHei"/>
              </a:rPr>
              <a:t>点击率预测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777501" y="4498634"/>
            <a:ext cx="6836542" cy="411480"/>
          </a:xfrm>
          <a:prstGeom prst="rect">
            <a:avLst/>
          </a:prstGeom>
          <a:noFill/>
        </p:spPr>
        <p:txBody>
          <a:bodyPr wrap="square" lIns="50800" tIns="25400" rIns="50800" bIns="25400">
            <a:noAutofit/>
          </a:bodyPr>
          <a:lstStyle/>
          <a:p>
            <a:r>
              <a:rPr sz="2400" b="0" dirty="0" err="1">
                <a:solidFill>
                  <a:srgbClr val="FF0000"/>
                </a:solidFill>
                <a:latin typeface="Microsoft YaHei"/>
              </a:rPr>
              <a:t>级联原则：</a:t>
            </a:r>
            <a:r>
              <a:rPr sz="2000" b="0" dirty="0" err="1">
                <a:solidFill>
                  <a:srgbClr val="000000"/>
                </a:solidFill>
                <a:latin typeface="Microsoft YaHei"/>
              </a:rPr>
              <a:t>多模态模型离线生成物品表示</a:t>
            </a:r>
            <a:r>
              <a:rPr sz="2000" b="0" dirty="0">
                <a:solidFill>
                  <a:srgbClr val="000000"/>
                </a:solidFill>
                <a:latin typeface="Microsoft YaHei"/>
              </a:rPr>
              <a:t>；</a:t>
            </a:r>
            <a:endParaRPr lang="en-US" sz="2000" b="0" dirty="0">
              <a:solidFill>
                <a:srgbClr val="000000"/>
              </a:solidFill>
              <a:latin typeface="Microsoft YaHei"/>
            </a:endParaRPr>
          </a:p>
          <a:p>
            <a:endParaRPr lang="en-US" sz="2000" b="0" dirty="0">
              <a:solidFill>
                <a:srgbClr val="000000"/>
              </a:solidFill>
              <a:latin typeface="Microsoft YaHei"/>
            </a:endParaRPr>
          </a:p>
          <a:p>
            <a:r>
              <a:rPr sz="2000" b="0" dirty="0">
                <a:solidFill>
                  <a:srgbClr val="000000"/>
                </a:solidFill>
                <a:latin typeface="Microsoft YaHei"/>
              </a:rPr>
              <a:t>CTR </a:t>
            </a:r>
            <a:r>
              <a:rPr sz="2000" b="0" dirty="0" err="1">
                <a:solidFill>
                  <a:srgbClr val="000000"/>
                </a:solidFill>
                <a:latin typeface="Microsoft YaHei"/>
              </a:rPr>
              <a:t>模型使用固定特征表训练，不进行端到端联合训练</a:t>
            </a:r>
            <a:r>
              <a:rPr sz="2000" b="0" dirty="0">
                <a:solidFill>
                  <a:srgbClr val="000000"/>
                </a:solidFill>
                <a:latin typeface="Microsoft YaHei"/>
              </a:rPr>
              <a:t>。</a:t>
            </a:r>
          </a:p>
        </p:txBody>
      </p:sp>
      <p:sp>
        <p:nvSpPr>
          <p:cNvPr id="4" name="Rectangle 107">
            <a:extLst>
              <a:ext uri="{FF2B5EF4-FFF2-40B4-BE49-F238E27FC236}">
                <a16:creationId xmlns:a16="http://schemas.microsoft.com/office/drawing/2014/main" id="{3A325B74-1349-2642-6CF5-4C75CED22C51}"/>
              </a:ext>
            </a:extLst>
          </p:cNvPr>
          <p:cNvSpPr/>
          <p:nvPr/>
        </p:nvSpPr>
        <p:spPr>
          <a:xfrm>
            <a:off x="668781" y="1015559"/>
            <a:ext cx="10332720" cy="27432"/>
          </a:xfrm>
          <a:prstGeom prst="rect">
            <a:avLst/>
          </a:prstGeom>
          <a:solidFill>
            <a:srgbClr val="005643"/>
          </a:solidFill>
          <a:ln>
            <a:solidFill>
              <a:srgbClr val="005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106234503"/>
      </p:ext>
    </p:extLst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组合 65"/>
          <p:cNvGrpSpPr/>
          <p:nvPr/>
        </p:nvGrpSpPr>
        <p:grpSpPr>
          <a:xfrm>
            <a:off x="4457369" y="1719880"/>
            <a:ext cx="3280945" cy="3540917"/>
            <a:chOff x="3761090" y="2476501"/>
            <a:chExt cx="1787040" cy="1928640"/>
          </a:xfrm>
        </p:grpSpPr>
        <p:cxnSp>
          <p:nvCxnSpPr>
            <p:cNvPr id="67" name="直接连接符 66"/>
            <p:cNvCxnSpPr/>
            <p:nvPr/>
          </p:nvCxnSpPr>
          <p:spPr>
            <a:xfrm flipH="1">
              <a:off x="3905250" y="2633101"/>
              <a:ext cx="745807" cy="249240"/>
            </a:xfrm>
            <a:prstGeom prst="line">
              <a:avLst/>
            </a:prstGeom>
            <a:ln w="635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/>
            <p:cNvCxnSpPr/>
            <p:nvPr/>
          </p:nvCxnSpPr>
          <p:spPr>
            <a:xfrm flipH="1">
              <a:off x="4712971" y="3886200"/>
              <a:ext cx="598169" cy="283921"/>
            </a:xfrm>
            <a:prstGeom prst="line">
              <a:avLst/>
            </a:prstGeom>
            <a:ln w="635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/>
            <p:cNvCxnSpPr/>
            <p:nvPr/>
          </p:nvCxnSpPr>
          <p:spPr>
            <a:xfrm flipH="1">
              <a:off x="3985260" y="3596640"/>
              <a:ext cx="670560" cy="236220"/>
            </a:xfrm>
            <a:prstGeom prst="line">
              <a:avLst/>
            </a:prstGeom>
            <a:ln w="635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/>
            <p:cNvCxnSpPr/>
            <p:nvPr/>
          </p:nvCxnSpPr>
          <p:spPr>
            <a:xfrm flipH="1">
              <a:off x="4652011" y="2918460"/>
              <a:ext cx="666749" cy="291541"/>
            </a:xfrm>
            <a:prstGeom prst="line">
              <a:avLst/>
            </a:prstGeom>
            <a:ln w="635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/>
            <p:cNvCxnSpPr/>
            <p:nvPr/>
          </p:nvCxnSpPr>
          <p:spPr>
            <a:xfrm flipH="1" flipV="1">
              <a:off x="4015740" y="3893820"/>
              <a:ext cx="579120" cy="259080"/>
            </a:xfrm>
            <a:prstGeom prst="line">
              <a:avLst/>
            </a:prstGeom>
            <a:ln w="635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/>
            <p:cNvCxnSpPr/>
            <p:nvPr/>
          </p:nvCxnSpPr>
          <p:spPr>
            <a:xfrm flipH="1" flipV="1">
              <a:off x="4641585" y="3589802"/>
              <a:ext cx="707655" cy="250678"/>
            </a:xfrm>
            <a:prstGeom prst="line">
              <a:avLst/>
            </a:prstGeom>
            <a:ln w="635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/>
            <p:cNvCxnSpPr/>
            <p:nvPr/>
          </p:nvCxnSpPr>
          <p:spPr>
            <a:xfrm flipH="1" flipV="1">
              <a:off x="4672065" y="2637302"/>
              <a:ext cx="707655" cy="250678"/>
            </a:xfrm>
            <a:prstGeom prst="line">
              <a:avLst/>
            </a:prstGeom>
            <a:ln w="635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/>
            <p:cNvCxnSpPr/>
            <p:nvPr/>
          </p:nvCxnSpPr>
          <p:spPr>
            <a:xfrm flipH="1" flipV="1">
              <a:off x="3970020" y="2903220"/>
              <a:ext cx="640080" cy="289560"/>
            </a:xfrm>
            <a:prstGeom prst="line">
              <a:avLst/>
            </a:prstGeom>
            <a:ln w="635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/>
            <p:cNvCxnSpPr/>
            <p:nvPr/>
          </p:nvCxnSpPr>
          <p:spPr>
            <a:xfrm>
              <a:off x="3927476" y="2917825"/>
              <a:ext cx="3174" cy="955675"/>
            </a:xfrm>
            <a:prstGeom prst="line">
              <a:avLst/>
            </a:prstGeom>
            <a:ln w="635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/>
            <p:cNvCxnSpPr/>
            <p:nvPr/>
          </p:nvCxnSpPr>
          <p:spPr>
            <a:xfrm>
              <a:off x="5400676" y="2917825"/>
              <a:ext cx="3174" cy="955675"/>
            </a:xfrm>
            <a:prstGeom prst="line">
              <a:avLst/>
            </a:prstGeom>
            <a:ln w="635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/>
            <p:cNvCxnSpPr/>
            <p:nvPr/>
          </p:nvCxnSpPr>
          <p:spPr>
            <a:xfrm>
              <a:off x="4660901" y="2705100"/>
              <a:ext cx="0" cy="1473200"/>
            </a:xfrm>
            <a:prstGeom prst="line">
              <a:avLst/>
            </a:prstGeom>
            <a:ln w="635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椭圆 77"/>
            <p:cNvSpPr>
              <a:spLocks noChangeAspect="1"/>
            </p:cNvSpPr>
            <p:nvPr/>
          </p:nvSpPr>
          <p:spPr>
            <a:xfrm>
              <a:off x="5224130" y="3749041"/>
              <a:ext cx="324000" cy="324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9" name="椭圆 78"/>
            <p:cNvSpPr>
              <a:spLocks noChangeAspect="1"/>
            </p:cNvSpPr>
            <p:nvPr/>
          </p:nvSpPr>
          <p:spPr>
            <a:xfrm>
              <a:off x="5224130" y="2720341"/>
              <a:ext cx="324000" cy="324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0" name="椭圆 79"/>
            <p:cNvSpPr>
              <a:spLocks noChangeAspect="1"/>
            </p:cNvSpPr>
            <p:nvPr/>
          </p:nvSpPr>
          <p:spPr>
            <a:xfrm>
              <a:off x="3761090" y="3749041"/>
              <a:ext cx="324000" cy="324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1" name="椭圆 80"/>
            <p:cNvSpPr>
              <a:spLocks noChangeAspect="1"/>
            </p:cNvSpPr>
            <p:nvPr/>
          </p:nvSpPr>
          <p:spPr>
            <a:xfrm>
              <a:off x="3761090" y="2720341"/>
              <a:ext cx="324000" cy="324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2" name="椭圆 81"/>
            <p:cNvSpPr>
              <a:spLocks noChangeAspect="1"/>
            </p:cNvSpPr>
            <p:nvPr/>
          </p:nvSpPr>
          <p:spPr>
            <a:xfrm>
              <a:off x="4494456" y="2476501"/>
              <a:ext cx="313200" cy="31320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67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83" name="椭圆 82"/>
            <p:cNvSpPr>
              <a:spLocks noChangeAspect="1"/>
            </p:cNvSpPr>
            <p:nvPr/>
          </p:nvSpPr>
          <p:spPr>
            <a:xfrm>
              <a:off x="4494456" y="3070861"/>
              <a:ext cx="313200" cy="31320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67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84" name="椭圆 83"/>
            <p:cNvSpPr>
              <a:spLocks noChangeAspect="1"/>
            </p:cNvSpPr>
            <p:nvPr/>
          </p:nvSpPr>
          <p:spPr>
            <a:xfrm>
              <a:off x="4494456" y="4091941"/>
              <a:ext cx="313200" cy="31320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67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</p:grpSp>
      <p:grpSp>
        <p:nvGrpSpPr>
          <p:cNvPr id="85" name="组合 84"/>
          <p:cNvGrpSpPr/>
          <p:nvPr/>
        </p:nvGrpSpPr>
        <p:grpSpPr>
          <a:xfrm>
            <a:off x="1444955" y="1622694"/>
            <a:ext cx="2680423" cy="1700482"/>
            <a:chOff x="390154" y="1526097"/>
            <a:chExt cx="2680423" cy="1700481"/>
          </a:xfrm>
        </p:grpSpPr>
        <p:sp>
          <p:nvSpPr>
            <p:cNvPr id="86" name="文本框 105"/>
            <p:cNvSpPr txBox="1"/>
            <p:nvPr/>
          </p:nvSpPr>
          <p:spPr>
            <a:xfrm>
              <a:off x="390155" y="1526097"/>
              <a:ext cx="2680422" cy="3796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/>
            </a:p>
          </p:txBody>
        </p:sp>
        <p:sp>
          <p:nvSpPr>
            <p:cNvPr id="87" name="文本框 106"/>
            <p:cNvSpPr txBox="1"/>
            <p:nvPr/>
          </p:nvSpPr>
          <p:spPr>
            <a:xfrm>
              <a:off x="390154" y="1885506"/>
              <a:ext cx="2680423" cy="13410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189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grpSp>
        <p:nvGrpSpPr>
          <p:cNvPr id="88" name="组合 87"/>
          <p:cNvGrpSpPr/>
          <p:nvPr/>
        </p:nvGrpSpPr>
        <p:grpSpPr>
          <a:xfrm>
            <a:off x="8132957" y="1602598"/>
            <a:ext cx="2680423" cy="1720578"/>
            <a:chOff x="6093451" y="1506001"/>
            <a:chExt cx="2680423" cy="1720577"/>
          </a:xfrm>
        </p:grpSpPr>
        <p:sp>
          <p:nvSpPr>
            <p:cNvPr id="89" name="文本框 107"/>
            <p:cNvSpPr txBox="1"/>
            <p:nvPr/>
          </p:nvSpPr>
          <p:spPr>
            <a:xfrm>
              <a:off x="6093452" y="1506001"/>
              <a:ext cx="2680422" cy="3796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/>
            </a:p>
          </p:txBody>
        </p:sp>
        <p:sp>
          <p:nvSpPr>
            <p:cNvPr id="90" name="文本框 108"/>
            <p:cNvSpPr txBox="1"/>
            <p:nvPr/>
          </p:nvSpPr>
          <p:spPr>
            <a:xfrm>
              <a:off x="6093451" y="1885506"/>
              <a:ext cx="2680423" cy="13410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189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grpSp>
        <p:nvGrpSpPr>
          <p:cNvPr id="91" name="组合 90"/>
          <p:cNvGrpSpPr/>
          <p:nvPr/>
        </p:nvGrpSpPr>
        <p:grpSpPr>
          <a:xfrm>
            <a:off x="1444956" y="4036317"/>
            <a:ext cx="2813025" cy="1680386"/>
            <a:chOff x="390154" y="1556241"/>
            <a:chExt cx="2813025" cy="1680385"/>
          </a:xfrm>
        </p:grpSpPr>
        <p:sp>
          <p:nvSpPr>
            <p:cNvPr id="92" name="文本框 112"/>
            <p:cNvSpPr txBox="1"/>
            <p:nvPr/>
          </p:nvSpPr>
          <p:spPr>
            <a:xfrm>
              <a:off x="390154" y="1556241"/>
              <a:ext cx="2813025" cy="3796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/>
            </a:p>
          </p:txBody>
        </p:sp>
        <p:sp>
          <p:nvSpPr>
            <p:cNvPr id="93" name="文本框 113"/>
            <p:cNvSpPr txBox="1"/>
            <p:nvPr/>
          </p:nvSpPr>
          <p:spPr>
            <a:xfrm>
              <a:off x="390154" y="1895554"/>
              <a:ext cx="2680422" cy="13410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189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grpSp>
        <p:nvGrpSpPr>
          <p:cNvPr id="94" name="组合 93"/>
          <p:cNvGrpSpPr/>
          <p:nvPr/>
        </p:nvGrpSpPr>
        <p:grpSpPr>
          <a:xfrm>
            <a:off x="8132957" y="4026269"/>
            <a:ext cx="2833055" cy="1690434"/>
            <a:chOff x="6093451" y="1546193"/>
            <a:chExt cx="2833055" cy="1690433"/>
          </a:xfrm>
        </p:grpSpPr>
        <p:sp>
          <p:nvSpPr>
            <p:cNvPr id="95" name="文本框 115"/>
            <p:cNvSpPr txBox="1"/>
            <p:nvPr/>
          </p:nvSpPr>
          <p:spPr>
            <a:xfrm>
              <a:off x="6093452" y="1546193"/>
              <a:ext cx="2833054" cy="3796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/>
            </a:p>
          </p:txBody>
        </p:sp>
        <p:sp>
          <p:nvSpPr>
            <p:cNvPr id="96" name="文本框 116"/>
            <p:cNvSpPr txBox="1"/>
            <p:nvPr/>
          </p:nvSpPr>
          <p:spPr>
            <a:xfrm>
              <a:off x="6093451" y="1895554"/>
              <a:ext cx="2680423" cy="13410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189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37" name="矩形 46"/>
          <p:cNvSpPr>
            <a:spLocks noChangeArrowheads="1"/>
          </p:cNvSpPr>
          <p:nvPr/>
        </p:nvSpPr>
        <p:spPr bwMode="auto">
          <a:xfrm>
            <a:off x="651984" y="299906"/>
            <a:ext cx="1887690" cy="615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1917" tIns="60959" rIns="121917" bIns="60959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endParaRPr/>
          </a:p>
        </p:txBody>
      </p:sp>
      <p:sp>
        <p:nvSpPr>
          <p:cNvPr id="38" name="等腰三角形 47"/>
          <p:cNvSpPr>
            <a:spLocks noChangeArrowheads="1"/>
          </p:cNvSpPr>
          <p:nvPr/>
        </p:nvSpPr>
        <p:spPr bwMode="auto">
          <a:xfrm rot="5400000">
            <a:off x="-53049" y="209721"/>
            <a:ext cx="774879" cy="66878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121917" tIns="60959" rIns="121917" bIns="60959" anchor="ctr"/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zh-CN" altLang="zh-CN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  <a:sym typeface="微软雅黑" pitchFamily="34" charset="-122"/>
            </a:endParaRPr>
          </a:p>
        </p:txBody>
      </p:sp>
      <p:sp>
        <p:nvSpPr>
          <p:cNvPr id="97" name="Rectangle 96"/>
          <p:cNvSpPr/>
          <p:nvPr/>
        </p:nvSpPr>
        <p:spPr>
          <a:xfrm>
            <a:off x="0" y="1024128"/>
            <a:ext cx="12188952" cy="526694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685800" y="347472"/>
            <a:ext cx="10698480" cy="502920"/>
          </a:xfrm>
          <a:prstGeom prst="rect">
            <a:avLst/>
          </a:prstGeom>
          <a:noFill/>
        </p:spPr>
        <p:txBody>
          <a:bodyPr wrap="square" lIns="50800" tIns="25400" rIns="50800" bIns="25400">
            <a:normAutofit lnSpcReduction="10000"/>
          </a:bodyPr>
          <a:lstStyle/>
          <a:p>
            <a:r>
              <a:rPr sz="3000" b="1">
                <a:solidFill>
                  <a:srgbClr val="000000"/>
                </a:solidFill>
                <a:latin typeface="KaiTi"/>
              </a:rPr>
              <a:t>Task 1：多模态物品表征学习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822960" y="1325880"/>
            <a:ext cx="2194560" cy="621792"/>
          </a:xfrm>
          <a:prstGeom prst="roundRect">
            <a:avLst/>
          </a:prstGeom>
          <a:solidFill>
            <a:srgbClr val="E8F6F0"/>
          </a:solidFill>
          <a:ln w="13970">
            <a:solidFill>
              <a:srgbClr val="005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868680" y="1435607"/>
            <a:ext cx="2103120" cy="475488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normAutofit fontScale="92500" lnSpcReduction="20000"/>
          </a:bodyPr>
          <a:lstStyle/>
          <a:p>
            <a:pPr algn="ctr"/>
            <a:r>
              <a:rPr sz="1800" b="1" dirty="0" err="1">
                <a:solidFill>
                  <a:srgbClr val="000000"/>
                </a:solidFill>
                <a:latin typeface="Microsoft YaHei"/>
              </a:rPr>
              <a:t>图像编码</a:t>
            </a:r>
            <a:br>
              <a:rPr b="1" dirty="0"/>
            </a:br>
            <a:r>
              <a:rPr sz="1800" b="1" dirty="0" err="1">
                <a:solidFill>
                  <a:srgbClr val="000000"/>
                </a:solidFill>
                <a:latin typeface="Microsoft YaHei"/>
              </a:rPr>
              <a:t>封面</a:t>
            </a:r>
            <a:r>
              <a:rPr sz="1800" b="1" dirty="0">
                <a:solidFill>
                  <a:srgbClr val="000000"/>
                </a:solidFill>
                <a:latin typeface="Microsoft YaHei"/>
              </a:rPr>
              <a:t> JPG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822960" y="2331720"/>
            <a:ext cx="2194560" cy="621792"/>
          </a:xfrm>
          <a:prstGeom prst="roundRect">
            <a:avLst/>
          </a:prstGeom>
          <a:solidFill>
            <a:srgbClr val="E8F6F0"/>
          </a:solidFill>
          <a:ln w="13970">
            <a:solidFill>
              <a:srgbClr val="005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868680" y="2441448"/>
            <a:ext cx="2103120" cy="475488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normAutofit fontScale="92500" lnSpcReduction="20000"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Microsoft YaHei"/>
              </a:rPr>
              <a:t>文本编码</a:t>
            </a:r>
            <a:br>
              <a:rPr b="1"/>
            </a:br>
            <a:r>
              <a:rPr sz="1800" b="1">
                <a:solidFill>
                  <a:srgbClr val="000000"/>
                </a:solidFill>
                <a:latin typeface="Microsoft YaHei"/>
              </a:rPr>
              <a:t>标题文本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3886200" y="1783080"/>
            <a:ext cx="2377440" cy="685800"/>
          </a:xfrm>
          <a:prstGeom prst="roundRect">
            <a:avLst/>
          </a:prstGeom>
          <a:solidFill>
            <a:srgbClr val="D9EEE4"/>
          </a:solidFill>
          <a:ln w="13970">
            <a:solidFill>
              <a:srgbClr val="005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3931920" y="1892807"/>
            <a:ext cx="2286000" cy="539496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normAutofit/>
          </a:bodyPr>
          <a:lstStyle/>
          <a:p>
            <a:pPr algn="ctr"/>
            <a:r>
              <a:rPr sz="1600" b="1" dirty="0" err="1">
                <a:solidFill>
                  <a:srgbClr val="000000"/>
                </a:solidFill>
                <a:latin typeface="Microsoft YaHei"/>
              </a:rPr>
              <a:t>加权融合</a:t>
            </a:r>
            <a:br>
              <a:rPr dirty="0"/>
            </a:br>
            <a:r>
              <a:rPr sz="1600" b="1" dirty="0">
                <a:solidFill>
                  <a:srgbClr val="000000"/>
                </a:solidFill>
                <a:latin typeface="Microsoft YaHei"/>
              </a:rPr>
              <a:t>0.8 </a:t>
            </a:r>
            <a:r>
              <a:rPr sz="1600" b="1" dirty="0" err="1">
                <a:solidFill>
                  <a:srgbClr val="000000"/>
                </a:solidFill>
                <a:latin typeface="Microsoft YaHei"/>
              </a:rPr>
              <a:t>图像</a:t>
            </a:r>
            <a:r>
              <a:rPr sz="1600" b="1" dirty="0">
                <a:solidFill>
                  <a:srgbClr val="000000"/>
                </a:solidFill>
                <a:latin typeface="Microsoft YaHei"/>
              </a:rPr>
              <a:t> + 0.2 </a:t>
            </a:r>
            <a:r>
              <a:rPr sz="1600" b="1" dirty="0" err="1">
                <a:solidFill>
                  <a:srgbClr val="000000"/>
                </a:solidFill>
                <a:latin typeface="Microsoft YaHei"/>
              </a:rPr>
              <a:t>文本</a:t>
            </a:r>
            <a:endParaRPr sz="1600" b="1" dirty="0">
              <a:solidFill>
                <a:srgbClr val="000000"/>
              </a:solidFill>
              <a:latin typeface="Microsoft YaHei"/>
            </a:endParaRPr>
          </a:p>
        </p:txBody>
      </p:sp>
      <p:cxnSp>
        <p:nvCxnSpPr>
          <p:cNvPr id="108" name="Connector 107"/>
          <p:cNvCxnSpPr/>
          <p:nvPr/>
        </p:nvCxnSpPr>
        <p:spPr>
          <a:xfrm>
            <a:off x="6263640" y="2130552"/>
            <a:ext cx="731520" cy="0"/>
          </a:xfrm>
          <a:prstGeom prst="line">
            <a:avLst/>
          </a:prstGeom>
          <a:ln w="25400">
            <a:solidFill>
              <a:srgbClr val="0056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Rounded Rectangle 108"/>
          <p:cNvSpPr/>
          <p:nvPr/>
        </p:nvSpPr>
        <p:spPr>
          <a:xfrm>
            <a:off x="7040880" y="1783080"/>
            <a:ext cx="1828800" cy="685800"/>
          </a:xfrm>
          <a:prstGeom prst="roundRect">
            <a:avLst/>
          </a:prstGeom>
          <a:solidFill>
            <a:srgbClr val="E8F6F0"/>
          </a:solidFill>
          <a:ln w="13970">
            <a:solidFill>
              <a:srgbClr val="005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7086600" y="1892807"/>
            <a:ext cx="1737360" cy="539496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normAutofit fontScale="92500" lnSpcReduction="10000"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Microsoft YaHei"/>
              </a:rPr>
              <a:t>PCA</a:t>
            </a:r>
            <a:br/>
            <a:r>
              <a:rPr sz="1800" b="1">
                <a:solidFill>
                  <a:srgbClr val="000000"/>
                </a:solidFill>
                <a:latin typeface="Microsoft YaHei"/>
              </a:rPr>
              <a:t>128维</a:t>
            </a:r>
          </a:p>
        </p:txBody>
      </p:sp>
      <p:cxnSp>
        <p:nvCxnSpPr>
          <p:cNvPr id="111" name="Connector 110"/>
          <p:cNvCxnSpPr/>
          <p:nvPr/>
        </p:nvCxnSpPr>
        <p:spPr>
          <a:xfrm>
            <a:off x="8869680" y="2130552"/>
            <a:ext cx="685800" cy="0"/>
          </a:xfrm>
          <a:prstGeom prst="line">
            <a:avLst/>
          </a:prstGeom>
          <a:ln w="25400">
            <a:solidFill>
              <a:srgbClr val="0056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Rounded Rectangle 111"/>
          <p:cNvSpPr/>
          <p:nvPr/>
        </p:nvSpPr>
        <p:spPr>
          <a:xfrm>
            <a:off x="9601200" y="1783080"/>
            <a:ext cx="1828800" cy="685800"/>
          </a:xfrm>
          <a:prstGeom prst="roundRect">
            <a:avLst/>
          </a:prstGeom>
          <a:solidFill>
            <a:srgbClr val="D9EEE4"/>
          </a:solidFill>
          <a:ln w="13970">
            <a:solidFill>
              <a:srgbClr val="005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9646920" y="1892807"/>
            <a:ext cx="1737360" cy="539496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norm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Microsoft YaHei"/>
              </a:rPr>
              <a:t>固定 DIN</a:t>
            </a:r>
            <a:br/>
            <a:r>
              <a:rPr sz="1600" b="1">
                <a:solidFill>
                  <a:srgbClr val="000000"/>
                </a:solidFill>
                <a:latin typeface="Microsoft YaHei"/>
              </a:rPr>
              <a:t>评估 AUC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95507" y="4013802"/>
            <a:ext cx="2006157" cy="320040"/>
          </a:xfrm>
          <a:prstGeom prst="rect">
            <a:avLst/>
          </a:prstGeom>
          <a:noFill/>
        </p:spPr>
        <p:txBody>
          <a:bodyPr wrap="square" lIns="50800" tIns="25400" rIns="50800" bIns="25400">
            <a:noAutofit/>
          </a:bodyPr>
          <a:lstStyle/>
          <a:p>
            <a:r>
              <a:rPr sz="2400" b="1" dirty="0" err="1">
                <a:solidFill>
                  <a:srgbClr val="FF0000"/>
                </a:solidFill>
                <a:latin typeface="KaiTi"/>
              </a:rPr>
              <a:t>核心设置</a:t>
            </a:r>
            <a:endParaRPr sz="2400" b="1" dirty="0">
              <a:solidFill>
                <a:srgbClr val="FF0000"/>
              </a:solidFill>
              <a:latin typeface="KaiTi"/>
            </a:endParaRPr>
          </a:p>
        </p:txBody>
      </p:sp>
      <p:sp>
        <p:nvSpPr>
          <p:cNvPr id="115" name="TextBox 114"/>
          <p:cNvSpPr txBox="1"/>
          <p:nvPr/>
        </p:nvSpPr>
        <p:spPr>
          <a:xfrm>
            <a:off x="999052" y="4685773"/>
            <a:ext cx="9966960" cy="960120"/>
          </a:xfrm>
          <a:prstGeom prst="rect">
            <a:avLst/>
          </a:prstGeom>
          <a:noFill/>
        </p:spPr>
        <p:txBody>
          <a:bodyPr wrap="square" lIns="50800" tIns="25400" rIns="50800" bIns="25400">
            <a:noAutofit/>
          </a:bodyPr>
          <a:lstStyle/>
          <a:p>
            <a:r>
              <a:rPr sz="2000" b="0" dirty="0">
                <a:solidFill>
                  <a:srgbClr val="000000"/>
                </a:solidFill>
                <a:latin typeface="Microsoft YaHei"/>
              </a:rPr>
              <a:t>• </a:t>
            </a:r>
            <a:r>
              <a:rPr sz="2000" b="0" dirty="0" err="1">
                <a:solidFill>
                  <a:srgbClr val="000000"/>
                </a:solidFill>
                <a:latin typeface="Microsoft YaHei"/>
              </a:rPr>
              <a:t>物品表示写入</a:t>
            </a:r>
            <a:r>
              <a:rPr sz="2000" b="0" dirty="0">
                <a:solidFill>
                  <a:srgbClr val="000000"/>
                </a:solidFill>
                <a:latin typeface="Microsoft YaHei"/>
              </a:rPr>
              <a:t> item_emb_d128 </a:t>
            </a:r>
            <a:r>
              <a:rPr sz="2000" b="0" dirty="0" err="1">
                <a:solidFill>
                  <a:srgbClr val="000000"/>
                </a:solidFill>
                <a:latin typeface="Microsoft YaHei"/>
              </a:rPr>
              <a:t>字段</a:t>
            </a:r>
            <a:endParaRPr lang="en-US" sz="2000" b="0" dirty="0">
              <a:solidFill>
                <a:srgbClr val="000000"/>
              </a:solidFill>
              <a:latin typeface="Microsoft YaHei"/>
            </a:endParaRPr>
          </a:p>
          <a:p>
            <a:br>
              <a:rPr sz="2000" dirty="0"/>
            </a:br>
            <a:r>
              <a:rPr sz="2000" b="0" dirty="0">
                <a:solidFill>
                  <a:srgbClr val="000000"/>
                </a:solidFill>
                <a:latin typeface="Microsoft YaHei"/>
              </a:rPr>
              <a:t>• DIN </a:t>
            </a:r>
            <a:r>
              <a:rPr sz="2000" b="0" dirty="0" err="1">
                <a:solidFill>
                  <a:srgbClr val="000000"/>
                </a:solidFill>
                <a:latin typeface="Microsoft YaHei"/>
              </a:rPr>
              <a:t>的网络结构、输入字段和数据划分保持一致</a:t>
            </a:r>
            <a:endParaRPr lang="en-US" sz="2000" b="0" dirty="0">
              <a:solidFill>
                <a:srgbClr val="000000"/>
              </a:solidFill>
              <a:latin typeface="Microsoft YaHei"/>
            </a:endParaRPr>
          </a:p>
          <a:p>
            <a:br>
              <a:rPr sz="2000" dirty="0"/>
            </a:br>
            <a:r>
              <a:rPr sz="2000" b="0" dirty="0">
                <a:solidFill>
                  <a:srgbClr val="000000"/>
                </a:solidFill>
                <a:latin typeface="Microsoft YaHei"/>
              </a:rPr>
              <a:t>• </a:t>
            </a:r>
            <a:r>
              <a:rPr sz="2000" b="0" dirty="0" err="1">
                <a:solidFill>
                  <a:srgbClr val="000000"/>
                </a:solidFill>
                <a:latin typeface="Microsoft YaHei"/>
              </a:rPr>
              <a:t>通过固定下游模型比较不同</a:t>
            </a:r>
            <a:r>
              <a:rPr sz="2000" b="0" dirty="0">
                <a:solidFill>
                  <a:srgbClr val="000000"/>
                </a:solidFill>
                <a:latin typeface="Microsoft YaHei"/>
              </a:rPr>
              <a:t> embedding </a:t>
            </a:r>
            <a:r>
              <a:rPr sz="2000" b="0" dirty="0" err="1">
                <a:solidFill>
                  <a:srgbClr val="000000"/>
                </a:solidFill>
                <a:latin typeface="Microsoft YaHei"/>
              </a:rPr>
              <a:t>的质量</a:t>
            </a:r>
            <a:endParaRPr sz="2000" b="0" dirty="0">
              <a:solidFill>
                <a:srgbClr val="000000"/>
              </a:solidFill>
              <a:latin typeface="Microsoft YaHei"/>
            </a:endParaRPr>
          </a:p>
        </p:txBody>
      </p:sp>
      <p:sp>
        <p:nvSpPr>
          <p:cNvPr id="3" name="Rectangle 107">
            <a:extLst>
              <a:ext uri="{FF2B5EF4-FFF2-40B4-BE49-F238E27FC236}">
                <a16:creationId xmlns:a16="http://schemas.microsoft.com/office/drawing/2014/main" id="{A6374027-55A3-92CB-C7F2-148C87A230DA}"/>
              </a:ext>
            </a:extLst>
          </p:cNvPr>
          <p:cNvSpPr/>
          <p:nvPr/>
        </p:nvSpPr>
        <p:spPr>
          <a:xfrm>
            <a:off x="668781" y="1015559"/>
            <a:ext cx="10332720" cy="27432"/>
          </a:xfrm>
          <a:prstGeom prst="rect">
            <a:avLst/>
          </a:prstGeom>
          <a:solidFill>
            <a:srgbClr val="005643"/>
          </a:solidFill>
          <a:ln>
            <a:solidFill>
              <a:srgbClr val="005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" name="连接符: 肘形 4">
            <a:extLst>
              <a:ext uri="{FF2B5EF4-FFF2-40B4-BE49-F238E27FC236}">
                <a16:creationId xmlns:a16="http://schemas.microsoft.com/office/drawing/2014/main" id="{4B3B32BB-4A64-1ADC-0256-00B7662FAA69}"/>
              </a:ext>
            </a:extLst>
          </p:cNvPr>
          <p:cNvCxnSpPr>
            <a:cxnSpLocks/>
          </p:cNvCxnSpPr>
          <p:nvPr/>
        </p:nvCxnSpPr>
        <p:spPr>
          <a:xfrm>
            <a:off x="3017520" y="1467993"/>
            <a:ext cx="1276203" cy="315087"/>
          </a:xfrm>
          <a:prstGeom prst="bentConnector3">
            <a:avLst>
              <a:gd name="adj1" fmla="val 99632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连接符: 肘形 8">
            <a:extLst>
              <a:ext uri="{FF2B5EF4-FFF2-40B4-BE49-F238E27FC236}">
                <a16:creationId xmlns:a16="http://schemas.microsoft.com/office/drawing/2014/main" id="{C3DDFD4D-9F9A-91BF-70C6-A48CC1945DD5}"/>
              </a:ext>
            </a:extLst>
          </p:cNvPr>
          <p:cNvCxnSpPr>
            <a:cxnSpLocks/>
          </p:cNvCxnSpPr>
          <p:nvPr/>
        </p:nvCxnSpPr>
        <p:spPr>
          <a:xfrm flipV="1">
            <a:off x="3026849" y="2464988"/>
            <a:ext cx="1280126" cy="333943"/>
          </a:xfrm>
          <a:prstGeom prst="bentConnector3">
            <a:avLst>
              <a:gd name="adj1" fmla="val 100225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9099816"/>
      </p:ext>
    </p:extLst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任意多边形 5"/>
          <p:cNvSpPr/>
          <p:nvPr/>
        </p:nvSpPr>
        <p:spPr>
          <a:xfrm>
            <a:off x="2324101" y="3079582"/>
            <a:ext cx="1545937" cy="1545937"/>
          </a:xfrm>
          <a:custGeom>
            <a:avLst/>
            <a:gdLst>
              <a:gd name="connsiteX0" fmla="*/ 0 w 1439167"/>
              <a:gd name="connsiteY0" fmla="*/ 719584 h 1439167"/>
              <a:gd name="connsiteX1" fmla="*/ 719584 w 1439167"/>
              <a:gd name="connsiteY1" fmla="*/ 0 h 1439167"/>
              <a:gd name="connsiteX2" fmla="*/ 1439168 w 1439167"/>
              <a:gd name="connsiteY2" fmla="*/ 719584 h 1439167"/>
              <a:gd name="connsiteX3" fmla="*/ 719584 w 1439167"/>
              <a:gd name="connsiteY3" fmla="*/ 1439168 h 1439167"/>
              <a:gd name="connsiteX4" fmla="*/ 0 w 1439167"/>
              <a:gd name="connsiteY4" fmla="*/ 719584 h 1439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9167" h="1439167">
                <a:moveTo>
                  <a:pt x="0" y="719584"/>
                </a:moveTo>
                <a:cubicBezTo>
                  <a:pt x="0" y="322169"/>
                  <a:pt x="322169" y="0"/>
                  <a:pt x="719584" y="0"/>
                </a:cubicBezTo>
                <a:cubicBezTo>
                  <a:pt x="1116999" y="0"/>
                  <a:pt x="1439168" y="322169"/>
                  <a:pt x="1439168" y="719584"/>
                </a:cubicBezTo>
                <a:cubicBezTo>
                  <a:pt x="1439168" y="1116999"/>
                  <a:pt x="1116999" y="1439168"/>
                  <a:pt x="719584" y="1439168"/>
                </a:cubicBezTo>
                <a:cubicBezTo>
                  <a:pt x="322169" y="1439168"/>
                  <a:pt x="0" y="1116999"/>
                  <a:pt x="0" y="71958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916297" y="1671778"/>
            <a:ext cx="4361543" cy="4361543"/>
            <a:chOff x="3526104" y="876860"/>
            <a:chExt cx="5124410" cy="5124410"/>
          </a:xfrm>
        </p:grpSpPr>
        <p:sp>
          <p:nvSpPr>
            <p:cNvPr id="8" name="空心弧 7"/>
            <p:cNvSpPr/>
            <p:nvPr/>
          </p:nvSpPr>
          <p:spPr>
            <a:xfrm>
              <a:off x="4116050" y="1466806"/>
              <a:ext cx="3944518" cy="3944518"/>
            </a:xfrm>
            <a:prstGeom prst="blockArc">
              <a:avLst>
                <a:gd name="adj1" fmla="val 10800000"/>
                <a:gd name="adj2" fmla="val 16200000"/>
                <a:gd name="adj3" fmla="val 4642"/>
              </a:avLst>
            </a:prstGeom>
            <a:solidFill>
              <a:srgbClr val="7F7F7F"/>
            </a:solidFill>
            <a:ln>
              <a:solidFill>
                <a:schemeClr val="accent2"/>
              </a:solidFill>
            </a:ln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/>
            </a:p>
          </p:txBody>
        </p:sp>
        <p:sp>
          <p:nvSpPr>
            <p:cNvPr id="9" name="空心弧 8"/>
            <p:cNvSpPr/>
            <p:nvPr/>
          </p:nvSpPr>
          <p:spPr>
            <a:xfrm>
              <a:off x="4116050" y="1466806"/>
              <a:ext cx="3944518" cy="3944518"/>
            </a:xfrm>
            <a:prstGeom prst="blockArc">
              <a:avLst>
                <a:gd name="adj1" fmla="val 5400000"/>
                <a:gd name="adj2" fmla="val 10800000"/>
                <a:gd name="adj3" fmla="val 4642"/>
              </a:avLst>
            </a:prstGeom>
            <a:solidFill>
              <a:srgbClr val="7F7F7F"/>
            </a:solidFill>
            <a:ln>
              <a:solidFill>
                <a:schemeClr val="accent2"/>
              </a:solidFill>
            </a:ln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/>
            </a:p>
          </p:txBody>
        </p:sp>
        <p:sp>
          <p:nvSpPr>
            <p:cNvPr id="10" name="空心弧 9"/>
            <p:cNvSpPr/>
            <p:nvPr/>
          </p:nvSpPr>
          <p:spPr>
            <a:xfrm>
              <a:off x="4116050" y="1466806"/>
              <a:ext cx="3944518" cy="3944518"/>
            </a:xfrm>
            <a:prstGeom prst="blockArc">
              <a:avLst>
                <a:gd name="adj1" fmla="val 0"/>
                <a:gd name="adj2" fmla="val 5400000"/>
                <a:gd name="adj3" fmla="val 4642"/>
              </a:avLst>
            </a:prstGeom>
            <a:solidFill>
              <a:srgbClr val="7F7F7F"/>
            </a:solidFill>
            <a:ln>
              <a:solidFill>
                <a:schemeClr val="accent2"/>
              </a:solidFill>
            </a:ln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/>
            </a:p>
          </p:txBody>
        </p:sp>
        <p:sp>
          <p:nvSpPr>
            <p:cNvPr id="11" name="空心弧 10"/>
            <p:cNvSpPr/>
            <p:nvPr/>
          </p:nvSpPr>
          <p:spPr>
            <a:xfrm>
              <a:off x="4116050" y="1466806"/>
              <a:ext cx="3944518" cy="3944518"/>
            </a:xfrm>
            <a:prstGeom prst="blockArc">
              <a:avLst>
                <a:gd name="adj1" fmla="val 16200000"/>
                <a:gd name="adj2" fmla="val 0"/>
                <a:gd name="adj3" fmla="val 4642"/>
              </a:avLst>
            </a:prstGeom>
            <a:solidFill>
              <a:srgbClr val="7F7F7F"/>
            </a:solidFill>
            <a:ln>
              <a:solidFill>
                <a:schemeClr val="accent2"/>
              </a:solidFill>
            </a:ln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5452593" y="4729836"/>
              <a:ext cx="1271434" cy="1271434"/>
              <a:chOff x="5147792" y="4934845"/>
              <a:chExt cx="1007417" cy="1007417"/>
            </a:xfrm>
          </p:grpSpPr>
          <p:sp>
            <p:nvSpPr>
              <p:cNvPr id="37" name="任意多边形 36"/>
              <p:cNvSpPr/>
              <p:nvPr/>
            </p:nvSpPr>
            <p:spPr>
              <a:xfrm>
                <a:off x="5147792" y="4934845"/>
                <a:ext cx="1007417" cy="1007417"/>
              </a:xfrm>
              <a:custGeom>
                <a:avLst/>
                <a:gdLst>
                  <a:gd name="connsiteX0" fmla="*/ 0 w 1007417"/>
                  <a:gd name="connsiteY0" fmla="*/ 503709 h 1007417"/>
                  <a:gd name="connsiteX1" fmla="*/ 503709 w 1007417"/>
                  <a:gd name="connsiteY1" fmla="*/ 0 h 1007417"/>
                  <a:gd name="connsiteX2" fmla="*/ 1007418 w 1007417"/>
                  <a:gd name="connsiteY2" fmla="*/ 503709 h 1007417"/>
                  <a:gd name="connsiteX3" fmla="*/ 503709 w 1007417"/>
                  <a:gd name="connsiteY3" fmla="*/ 1007418 h 1007417"/>
                  <a:gd name="connsiteX4" fmla="*/ 0 w 1007417"/>
                  <a:gd name="connsiteY4" fmla="*/ 503709 h 10074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7417" h="1007417">
                    <a:moveTo>
                      <a:pt x="0" y="503709"/>
                    </a:moveTo>
                    <a:cubicBezTo>
                      <a:pt x="0" y="225518"/>
                      <a:pt x="225518" y="0"/>
                      <a:pt x="503709" y="0"/>
                    </a:cubicBezTo>
                    <a:cubicBezTo>
                      <a:pt x="781900" y="0"/>
                      <a:pt x="1007418" y="225518"/>
                      <a:pt x="1007418" y="503709"/>
                    </a:cubicBezTo>
                    <a:cubicBezTo>
                      <a:pt x="1007418" y="781900"/>
                      <a:pt x="781900" y="1007418"/>
                      <a:pt x="503709" y="1007418"/>
                    </a:cubicBezTo>
                    <a:cubicBezTo>
                      <a:pt x="225518" y="1007418"/>
                      <a:pt x="0" y="781900"/>
                      <a:pt x="0" y="50370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18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67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grpSp>
            <p:nvGrpSpPr>
              <p:cNvPr id="38" name="Group 4"/>
              <p:cNvGrpSpPr>
                <a:grpSpLocks noChangeAspect="1"/>
              </p:cNvGrpSpPr>
              <p:nvPr/>
            </p:nvGrpSpPr>
            <p:grpSpPr bwMode="auto">
              <a:xfrm>
                <a:off x="5418313" y="5176357"/>
                <a:ext cx="466374" cy="524392"/>
                <a:chOff x="3313" y="3205"/>
                <a:chExt cx="418" cy="470"/>
              </a:xfrm>
              <a:solidFill>
                <a:schemeClr val="bg1"/>
              </a:solidFill>
            </p:grpSpPr>
            <p:sp>
              <p:nvSpPr>
                <p:cNvPr id="39" name="Freeform 5"/>
                <p:cNvSpPr>
                  <a:spLocks/>
                </p:cNvSpPr>
                <p:nvPr/>
              </p:nvSpPr>
              <p:spPr bwMode="auto">
                <a:xfrm>
                  <a:off x="3392" y="3507"/>
                  <a:ext cx="206" cy="12"/>
                </a:xfrm>
                <a:custGeom>
                  <a:avLst/>
                  <a:gdLst>
                    <a:gd name="T0" fmla="*/ 84 w 86"/>
                    <a:gd name="T1" fmla="*/ 0 h 5"/>
                    <a:gd name="T2" fmla="*/ 3 w 86"/>
                    <a:gd name="T3" fmla="*/ 0 h 5"/>
                    <a:gd name="T4" fmla="*/ 0 w 86"/>
                    <a:gd name="T5" fmla="*/ 3 h 5"/>
                    <a:gd name="T6" fmla="*/ 3 w 86"/>
                    <a:gd name="T7" fmla="*/ 5 h 5"/>
                    <a:gd name="T8" fmla="*/ 84 w 86"/>
                    <a:gd name="T9" fmla="*/ 5 h 5"/>
                    <a:gd name="T10" fmla="*/ 86 w 86"/>
                    <a:gd name="T11" fmla="*/ 3 h 5"/>
                    <a:gd name="T12" fmla="*/ 84 w 86"/>
                    <a:gd name="T13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6" h="5">
                      <a:moveTo>
                        <a:pt x="84" y="0"/>
                      </a:move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1" y="0"/>
                        <a:pt x="0" y="1"/>
                        <a:pt x="0" y="3"/>
                      </a:cubicBezTo>
                      <a:cubicBezTo>
                        <a:pt x="0" y="4"/>
                        <a:pt x="1" y="5"/>
                        <a:pt x="3" y="5"/>
                      </a:cubicBezTo>
                      <a:cubicBezTo>
                        <a:pt x="84" y="5"/>
                        <a:pt x="84" y="5"/>
                        <a:pt x="84" y="5"/>
                      </a:cubicBezTo>
                      <a:cubicBezTo>
                        <a:pt x="85" y="5"/>
                        <a:pt x="86" y="4"/>
                        <a:pt x="86" y="3"/>
                      </a:cubicBezTo>
                      <a:cubicBezTo>
                        <a:pt x="86" y="1"/>
                        <a:pt x="85" y="0"/>
                        <a:pt x="8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121920" tIns="60960" rIns="121920" bIns="6096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189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67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微软雅黑"/>
                    <a:cs typeface="+mn-cs"/>
                  </a:endParaRPr>
                </a:p>
              </p:txBody>
            </p:sp>
            <p:sp>
              <p:nvSpPr>
                <p:cNvPr id="40" name="Freeform 6"/>
                <p:cNvSpPr>
                  <a:spLocks/>
                </p:cNvSpPr>
                <p:nvPr/>
              </p:nvSpPr>
              <p:spPr bwMode="auto">
                <a:xfrm>
                  <a:off x="3392" y="3442"/>
                  <a:ext cx="206" cy="12"/>
                </a:xfrm>
                <a:custGeom>
                  <a:avLst/>
                  <a:gdLst>
                    <a:gd name="T0" fmla="*/ 84 w 86"/>
                    <a:gd name="T1" fmla="*/ 0 h 5"/>
                    <a:gd name="T2" fmla="*/ 3 w 86"/>
                    <a:gd name="T3" fmla="*/ 0 h 5"/>
                    <a:gd name="T4" fmla="*/ 0 w 86"/>
                    <a:gd name="T5" fmla="*/ 2 h 5"/>
                    <a:gd name="T6" fmla="*/ 3 w 86"/>
                    <a:gd name="T7" fmla="*/ 5 h 5"/>
                    <a:gd name="T8" fmla="*/ 84 w 86"/>
                    <a:gd name="T9" fmla="*/ 5 h 5"/>
                    <a:gd name="T10" fmla="*/ 86 w 86"/>
                    <a:gd name="T11" fmla="*/ 2 h 5"/>
                    <a:gd name="T12" fmla="*/ 84 w 86"/>
                    <a:gd name="T13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6" h="5">
                      <a:moveTo>
                        <a:pt x="84" y="0"/>
                      </a:move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1" y="0"/>
                        <a:pt x="0" y="1"/>
                        <a:pt x="0" y="2"/>
                      </a:cubicBezTo>
                      <a:cubicBezTo>
                        <a:pt x="0" y="4"/>
                        <a:pt x="1" y="5"/>
                        <a:pt x="3" y="5"/>
                      </a:cubicBezTo>
                      <a:cubicBezTo>
                        <a:pt x="84" y="5"/>
                        <a:pt x="84" y="5"/>
                        <a:pt x="84" y="5"/>
                      </a:cubicBezTo>
                      <a:cubicBezTo>
                        <a:pt x="85" y="5"/>
                        <a:pt x="86" y="4"/>
                        <a:pt x="86" y="2"/>
                      </a:cubicBezTo>
                      <a:cubicBezTo>
                        <a:pt x="86" y="1"/>
                        <a:pt x="85" y="0"/>
                        <a:pt x="8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121920" tIns="60960" rIns="121920" bIns="6096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189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67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微软雅黑"/>
                    <a:cs typeface="+mn-cs"/>
                  </a:endParaRPr>
                </a:p>
              </p:txBody>
            </p:sp>
            <p:sp>
              <p:nvSpPr>
                <p:cNvPr id="41" name="Freeform 7"/>
                <p:cNvSpPr>
                  <a:spLocks/>
                </p:cNvSpPr>
                <p:nvPr/>
              </p:nvSpPr>
              <p:spPr bwMode="auto">
                <a:xfrm>
                  <a:off x="3392" y="3375"/>
                  <a:ext cx="206" cy="14"/>
                </a:xfrm>
                <a:custGeom>
                  <a:avLst/>
                  <a:gdLst>
                    <a:gd name="T0" fmla="*/ 84 w 86"/>
                    <a:gd name="T1" fmla="*/ 0 h 6"/>
                    <a:gd name="T2" fmla="*/ 3 w 86"/>
                    <a:gd name="T3" fmla="*/ 0 h 6"/>
                    <a:gd name="T4" fmla="*/ 0 w 86"/>
                    <a:gd name="T5" fmla="*/ 3 h 6"/>
                    <a:gd name="T6" fmla="*/ 3 w 86"/>
                    <a:gd name="T7" fmla="*/ 6 h 6"/>
                    <a:gd name="T8" fmla="*/ 84 w 86"/>
                    <a:gd name="T9" fmla="*/ 6 h 6"/>
                    <a:gd name="T10" fmla="*/ 86 w 86"/>
                    <a:gd name="T11" fmla="*/ 3 h 6"/>
                    <a:gd name="T12" fmla="*/ 84 w 86"/>
                    <a:gd name="T13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6" h="6">
                      <a:moveTo>
                        <a:pt x="84" y="0"/>
                      </a:move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1" y="0"/>
                        <a:pt x="0" y="2"/>
                        <a:pt x="0" y="3"/>
                      </a:cubicBezTo>
                      <a:cubicBezTo>
                        <a:pt x="0" y="5"/>
                        <a:pt x="1" y="6"/>
                        <a:pt x="3" y="6"/>
                      </a:cubicBezTo>
                      <a:cubicBezTo>
                        <a:pt x="84" y="6"/>
                        <a:pt x="84" y="6"/>
                        <a:pt x="84" y="6"/>
                      </a:cubicBezTo>
                      <a:cubicBezTo>
                        <a:pt x="85" y="6"/>
                        <a:pt x="86" y="5"/>
                        <a:pt x="86" y="3"/>
                      </a:cubicBezTo>
                      <a:cubicBezTo>
                        <a:pt x="86" y="2"/>
                        <a:pt x="85" y="0"/>
                        <a:pt x="8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121920" tIns="60960" rIns="121920" bIns="6096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189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67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微软雅黑"/>
                    <a:cs typeface="+mn-cs"/>
                  </a:endParaRPr>
                </a:p>
              </p:txBody>
            </p:sp>
            <p:sp>
              <p:nvSpPr>
                <p:cNvPr id="42" name="Freeform 8"/>
                <p:cNvSpPr>
                  <a:spLocks noEditPoints="1"/>
                </p:cNvSpPr>
                <p:nvPr/>
              </p:nvSpPr>
              <p:spPr bwMode="auto">
                <a:xfrm>
                  <a:off x="3313" y="3205"/>
                  <a:ext cx="418" cy="470"/>
                </a:xfrm>
                <a:custGeom>
                  <a:avLst/>
                  <a:gdLst>
                    <a:gd name="T0" fmla="*/ 174 w 174"/>
                    <a:gd name="T1" fmla="*/ 25 h 196"/>
                    <a:gd name="T2" fmla="*/ 149 w 174"/>
                    <a:gd name="T3" fmla="*/ 0 h 196"/>
                    <a:gd name="T4" fmla="*/ 25 w 174"/>
                    <a:gd name="T5" fmla="*/ 0 h 196"/>
                    <a:gd name="T6" fmla="*/ 25 w 174"/>
                    <a:gd name="T7" fmla="*/ 0 h 196"/>
                    <a:gd name="T8" fmla="*/ 25 w 174"/>
                    <a:gd name="T9" fmla="*/ 0 h 196"/>
                    <a:gd name="T10" fmla="*/ 0 w 174"/>
                    <a:gd name="T11" fmla="*/ 25 h 196"/>
                    <a:gd name="T12" fmla="*/ 0 w 174"/>
                    <a:gd name="T13" fmla="*/ 169 h 196"/>
                    <a:gd name="T14" fmla="*/ 2 w 174"/>
                    <a:gd name="T15" fmla="*/ 174 h 196"/>
                    <a:gd name="T16" fmla="*/ 22 w 174"/>
                    <a:gd name="T17" fmla="*/ 193 h 196"/>
                    <a:gd name="T18" fmla="*/ 31 w 174"/>
                    <a:gd name="T19" fmla="*/ 193 h 196"/>
                    <a:gd name="T20" fmla="*/ 52 w 174"/>
                    <a:gd name="T21" fmla="*/ 173 h 196"/>
                    <a:gd name="T22" fmla="*/ 73 w 174"/>
                    <a:gd name="T23" fmla="*/ 194 h 196"/>
                    <a:gd name="T24" fmla="*/ 82 w 174"/>
                    <a:gd name="T25" fmla="*/ 194 h 196"/>
                    <a:gd name="T26" fmla="*/ 104 w 174"/>
                    <a:gd name="T27" fmla="*/ 173 h 196"/>
                    <a:gd name="T28" fmla="*/ 125 w 174"/>
                    <a:gd name="T29" fmla="*/ 194 h 196"/>
                    <a:gd name="T30" fmla="*/ 130 w 174"/>
                    <a:gd name="T31" fmla="*/ 196 h 196"/>
                    <a:gd name="T32" fmla="*/ 134 w 174"/>
                    <a:gd name="T33" fmla="*/ 194 h 196"/>
                    <a:gd name="T34" fmla="*/ 153 w 174"/>
                    <a:gd name="T35" fmla="*/ 175 h 196"/>
                    <a:gd name="T36" fmla="*/ 155 w 174"/>
                    <a:gd name="T37" fmla="*/ 170 h 196"/>
                    <a:gd name="T38" fmla="*/ 155 w 174"/>
                    <a:gd name="T39" fmla="*/ 49 h 196"/>
                    <a:gd name="T40" fmla="*/ 174 w 174"/>
                    <a:gd name="T41" fmla="*/ 25 h 196"/>
                    <a:gd name="T42" fmla="*/ 130 w 174"/>
                    <a:gd name="T43" fmla="*/ 180 h 196"/>
                    <a:gd name="T44" fmla="*/ 108 w 174"/>
                    <a:gd name="T45" fmla="*/ 159 h 196"/>
                    <a:gd name="T46" fmla="*/ 99 w 174"/>
                    <a:gd name="T47" fmla="*/ 159 h 196"/>
                    <a:gd name="T48" fmla="*/ 78 w 174"/>
                    <a:gd name="T49" fmla="*/ 180 h 196"/>
                    <a:gd name="T50" fmla="*/ 57 w 174"/>
                    <a:gd name="T51" fmla="*/ 159 h 196"/>
                    <a:gd name="T52" fmla="*/ 47 w 174"/>
                    <a:gd name="T53" fmla="*/ 159 h 196"/>
                    <a:gd name="T54" fmla="*/ 27 w 174"/>
                    <a:gd name="T55" fmla="*/ 179 h 196"/>
                    <a:gd name="T56" fmla="*/ 13 w 174"/>
                    <a:gd name="T57" fmla="*/ 166 h 196"/>
                    <a:gd name="T58" fmla="*/ 13 w 174"/>
                    <a:gd name="T59" fmla="*/ 25 h 196"/>
                    <a:gd name="T60" fmla="*/ 25 w 174"/>
                    <a:gd name="T61" fmla="*/ 14 h 196"/>
                    <a:gd name="T62" fmla="*/ 25 w 174"/>
                    <a:gd name="T63" fmla="*/ 14 h 196"/>
                    <a:gd name="T64" fmla="*/ 25 w 174"/>
                    <a:gd name="T65" fmla="*/ 14 h 196"/>
                    <a:gd name="T66" fmla="*/ 25 w 174"/>
                    <a:gd name="T67" fmla="*/ 14 h 196"/>
                    <a:gd name="T68" fmla="*/ 37 w 174"/>
                    <a:gd name="T69" fmla="*/ 25 h 196"/>
                    <a:gd name="T70" fmla="*/ 25 w 174"/>
                    <a:gd name="T71" fmla="*/ 36 h 196"/>
                    <a:gd name="T72" fmla="*/ 18 w 174"/>
                    <a:gd name="T73" fmla="*/ 43 h 196"/>
                    <a:gd name="T74" fmla="*/ 25 w 174"/>
                    <a:gd name="T75" fmla="*/ 50 h 196"/>
                    <a:gd name="T76" fmla="*/ 142 w 174"/>
                    <a:gd name="T77" fmla="*/ 50 h 196"/>
                    <a:gd name="T78" fmla="*/ 142 w 174"/>
                    <a:gd name="T79" fmla="*/ 168 h 196"/>
                    <a:gd name="T80" fmla="*/ 130 w 174"/>
                    <a:gd name="T81" fmla="*/ 180 h 196"/>
                    <a:gd name="T82" fmla="*/ 149 w 174"/>
                    <a:gd name="T83" fmla="*/ 36 h 196"/>
                    <a:gd name="T84" fmla="*/ 47 w 174"/>
                    <a:gd name="T85" fmla="*/ 36 h 196"/>
                    <a:gd name="T86" fmla="*/ 50 w 174"/>
                    <a:gd name="T87" fmla="*/ 25 h 196"/>
                    <a:gd name="T88" fmla="*/ 47 w 174"/>
                    <a:gd name="T89" fmla="*/ 14 h 196"/>
                    <a:gd name="T90" fmla="*/ 149 w 174"/>
                    <a:gd name="T91" fmla="*/ 14 h 196"/>
                    <a:gd name="T92" fmla="*/ 161 w 174"/>
                    <a:gd name="T93" fmla="*/ 25 h 196"/>
                    <a:gd name="T94" fmla="*/ 149 w 174"/>
                    <a:gd name="T95" fmla="*/ 36 h 1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</a:cxnLst>
                  <a:rect l="0" t="0" r="r" b="b"/>
                  <a:pathLst>
                    <a:path w="174" h="196">
                      <a:moveTo>
                        <a:pt x="174" y="25"/>
                      </a:moveTo>
                      <a:cubicBezTo>
                        <a:pt x="174" y="11"/>
                        <a:pt x="163" y="0"/>
                        <a:pt x="149" y="0"/>
                      </a:cubicBezTo>
                      <a:cubicBezTo>
                        <a:pt x="25" y="0"/>
                        <a:pt x="25" y="0"/>
                        <a:pt x="25" y="0"/>
                      </a:cubicBezTo>
                      <a:cubicBezTo>
                        <a:pt x="25" y="0"/>
                        <a:pt x="25" y="0"/>
                        <a:pt x="25" y="0"/>
                      </a:cubicBezTo>
                      <a:cubicBezTo>
                        <a:pt x="25" y="0"/>
                        <a:pt x="25" y="0"/>
                        <a:pt x="25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71"/>
                        <a:pt x="1" y="172"/>
                        <a:pt x="2" y="174"/>
                      </a:cubicBezTo>
                      <a:cubicBezTo>
                        <a:pt x="22" y="193"/>
                        <a:pt x="22" y="193"/>
                        <a:pt x="22" y="193"/>
                      </a:cubicBezTo>
                      <a:cubicBezTo>
                        <a:pt x="25" y="196"/>
                        <a:pt x="29" y="196"/>
                        <a:pt x="31" y="193"/>
                      </a:cubicBezTo>
                      <a:cubicBezTo>
                        <a:pt x="52" y="173"/>
                        <a:pt x="52" y="173"/>
                        <a:pt x="52" y="173"/>
                      </a:cubicBezTo>
                      <a:cubicBezTo>
                        <a:pt x="73" y="194"/>
                        <a:pt x="73" y="194"/>
                        <a:pt x="73" y="194"/>
                      </a:cubicBezTo>
                      <a:cubicBezTo>
                        <a:pt x="76" y="196"/>
                        <a:pt x="80" y="196"/>
                        <a:pt x="82" y="194"/>
                      </a:cubicBezTo>
                      <a:cubicBezTo>
                        <a:pt x="104" y="173"/>
                        <a:pt x="104" y="173"/>
                        <a:pt x="104" y="173"/>
                      </a:cubicBezTo>
                      <a:cubicBezTo>
                        <a:pt x="125" y="194"/>
                        <a:pt x="125" y="194"/>
                        <a:pt x="125" y="194"/>
                      </a:cubicBezTo>
                      <a:cubicBezTo>
                        <a:pt x="126" y="195"/>
                        <a:pt x="128" y="196"/>
                        <a:pt x="130" y="196"/>
                      </a:cubicBezTo>
                      <a:cubicBezTo>
                        <a:pt x="131" y="196"/>
                        <a:pt x="133" y="195"/>
                        <a:pt x="134" y="194"/>
                      </a:cubicBezTo>
                      <a:cubicBezTo>
                        <a:pt x="153" y="175"/>
                        <a:pt x="153" y="175"/>
                        <a:pt x="153" y="175"/>
                      </a:cubicBezTo>
                      <a:cubicBezTo>
                        <a:pt x="155" y="174"/>
                        <a:pt x="155" y="172"/>
                        <a:pt x="155" y="170"/>
                      </a:cubicBezTo>
                      <a:cubicBezTo>
                        <a:pt x="155" y="49"/>
                        <a:pt x="155" y="49"/>
                        <a:pt x="155" y="49"/>
                      </a:cubicBezTo>
                      <a:cubicBezTo>
                        <a:pt x="166" y="46"/>
                        <a:pt x="174" y="36"/>
                        <a:pt x="174" y="25"/>
                      </a:cubicBezTo>
                      <a:close/>
                      <a:moveTo>
                        <a:pt x="130" y="180"/>
                      </a:moveTo>
                      <a:cubicBezTo>
                        <a:pt x="108" y="159"/>
                        <a:pt x="108" y="159"/>
                        <a:pt x="108" y="159"/>
                      </a:cubicBezTo>
                      <a:cubicBezTo>
                        <a:pt x="106" y="157"/>
                        <a:pt x="102" y="157"/>
                        <a:pt x="99" y="159"/>
                      </a:cubicBezTo>
                      <a:cubicBezTo>
                        <a:pt x="78" y="180"/>
                        <a:pt x="78" y="180"/>
                        <a:pt x="78" y="180"/>
                      </a:cubicBezTo>
                      <a:cubicBezTo>
                        <a:pt x="57" y="159"/>
                        <a:pt x="57" y="159"/>
                        <a:pt x="57" y="159"/>
                      </a:cubicBezTo>
                      <a:cubicBezTo>
                        <a:pt x="54" y="157"/>
                        <a:pt x="50" y="157"/>
                        <a:pt x="47" y="159"/>
                      </a:cubicBezTo>
                      <a:cubicBezTo>
                        <a:pt x="27" y="179"/>
                        <a:pt x="27" y="179"/>
                        <a:pt x="27" y="179"/>
                      </a:cubicBezTo>
                      <a:cubicBezTo>
                        <a:pt x="13" y="166"/>
                        <a:pt x="13" y="166"/>
                        <a:pt x="13" y="166"/>
                      </a:cubicBezTo>
                      <a:cubicBezTo>
                        <a:pt x="13" y="25"/>
                        <a:pt x="13" y="25"/>
                        <a:pt x="13" y="25"/>
                      </a:cubicBezTo>
                      <a:cubicBezTo>
                        <a:pt x="13" y="19"/>
                        <a:pt x="18" y="14"/>
                        <a:pt x="25" y="14"/>
                      </a:cubicBezTo>
                      <a:cubicBezTo>
                        <a:pt x="25" y="14"/>
                        <a:pt x="25" y="14"/>
                        <a:pt x="25" y="14"/>
                      </a:cubicBezTo>
                      <a:cubicBezTo>
                        <a:pt x="25" y="14"/>
                        <a:pt x="25" y="14"/>
                        <a:pt x="25" y="14"/>
                      </a:cubicBezTo>
                      <a:cubicBezTo>
                        <a:pt x="25" y="14"/>
                        <a:pt x="25" y="14"/>
                        <a:pt x="25" y="14"/>
                      </a:cubicBezTo>
                      <a:cubicBezTo>
                        <a:pt x="32" y="14"/>
                        <a:pt x="37" y="19"/>
                        <a:pt x="37" y="25"/>
                      </a:cubicBezTo>
                      <a:cubicBezTo>
                        <a:pt x="37" y="31"/>
                        <a:pt x="32" y="36"/>
                        <a:pt x="25" y="36"/>
                      </a:cubicBezTo>
                      <a:cubicBezTo>
                        <a:pt x="21" y="36"/>
                        <a:pt x="18" y="39"/>
                        <a:pt x="18" y="43"/>
                      </a:cubicBezTo>
                      <a:cubicBezTo>
                        <a:pt x="18" y="47"/>
                        <a:pt x="21" y="50"/>
                        <a:pt x="25" y="50"/>
                      </a:cubicBezTo>
                      <a:cubicBezTo>
                        <a:pt x="142" y="50"/>
                        <a:pt x="142" y="50"/>
                        <a:pt x="142" y="50"/>
                      </a:cubicBezTo>
                      <a:cubicBezTo>
                        <a:pt x="142" y="168"/>
                        <a:pt x="142" y="168"/>
                        <a:pt x="142" y="168"/>
                      </a:cubicBezTo>
                      <a:lnTo>
                        <a:pt x="130" y="180"/>
                      </a:lnTo>
                      <a:close/>
                      <a:moveTo>
                        <a:pt x="149" y="36"/>
                      </a:moveTo>
                      <a:cubicBezTo>
                        <a:pt x="47" y="36"/>
                        <a:pt x="47" y="36"/>
                        <a:pt x="47" y="36"/>
                      </a:cubicBezTo>
                      <a:cubicBezTo>
                        <a:pt x="49" y="33"/>
                        <a:pt x="50" y="29"/>
                        <a:pt x="50" y="25"/>
                      </a:cubicBezTo>
                      <a:cubicBezTo>
                        <a:pt x="50" y="21"/>
                        <a:pt x="49" y="17"/>
                        <a:pt x="47" y="14"/>
                      </a:cubicBezTo>
                      <a:cubicBezTo>
                        <a:pt x="149" y="14"/>
                        <a:pt x="149" y="14"/>
                        <a:pt x="149" y="14"/>
                      </a:cubicBezTo>
                      <a:cubicBezTo>
                        <a:pt x="155" y="14"/>
                        <a:pt x="161" y="19"/>
                        <a:pt x="161" y="25"/>
                      </a:cubicBezTo>
                      <a:cubicBezTo>
                        <a:pt x="161" y="31"/>
                        <a:pt x="155" y="36"/>
                        <a:pt x="149" y="3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121920" tIns="60960" rIns="121920" bIns="6096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189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67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微软雅黑"/>
                    <a:cs typeface="+mn-cs"/>
                  </a:endParaRPr>
                </a:p>
              </p:txBody>
            </p:sp>
          </p:grpSp>
        </p:grpSp>
        <p:grpSp>
          <p:nvGrpSpPr>
            <p:cNvPr id="13" name="组合 12"/>
            <p:cNvGrpSpPr/>
            <p:nvPr/>
          </p:nvGrpSpPr>
          <p:grpSpPr>
            <a:xfrm>
              <a:off x="3526104" y="2803349"/>
              <a:ext cx="1271434" cy="1271434"/>
              <a:chOff x="3621344" y="3408398"/>
              <a:chExt cx="1007417" cy="1007417"/>
            </a:xfrm>
          </p:grpSpPr>
          <p:sp>
            <p:nvSpPr>
              <p:cNvPr id="30" name="任意多边形 29"/>
              <p:cNvSpPr/>
              <p:nvPr/>
            </p:nvSpPr>
            <p:spPr>
              <a:xfrm>
                <a:off x="3621344" y="3408398"/>
                <a:ext cx="1007417" cy="1007417"/>
              </a:xfrm>
              <a:custGeom>
                <a:avLst/>
                <a:gdLst>
                  <a:gd name="connsiteX0" fmla="*/ 0 w 1007417"/>
                  <a:gd name="connsiteY0" fmla="*/ 503709 h 1007417"/>
                  <a:gd name="connsiteX1" fmla="*/ 503709 w 1007417"/>
                  <a:gd name="connsiteY1" fmla="*/ 0 h 1007417"/>
                  <a:gd name="connsiteX2" fmla="*/ 1007418 w 1007417"/>
                  <a:gd name="connsiteY2" fmla="*/ 503709 h 1007417"/>
                  <a:gd name="connsiteX3" fmla="*/ 503709 w 1007417"/>
                  <a:gd name="connsiteY3" fmla="*/ 1007418 h 1007417"/>
                  <a:gd name="connsiteX4" fmla="*/ 0 w 1007417"/>
                  <a:gd name="connsiteY4" fmla="*/ 503709 h 10074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7417" h="1007417">
                    <a:moveTo>
                      <a:pt x="0" y="503709"/>
                    </a:moveTo>
                    <a:cubicBezTo>
                      <a:pt x="0" y="225518"/>
                      <a:pt x="225518" y="0"/>
                      <a:pt x="503709" y="0"/>
                    </a:cubicBezTo>
                    <a:cubicBezTo>
                      <a:pt x="781900" y="0"/>
                      <a:pt x="1007418" y="225518"/>
                      <a:pt x="1007418" y="503709"/>
                    </a:cubicBezTo>
                    <a:cubicBezTo>
                      <a:pt x="1007418" y="781900"/>
                      <a:pt x="781900" y="1007418"/>
                      <a:pt x="503709" y="1007418"/>
                    </a:cubicBezTo>
                    <a:cubicBezTo>
                      <a:pt x="225518" y="1007418"/>
                      <a:pt x="0" y="781900"/>
                      <a:pt x="0" y="50370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18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67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grpSp>
            <p:nvGrpSpPr>
              <p:cNvPr id="31" name="Group 11"/>
              <p:cNvGrpSpPr>
                <a:grpSpLocks noChangeAspect="1"/>
              </p:cNvGrpSpPr>
              <p:nvPr/>
            </p:nvGrpSpPr>
            <p:grpSpPr bwMode="auto">
              <a:xfrm>
                <a:off x="3916411" y="3654075"/>
                <a:ext cx="417282" cy="524392"/>
                <a:chOff x="2398" y="2256"/>
                <a:chExt cx="374" cy="470"/>
              </a:xfrm>
              <a:solidFill>
                <a:schemeClr val="bg1"/>
              </a:solidFill>
            </p:grpSpPr>
            <p:sp>
              <p:nvSpPr>
                <p:cNvPr id="32" name="Freeform 12"/>
                <p:cNvSpPr>
                  <a:spLocks/>
                </p:cNvSpPr>
                <p:nvPr/>
              </p:nvSpPr>
              <p:spPr bwMode="auto">
                <a:xfrm>
                  <a:off x="2478" y="2558"/>
                  <a:ext cx="207" cy="12"/>
                </a:xfrm>
                <a:custGeom>
                  <a:avLst/>
                  <a:gdLst>
                    <a:gd name="T0" fmla="*/ 83 w 86"/>
                    <a:gd name="T1" fmla="*/ 0 h 5"/>
                    <a:gd name="T2" fmla="*/ 2 w 86"/>
                    <a:gd name="T3" fmla="*/ 0 h 5"/>
                    <a:gd name="T4" fmla="*/ 0 w 86"/>
                    <a:gd name="T5" fmla="*/ 3 h 5"/>
                    <a:gd name="T6" fmla="*/ 2 w 86"/>
                    <a:gd name="T7" fmla="*/ 5 h 5"/>
                    <a:gd name="T8" fmla="*/ 83 w 86"/>
                    <a:gd name="T9" fmla="*/ 5 h 5"/>
                    <a:gd name="T10" fmla="*/ 86 w 86"/>
                    <a:gd name="T11" fmla="*/ 3 h 5"/>
                    <a:gd name="T12" fmla="*/ 83 w 86"/>
                    <a:gd name="T13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6" h="5">
                      <a:moveTo>
                        <a:pt x="83" y="0"/>
                      </a:move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1" y="0"/>
                        <a:pt x="0" y="1"/>
                        <a:pt x="0" y="3"/>
                      </a:cubicBezTo>
                      <a:cubicBezTo>
                        <a:pt x="0" y="4"/>
                        <a:pt x="1" y="5"/>
                        <a:pt x="2" y="5"/>
                      </a:cubicBezTo>
                      <a:cubicBezTo>
                        <a:pt x="83" y="5"/>
                        <a:pt x="83" y="5"/>
                        <a:pt x="83" y="5"/>
                      </a:cubicBezTo>
                      <a:cubicBezTo>
                        <a:pt x="85" y="5"/>
                        <a:pt x="86" y="4"/>
                        <a:pt x="86" y="3"/>
                      </a:cubicBezTo>
                      <a:cubicBezTo>
                        <a:pt x="86" y="1"/>
                        <a:pt x="85" y="0"/>
                        <a:pt x="8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121920" tIns="60960" rIns="121920" bIns="6096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189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67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微软雅黑"/>
                    <a:cs typeface="+mn-cs"/>
                  </a:endParaRPr>
                </a:p>
              </p:txBody>
            </p:sp>
            <p:sp>
              <p:nvSpPr>
                <p:cNvPr id="33" name="Freeform 13"/>
                <p:cNvSpPr>
                  <a:spLocks/>
                </p:cNvSpPr>
                <p:nvPr/>
              </p:nvSpPr>
              <p:spPr bwMode="auto">
                <a:xfrm>
                  <a:off x="2478" y="2505"/>
                  <a:ext cx="207" cy="12"/>
                </a:xfrm>
                <a:custGeom>
                  <a:avLst/>
                  <a:gdLst>
                    <a:gd name="T0" fmla="*/ 83 w 86"/>
                    <a:gd name="T1" fmla="*/ 0 h 5"/>
                    <a:gd name="T2" fmla="*/ 2 w 86"/>
                    <a:gd name="T3" fmla="*/ 0 h 5"/>
                    <a:gd name="T4" fmla="*/ 0 w 86"/>
                    <a:gd name="T5" fmla="*/ 3 h 5"/>
                    <a:gd name="T6" fmla="*/ 2 w 86"/>
                    <a:gd name="T7" fmla="*/ 5 h 5"/>
                    <a:gd name="T8" fmla="*/ 83 w 86"/>
                    <a:gd name="T9" fmla="*/ 5 h 5"/>
                    <a:gd name="T10" fmla="*/ 86 w 86"/>
                    <a:gd name="T11" fmla="*/ 3 h 5"/>
                    <a:gd name="T12" fmla="*/ 83 w 86"/>
                    <a:gd name="T13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6" h="5">
                      <a:moveTo>
                        <a:pt x="83" y="0"/>
                      </a:move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1" y="0"/>
                        <a:pt x="0" y="1"/>
                        <a:pt x="0" y="3"/>
                      </a:cubicBezTo>
                      <a:cubicBezTo>
                        <a:pt x="0" y="4"/>
                        <a:pt x="1" y="5"/>
                        <a:pt x="2" y="5"/>
                      </a:cubicBezTo>
                      <a:cubicBezTo>
                        <a:pt x="83" y="5"/>
                        <a:pt x="83" y="5"/>
                        <a:pt x="83" y="5"/>
                      </a:cubicBezTo>
                      <a:cubicBezTo>
                        <a:pt x="85" y="5"/>
                        <a:pt x="86" y="4"/>
                        <a:pt x="86" y="3"/>
                      </a:cubicBezTo>
                      <a:cubicBezTo>
                        <a:pt x="86" y="1"/>
                        <a:pt x="85" y="0"/>
                        <a:pt x="8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121920" tIns="60960" rIns="121920" bIns="6096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189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67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微软雅黑"/>
                    <a:cs typeface="+mn-cs"/>
                  </a:endParaRPr>
                </a:p>
              </p:txBody>
            </p:sp>
            <p:sp>
              <p:nvSpPr>
                <p:cNvPr id="34" name="Freeform 14"/>
                <p:cNvSpPr>
                  <a:spLocks/>
                </p:cNvSpPr>
                <p:nvPr/>
              </p:nvSpPr>
              <p:spPr bwMode="auto">
                <a:xfrm>
                  <a:off x="2478" y="2452"/>
                  <a:ext cx="207" cy="12"/>
                </a:xfrm>
                <a:custGeom>
                  <a:avLst/>
                  <a:gdLst>
                    <a:gd name="T0" fmla="*/ 83 w 86"/>
                    <a:gd name="T1" fmla="*/ 0 h 5"/>
                    <a:gd name="T2" fmla="*/ 2 w 86"/>
                    <a:gd name="T3" fmla="*/ 0 h 5"/>
                    <a:gd name="T4" fmla="*/ 0 w 86"/>
                    <a:gd name="T5" fmla="*/ 3 h 5"/>
                    <a:gd name="T6" fmla="*/ 2 w 86"/>
                    <a:gd name="T7" fmla="*/ 5 h 5"/>
                    <a:gd name="T8" fmla="*/ 83 w 86"/>
                    <a:gd name="T9" fmla="*/ 5 h 5"/>
                    <a:gd name="T10" fmla="*/ 86 w 86"/>
                    <a:gd name="T11" fmla="*/ 3 h 5"/>
                    <a:gd name="T12" fmla="*/ 83 w 86"/>
                    <a:gd name="T13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6" h="5">
                      <a:moveTo>
                        <a:pt x="83" y="0"/>
                      </a:move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1" y="0"/>
                        <a:pt x="0" y="1"/>
                        <a:pt x="0" y="3"/>
                      </a:cubicBezTo>
                      <a:cubicBezTo>
                        <a:pt x="0" y="4"/>
                        <a:pt x="1" y="5"/>
                        <a:pt x="2" y="5"/>
                      </a:cubicBezTo>
                      <a:cubicBezTo>
                        <a:pt x="83" y="5"/>
                        <a:pt x="83" y="5"/>
                        <a:pt x="83" y="5"/>
                      </a:cubicBezTo>
                      <a:cubicBezTo>
                        <a:pt x="85" y="5"/>
                        <a:pt x="86" y="4"/>
                        <a:pt x="86" y="3"/>
                      </a:cubicBezTo>
                      <a:cubicBezTo>
                        <a:pt x="86" y="1"/>
                        <a:pt x="85" y="0"/>
                        <a:pt x="8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121920" tIns="60960" rIns="121920" bIns="6096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189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67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微软雅黑"/>
                    <a:cs typeface="+mn-cs"/>
                  </a:endParaRPr>
                </a:p>
              </p:txBody>
            </p:sp>
            <p:sp>
              <p:nvSpPr>
                <p:cNvPr id="35" name="Freeform 15"/>
                <p:cNvSpPr>
                  <a:spLocks/>
                </p:cNvSpPr>
                <p:nvPr/>
              </p:nvSpPr>
              <p:spPr bwMode="auto">
                <a:xfrm>
                  <a:off x="2478" y="2402"/>
                  <a:ext cx="101" cy="12"/>
                </a:xfrm>
                <a:custGeom>
                  <a:avLst/>
                  <a:gdLst>
                    <a:gd name="T0" fmla="*/ 2 w 42"/>
                    <a:gd name="T1" fmla="*/ 5 h 5"/>
                    <a:gd name="T2" fmla="*/ 39 w 42"/>
                    <a:gd name="T3" fmla="*/ 5 h 5"/>
                    <a:gd name="T4" fmla="*/ 42 w 42"/>
                    <a:gd name="T5" fmla="*/ 2 h 5"/>
                    <a:gd name="T6" fmla="*/ 39 w 42"/>
                    <a:gd name="T7" fmla="*/ 0 h 5"/>
                    <a:gd name="T8" fmla="*/ 2 w 42"/>
                    <a:gd name="T9" fmla="*/ 0 h 5"/>
                    <a:gd name="T10" fmla="*/ 0 w 42"/>
                    <a:gd name="T11" fmla="*/ 2 h 5"/>
                    <a:gd name="T12" fmla="*/ 2 w 42"/>
                    <a:gd name="T13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2" h="5">
                      <a:moveTo>
                        <a:pt x="2" y="5"/>
                      </a:moveTo>
                      <a:cubicBezTo>
                        <a:pt x="39" y="5"/>
                        <a:pt x="39" y="5"/>
                        <a:pt x="39" y="5"/>
                      </a:cubicBezTo>
                      <a:cubicBezTo>
                        <a:pt x="41" y="5"/>
                        <a:pt x="42" y="4"/>
                        <a:pt x="42" y="2"/>
                      </a:cubicBezTo>
                      <a:cubicBezTo>
                        <a:pt x="42" y="1"/>
                        <a:pt x="41" y="0"/>
                        <a:pt x="39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1" y="0"/>
                        <a:pt x="0" y="1"/>
                        <a:pt x="0" y="2"/>
                      </a:cubicBezTo>
                      <a:cubicBezTo>
                        <a:pt x="0" y="4"/>
                        <a:pt x="1" y="5"/>
                        <a:pt x="2" y="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121920" tIns="60960" rIns="121920" bIns="6096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189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67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微软雅黑"/>
                    <a:cs typeface="+mn-cs"/>
                  </a:endParaRPr>
                </a:p>
              </p:txBody>
            </p:sp>
            <p:sp>
              <p:nvSpPr>
                <p:cNvPr id="36" name="Freeform 16"/>
                <p:cNvSpPr>
                  <a:spLocks noEditPoints="1"/>
                </p:cNvSpPr>
                <p:nvPr/>
              </p:nvSpPr>
              <p:spPr bwMode="auto">
                <a:xfrm>
                  <a:off x="2398" y="2256"/>
                  <a:ext cx="374" cy="470"/>
                </a:xfrm>
                <a:custGeom>
                  <a:avLst/>
                  <a:gdLst>
                    <a:gd name="T0" fmla="*/ 153 w 155"/>
                    <a:gd name="T1" fmla="*/ 31 h 196"/>
                    <a:gd name="T2" fmla="*/ 125 w 155"/>
                    <a:gd name="T3" fmla="*/ 2 h 196"/>
                    <a:gd name="T4" fmla="*/ 120 w 155"/>
                    <a:gd name="T5" fmla="*/ 0 h 196"/>
                    <a:gd name="T6" fmla="*/ 6 w 155"/>
                    <a:gd name="T7" fmla="*/ 0 h 196"/>
                    <a:gd name="T8" fmla="*/ 0 w 155"/>
                    <a:gd name="T9" fmla="*/ 7 h 196"/>
                    <a:gd name="T10" fmla="*/ 0 w 155"/>
                    <a:gd name="T11" fmla="*/ 169 h 196"/>
                    <a:gd name="T12" fmla="*/ 2 w 155"/>
                    <a:gd name="T13" fmla="*/ 174 h 196"/>
                    <a:gd name="T14" fmla="*/ 22 w 155"/>
                    <a:gd name="T15" fmla="*/ 193 h 196"/>
                    <a:gd name="T16" fmla="*/ 31 w 155"/>
                    <a:gd name="T17" fmla="*/ 193 h 196"/>
                    <a:gd name="T18" fmla="*/ 52 w 155"/>
                    <a:gd name="T19" fmla="*/ 173 h 196"/>
                    <a:gd name="T20" fmla="*/ 73 w 155"/>
                    <a:gd name="T21" fmla="*/ 194 h 196"/>
                    <a:gd name="T22" fmla="*/ 82 w 155"/>
                    <a:gd name="T23" fmla="*/ 194 h 196"/>
                    <a:gd name="T24" fmla="*/ 103 w 155"/>
                    <a:gd name="T25" fmla="*/ 173 h 196"/>
                    <a:gd name="T26" fmla="*/ 125 w 155"/>
                    <a:gd name="T27" fmla="*/ 194 h 196"/>
                    <a:gd name="T28" fmla="*/ 129 w 155"/>
                    <a:gd name="T29" fmla="*/ 196 h 196"/>
                    <a:gd name="T30" fmla="*/ 134 w 155"/>
                    <a:gd name="T31" fmla="*/ 194 h 196"/>
                    <a:gd name="T32" fmla="*/ 153 w 155"/>
                    <a:gd name="T33" fmla="*/ 175 h 196"/>
                    <a:gd name="T34" fmla="*/ 155 w 155"/>
                    <a:gd name="T35" fmla="*/ 170 h 196"/>
                    <a:gd name="T36" fmla="*/ 155 w 155"/>
                    <a:gd name="T37" fmla="*/ 35 h 196"/>
                    <a:gd name="T38" fmla="*/ 153 w 155"/>
                    <a:gd name="T39" fmla="*/ 31 h 196"/>
                    <a:gd name="T40" fmla="*/ 129 w 155"/>
                    <a:gd name="T41" fmla="*/ 180 h 196"/>
                    <a:gd name="T42" fmla="*/ 108 w 155"/>
                    <a:gd name="T43" fmla="*/ 159 h 196"/>
                    <a:gd name="T44" fmla="*/ 99 w 155"/>
                    <a:gd name="T45" fmla="*/ 159 h 196"/>
                    <a:gd name="T46" fmla="*/ 77 w 155"/>
                    <a:gd name="T47" fmla="*/ 180 h 196"/>
                    <a:gd name="T48" fmla="*/ 56 w 155"/>
                    <a:gd name="T49" fmla="*/ 159 h 196"/>
                    <a:gd name="T50" fmla="*/ 52 w 155"/>
                    <a:gd name="T51" fmla="*/ 157 h 196"/>
                    <a:gd name="T52" fmla="*/ 47 w 155"/>
                    <a:gd name="T53" fmla="*/ 159 h 196"/>
                    <a:gd name="T54" fmla="*/ 26 w 155"/>
                    <a:gd name="T55" fmla="*/ 179 h 196"/>
                    <a:gd name="T56" fmla="*/ 13 w 155"/>
                    <a:gd name="T57" fmla="*/ 166 h 196"/>
                    <a:gd name="T58" fmla="*/ 13 w 155"/>
                    <a:gd name="T59" fmla="*/ 14 h 196"/>
                    <a:gd name="T60" fmla="*/ 116 w 155"/>
                    <a:gd name="T61" fmla="*/ 14 h 196"/>
                    <a:gd name="T62" fmla="*/ 116 w 155"/>
                    <a:gd name="T63" fmla="*/ 35 h 196"/>
                    <a:gd name="T64" fmla="*/ 120 w 155"/>
                    <a:gd name="T65" fmla="*/ 39 h 196"/>
                    <a:gd name="T66" fmla="*/ 142 w 155"/>
                    <a:gd name="T67" fmla="*/ 39 h 196"/>
                    <a:gd name="T68" fmla="*/ 142 w 155"/>
                    <a:gd name="T69" fmla="*/ 168 h 196"/>
                    <a:gd name="T70" fmla="*/ 129 w 155"/>
                    <a:gd name="T71" fmla="*/ 180 h 1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</a:cxnLst>
                  <a:rect l="0" t="0" r="r" b="b"/>
                  <a:pathLst>
                    <a:path w="155" h="196">
                      <a:moveTo>
                        <a:pt x="153" y="31"/>
                      </a:moveTo>
                      <a:cubicBezTo>
                        <a:pt x="125" y="2"/>
                        <a:pt x="125" y="2"/>
                        <a:pt x="125" y="2"/>
                      </a:cubicBezTo>
                      <a:cubicBezTo>
                        <a:pt x="123" y="1"/>
                        <a:pt x="122" y="0"/>
                        <a:pt x="120" y="0"/>
                      </a:cubicBezTo>
                      <a:cubicBezTo>
                        <a:pt x="6" y="0"/>
                        <a:pt x="6" y="0"/>
                        <a:pt x="6" y="0"/>
                      </a:cubicBezTo>
                      <a:cubicBezTo>
                        <a:pt x="3" y="0"/>
                        <a:pt x="0" y="3"/>
                        <a:pt x="0" y="7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71"/>
                        <a:pt x="0" y="172"/>
                        <a:pt x="2" y="174"/>
                      </a:cubicBezTo>
                      <a:cubicBezTo>
                        <a:pt x="22" y="193"/>
                        <a:pt x="22" y="193"/>
                        <a:pt x="22" y="193"/>
                      </a:cubicBezTo>
                      <a:cubicBezTo>
                        <a:pt x="24" y="196"/>
                        <a:pt x="28" y="196"/>
                        <a:pt x="31" y="193"/>
                      </a:cubicBezTo>
                      <a:cubicBezTo>
                        <a:pt x="52" y="173"/>
                        <a:pt x="52" y="173"/>
                        <a:pt x="52" y="173"/>
                      </a:cubicBezTo>
                      <a:cubicBezTo>
                        <a:pt x="73" y="194"/>
                        <a:pt x="73" y="194"/>
                        <a:pt x="73" y="194"/>
                      </a:cubicBezTo>
                      <a:cubicBezTo>
                        <a:pt x="75" y="196"/>
                        <a:pt x="80" y="196"/>
                        <a:pt x="82" y="194"/>
                      </a:cubicBezTo>
                      <a:cubicBezTo>
                        <a:pt x="103" y="173"/>
                        <a:pt x="103" y="173"/>
                        <a:pt x="103" y="173"/>
                      </a:cubicBezTo>
                      <a:cubicBezTo>
                        <a:pt x="125" y="194"/>
                        <a:pt x="125" y="194"/>
                        <a:pt x="125" y="194"/>
                      </a:cubicBezTo>
                      <a:cubicBezTo>
                        <a:pt x="126" y="195"/>
                        <a:pt x="128" y="196"/>
                        <a:pt x="129" y="196"/>
                      </a:cubicBezTo>
                      <a:cubicBezTo>
                        <a:pt x="131" y="196"/>
                        <a:pt x="133" y="195"/>
                        <a:pt x="134" y="194"/>
                      </a:cubicBezTo>
                      <a:cubicBezTo>
                        <a:pt x="153" y="175"/>
                        <a:pt x="153" y="175"/>
                        <a:pt x="153" y="175"/>
                      </a:cubicBezTo>
                      <a:cubicBezTo>
                        <a:pt x="154" y="174"/>
                        <a:pt x="155" y="172"/>
                        <a:pt x="155" y="170"/>
                      </a:cubicBezTo>
                      <a:cubicBezTo>
                        <a:pt x="155" y="35"/>
                        <a:pt x="155" y="35"/>
                        <a:pt x="155" y="35"/>
                      </a:cubicBezTo>
                      <a:cubicBezTo>
                        <a:pt x="155" y="34"/>
                        <a:pt x="155" y="32"/>
                        <a:pt x="153" y="31"/>
                      </a:cubicBezTo>
                      <a:close/>
                      <a:moveTo>
                        <a:pt x="129" y="180"/>
                      </a:moveTo>
                      <a:cubicBezTo>
                        <a:pt x="108" y="159"/>
                        <a:pt x="108" y="159"/>
                        <a:pt x="108" y="159"/>
                      </a:cubicBezTo>
                      <a:cubicBezTo>
                        <a:pt x="105" y="157"/>
                        <a:pt x="101" y="157"/>
                        <a:pt x="99" y="159"/>
                      </a:cubicBezTo>
                      <a:cubicBezTo>
                        <a:pt x="77" y="180"/>
                        <a:pt x="77" y="180"/>
                        <a:pt x="77" y="180"/>
                      </a:cubicBezTo>
                      <a:cubicBezTo>
                        <a:pt x="56" y="159"/>
                        <a:pt x="56" y="159"/>
                        <a:pt x="56" y="159"/>
                      </a:cubicBezTo>
                      <a:cubicBezTo>
                        <a:pt x="55" y="158"/>
                        <a:pt x="53" y="157"/>
                        <a:pt x="52" y="157"/>
                      </a:cubicBezTo>
                      <a:cubicBezTo>
                        <a:pt x="50" y="157"/>
                        <a:pt x="48" y="158"/>
                        <a:pt x="47" y="159"/>
                      </a:cubicBezTo>
                      <a:cubicBezTo>
                        <a:pt x="26" y="179"/>
                        <a:pt x="26" y="179"/>
                        <a:pt x="26" y="179"/>
                      </a:cubicBezTo>
                      <a:cubicBezTo>
                        <a:pt x="13" y="166"/>
                        <a:pt x="13" y="166"/>
                        <a:pt x="13" y="166"/>
                      </a:cubicBezTo>
                      <a:cubicBezTo>
                        <a:pt x="13" y="14"/>
                        <a:pt x="13" y="14"/>
                        <a:pt x="13" y="14"/>
                      </a:cubicBezTo>
                      <a:cubicBezTo>
                        <a:pt x="116" y="14"/>
                        <a:pt x="116" y="14"/>
                        <a:pt x="116" y="14"/>
                      </a:cubicBezTo>
                      <a:cubicBezTo>
                        <a:pt x="116" y="35"/>
                        <a:pt x="116" y="35"/>
                        <a:pt x="116" y="35"/>
                      </a:cubicBezTo>
                      <a:cubicBezTo>
                        <a:pt x="116" y="38"/>
                        <a:pt x="118" y="39"/>
                        <a:pt x="120" y="39"/>
                      </a:cubicBezTo>
                      <a:cubicBezTo>
                        <a:pt x="142" y="39"/>
                        <a:pt x="142" y="39"/>
                        <a:pt x="142" y="39"/>
                      </a:cubicBezTo>
                      <a:cubicBezTo>
                        <a:pt x="142" y="168"/>
                        <a:pt x="142" y="168"/>
                        <a:pt x="142" y="168"/>
                      </a:cubicBezTo>
                      <a:lnTo>
                        <a:pt x="129" y="18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121920" tIns="60960" rIns="121920" bIns="6096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189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67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微软雅黑"/>
                    <a:cs typeface="+mn-cs"/>
                  </a:endParaRPr>
                </a:p>
              </p:txBody>
            </p:sp>
          </p:grpSp>
        </p:grpSp>
        <p:grpSp>
          <p:nvGrpSpPr>
            <p:cNvPr id="14" name="组合 13"/>
            <p:cNvGrpSpPr/>
            <p:nvPr/>
          </p:nvGrpSpPr>
          <p:grpSpPr>
            <a:xfrm>
              <a:off x="5452593" y="876860"/>
              <a:ext cx="1271434" cy="1271434"/>
              <a:chOff x="5147792" y="1881950"/>
              <a:chExt cx="1007417" cy="1007417"/>
            </a:xfrm>
          </p:grpSpPr>
          <p:sp>
            <p:nvSpPr>
              <p:cNvPr id="22" name="任意多边形 21"/>
              <p:cNvSpPr/>
              <p:nvPr/>
            </p:nvSpPr>
            <p:spPr>
              <a:xfrm>
                <a:off x="5147792" y="1881950"/>
                <a:ext cx="1007417" cy="1007417"/>
              </a:xfrm>
              <a:custGeom>
                <a:avLst/>
                <a:gdLst>
                  <a:gd name="connsiteX0" fmla="*/ 0 w 1007417"/>
                  <a:gd name="connsiteY0" fmla="*/ 503709 h 1007417"/>
                  <a:gd name="connsiteX1" fmla="*/ 503709 w 1007417"/>
                  <a:gd name="connsiteY1" fmla="*/ 0 h 1007417"/>
                  <a:gd name="connsiteX2" fmla="*/ 1007418 w 1007417"/>
                  <a:gd name="connsiteY2" fmla="*/ 503709 h 1007417"/>
                  <a:gd name="connsiteX3" fmla="*/ 503709 w 1007417"/>
                  <a:gd name="connsiteY3" fmla="*/ 1007418 h 1007417"/>
                  <a:gd name="connsiteX4" fmla="*/ 0 w 1007417"/>
                  <a:gd name="connsiteY4" fmla="*/ 503709 h 10074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7417" h="1007417">
                    <a:moveTo>
                      <a:pt x="0" y="503709"/>
                    </a:moveTo>
                    <a:cubicBezTo>
                      <a:pt x="0" y="225518"/>
                      <a:pt x="225518" y="0"/>
                      <a:pt x="503709" y="0"/>
                    </a:cubicBezTo>
                    <a:cubicBezTo>
                      <a:pt x="781900" y="0"/>
                      <a:pt x="1007418" y="225518"/>
                      <a:pt x="1007418" y="503709"/>
                    </a:cubicBezTo>
                    <a:cubicBezTo>
                      <a:pt x="1007418" y="781900"/>
                      <a:pt x="781900" y="1007418"/>
                      <a:pt x="503709" y="1007418"/>
                    </a:cubicBezTo>
                    <a:cubicBezTo>
                      <a:pt x="225518" y="1007418"/>
                      <a:pt x="0" y="781900"/>
                      <a:pt x="0" y="50370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18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67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grpSp>
            <p:nvGrpSpPr>
              <p:cNvPr id="23" name="Group 19"/>
              <p:cNvGrpSpPr>
                <a:grpSpLocks noChangeAspect="1"/>
              </p:cNvGrpSpPr>
              <p:nvPr/>
            </p:nvGrpSpPr>
            <p:grpSpPr bwMode="auto">
              <a:xfrm>
                <a:off x="5388004" y="2104695"/>
                <a:ext cx="532201" cy="524391"/>
                <a:chOff x="3869" y="1065"/>
                <a:chExt cx="477" cy="470"/>
              </a:xfrm>
              <a:solidFill>
                <a:schemeClr val="bg1"/>
              </a:solidFill>
            </p:grpSpPr>
            <p:sp>
              <p:nvSpPr>
                <p:cNvPr id="24" name="Freeform 20"/>
                <p:cNvSpPr>
                  <a:spLocks/>
                </p:cNvSpPr>
                <p:nvPr/>
              </p:nvSpPr>
              <p:spPr bwMode="auto">
                <a:xfrm>
                  <a:off x="3936" y="1411"/>
                  <a:ext cx="211" cy="14"/>
                </a:xfrm>
                <a:custGeom>
                  <a:avLst/>
                  <a:gdLst>
                    <a:gd name="T0" fmla="*/ 86 w 88"/>
                    <a:gd name="T1" fmla="*/ 0 h 6"/>
                    <a:gd name="T2" fmla="*/ 3 w 88"/>
                    <a:gd name="T3" fmla="*/ 0 h 6"/>
                    <a:gd name="T4" fmla="*/ 0 w 88"/>
                    <a:gd name="T5" fmla="*/ 3 h 6"/>
                    <a:gd name="T6" fmla="*/ 3 w 88"/>
                    <a:gd name="T7" fmla="*/ 6 h 6"/>
                    <a:gd name="T8" fmla="*/ 86 w 88"/>
                    <a:gd name="T9" fmla="*/ 6 h 6"/>
                    <a:gd name="T10" fmla="*/ 88 w 88"/>
                    <a:gd name="T11" fmla="*/ 3 h 6"/>
                    <a:gd name="T12" fmla="*/ 86 w 88"/>
                    <a:gd name="T13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8" h="6">
                      <a:moveTo>
                        <a:pt x="86" y="0"/>
                      </a:move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1" y="0"/>
                        <a:pt x="0" y="2"/>
                        <a:pt x="0" y="3"/>
                      </a:cubicBezTo>
                      <a:cubicBezTo>
                        <a:pt x="0" y="5"/>
                        <a:pt x="1" y="6"/>
                        <a:pt x="3" y="6"/>
                      </a:cubicBezTo>
                      <a:cubicBezTo>
                        <a:pt x="86" y="6"/>
                        <a:pt x="86" y="6"/>
                        <a:pt x="86" y="6"/>
                      </a:cubicBezTo>
                      <a:cubicBezTo>
                        <a:pt x="87" y="6"/>
                        <a:pt x="88" y="5"/>
                        <a:pt x="88" y="3"/>
                      </a:cubicBezTo>
                      <a:cubicBezTo>
                        <a:pt x="88" y="2"/>
                        <a:pt x="87" y="0"/>
                        <a:pt x="8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121920" tIns="60960" rIns="121920" bIns="6096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189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67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微软雅黑"/>
                    <a:cs typeface="+mn-cs"/>
                  </a:endParaRPr>
                </a:p>
              </p:txBody>
            </p:sp>
            <p:sp>
              <p:nvSpPr>
                <p:cNvPr id="25" name="Freeform 21"/>
                <p:cNvSpPr>
                  <a:spLocks/>
                </p:cNvSpPr>
                <p:nvPr/>
              </p:nvSpPr>
              <p:spPr bwMode="auto">
                <a:xfrm>
                  <a:off x="3936" y="1358"/>
                  <a:ext cx="211" cy="12"/>
                </a:xfrm>
                <a:custGeom>
                  <a:avLst/>
                  <a:gdLst>
                    <a:gd name="T0" fmla="*/ 86 w 88"/>
                    <a:gd name="T1" fmla="*/ 0 h 5"/>
                    <a:gd name="T2" fmla="*/ 3 w 88"/>
                    <a:gd name="T3" fmla="*/ 0 h 5"/>
                    <a:gd name="T4" fmla="*/ 0 w 88"/>
                    <a:gd name="T5" fmla="*/ 3 h 5"/>
                    <a:gd name="T6" fmla="*/ 3 w 88"/>
                    <a:gd name="T7" fmla="*/ 5 h 5"/>
                    <a:gd name="T8" fmla="*/ 86 w 88"/>
                    <a:gd name="T9" fmla="*/ 5 h 5"/>
                    <a:gd name="T10" fmla="*/ 88 w 88"/>
                    <a:gd name="T11" fmla="*/ 3 h 5"/>
                    <a:gd name="T12" fmla="*/ 86 w 88"/>
                    <a:gd name="T13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8" h="5">
                      <a:moveTo>
                        <a:pt x="86" y="0"/>
                      </a:move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1" y="0"/>
                        <a:pt x="0" y="1"/>
                        <a:pt x="0" y="3"/>
                      </a:cubicBezTo>
                      <a:cubicBezTo>
                        <a:pt x="0" y="4"/>
                        <a:pt x="1" y="5"/>
                        <a:pt x="3" y="5"/>
                      </a:cubicBezTo>
                      <a:cubicBezTo>
                        <a:pt x="86" y="5"/>
                        <a:pt x="86" y="5"/>
                        <a:pt x="86" y="5"/>
                      </a:cubicBezTo>
                      <a:cubicBezTo>
                        <a:pt x="87" y="5"/>
                        <a:pt x="88" y="4"/>
                        <a:pt x="88" y="3"/>
                      </a:cubicBezTo>
                      <a:cubicBezTo>
                        <a:pt x="88" y="1"/>
                        <a:pt x="87" y="0"/>
                        <a:pt x="8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121920" tIns="60960" rIns="121920" bIns="6096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189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67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微软雅黑"/>
                    <a:cs typeface="+mn-cs"/>
                  </a:endParaRPr>
                </a:p>
              </p:txBody>
            </p:sp>
            <p:sp>
              <p:nvSpPr>
                <p:cNvPr id="26" name="Freeform 22"/>
                <p:cNvSpPr>
                  <a:spLocks/>
                </p:cNvSpPr>
                <p:nvPr/>
              </p:nvSpPr>
              <p:spPr bwMode="auto">
                <a:xfrm>
                  <a:off x="3936" y="1303"/>
                  <a:ext cx="211" cy="14"/>
                </a:xfrm>
                <a:custGeom>
                  <a:avLst/>
                  <a:gdLst>
                    <a:gd name="T0" fmla="*/ 86 w 88"/>
                    <a:gd name="T1" fmla="*/ 0 h 6"/>
                    <a:gd name="T2" fmla="*/ 3 w 88"/>
                    <a:gd name="T3" fmla="*/ 0 h 6"/>
                    <a:gd name="T4" fmla="*/ 0 w 88"/>
                    <a:gd name="T5" fmla="*/ 3 h 6"/>
                    <a:gd name="T6" fmla="*/ 3 w 88"/>
                    <a:gd name="T7" fmla="*/ 6 h 6"/>
                    <a:gd name="T8" fmla="*/ 86 w 88"/>
                    <a:gd name="T9" fmla="*/ 6 h 6"/>
                    <a:gd name="T10" fmla="*/ 88 w 88"/>
                    <a:gd name="T11" fmla="*/ 3 h 6"/>
                    <a:gd name="T12" fmla="*/ 86 w 88"/>
                    <a:gd name="T13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8" h="6">
                      <a:moveTo>
                        <a:pt x="86" y="0"/>
                      </a:move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1" y="0"/>
                        <a:pt x="0" y="1"/>
                        <a:pt x="0" y="3"/>
                      </a:cubicBezTo>
                      <a:cubicBezTo>
                        <a:pt x="0" y="4"/>
                        <a:pt x="1" y="6"/>
                        <a:pt x="3" y="6"/>
                      </a:cubicBezTo>
                      <a:cubicBezTo>
                        <a:pt x="86" y="6"/>
                        <a:pt x="86" y="6"/>
                        <a:pt x="86" y="6"/>
                      </a:cubicBezTo>
                      <a:cubicBezTo>
                        <a:pt x="87" y="6"/>
                        <a:pt x="88" y="4"/>
                        <a:pt x="88" y="3"/>
                      </a:cubicBezTo>
                      <a:cubicBezTo>
                        <a:pt x="88" y="1"/>
                        <a:pt x="87" y="0"/>
                        <a:pt x="8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121920" tIns="60960" rIns="121920" bIns="6096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189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67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微软雅黑"/>
                    <a:cs typeface="+mn-cs"/>
                  </a:endParaRPr>
                </a:p>
              </p:txBody>
            </p:sp>
            <p:sp>
              <p:nvSpPr>
                <p:cNvPr id="27" name="Freeform 23"/>
                <p:cNvSpPr>
                  <a:spLocks/>
                </p:cNvSpPr>
                <p:nvPr/>
              </p:nvSpPr>
              <p:spPr bwMode="auto">
                <a:xfrm>
                  <a:off x="3936" y="1250"/>
                  <a:ext cx="103" cy="14"/>
                </a:xfrm>
                <a:custGeom>
                  <a:avLst/>
                  <a:gdLst>
                    <a:gd name="T0" fmla="*/ 3 w 43"/>
                    <a:gd name="T1" fmla="*/ 6 h 6"/>
                    <a:gd name="T2" fmla="*/ 41 w 43"/>
                    <a:gd name="T3" fmla="*/ 6 h 6"/>
                    <a:gd name="T4" fmla="*/ 43 w 43"/>
                    <a:gd name="T5" fmla="*/ 3 h 6"/>
                    <a:gd name="T6" fmla="*/ 41 w 43"/>
                    <a:gd name="T7" fmla="*/ 0 h 6"/>
                    <a:gd name="T8" fmla="*/ 3 w 43"/>
                    <a:gd name="T9" fmla="*/ 0 h 6"/>
                    <a:gd name="T10" fmla="*/ 0 w 43"/>
                    <a:gd name="T11" fmla="*/ 3 h 6"/>
                    <a:gd name="T12" fmla="*/ 3 w 43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3" h="6">
                      <a:moveTo>
                        <a:pt x="3" y="6"/>
                      </a:moveTo>
                      <a:cubicBezTo>
                        <a:pt x="41" y="6"/>
                        <a:pt x="41" y="6"/>
                        <a:pt x="41" y="6"/>
                      </a:cubicBezTo>
                      <a:cubicBezTo>
                        <a:pt x="42" y="6"/>
                        <a:pt x="43" y="4"/>
                        <a:pt x="43" y="3"/>
                      </a:cubicBezTo>
                      <a:cubicBezTo>
                        <a:pt x="43" y="1"/>
                        <a:pt x="42" y="0"/>
                        <a:pt x="41" y="0"/>
                      </a:cubicBez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1" y="0"/>
                        <a:pt x="0" y="1"/>
                        <a:pt x="0" y="3"/>
                      </a:cubicBezTo>
                      <a:cubicBezTo>
                        <a:pt x="0" y="4"/>
                        <a:pt x="1" y="6"/>
                        <a:pt x="3" y="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121920" tIns="60960" rIns="121920" bIns="6096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189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67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微软雅黑"/>
                    <a:cs typeface="+mn-cs"/>
                  </a:endParaRPr>
                </a:p>
              </p:txBody>
            </p:sp>
            <p:sp>
              <p:nvSpPr>
                <p:cNvPr id="28" name="Freeform 24"/>
                <p:cNvSpPr>
                  <a:spLocks noEditPoints="1"/>
                </p:cNvSpPr>
                <p:nvPr/>
              </p:nvSpPr>
              <p:spPr bwMode="auto">
                <a:xfrm>
                  <a:off x="3869" y="1065"/>
                  <a:ext cx="345" cy="470"/>
                </a:xfrm>
                <a:custGeom>
                  <a:avLst/>
                  <a:gdLst>
                    <a:gd name="T0" fmla="*/ 116 w 144"/>
                    <a:gd name="T1" fmla="*/ 2 h 196"/>
                    <a:gd name="T2" fmla="*/ 111 w 144"/>
                    <a:gd name="T3" fmla="*/ 0 h 196"/>
                    <a:gd name="T4" fmla="*/ 7 w 144"/>
                    <a:gd name="T5" fmla="*/ 0 h 196"/>
                    <a:gd name="T6" fmla="*/ 0 w 144"/>
                    <a:gd name="T7" fmla="*/ 7 h 196"/>
                    <a:gd name="T8" fmla="*/ 0 w 144"/>
                    <a:gd name="T9" fmla="*/ 189 h 196"/>
                    <a:gd name="T10" fmla="*/ 7 w 144"/>
                    <a:gd name="T11" fmla="*/ 196 h 196"/>
                    <a:gd name="T12" fmla="*/ 138 w 144"/>
                    <a:gd name="T13" fmla="*/ 196 h 196"/>
                    <a:gd name="T14" fmla="*/ 144 w 144"/>
                    <a:gd name="T15" fmla="*/ 189 h 196"/>
                    <a:gd name="T16" fmla="*/ 144 w 144"/>
                    <a:gd name="T17" fmla="*/ 33 h 196"/>
                    <a:gd name="T18" fmla="*/ 142 w 144"/>
                    <a:gd name="T19" fmla="*/ 28 h 196"/>
                    <a:gd name="T20" fmla="*/ 116 w 144"/>
                    <a:gd name="T21" fmla="*/ 2 h 196"/>
                    <a:gd name="T22" fmla="*/ 13 w 144"/>
                    <a:gd name="T23" fmla="*/ 182 h 196"/>
                    <a:gd name="T24" fmla="*/ 13 w 144"/>
                    <a:gd name="T25" fmla="*/ 13 h 196"/>
                    <a:gd name="T26" fmla="*/ 104 w 144"/>
                    <a:gd name="T27" fmla="*/ 13 h 196"/>
                    <a:gd name="T28" fmla="*/ 104 w 144"/>
                    <a:gd name="T29" fmla="*/ 36 h 196"/>
                    <a:gd name="T30" fmla="*/ 108 w 144"/>
                    <a:gd name="T31" fmla="*/ 40 h 196"/>
                    <a:gd name="T32" fmla="*/ 131 w 144"/>
                    <a:gd name="T33" fmla="*/ 40 h 196"/>
                    <a:gd name="T34" fmla="*/ 131 w 144"/>
                    <a:gd name="T35" fmla="*/ 182 h 196"/>
                    <a:gd name="T36" fmla="*/ 13 w 144"/>
                    <a:gd name="T37" fmla="*/ 182 h 1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44" h="196">
                      <a:moveTo>
                        <a:pt x="116" y="2"/>
                      </a:moveTo>
                      <a:cubicBezTo>
                        <a:pt x="115" y="1"/>
                        <a:pt x="113" y="0"/>
                        <a:pt x="111" y="0"/>
                      </a:cubicBez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3" y="0"/>
                        <a:pt x="0" y="3"/>
                        <a:pt x="0" y="7"/>
                      </a:cubicBezTo>
                      <a:cubicBezTo>
                        <a:pt x="0" y="189"/>
                        <a:pt x="0" y="189"/>
                        <a:pt x="0" y="189"/>
                      </a:cubicBezTo>
                      <a:cubicBezTo>
                        <a:pt x="0" y="193"/>
                        <a:pt x="3" y="196"/>
                        <a:pt x="7" y="196"/>
                      </a:cubicBezTo>
                      <a:cubicBezTo>
                        <a:pt x="138" y="196"/>
                        <a:pt x="138" y="196"/>
                        <a:pt x="138" y="196"/>
                      </a:cubicBezTo>
                      <a:cubicBezTo>
                        <a:pt x="141" y="196"/>
                        <a:pt x="144" y="193"/>
                        <a:pt x="144" y="189"/>
                      </a:cubicBezTo>
                      <a:cubicBezTo>
                        <a:pt x="144" y="33"/>
                        <a:pt x="144" y="33"/>
                        <a:pt x="144" y="33"/>
                      </a:cubicBezTo>
                      <a:cubicBezTo>
                        <a:pt x="144" y="31"/>
                        <a:pt x="144" y="29"/>
                        <a:pt x="142" y="28"/>
                      </a:cubicBezTo>
                      <a:lnTo>
                        <a:pt x="116" y="2"/>
                      </a:lnTo>
                      <a:close/>
                      <a:moveTo>
                        <a:pt x="13" y="182"/>
                      </a:moveTo>
                      <a:cubicBezTo>
                        <a:pt x="13" y="13"/>
                        <a:pt x="13" y="13"/>
                        <a:pt x="13" y="13"/>
                      </a:cubicBezTo>
                      <a:cubicBezTo>
                        <a:pt x="104" y="13"/>
                        <a:pt x="104" y="13"/>
                        <a:pt x="104" y="13"/>
                      </a:cubicBezTo>
                      <a:cubicBezTo>
                        <a:pt x="104" y="36"/>
                        <a:pt x="104" y="36"/>
                        <a:pt x="104" y="36"/>
                      </a:cubicBezTo>
                      <a:cubicBezTo>
                        <a:pt x="104" y="38"/>
                        <a:pt x="106" y="40"/>
                        <a:pt x="108" y="40"/>
                      </a:cubicBezTo>
                      <a:cubicBezTo>
                        <a:pt x="131" y="40"/>
                        <a:pt x="131" y="40"/>
                        <a:pt x="131" y="40"/>
                      </a:cubicBezTo>
                      <a:cubicBezTo>
                        <a:pt x="131" y="182"/>
                        <a:pt x="131" y="182"/>
                        <a:pt x="131" y="182"/>
                      </a:cubicBezTo>
                      <a:lnTo>
                        <a:pt x="13" y="18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121920" tIns="60960" rIns="121920" bIns="6096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189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67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微软雅黑"/>
                    <a:cs typeface="+mn-cs"/>
                  </a:endParaRPr>
                </a:p>
              </p:txBody>
            </p:sp>
            <p:sp>
              <p:nvSpPr>
                <p:cNvPr id="29" name="Freeform 25"/>
                <p:cNvSpPr>
                  <a:spLocks noEditPoints="1"/>
                </p:cNvSpPr>
                <p:nvPr/>
              </p:nvSpPr>
              <p:spPr bwMode="auto">
                <a:xfrm>
                  <a:off x="4252" y="1087"/>
                  <a:ext cx="94" cy="444"/>
                </a:xfrm>
                <a:custGeom>
                  <a:avLst/>
                  <a:gdLst>
                    <a:gd name="T0" fmla="*/ 35 w 39"/>
                    <a:gd name="T1" fmla="*/ 0 h 185"/>
                    <a:gd name="T2" fmla="*/ 4 w 39"/>
                    <a:gd name="T3" fmla="*/ 0 h 185"/>
                    <a:gd name="T4" fmla="*/ 0 w 39"/>
                    <a:gd name="T5" fmla="*/ 4 h 185"/>
                    <a:gd name="T6" fmla="*/ 0 w 39"/>
                    <a:gd name="T7" fmla="*/ 144 h 185"/>
                    <a:gd name="T8" fmla="*/ 0 w 39"/>
                    <a:gd name="T9" fmla="*/ 146 h 185"/>
                    <a:gd name="T10" fmla="*/ 16 w 39"/>
                    <a:gd name="T11" fmla="*/ 182 h 185"/>
                    <a:gd name="T12" fmla="*/ 20 w 39"/>
                    <a:gd name="T13" fmla="*/ 185 h 185"/>
                    <a:gd name="T14" fmla="*/ 23 w 39"/>
                    <a:gd name="T15" fmla="*/ 182 h 185"/>
                    <a:gd name="T16" fmla="*/ 39 w 39"/>
                    <a:gd name="T17" fmla="*/ 146 h 185"/>
                    <a:gd name="T18" fmla="*/ 39 w 39"/>
                    <a:gd name="T19" fmla="*/ 144 h 185"/>
                    <a:gd name="T20" fmla="*/ 39 w 39"/>
                    <a:gd name="T21" fmla="*/ 4 h 185"/>
                    <a:gd name="T22" fmla="*/ 35 w 39"/>
                    <a:gd name="T23" fmla="*/ 0 h 185"/>
                    <a:gd name="T24" fmla="*/ 31 w 39"/>
                    <a:gd name="T25" fmla="*/ 143 h 185"/>
                    <a:gd name="T26" fmla="*/ 25 w 39"/>
                    <a:gd name="T27" fmla="*/ 157 h 185"/>
                    <a:gd name="T28" fmla="*/ 14 w 39"/>
                    <a:gd name="T29" fmla="*/ 157 h 185"/>
                    <a:gd name="T30" fmla="*/ 8 w 39"/>
                    <a:gd name="T31" fmla="*/ 143 h 185"/>
                    <a:gd name="T32" fmla="*/ 8 w 39"/>
                    <a:gd name="T33" fmla="*/ 8 h 185"/>
                    <a:gd name="T34" fmla="*/ 18 w 39"/>
                    <a:gd name="T35" fmla="*/ 8 h 185"/>
                    <a:gd name="T36" fmla="*/ 18 w 39"/>
                    <a:gd name="T37" fmla="*/ 8 h 185"/>
                    <a:gd name="T38" fmla="*/ 18 w 39"/>
                    <a:gd name="T39" fmla="*/ 137 h 185"/>
                    <a:gd name="T40" fmla="*/ 21 w 39"/>
                    <a:gd name="T41" fmla="*/ 139 h 185"/>
                    <a:gd name="T42" fmla="*/ 24 w 39"/>
                    <a:gd name="T43" fmla="*/ 137 h 185"/>
                    <a:gd name="T44" fmla="*/ 24 w 39"/>
                    <a:gd name="T45" fmla="*/ 8 h 185"/>
                    <a:gd name="T46" fmla="*/ 24 w 39"/>
                    <a:gd name="T47" fmla="*/ 8 h 185"/>
                    <a:gd name="T48" fmla="*/ 31 w 39"/>
                    <a:gd name="T49" fmla="*/ 8 h 185"/>
                    <a:gd name="T50" fmla="*/ 31 w 39"/>
                    <a:gd name="T51" fmla="*/ 143 h 18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39" h="185">
                      <a:moveTo>
                        <a:pt x="35" y="0"/>
                      </a:move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2" y="0"/>
                        <a:pt x="0" y="1"/>
                        <a:pt x="0" y="4"/>
                      </a:cubicBezTo>
                      <a:cubicBezTo>
                        <a:pt x="0" y="144"/>
                        <a:pt x="0" y="144"/>
                        <a:pt x="0" y="144"/>
                      </a:cubicBezTo>
                      <a:cubicBezTo>
                        <a:pt x="0" y="145"/>
                        <a:pt x="0" y="145"/>
                        <a:pt x="0" y="146"/>
                      </a:cubicBezTo>
                      <a:cubicBezTo>
                        <a:pt x="16" y="182"/>
                        <a:pt x="16" y="182"/>
                        <a:pt x="16" y="182"/>
                      </a:cubicBezTo>
                      <a:cubicBezTo>
                        <a:pt x="17" y="184"/>
                        <a:pt x="18" y="185"/>
                        <a:pt x="20" y="185"/>
                      </a:cubicBezTo>
                      <a:cubicBezTo>
                        <a:pt x="21" y="185"/>
                        <a:pt x="23" y="184"/>
                        <a:pt x="23" y="182"/>
                      </a:cubicBezTo>
                      <a:cubicBezTo>
                        <a:pt x="39" y="146"/>
                        <a:pt x="39" y="146"/>
                        <a:pt x="39" y="146"/>
                      </a:cubicBezTo>
                      <a:cubicBezTo>
                        <a:pt x="39" y="145"/>
                        <a:pt x="39" y="145"/>
                        <a:pt x="39" y="144"/>
                      </a:cubicBezTo>
                      <a:cubicBezTo>
                        <a:pt x="39" y="4"/>
                        <a:pt x="39" y="4"/>
                        <a:pt x="39" y="4"/>
                      </a:cubicBezTo>
                      <a:cubicBezTo>
                        <a:pt x="39" y="1"/>
                        <a:pt x="37" y="0"/>
                        <a:pt x="35" y="0"/>
                      </a:cubicBezTo>
                      <a:close/>
                      <a:moveTo>
                        <a:pt x="31" y="143"/>
                      </a:moveTo>
                      <a:cubicBezTo>
                        <a:pt x="25" y="157"/>
                        <a:pt x="25" y="157"/>
                        <a:pt x="25" y="157"/>
                      </a:cubicBezTo>
                      <a:cubicBezTo>
                        <a:pt x="14" y="157"/>
                        <a:pt x="14" y="157"/>
                        <a:pt x="14" y="157"/>
                      </a:cubicBezTo>
                      <a:cubicBezTo>
                        <a:pt x="8" y="143"/>
                        <a:pt x="8" y="143"/>
                        <a:pt x="8" y="143"/>
                      </a:cubicBezTo>
                      <a:cubicBezTo>
                        <a:pt x="8" y="8"/>
                        <a:pt x="8" y="8"/>
                        <a:pt x="8" y="8"/>
                      </a:cubicBezTo>
                      <a:cubicBezTo>
                        <a:pt x="18" y="8"/>
                        <a:pt x="18" y="8"/>
                        <a:pt x="18" y="8"/>
                      </a:cubicBezTo>
                      <a:cubicBezTo>
                        <a:pt x="18" y="8"/>
                        <a:pt x="18" y="8"/>
                        <a:pt x="18" y="8"/>
                      </a:cubicBezTo>
                      <a:cubicBezTo>
                        <a:pt x="18" y="137"/>
                        <a:pt x="18" y="137"/>
                        <a:pt x="18" y="137"/>
                      </a:cubicBezTo>
                      <a:cubicBezTo>
                        <a:pt x="18" y="138"/>
                        <a:pt x="19" y="139"/>
                        <a:pt x="21" y="139"/>
                      </a:cubicBezTo>
                      <a:cubicBezTo>
                        <a:pt x="22" y="139"/>
                        <a:pt x="24" y="138"/>
                        <a:pt x="24" y="137"/>
                      </a:cubicBezTo>
                      <a:cubicBezTo>
                        <a:pt x="24" y="8"/>
                        <a:pt x="24" y="8"/>
                        <a:pt x="24" y="8"/>
                      </a:cubicBezTo>
                      <a:cubicBezTo>
                        <a:pt x="24" y="8"/>
                        <a:pt x="24" y="8"/>
                        <a:pt x="24" y="8"/>
                      </a:cubicBezTo>
                      <a:cubicBezTo>
                        <a:pt x="31" y="8"/>
                        <a:pt x="31" y="8"/>
                        <a:pt x="31" y="8"/>
                      </a:cubicBezTo>
                      <a:lnTo>
                        <a:pt x="31" y="143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121920" tIns="60960" rIns="121920" bIns="6096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189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67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微软雅黑"/>
                    <a:cs typeface="+mn-cs"/>
                  </a:endParaRPr>
                </a:p>
              </p:txBody>
            </p:sp>
          </p:grpSp>
        </p:grpSp>
        <p:grpSp>
          <p:nvGrpSpPr>
            <p:cNvPr id="15" name="组合 14"/>
            <p:cNvGrpSpPr/>
            <p:nvPr/>
          </p:nvGrpSpPr>
          <p:grpSpPr>
            <a:xfrm>
              <a:off x="7379080" y="2803349"/>
              <a:ext cx="1271434" cy="1271434"/>
              <a:chOff x="6674239" y="3408398"/>
              <a:chExt cx="1007417" cy="1007417"/>
            </a:xfrm>
          </p:grpSpPr>
          <p:sp>
            <p:nvSpPr>
              <p:cNvPr id="16" name="任意多边形 15"/>
              <p:cNvSpPr/>
              <p:nvPr/>
            </p:nvSpPr>
            <p:spPr>
              <a:xfrm>
                <a:off x="6674239" y="3408398"/>
                <a:ext cx="1007417" cy="1007417"/>
              </a:xfrm>
              <a:custGeom>
                <a:avLst/>
                <a:gdLst>
                  <a:gd name="connsiteX0" fmla="*/ 0 w 1007417"/>
                  <a:gd name="connsiteY0" fmla="*/ 503709 h 1007417"/>
                  <a:gd name="connsiteX1" fmla="*/ 503709 w 1007417"/>
                  <a:gd name="connsiteY1" fmla="*/ 0 h 1007417"/>
                  <a:gd name="connsiteX2" fmla="*/ 1007418 w 1007417"/>
                  <a:gd name="connsiteY2" fmla="*/ 503709 h 1007417"/>
                  <a:gd name="connsiteX3" fmla="*/ 503709 w 1007417"/>
                  <a:gd name="connsiteY3" fmla="*/ 1007418 h 1007417"/>
                  <a:gd name="connsiteX4" fmla="*/ 0 w 1007417"/>
                  <a:gd name="connsiteY4" fmla="*/ 503709 h 10074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7417" h="1007417">
                    <a:moveTo>
                      <a:pt x="0" y="503709"/>
                    </a:moveTo>
                    <a:cubicBezTo>
                      <a:pt x="0" y="225518"/>
                      <a:pt x="225518" y="0"/>
                      <a:pt x="503709" y="0"/>
                    </a:cubicBezTo>
                    <a:cubicBezTo>
                      <a:pt x="781900" y="0"/>
                      <a:pt x="1007418" y="225518"/>
                      <a:pt x="1007418" y="503709"/>
                    </a:cubicBezTo>
                    <a:cubicBezTo>
                      <a:pt x="1007418" y="781900"/>
                      <a:pt x="781900" y="1007418"/>
                      <a:pt x="503709" y="1007418"/>
                    </a:cubicBezTo>
                    <a:cubicBezTo>
                      <a:pt x="225518" y="1007418"/>
                      <a:pt x="0" y="781900"/>
                      <a:pt x="0" y="50370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18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67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grpSp>
            <p:nvGrpSpPr>
              <p:cNvPr id="17" name="Group 28"/>
              <p:cNvGrpSpPr>
                <a:grpSpLocks noChangeAspect="1"/>
              </p:cNvGrpSpPr>
              <p:nvPr/>
            </p:nvGrpSpPr>
            <p:grpSpPr bwMode="auto">
              <a:xfrm>
                <a:off x="6969306" y="3649352"/>
                <a:ext cx="417282" cy="525508"/>
                <a:chOff x="4401" y="2266"/>
                <a:chExt cx="374" cy="471"/>
              </a:xfrm>
              <a:solidFill>
                <a:schemeClr val="bg1"/>
              </a:solidFill>
            </p:grpSpPr>
            <p:sp>
              <p:nvSpPr>
                <p:cNvPr id="18" name="Freeform 29"/>
                <p:cNvSpPr>
                  <a:spLocks/>
                </p:cNvSpPr>
                <p:nvPr/>
              </p:nvSpPr>
              <p:spPr bwMode="auto">
                <a:xfrm>
                  <a:off x="4538" y="2390"/>
                  <a:ext cx="85" cy="108"/>
                </a:xfrm>
                <a:custGeom>
                  <a:avLst/>
                  <a:gdLst>
                    <a:gd name="T0" fmla="*/ 0 w 35"/>
                    <a:gd name="T1" fmla="*/ 26 h 45"/>
                    <a:gd name="T2" fmla="*/ 3 w 35"/>
                    <a:gd name="T3" fmla="*/ 29 h 45"/>
                    <a:gd name="T4" fmla="*/ 3 w 35"/>
                    <a:gd name="T5" fmla="*/ 29 h 45"/>
                    <a:gd name="T6" fmla="*/ 17 w 35"/>
                    <a:gd name="T7" fmla="*/ 45 h 45"/>
                    <a:gd name="T8" fmla="*/ 32 w 35"/>
                    <a:gd name="T9" fmla="*/ 29 h 45"/>
                    <a:gd name="T10" fmla="*/ 32 w 35"/>
                    <a:gd name="T11" fmla="*/ 29 h 45"/>
                    <a:gd name="T12" fmla="*/ 35 w 35"/>
                    <a:gd name="T13" fmla="*/ 26 h 45"/>
                    <a:gd name="T14" fmla="*/ 33 w 35"/>
                    <a:gd name="T15" fmla="*/ 23 h 45"/>
                    <a:gd name="T16" fmla="*/ 34 w 35"/>
                    <a:gd name="T17" fmla="*/ 17 h 45"/>
                    <a:gd name="T18" fmla="*/ 17 w 35"/>
                    <a:gd name="T19" fmla="*/ 0 h 45"/>
                    <a:gd name="T20" fmla="*/ 1 w 35"/>
                    <a:gd name="T21" fmla="*/ 17 h 45"/>
                    <a:gd name="T22" fmla="*/ 2 w 35"/>
                    <a:gd name="T23" fmla="*/ 23 h 45"/>
                    <a:gd name="T24" fmla="*/ 0 w 35"/>
                    <a:gd name="T25" fmla="*/ 26 h 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35" h="45">
                      <a:moveTo>
                        <a:pt x="0" y="26"/>
                      </a:moveTo>
                      <a:cubicBezTo>
                        <a:pt x="0" y="28"/>
                        <a:pt x="1" y="29"/>
                        <a:pt x="3" y="29"/>
                      </a:cubicBezTo>
                      <a:cubicBezTo>
                        <a:pt x="3" y="29"/>
                        <a:pt x="3" y="29"/>
                        <a:pt x="3" y="29"/>
                      </a:cubicBezTo>
                      <a:cubicBezTo>
                        <a:pt x="3" y="37"/>
                        <a:pt x="10" y="45"/>
                        <a:pt x="17" y="45"/>
                      </a:cubicBezTo>
                      <a:cubicBezTo>
                        <a:pt x="25" y="45"/>
                        <a:pt x="31" y="37"/>
                        <a:pt x="32" y="29"/>
                      </a:cubicBezTo>
                      <a:cubicBezTo>
                        <a:pt x="32" y="29"/>
                        <a:pt x="32" y="29"/>
                        <a:pt x="32" y="29"/>
                      </a:cubicBezTo>
                      <a:cubicBezTo>
                        <a:pt x="33" y="29"/>
                        <a:pt x="35" y="28"/>
                        <a:pt x="35" y="26"/>
                      </a:cubicBezTo>
                      <a:cubicBezTo>
                        <a:pt x="35" y="25"/>
                        <a:pt x="34" y="24"/>
                        <a:pt x="33" y="23"/>
                      </a:cubicBezTo>
                      <a:cubicBezTo>
                        <a:pt x="34" y="21"/>
                        <a:pt x="34" y="19"/>
                        <a:pt x="34" y="17"/>
                      </a:cubicBezTo>
                      <a:cubicBezTo>
                        <a:pt x="34" y="8"/>
                        <a:pt x="26" y="0"/>
                        <a:pt x="17" y="0"/>
                      </a:cubicBezTo>
                      <a:cubicBezTo>
                        <a:pt x="8" y="0"/>
                        <a:pt x="1" y="8"/>
                        <a:pt x="1" y="17"/>
                      </a:cubicBezTo>
                      <a:cubicBezTo>
                        <a:pt x="1" y="19"/>
                        <a:pt x="1" y="21"/>
                        <a:pt x="2" y="23"/>
                      </a:cubicBezTo>
                      <a:cubicBezTo>
                        <a:pt x="1" y="24"/>
                        <a:pt x="0" y="25"/>
                        <a:pt x="0" y="2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121920" tIns="60960" rIns="121920" bIns="6096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189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67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微软雅黑"/>
                    <a:cs typeface="+mn-cs"/>
                  </a:endParaRPr>
                </a:p>
              </p:txBody>
            </p:sp>
            <p:sp>
              <p:nvSpPr>
                <p:cNvPr id="19" name="Freeform 30"/>
                <p:cNvSpPr>
                  <a:spLocks/>
                </p:cNvSpPr>
                <p:nvPr/>
              </p:nvSpPr>
              <p:spPr bwMode="auto">
                <a:xfrm>
                  <a:off x="4490" y="2512"/>
                  <a:ext cx="178" cy="53"/>
                </a:xfrm>
                <a:custGeom>
                  <a:avLst/>
                  <a:gdLst>
                    <a:gd name="T0" fmla="*/ 2 w 74"/>
                    <a:gd name="T1" fmla="*/ 22 h 22"/>
                    <a:gd name="T2" fmla="*/ 73 w 74"/>
                    <a:gd name="T3" fmla="*/ 22 h 22"/>
                    <a:gd name="T4" fmla="*/ 74 w 74"/>
                    <a:gd name="T5" fmla="*/ 21 h 22"/>
                    <a:gd name="T6" fmla="*/ 74 w 74"/>
                    <a:gd name="T7" fmla="*/ 15 h 22"/>
                    <a:gd name="T8" fmla="*/ 74 w 74"/>
                    <a:gd name="T9" fmla="*/ 14 h 22"/>
                    <a:gd name="T10" fmla="*/ 50 w 74"/>
                    <a:gd name="T11" fmla="*/ 0 h 22"/>
                    <a:gd name="T12" fmla="*/ 49 w 74"/>
                    <a:gd name="T13" fmla="*/ 0 h 22"/>
                    <a:gd name="T14" fmla="*/ 48 w 74"/>
                    <a:gd name="T15" fmla="*/ 0 h 22"/>
                    <a:gd name="T16" fmla="*/ 47 w 74"/>
                    <a:gd name="T17" fmla="*/ 0 h 22"/>
                    <a:gd name="T18" fmla="*/ 37 w 74"/>
                    <a:gd name="T19" fmla="*/ 3 h 22"/>
                    <a:gd name="T20" fmla="*/ 27 w 74"/>
                    <a:gd name="T21" fmla="*/ 0 h 22"/>
                    <a:gd name="T22" fmla="*/ 26 w 74"/>
                    <a:gd name="T23" fmla="*/ 0 h 22"/>
                    <a:gd name="T24" fmla="*/ 26 w 74"/>
                    <a:gd name="T25" fmla="*/ 0 h 22"/>
                    <a:gd name="T26" fmla="*/ 25 w 74"/>
                    <a:gd name="T27" fmla="*/ 0 h 22"/>
                    <a:gd name="T28" fmla="*/ 1 w 74"/>
                    <a:gd name="T29" fmla="*/ 14 h 22"/>
                    <a:gd name="T30" fmla="*/ 0 w 74"/>
                    <a:gd name="T31" fmla="*/ 15 h 22"/>
                    <a:gd name="T32" fmla="*/ 0 w 74"/>
                    <a:gd name="T33" fmla="*/ 21 h 22"/>
                    <a:gd name="T34" fmla="*/ 2 w 74"/>
                    <a:gd name="T35" fmla="*/ 22 h 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74" h="22">
                      <a:moveTo>
                        <a:pt x="2" y="22"/>
                      </a:moveTo>
                      <a:cubicBezTo>
                        <a:pt x="73" y="22"/>
                        <a:pt x="73" y="22"/>
                        <a:pt x="73" y="22"/>
                      </a:cubicBezTo>
                      <a:cubicBezTo>
                        <a:pt x="73" y="22"/>
                        <a:pt x="74" y="21"/>
                        <a:pt x="74" y="21"/>
                      </a:cubicBezTo>
                      <a:cubicBezTo>
                        <a:pt x="74" y="15"/>
                        <a:pt x="74" y="15"/>
                        <a:pt x="74" y="15"/>
                      </a:cubicBezTo>
                      <a:cubicBezTo>
                        <a:pt x="74" y="15"/>
                        <a:pt x="74" y="14"/>
                        <a:pt x="74" y="14"/>
                      </a:cubicBezTo>
                      <a:cubicBezTo>
                        <a:pt x="67" y="7"/>
                        <a:pt x="59" y="3"/>
                        <a:pt x="50" y="0"/>
                      </a:cubicBezTo>
                      <a:cubicBezTo>
                        <a:pt x="49" y="0"/>
                        <a:pt x="49" y="0"/>
                        <a:pt x="49" y="0"/>
                      </a:cubicBez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8" y="0"/>
                        <a:pt x="48" y="0"/>
                        <a:pt x="47" y="0"/>
                      </a:cubicBezTo>
                      <a:cubicBezTo>
                        <a:pt x="45" y="2"/>
                        <a:pt x="41" y="3"/>
                        <a:pt x="37" y="3"/>
                      </a:cubicBezTo>
                      <a:cubicBezTo>
                        <a:pt x="34" y="3"/>
                        <a:pt x="30" y="2"/>
                        <a:pt x="27" y="0"/>
                      </a:cubicBezTo>
                      <a:cubicBezTo>
                        <a:pt x="27" y="0"/>
                        <a:pt x="27" y="0"/>
                        <a:pt x="26" y="0"/>
                      </a:cubicBezTo>
                      <a:cubicBezTo>
                        <a:pt x="26" y="0"/>
                        <a:pt x="26" y="0"/>
                        <a:pt x="26" y="0"/>
                      </a:cubicBezTo>
                      <a:cubicBezTo>
                        <a:pt x="26" y="0"/>
                        <a:pt x="26" y="0"/>
                        <a:pt x="25" y="0"/>
                      </a:cubicBezTo>
                      <a:cubicBezTo>
                        <a:pt x="16" y="2"/>
                        <a:pt x="8" y="7"/>
                        <a:pt x="1" y="14"/>
                      </a:cubicBezTo>
                      <a:cubicBezTo>
                        <a:pt x="1" y="14"/>
                        <a:pt x="0" y="15"/>
                        <a:pt x="0" y="15"/>
                      </a:cubicBezTo>
                      <a:cubicBezTo>
                        <a:pt x="0" y="21"/>
                        <a:pt x="0" y="21"/>
                        <a:pt x="0" y="21"/>
                      </a:cubicBezTo>
                      <a:cubicBezTo>
                        <a:pt x="0" y="21"/>
                        <a:pt x="1" y="22"/>
                        <a:pt x="2" y="2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121920" tIns="60960" rIns="121920" bIns="6096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189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67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微软雅黑"/>
                    <a:cs typeface="+mn-cs"/>
                  </a:endParaRPr>
                </a:p>
              </p:txBody>
            </p:sp>
            <p:sp>
              <p:nvSpPr>
                <p:cNvPr id="20" name="Freeform 31"/>
                <p:cNvSpPr>
                  <a:spLocks/>
                </p:cNvSpPr>
                <p:nvPr/>
              </p:nvSpPr>
              <p:spPr bwMode="auto">
                <a:xfrm>
                  <a:off x="4476" y="2613"/>
                  <a:ext cx="207" cy="12"/>
                </a:xfrm>
                <a:custGeom>
                  <a:avLst/>
                  <a:gdLst>
                    <a:gd name="T0" fmla="*/ 84 w 86"/>
                    <a:gd name="T1" fmla="*/ 0 h 5"/>
                    <a:gd name="T2" fmla="*/ 3 w 86"/>
                    <a:gd name="T3" fmla="*/ 0 h 5"/>
                    <a:gd name="T4" fmla="*/ 0 w 86"/>
                    <a:gd name="T5" fmla="*/ 2 h 5"/>
                    <a:gd name="T6" fmla="*/ 3 w 86"/>
                    <a:gd name="T7" fmla="*/ 5 h 5"/>
                    <a:gd name="T8" fmla="*/ 84 w 86"/>
                    <a:gd name="T9" fmla="*/ 5 h 5"/>
                    <a:gd name="T10" fmla="*/ 86 w 86"/>
                    <a:gd name="T11" fmla="*/ 2 h 5"/>
                    <a:gd name="T12" fmla="*/ 84 w 86"/>
                    <a:gd name="T13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6" h="5">
                      <a:moveTo>
                        <a:pt x="84" y="0"/>
                      </a:move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1" y="0"/>
                        <a:pt x="0" y="1"/>
                        <a:pt x="0" y="2"/>
                      </a:cubicBezTo>
                      <a:cubicBezTo>
                        <a:pt x="0" y="4"/>
                        <a:pt x="1" y="5"/>
                        <a:pt x="3" y="5"/>
                      </a:cubicBezTo>
                      <a:cubicBezTo>
                        <a:pt x="84" y="5"/>
                        <a:pt x="84" y="5"/>
                        <a:pt x="84" y="5"/>
                      </a:cubicBezTo>
                      <a:cubicBezTo>
                        <a:pt x="85" y="5"/>
                        <a:pt x="86" y="4"/>
                        <a:pt x="86" y="2"/>
                      </a:cubicBezTo>
                      <a:cubicBezTo>
                        <a:pt x="86" y="1"/>
                        <a:pt x="85" y="0"/>
                        <a:pt x="8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121920" tIns="60960" rIns="121920" bIns="6096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189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67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微软雅黑"/>
                    <a:cs typeface="+mn-cs"/>
                  </a:endParaRPr>
                </a:p>
              </p:txBody>
            </p:sp>
            <p:sp>
              <p:nvSpPr>
                <p:cNvPr id="21" name="Freeform 32"/>
                <p:cNvSpPr>
                  <a:spLocks noEditPoints="1"/>
                </p:cNvSpPr>
                <p:nvPr/>
              </p:nvSpPr>
              <p:spPr bwMode="auto">
                <a:xfrm>
                  <a:off x="4401" y="2266"/>
                  <a:ext cx="374" cy="471"/>
                </a:xfrm>
                <a:custGeom>
                  <a:avLst/>
                  <a:gdLst>
                    <a:gd name="T0" fmla="*/ 153 w 155"/>
                    <a:gd name="T1" fmla="*/ 31 h 197"/>
                    <a:gd name="T2" fmla="*/ 124 w 155"/>
                    <a:gd name="T3" fmla="*/ 2 h 197"/>
                    <a:gd name="T4" fmla="*/ 120 w 155"/>
                    <a:gd name="T5" fmla="*/ 0 h 197"/>
                    <a:gd name="T6" fmla="*/ 6 w 155"/>
                    <a:gd name="T7" fmla="*/ 0 h 197"/>
                    <a:gd name="T8" fmla="*/ 0 w 155"/>
                    <a:gd name="T9" fmla="*/ 7 h 197"/>
                    <a:gd name="T10" fmla="*/ 0 w 155"/>
                    <a:gd name="T11" fmla="*/ 190 h 197"/>
                    <a:gd name="T12" fmla="*/ 6 w 155"/>
                    <a:gd name="T13" fmla="*/ 197 h 197"/>
                    <a:gd name="T14" fmla="*/ 148 w 155"/>
                    <a:gd name="T15" fmla="*/ 197 h 197"/>
                    <a:gd name="T16" fmla="*/ 155 w 155"/>
                    <a:gd name="T17" fmla="*/ 190 h 197"/>
                    <a:gd name="T18" fmla="*/ 155 w 155"/>
                    <a:gd name="T19" fmla="*/ 35 h 197"/>
                    <a:gd name="T20" fmla="*/ 153 w 155"/>
                    <a:gd name="T21" fmla="*/ 31 h 197"/>
                    <a:gd name="T22" fmla="*/ 13 w 155"/>
                    <a:gd name="T23" fmla="*/ 183 h 197"/>
                    <a:gd name="T24" fmla="*/ 13 w 155"/>
                    <a:gd name="T25" fmla="*/ 14 h 197"/>
                    <a:gd name="T26" fmla="*/ 116 w 155"/>
                    <a:gd name="T27" fmla="*/ 14 h 197"/>
                    <a:gd name="T28" fmla="*/ 116 w 155"/>
                    <a:gd name="T29" fmla="*/ 35 h 197"/>
                    <a:gd name="T30" fmla="*/ 120 w 155"/>
                    <a:gd name="T31" fmla="*/ 39 h 197"/>
                    <a:gd name="T32" fmla="*/ 142 w 155"/>
                    <a:gd name="T33" fmla="*/ 39 h 197"/>
                    <a:gd name="T34" fmla="*/ 142 w 155"/>
                    <a:gd name="T35" fmla="*/ 183 h 197"/>
                    <a:gd name="T36" fmla="*/ 13 w 155"/>
                    <a:gd name="T37" fmla="*/ 183 h 19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55" h="197">
                      <a:moveTo>
                        <a:pt x="153" y="31"/>
                      </a:moveTo>
                      <a:cubicBezTo>
                        <a:pt x="124" y="2"/>
                        <a:pt x="124" y="2"/>
                        <a:pt x="124" y="2"/>
                      </a:cubicBezTo>
                      <a:cubicBezTo>
                        <a:pt x="123" y="1"/>
                        <a:pt x="121" y="0"/>
                        <a:pt x="120" y="0"/>
                      </a:cubicBezTo>
                      <a:cubicBezTo>
                        <a:pt x="6" y="0"/>
                        <a:pt x="6" y="0"/>
                        <a:pt x="6" y="0"/>
                      </a:cubicBezTo>
                      <a:cubicBezTo>
                        <a:pt x="3" y="0"/>
                        <a:pt x="0" y="3"/>
                        <a:pt x="0" y="7"/>
                      </a:cubicBezTo>
                      <a:cubicBezTo>
                        <a:pt x="0" y="190"/>
                        <a:pt x="0" y="190"/>
                        <a:pt x="0" y="190"/>
                      </a:cubicBezTo>
                      <a:cubicBezTo>
                        <a:pt x="0" y="194"/>
                        <a:pt x="3" y="197"/>
                        <a:pt x="6" y="197"/>
                      </a:cubicBezTo>
                      <a:cubicBezTo>
                        <a:pt x="148" y="197"/>
                        <a:pt x="148" y="197"/>
                        <a:pt x="148" y="197"/>
                      </a:cubicBezTo>
                      <a:cubicBezTo>
                        <a:pt x="152" y="197"/>
                        <a:pt x="155" y="194"/>
                        <a:pt x="155" y="190"/>
                      </a:cubicBezTo>
                      <a:cubicBezTo>
                        <a:pt x="155" y="35"/>
                        <a:pt x="155" y="35"/>
                        <a:pt x="155" y="35"/>
                      </a:cubicBezTo>
                      <a:cubicBezTo>
                        <a:pt x="155" y="34"/>
                        <a:pt x="154" y="32"/>
                        <a:pt x="153" y="31"/>
                      </a:cubicBezTo>
                      <a:close/>
                      <a:moveTo>
                        <a:pt x="13" y="183"/>
                      </a:moveTo>
                      <a:cubicBezTo>
                        <a:pt x="13" y="14"/>
                        <a:pt x="13" y="14"/>
                        <a:pt x="13" y="14"/>
                      </a:cubicBezTo>
                      <a:cubicBezTo>
                        <a:pt x="116" y="14"/>
                        <a:pt x="116" y="14"/>
                        <a:pt x="116" y="14"/>
                      </a:cubicBezTo>
                      <a:cubicBezTo>
                        <a:pt x="116" y="35"/>
                        <a:pt x="116" y="35"/>
                        <a:pt x="116" y="35"/>
                      </a:cubicBezTo>
                      <a:cubicBezTo>
                        <a:pt x="116" y="38"/>
                        <a:pt x="118" y="39"/>
                        <a:pt x="120" y="39"/>
                      </a:cubicBezTo>
                      <a:cubicBezTo>
                        <a:pt x="142" y="39"/>
                        <a:pt x="142" y="39"/>
                        <a:pt x="142" y="39"/>
                      </a:cubicBezTo>
                      <a:cubicBezTo>
                        <a:pt x="142" y="183"/>
                        <a:pt x="142" y="183"/>
                        <a:pt x="142" y="183"/>
                      </a:cubicBezTo>
                      <a:lnTo>
                        <a:pt x="13" y="183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121920" tIns="60960" rIns="121920" bIns="6096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189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67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微软雅黑"/>
                    <a:cs typeface="+mn-cs"/>
                  </a:endParaRPr>
                </a:p>
              </p:txBody>
            </p:sp>
          </p:grpSp>
        </p:grpSp>
      </p:grpSp>
      <p:grpSp>
        <p:nvGrpSpPr>
          <p:cNvPr id="4" name="组合 3"/>
          <p:cNvGrpSpPr/>
          <p:nvPr/>
        </p:nvGrpSpPr>
        <p:grpSpPr>
          <a:xfrm>
            <a:off x="5764993" y="1843123"/>
            <a:ext cx="5586883" cy="4050035"/>
            <a:chOff x="5818000" y="1843122"/>
            <a:chExt cx="5586883" cy="4050035"/>
          </a:xfrm>
        </p:grpSpPr>
        <p:sp>
          <p:nvSpPr>
            <p:cNvPr id="2" name="圆角矩形 1"/>
            <p:cNvSpPr/>
            <p:nvPr/>
          </p:nvSpPr>
          <p:spPr>
            <a:xfrm>
              <a:off x="5818000" y="1843122"/>
              <a:ext cx="5586883" cy="4050035"/>
            </a:xfrm>
            <a:prstGeom prst="roundRect">
              <a:avLst>
                <a:gd name="adj" fmla="val 5616"/>
              </a:avLst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67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46" name="文本框 31"/>
            <p:cNvSpPr txBox="1"/>
            <p:nvPr/>
          </p:nvSpPr>
          <p:spPr>
            <a:xfrm>
              <a:off x="6089669" y="2026983"/>
              <a:ext cx="5053952" cy="35575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457189" algn="l" defTabSz="457189" rtl="0" eaLnBrk="1" fontAlgn="auto" latinLnBrk="0" hangingPunct="1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endParaRPr>
            </a:p>
          </p:txBody>
        </p:sp>
      </p:grpSp>
      <p:sp>
        <p:nvSpPr>
          <p:cNvPr id="47" name="矩形 46"/>
          <p:cNvSpPr>
            <a:spLocks noChangeArrowheads="1"/>
          </p:cNvSpPr>
          <p:nvPr/>
        </p:nvSpPr>
        <p:spPr bwMode="auto">
          <a:xfrm>
            <a:off x="634918" y="237124"/>
            <a:ext cx="1887690" cy="615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1917" tIns="60959" rIns="121917" bIns="60959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endParaRPr/>
          </a:p>
        </p:txBody>
      </p:sp>
      <p:sp>
        <p:nvSpPr>
          <p:cNvPr id="48" name="等腰三角形 47"/>
          <p:cNvSpPr>
            <a:spLocks noChangeArrowheads="1"/>
          </p:cNvSpPr>
          <p:nvPr/>
        </p:nvSpPr>
        <p:spPr bwMode="auto">
          <a:xfrm rot="5400000">
            <a:off x="-53049" y="209721"/>
            <a:ext cx="774879" cy="66878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121917" tIns="60959" rIns="121917" bIns="60959" anchor="ctr"/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zh-CN" altLang="zh-CN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  <a:sym typeface="微软雅黑" pitchFamily="34" charset="-122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0" y="1024128"/>
            <a:ext cx="12188952" cy="526694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85800" y="347472"/>
            <a:ext cx="10698480" cy="502920"/>
          </a:xfrm>
          <a:prstGeom prst="rect">
            <a:avLst/>
          </a:prstGeom>
          <a:noFill/>
        </p:spPr>
        <p:txBody>
          <a:bodyPr wrap="square" lIns="50800" tIns="25400" rIns="50800" bIns="25400">
            <a:normAutofit lnSpcReduction="10000"/>
          </a:bodyPr>
          <a:lstStyle/>
          <a:p>
            <a:r>
              <a:rPr sz="3000" b="1">
                <a:solidFill>
                  <a:srgbClr val="000000"/>
                </a:solidFill>
                <a:latin typeface="KaiTi"/>
              </a:rPr>
              <a:t>Task 2：深度交叉 CTR 预测网络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68680" y="1234440"/>
            <a:ext cx="2011680" cy="640080"/>
          </a:xfrm>
          <a:prstGeom prst="roundRect">
            <a:avLst/>
          </a:prstGeom>
          <a:solidFill>
            <a:srgbClr val="E8F6F0"/>
          </a:solidFill>
          <a:ln w="13970">
            <a:solidFill>
              <a:srgbClr val="005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14400" y="1344168"/>
            <a:ext cx="1920240" cy="493775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normAutofit lnSpcReduction="10000"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Microsoft YaHei"/>
              </a:rPr>
              <a:t>用户历史序列</a:t>
            </a:r>
            <a:br>
              <a:rPr b="1"/>
            </a:br>
            <a:r>
              <a:rPr sz="1600" b="1">
                <a:solidFill>
                  <a:srgbClr val="000000"/>
                </a:solidFill>
                <a:latin typeface="Microsoft YaHei"/>
              </a:rPr>
              <a:t>item_seq</a:t>
            </a:r>
          </a:p>
        </p:txBody>
      </p:sp>
      <p:cxnSp>
        <p:nvCxnSpPr>
          <p:cNvPr id="54" name="Connector 53"/>
          <p:cNvCxnSpPr>
            <a:cxnSpLocks/>
            <a:endCxn id="55" idx="1"/>
          </p:cNvCxnSpPr>
          <p:nvPr/>
        </p:nvCxnSpPr>
        <p:spPr>
          <a:xfrm>
            <a:off x="2880360" y="1554480"/>
            <a:ext cx="731520" cy="0"/>
          </a:xfrm>
          <a:prstGeom prst="line">
            <a:avLst/>
          </a:prstGeom>
          <a:ln w="25400">
            <a:solidFill>
              <a:srgbClr val="0056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/>
          <p:cNvSpPr/>
          <p:nvPr/>
        </p:nvSpPr>
        <p:spPr>
          <a:xfrm>
            <a:off x="3611880" y="1234440"/>
            <a:ext cx="2468880" cy="640080"/>
          </a:xfrm>
          <a:prstGeom prst="roundRect">
            <a:avLst/>
          </a:prstGeom>
          <a:solidFill>
            <a:srgbClr val="D9EEE4"/>
          </a:solidFill>
          <a:ln w="13970">
            <a:solidFill>
              <a:srgbClr val="005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3657600" y="1344168"/>
            <a:ext cx="2377440" cy="493775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normAutofit lnSpcReduction="10000"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Microsoft YaHei"/>
              </a:rPr>
              <a:t>目标感知</a:t>
            </a:r>
            <a:br/>
            <a:r>
              <a:rPr sz="1600" b="1">
                <a:solidFill>
                  <a:srgbClr val="000000"/>
                </a:solidFill>
                <a:latin typeface="Microsoft YaHei"/>
              </a:rPr>
              <a:t>Transformer 编码器</a:t>
            </a:r>
          </a:p>
        </p:txBody>
      </p:sp>
      <p:cxnSp>
        <p:nvCxnSpPr>
          <p:cNvPr id="57" name="Connector 56"/>
          <p:cNvCxnSpPr>
            <a:cxnSpLocks/>
            <a:endCxn id="58" idx="1"/>
          </p:cNvCxnSpPr>
          <p:nvPr/>
        </p:nvCxnSpPr>
        <p:spPr>
          <a:xfrm>
            <a:off x="6080760" y="1554480"/>
            <a:ext cx="685800" cy="0"/>
          </a:xfrm>
          <a:prstGeom prst="line">
            <a:avLst/>
          </a:prstGeom>
          <a:ln w="25400">
            <a:solidFill>
              <a:srgbClr val="0056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ounded Rectangle 57"/>
          <p:cNvSpPr/>
          <p:nvPr/>
        </p:nvSpPr>
        <p:spPr>
          <a:xfrm>
            <a:off x="6766560" y="1234440"/>
            <a:ext cx="1965960" cy="640080"/>
          </a:xfrm>
          <a:prstGeom prst="roundRect">
            <a:avLst/>
          </a:prstGeom>
          <a:solidFill>
            <a:srgbClr val="E8F6F0"/>
          </a:solidFill>
          <a:ln w="13970">
            <a:solidFill>
              <a:srgbClr val="005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812280" y="1344168"/>
            <a:ext cx="1874519" cy="493775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normAutofit/>
          </a:bodyPr>
          <a:lstStyle/>
          <a:p>
            <a:pPr algn="ctr"/>
            <a:r>
              <a:rPr sz="1700" b="1">
                <a:solidFill>
                  <a:srgbClr val="000000"/>
                </a:solidFill>
                <a:latin typeface="Microsoft YaHei"/>
              </a:rPr>
              <a:t>用户兴趣表示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68680" y="2668155"/>
            <a:ext cx="2149090" cy="715125"/>
          </a:xfrm>
          <a:prstGeom prst="roundRect">
            <a:avLst/>
          </a:prstGeom>
          <a:solidFill>
            <a:srgbClr val="E8F6F0"/>
          </a:solidFill>
          <a:ln w="13970">
            <a:solidFill>
              <a:srgbClr val="005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960120" y="2795816"/>
            <a:ext cx="1920240" cy="493775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no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Microsoft YaHei"/>
              </a:rPr>
              <a:t>item_id</a:t>
            </a:r>
            <a:br>
              <a:rPr sz="1600" b="1"/>
            </a:br>
            <a:r>
              <a:rPr sz="1600" b="1">
                <a:solidFill>
                  <a:srgbClr val="000000"/>
                </a:solidFill>
                <a:latin typeface="Microsoft YaHei"/>
              </a:rPr>
              <a:t>tags</a:t>
            </a:r>
            <a:br>
              <a:rPr sz="1600" b="1"/>
            </a:br>
            <a:r>
              <a:rPr sz="1600" b="1">
                <a:solidFill>
                  <a:srgbClr val="000000"/>
                </a:solidFill>
                <a:latin typeface="Microsoft YaHei"/>
              </a:rPr>
              <a:t>dense emb</a:t>
            </a:r>
          </a:p>
        </p:txBody>
      </p:sp>
      <p:cxnSp>
        <p:nvCxnSpPr>
          <p:cNvPr id="62" name="Connector 61"/>
          <p:cNvCxnSpPr>
            <a:cxnSpLocks/>
            <a:endCxn id="63" idx="1"/>
          </p:cNvCxnSpPr>
          <p:nvPr/>
        </p:nvCxnSpPr>
        <p:spPr>
          <a:xfrm>
            <a:off x="2880360" y="3063240"/>
            <a:ext cx="731520" cy="0"/>
          </a:xfrm>
          <a:prstGeom prst="line">
            <a:avLst/>
          </a:prstGeom>
          <a:ln w="25400">
            <a:solidFill>
              <a:srgbClr val="0056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ounded Rectangle 62"/>
          <p:cNvSpPr/>
          <p:nvPr/>
        </p:nvSpPr>
        <p:spPr>
          <a:xfrm>
            <a:off x="3611880" y="2514600"/>
            <a:ext cx="2468880" cy="1097280"/>
          </a:xfrm>
          <a:prstGeom prst="roundRect">
            <a:avLst/>
          </a:prstGeom>
          <a:solidFill>
            <a:srgbClr val="D9EEE4"/>
          </a:solidFill>
          <a:ln w="13970">
            <a:solidFill>
              <a:srgbClr val="005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3657600" y="2624328"/>
            <a:ext cx="2377440" cy="950976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norm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Microsoft YaHei"/>
              </a:rPr>
              <a:t>Embedding 层</a:t>
            </a:r>
            <a:br/>
            <a:r>
              <a:rPr sz="1600" b="1">
                <a:solidFill>
                  <a:srgbClr val="000000"/>
                </a:solidFill>
                <a:latin typeface="Microsoft YaHei"/>
              </a:rPr>
              <a:t>特征总线</a:t>
            </a:r>
          </a:p>
        </p:txBody>
      </p:sp>
      <p:cxnSp>
        <p:nvCxnSpPr>
          <p:cNvPr id="65" name="Connector 64"/>
          <p:cNvCxnSpPr>
            <a:cxnSpLocks/>
            <a:endCxn id="66" idx="1"/>
          </p:cNvCxnSpPr>
          <p:nvPr/>
        </p:nvCxnSpPr>
        <p:spPr>
          <a:xfrm>
            <a:off x="6080760" y="3063240"/>
            <a:ext cx="685800" cy="0"/>
          </a:xfrm>
          <a:prstGeom prst="line">
            <a:avLst/>
          </a:prstGeom>
          <a:ln w="25400">
            <a:solidFill>
              <a:srgbClr val="0056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ounded Rectangle 65"/>
          <p:cNvSpPr/>
          <p:nvPr/>
        </p:nvSpPr>
        <p:spPr>
          <a:xfrm>
            <a:off x="6766560" y="2514600"/>
            <a:ext cx="1965960" cy="1097280"/>
          </a:xfrm>
          <a:prstGeom prst="roundRect">
            <a:avLst/>
          </a:prstGeom>
          <a:solidFill>
            <a:srgbClr val="E8F6F0"/>
          </a:solidFill>
          <a:ln w="13970">
            <a:solidFill>
              <a:srgbClr val="005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6812280" y="2624328"/>
            <a:ext cx="1874519" cy="950976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norm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Microsoft YaHei"/>
              </a:rPr>
              <a:t>CrossNetV2</a:t>
            </a:r>
            <a:br/>
            <a:r>
              <a:rPr sz="1600" b="1">
                <a:solidFill>
                  <a:srgbClr val="000000"/>
                </a:solidFill>
                <a:latin typeface="Microsoft YaHei"/>
              </a:rPr>
              <a:t>DNN 分支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8732520" y="1745932"/>
            <a:ext cx="822960" cy="0"/>
          </a:xfrm>
          <a:prstGeom prst="line">
            <a:avLst/>
          </a:prstGeom>
          <a:ln w="25400">
            <a:solidFill>
              <a:srgbClr val="0056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8732520" y="2677477"/>
            <a:ext cx="822960" cy="0"/>
          </a:xfrm>
          <a:prstGeom prst="line">
            <a:avLst/>
          </a:prstGeom>
          <a:ln w="25400">
            <a:solidFill>
              <a:srgbClr val="0056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Rounded Rectangle 69"/>
          <p:cNvSpPr/>
          <p:nvPr/>
        </p:nvSpPr>
        <p:spPr>
          <a:xfrm>
            <a:off x="9555480" y="1509714"/>
            <a:ext cx="1508760" cy="1343214"/>
          </a:xfrm>
          <a:prstGeom prst="roundRect">
            <a:avLst/>
          </a:prstGeom>
          <a:solidFill>
            <a:srgbClr val="D9EEE4"/>
          </a:solidFill>
          <a:ln w="13970">
            <a:solidFill>
              <a:srgbClr val="005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9601200" y="1765502"/>
            <a:ext cx="1417319" cy="768096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normAutofit/>
          </a:bodyPr>
          <a:lstStyle/>
          <a:p>
            <a:pPr algn="ctr"/>
            <a:r>
              <a:rPr sz="2200" b="1" dirty="0" err="1">
                <a:solidFill>
                  <a:srgbClr val="000000"/>
                </a:solidFill>
                <a:latin typeface="Microsoft YaHei"/>
              </a:rPr>
              <a:t>pCTR</a:t>
            </a:r>
            <a:endParaRPr sz="2200" b="1" dirty="0">
              <a:solidFill>
                <a:srgbClr val="000000"/>
              </a:solidFill>
              <a:latin typeface="Microsoft YaHei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868680" y="4398056"/>
            <a:ext cx="1545937" cy="320040"/>
          </a:xfrm>
          <a:prstGeom prst="rect">
            <a:avLst/>
          </a:prstGeom>
          <a:noFill/>
        </p:spPr>
        <p:txBody>
          <a:bodyPr wrap="square" lIns="50800" tIns="25400" rIns="50800" bIns="25400">
            <a:noAutofit/>
          </a:bodyPr>
          <a:lstStyle/>
          <a:p>
            <a:r>
              <a:rPr sz="2400" b="1" dirty="0" err="1">
                <a:solidFill>
                  <a:srgbClr val="FF0000"/>
                </a:solidFill>
                <a:latin typeface="KaiTi"/>
              </a:rPr>
              <a:t>建模要点</a:t>
            </a:r>
            <a:endParaRPr sz="2400" b="1" dirty="0">
              <a:solidFill>
                <a:srgbClr val="FF0000"/>
              </a:solidFill>
              <a:latin typeface="KaiTi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960120" y="4917986"/>
            <a:ext cx="10149840" cy="777240"/>
          </a:xfrm>
          <a:prstGeom prst="rect">
            <a:avLst/>
          </a:prstGeom>
          <a:noFill/>
        </p:spPr>
        <p:txBody>
          <a:bodyPr wrap="square" lIns="50800" tIns="25400" rIns="50800" bIns="25400">
            <a:noAutofit/>
          </a:bodyPr>
          <a:lstStyle/>
          <a:p>
            <a:r>
              <a:rPr sz="2000" b="0" dirty="0">
                <a:solidFill>
                  <a:srgbClr val="000000"/>
                </a:solidFill>
                <a:latin typeface="Microsoft YaHei"/>
              </a:rPr>
              <a:t>• Transformer </a:t>
            </a:r>
            <a:r>
              <a:rPr sz="2000" b="0" dirty="0" err="1">
                <a:solidFill>
                  <a:srgbClr val="000000"/>
                </a:solidFill>
                <a:latin typeface="Microsoft YaHei"/>
              </a:rPr>
              <a:t>捕捉用户历史行为中的长程依赖</a:t>
            </a:r>
            <a:endParaRPr lang="en-US" sz="2000" b="0" dirty="0">
              <a:solidFill>
                <a:srgbClr val="000000"/>
              </a:solidFill>
              <a:latin typeface="Microsoft YaHei"/>
            </a:endParaRPr>
          </a:p>
          <a:p>
            <a:br>
              <a:rPr sz="2000" dirty="0"/>
            </a:br>
            <a:r>
              <a:rPr sz="2000" b="0" dirty="0">
                <a:solidFill>
                  <a:srgbClr val="000000"/>
                </a:solidFill>
                <a:latin typeface="Microsoft YaHei"/>
              </a:rPr>
              <a:t>• CrossNetV2 </a:t>
            </a:r>
            <a:r>
              <a:rPr sz="2000" b="0" dirty="0" err="1">
                <a:solidFill>
                  <a:srgbClr val="000000"/>
                </a:solidFill>
                <a:latin typeface="Microsoft YaHei"/>
              </a:rPr>
              <a:t>显式建模用户、物品和多模态特征之间的交叉关系</a:t>
            </a:r>
            <a:endParaRPr lang="en-US" sz="2000" b="0" dirty="0">
              <a:solidFill>
                <a:srgbClr val="000000"/>
              </a:solidFill>
              <a:latin typeface="Microsoft YaHei"/>
            </a:endParaRPr>
          </a:p>
          <a:p>
            <a:br>
              <a:rPr sz="2000" dirty="0"/>
            </a:br>
            <a:r>
              <a:rPr sz="2000" b="0" dirty="0">
                <a:solidFill>
                  <a:srgbClr val="000000"/>
                </a:solidFill>
                <a:latin typeface="Microsoft YaHei"/>
              </a:rPr>
              <a:t>• DNN </a:t>
            </a:r>
            <a:r>
              <a:rPr sz="2000" b="0" dirty="0" err="1">
                <a:solidFill>
                  <a:srgbClr val="000000"/>
                </a:solidFill>
                <a:latin typeface="Microsoft YaHei"/>
              </a:rPr>
              <a:t>分支补充非线性表达能力</a:t>
            </a:r>
            <a:endParaRPr sz="2000" b="0" dirty="0">
              <a:solidFill>
                <a:srgbClr val="000000"/>
              </a:solidFill>
              <a:latin typeface="Microsoft YaHei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2725476" y="3993374"/>
            <a:ext cx="6583680" cy="256032"/>
          </a:xfrm>
          <a:prstGeom prst="rect">
            <a:avLst/>
          </a:prstGeom>
          <a:noFill/>
        </p:spPr>
        <p:txBody>
          <a:bodyPr wrap="square" lIns="50800" tIns="25400" rIns="50800" bIns="25400">
            <a:noAutofit/>
          </a:bodyPr>
          <a:lstStyle/>
          <a:p>
            <a:pPr algn="ctr"/>
            <a:r>
              <a:rPr sz="2000" b="1" dirty="0" err="1">
                <a:solidFill>
                  <a:srgbClr val="000000"/>
                </a:solidFill>
                <a:latin typeface="KaiTi"/>
              </a:rPr>
              <a:t>CascadeMultimodalDCN</a:t>
            </a:r>
            <a:r>
              <a:rPr sz="2000" b="1" dirty="0">
                <a:solidFill>
                  <a:srgbClr val="000000"/>
                </a:solidFill>
                <a:latin typeface="KaiTi"/>
              </a:rPr>
              <a:t> </a:t>
            </a:r>
            <a:r>
              <a:rPr sz="2000" b="1" dirty="0" err="1">
                <a:solidFill>
                  <a:srgbClr val="000000"/>
                </a:solidFill>
                <a:latin typeface="KaiTi"/>
              </a:rPr>
              <a:t>的主要结构</a:t>
            </a:r>
            <a:endParaRPr sz="2000" b="1" dirty="0">
              <a:solidFill>
                <a:srgbClr val="000000"/>
              </a:solidFill>
              <a:latin typeface="KaiTi"/>
            </a:endParaRPr>
          </a:p>
        </p:txBody>
      </p:sp>
      <p:sp>
        <p:nvSpPr>
          <p:cNvPr id="5" name="Rectangle 107">
            <a:extLst>
              <a:ext uri="{FF2B5EF4-FFF2-40B4-BE49-F238E27FC236}">
                <a16:creationId xmlns:a16="http://schemas.microsoft.com/office/drawing/2014/main" id="{7A856814-2ADB-6EC9-681F-E328977F761E}"/>
              </a:ext>
            </a:extLst>
          </p:cNvPr>
          <p:cNvSpPr/>
          <p:nvPr/>
        </p:nvSpPr>
        <p:spPr>
          <a:xfrm>
            <a:off x="668781" y="1015559"/>
            <a:ext cx="10332720" cy="27432"/>
          </a:xfrm>
          <a:prstGeom prst="rect">
            <a:avLst/>
          </a:prstGeom>
          <a:solidFill>
            <a:srgbClr val="005643"/>
          </a:solidFill>
          <a:ln>
            <a:solidFill>
              <a:srgbClr val="005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04899272"/>
      </p:ext>
    </p:extLst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3346102" y="2473459"/>
            <a:ext cx="2702759" cy="83519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 flipV="1">
            <a:off x="4104242" y="3334052"/>
            <a:ext cx="1957319" cy="984833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 flipV="1">
            <a:off x="5973889" y="1971047"/>
            <a:ext cx="2546619" cy="1363005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6036160" y="3308650"/>
            <a:ext cx="3307739" cy="632863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65"/>
          <p:cNvSpPr txBox="1"/>
          <p:nvPr/>
        </p:nvSpPr>
        <p:spPr>
          <a:xfrm>
            <a:off x="985962" y="5127503"/>
            <a:ext cx="10177669" cy="1021433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marL="0" marR="0" lvl="0" indent="457189" algn="l" defTabSz="457189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5030972" y="2266369"/>
            <a:ext cx="2106755" cy="2106755"/>
            <a:chOff x="3761296" y="1104900"/>
            <a:chExt cx="1549400" cy="1549400"/>
          </a:xfrm>
        </p:grpSpPr>
        <p:sp>
          <p:nvSpPr>
            <p:cNvPr id="12" name="椭圆 11"/>
            <p:cNvSpPr/>
            <p:nvPr/>
          </p:nvSpPr>
          <p:spPr>
            <a:xfrm>
              <a:off x="3761296" y="1104900"/>
              <a:ext cx="1549400" cy="1549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67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3" name="文本框 34"/>
            <p:cNvSpPr txBox="1"/>
            <p:nvPr/>
          </p:nvSpPr>
          <p:spPr>
            <a:xfrm>
              <a:off x="3761296" y="1528754"/>
              <a:ext cx="1549400" cy="7016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7907525" y="1336977"/>
            <a:ext cx="1655788" cy="1108427"/>
            <a:chOff x="6352096" y="889280"/>
            <a:chExt cx="1549400" cy="1037208"/>
          </a:xfrm>
        </p:grpSpPr>
        <p:sp>
          <p:nvSpPr>
            <p:cNvPr id="15" name="椭圆 14"/>
            <p:cNvSpPr/>
            <p:nvPr/>
          </p:nvSpPr>
          <p:spPr>
            <a:xfrm>
              <a:off x="6608191" y="889280"/>
              <a:ext cx="1037208" cy="103720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67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6" name="文本框 40"/>
            <p:cNvSpPr txBox="1"/>
            <p:nvPr/>
          </p:nvSpPr>
          <p:spPr>
            <a:xfrm>
              <a:off x="6352096" y="1094603"/>
              <a:ext cx="1549400" cy="5472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/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1819033" y="1556398"/>
            <a:ext cx="2176144" cy="1456767"/>
            <a:chOff x="1277256" y="1121088"/>
            <a:chExt cx="1549400" cy="1037208"/>
          </a:xfrm>
        </p:grpSpPr>
        <p:sp>
          <p:nvSpPr>
            <p:cNvPr id="18" name="椭圆 17"/>
            <p:cNvSpPr/>
            <p:nvPr/>
          </p:nvSpPr>
          <p:spPr>
            <a:xfrm>
              <a:off x="1533352" y="1121088"/>
              <a:ext cx="1037208" cy="1037208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67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9" name="文本框 43"/>
            <p:cNvSpPr txBox="1"/>
            <p:nvPr/>
          </p:nvSpPr>
          <p:spPr>
            <a:xfrm>
              <a:off x="1277256" y="1387687"/>
              <a:ext cx="1549400" cy="5040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/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8351193" y="3308649"/>
            <a:ext cx="1991635" cy="1333251"/>
            <a:chOff x="7645400" y="1877556"/>
            <a:chExt cx="1549400" cy="1037208"/>
          </a:xfrm>
        </p:grpSpPr>
        <p:sp>
          <p:nvSpPr>
            <p:cNvPr id="21" name="椭圆 20"/>
            <p:cNvSpPr/>
            <p:nvPr/>
          </p:nvSpPr>
          <p:spPr>
            <a:xfrm>
              <a:off x="7901496" y="1877556"/>
              <a:ext cx="1037208" cy="1037208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67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22" name="文本框 46"/>
            <p:cNvSpPr txBox="1"/>
            <p:nvPr/>
          </p:nvSpPr>
          <p:spPr>
            <a:xfrm>
              <a:off x="7645400" y="2144752"/>
              <a:ext cx="1549400" cy="5188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/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2568835" y="3688113"/>
            <a:ext cx="2046559" cy="1370019"/>
            <a:chOff x="5056696" y="2183559"/>
            <a:chExt cx="1549400" cy="1037208"/>
          </a:xfrm>
        </p:grpSpPr>
        <p:sp>
          <p:nvSpPr>
            <p:cNvPr id="24" name="椭圆 23"/>
            <p:cNvSpPr/>
            <p:nvPr/>
          </p:nvSpPr>
          <p:spPr>
            <a:xfrm>
              <a:off x="5312792" y="2183559"/>
              <a:ext cx="1037208" cy="103720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67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25" name="文本框 49"/>
            <p:cNvSpPr txBox="1"/>
            <p:nvPr/>
          </p:nvSpPr>
          <p:spPr>
            <a:xfrm>
              <a:off x="5056696" y="2457502"/>
              <a:ext cx="1549400" cy="5049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/>
            </a:p>
          </p:txBody>
        </p:sp>
      </p:grpSp>
      <p:sp>
        <p:nvSpPr>
          <p:cNvPr id="26" name="矩形 46"/>
          <p:cNvSpPr>
            <a:spLocks noChangeArrowheads="1"/>
          </p:cNvSpPr>
          <p:nvPr/>
        </p:nvSpPr>
        <p:spPr bwMode="auto">
          <a:xfrm>
            <a:off x="634918" y="237124"/>
            <a:ext cx="1887690" cy="615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1917" tIns="60959" rIns="121917" bIns="60959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endParaRPr/>
          </a:p>
        </p:txBody>
      </p:sp>
      <p:sp>
        <p:nvSpPr>
          <p:cNvPr id="27" name="等腰三角形 47"/>
          <p:cNvSpPr>
            <a:spLocks noChangeArrowheads="1"/>
          </p:cNvSpPr>
          <p:nvPr/>
        </p:nvSpPr>
        <p:spPr bwMode="auto">
          <a:xfrm rot="5400000">
            <a:off x="-53049" y="209721"/>
            <a:ext cx="774879" cy="66878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121917" tIns="60959" rIns="121917" bIns="60959" anchor="ctr"/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zh-CN" altLang="zh-CN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  <a:sym typeface="微软雅黑" pitchFamily="3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0" y="1024128"/>
            <a:ext cx="12188952" cy="526694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85800" y="347472"/>
            <a:ext cx="10698480" cy="502920"/>
          </a:xfrm>
          <a:prstGeom prst="rect">
            <a:avLst/>
          </a:prstGeom>
          <a:noFill/>
        </p:spPr>
        <p:txBody>
          <a:bodyPr wrap="square" lIns="50800" tIns="25400" rIns="50800" bIns="25400">
            <a:normAutofit lnSpcReduction="10000"/>
          </a:bodyPr>
          <a:lstStyle/>
          <a:p>
            <a:r>
              <a:rPr sz="3000" b="1">
                <a:solidFill>
                  <a:srgbClr val="000000"/>
                </a:solidFill>
                <a:latin typeface="KaiTi"/>
              </a:rPr>
              <a:t>Task 1&amp;2：级联桥接处理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" y="1234440"/>
            <a:ext cx="3246120" cy="2880360"/>
          </a:xfrm>
          <a:prstGeom prst="roundRect">
            <a:avLst/>
          </a:prstGeom>
          <a:solidFill>
            <a:srgbClr val="E8F6F0"/>
          </a:solidFill>
          <a:ln w="15240">
            <a:solidFill>
              <a:srgbClr val="005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896112" y="1329626"/>
            <a:ext cx="329184" cy="329184"/>
          </a:xfrm>
          <a:prstGeom prst="ellipse">
            <a:avLst/>
          </a:prstGeom>
          <a:solidFill>
            <a:srgbClr val="005643"/>
          </a:solidFill>
          <a:ln>
            <a:solidFill>
              <a:srgbClr val="005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86968" y="1408176"/>
            <a:ext cx="329184" cy="182880"/>
          </a:xfrm>
          <a:prstGeom prst="rect">
            <a:avLst/>
          </a:prstGeom>
          <a:noFill/>
        </p:spPr>
        <p:txBody>
          <a:bodyPr wrap="square" lIns="50800" tIns="25400" rIns="50800" bIns="25400">
            <a:normAutofit fontScale="92500" lnSpcReduction="10000"/>
          </a:bodyPr>
          <a:lstStyle/>
          <a:p>
            <a:pPr algn="ctr"/>
            <a:r>
              <a:rPr sz="1000" b="1" dirty="0">
                <a:solidFill>
                  <a:schemeClr val="bg1"/>
                </a:solidFill>
                <a:latin typeface="Microsoft YaHei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80160" y="1344168"/>
            <a:ext cx="2926079" cy="292608"/>
          </a:xfrm>
          <a:prstGeom prst="rect">
            <a:avLst/>
          </a:prstGeom>
          <a:noFill/>
        </p:spPr>
        <p:txBody>
          <a:bodyPr wrap="square" lIns="50800" tIns="25400" rIns="50800" bIns="25400">
            <a:normAutofit fontScale="92500" lnSpcReduction="20000"/>
          </a:bodyPr>
          <a:lstStyle/>
          <a:p>
            <a:r>
              <a:rPr sz="2000" b="1">
                <a:solidFill>
                  <a:srgbClr val="000000"/>
                </a:solidFill>
                <a:latin typeface="KaiTi"/>
              </a:rPr>
              <a:t>白化中心化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1832" y="1801368"/>
            <a:ext cx="2916936" cy="2194560"/>
          </a:xfrm>
          <a:prstGeom prst="rect">
            <a:avLst/>
          </a:prstGeom>
          <a:noFill/>
        </p:spPr>
        <p:txBody>
          <a:bodyPr wrap="square" lIns="50800" tIns="25400" rIns="50800" bIns="25400">
            <a:normAutofit/>
          </a:bodyPr>
          <a:lstStyle/>
          <a:p>
            <a:r>
              <a:rPr sz="1800" b="0">
                <a:solidFill>
                  <a:srgbClr val="000000"/>
                </a:solidFill>
                <a:latin typeface="Microsoft YaHei"/>
              </a:rPr>
              <a:t>对 Task 1 embedding 做中心化处理，减小预训练表征进入 CTR 网络时的均值偏移。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34840" y="1234440"/>
            <a:ext cx="3246120" cy="2880360"/>
          </a:xfrm>
          <a:prstGeom prst="roundRect">
            <a:avLst/>
          </a:prstGeom>
          <a:solidFill>
            <a:srgbClr val="E8F6F0"/>
          </a:solidFill>
          <a:ln w="15240">
            <a:solidFill>
              <a:srgbClr val="005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4543194" y="1329626"/>
            <a:ext cx="329184" cy="329184"/>
          </a:xfrm>
          <a:prstGeom prst="ellipse">
            <a:avLst/>
          </a:prstGeom>
          <a:solidFill>
            <a:srgbClr val="005643"/>
          </a:solidFill>
          <a:ln>
            <a:solidFill>
              <a:srgbClr val="005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544568" y="1408176"/>
            <a:ext cx="329184" cy="182880"/>
          </a:xfrm>
          <a:prstGeom prst="rect">
            <a:avLst/>
          </a:prstGeom>
          <a:noFill/>
        </p:spPr>
        <p:txBody>
          <a:bodyPr wrap="square" lIns="50800" tIns="25400" rIns="50800" bIns="25400">
            <a:normAutofit fontScale="92500" lnSpcReduction="10000"/>
          </a:bodyPr>
          <a:lstStyle/>
          <a:p>
            <a:pPr algn="ctr"/>
            <a:r>
              <a:rPr sz="1000" b="1" dirty="0">
                <a:solidFill>
                  <a:schemeClr val="bg1"/>
                </a:solidFill>
                <a:latin typeface="Microsoft YaHei"/>
              </a:rP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37759" y="1344168"/>
            <a:ext cx="2926079" cy="292608"/>
          </a:xfrm>
          <a:prstGeom prst="rect">
            <a:avLst/>
          </a:prstGeom>
          <a:noFill/>
        </p:spPr>
        <p:txBody>
          <a:bodyPr wrap="square" lIns="50800" tIns="25400" rIns="50800" bIns="25400">
            <a:normAutofit fontScale="92500" lnSpcReduction="20000"/>
          </a:bodyPr>
          <a:lstStyle/>
          <a:p>
            <a:r>
              <a:rPr sz="2000" b="1">
                <a:solidFill>
                  <a:srgbClr val="000000"/>
                </a:solidFill>
                <a:latin typeface="KaiTi"/>
              </a:rPr>
              <a:t>α 控制因子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99431" y="1801368"/>
            <a:ext cx="2916936" cy="2194560"/>
          </a:xfrm>
          <a:prstGeom prst="rect">
            <a:avLst/>
          </a:prstGeom>
          <a:noFill/>
        </p:spPr>
        <p:txBody>
          <a:bodyPr wrap="square" lIns="50800" tIns="25400" rIns="50800" bIns="25400">
            <a:normAutofit/>
          </a:bodyPr>
          <a:lstStyle/>
          <a:p>
            <a:r>
              <a:rPr sz="1800" b="0">
                <a:solidFill>
                  <a:srgbClr val="000000"/>
                </a:solidFill>
                <a:latin typeface="Microsoft YaHei"/>
              </a:rPr>
              <a:t>控制上游多模态信号进入 CTR 特征总线的强度，避免信号不足或噪声放大。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92440" y="1234440"/>
            <a:ext cx="3246120" cy="2880360"/>
          </a:xfrm>
          <a:prstGeom prst="roundRect">
            <a:avLst/>
          </a:prstGeom>
          <a:solidFill>
            <a:srgbClr val="E8F6F0"/>
          </a:solidFill>
          <a:ln w="15240">
            <a:solidFill>
              <a:srgbClr val="005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8211648" y="1328520"/>
            <a:ext cx="329184" cy="329184"/>
          </a:xfrm>
          <a:prstGeom prst="ellipse">
            <a:avLst/>
          </a:prstGeom>
          <a:solidFill>
            <a:srgbClr val="005643"/>
          </a:solidFill>
          <a:ln>
            <a:solidFill>
              <a:srgbClr val="005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202167" y="1408176"/>
            <a:ext cx="329184" cy="182880"/>
          </a:xfrm>
          <a:prstGeom prst="rect">
            <a:avLst/>
          </a:prstGeom>
          <a:noFill/>
        </p:spPr>
        <p:txBody>
          <a:bodyPr wrap="square" lIns="50800" tIns="25400" rIns="50800" bIns="25400">
            <a:normAutofit fontScale="92500" lnSpcReduction="10000"/>
          </a:bodyPr>
          <a:lstStyle/>
          <a:p>
            <a:pPr algn="ctr"/>
            <a:r>
              <a:rPr sz="1000" b="1" dirty="0">
                <a:solidFill>
                  <a:schemeClr val="bg1"/>
                </a:solidFill>
                <a:latin typeface="Microsoft YaHei"/>
              </a:rPr>
              <a:t>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95360" y="1344168"/>
            <a:ext cx="2926079" cy="292608"/>
          </a:xfrm>
          <a:prstGeom prst="rect">
            <a:avLst/>
          </a:prstGeom>
          <a:noFill/>
        </p:spPr>
        <p:txBody>
          <a:bodyPr wrap="square" lIns="50800" tIns="25400" rIns="50800" bIns="25400">
            <a:normAutofit fontScale="92500" lnSpcReduction="20000"/>
          </a:bodyPr>
          <a:lstStyle/>
          <a:p>
            <a:r>
              <a:rPr sz="2000" b="1">
                <a:solidFill>
                  <a:srgbClr val="000000"/>
                </a:solidFill>
                <a:latin typeface="KaiTi"/>
              </a:rPr>
              <a:t>语义相似度分桶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57031" y="1801368"/>
            <a:ext cx="2916936" cy="2194560"/>
          </a:xfrm>
          <a:prstGeom prst="rect">
            <a:avLst/>
          </a:prstGeom>
          <a:noFill/>
        </p:spPr>
        <p:txBody>
          <a:bodyPr wrap="square" lIns="50800" tIns="25400" rIns="50800" bIns="25400">
            <a:normAutofit/>
          </a:bodyPr>
          <a:lstStyle/>
          <a:p>
            <a:r>
              <a:rPr sz="1800" b="0">
                <a:solidFill>
                  <a:srgbClr val="000000"/>
                </a:solidFill>
                <a:latin typeface="Microsoft YaHei"/>
              </a:rPr>
              <a:t>计算历史点击序列和目标物品的余弦相似度，并离散化为 11 阶类别特征。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801567" y="4993833"/>
            <a:ext cx="6565563" cy="502920"/>
          </a:xfrm>
          <a:prstGeom prst="rect">
            <a:avLst/>
          </a:prstGeom>
          <a:noFill/>
        </p:spPr>
        <p:txBody>
          <a:bodyPr wrap="square" lIns="50800" tIns="25400" rIns="50800" bIns="25400">
            <a:noAutofit/>
          </a:bodyPr>
          <a:lstStyle/>
          <a:p>
            <a:r>
              <a:rPr sz="2400" b="0" dirty="0" err="1">
                <a:solidFill>
                  <a:srgbClr val="000000"/>
                </a:solidFill>
                <a:latin typeface="Microsoft YaHei"/>
              </a:rPr>
              <a:t>处理后的特征进入同一</a:t>
            </a:r>
            <a:r>
              <a:rPr sz="2400" b="0" dirty="0">
                <a:solidFill>
                  <a:srgbClr val="000000"/>
                </a:solidFill>
                <a:latin typeface="Microsoft YaHei"/>
              </a:rPr>
              <a:t> CTR </a:t>
            </a:r>
            <a:r>
              <a:rPr sz="2400" b="0" dirty="0" err="1">
                <a:solidFill>
                  <a:srgbClr val="000000"/>
                </a:solidFill>
                <a:latin typeface="Microsoft YaHei"/>
              </a:rPr>
              <a:t>模型训练流程，满足两个模型独立训练、级联运行的赛题约束</a:t>
            </a:r>
            <a:r>
              <a:rPr sz="2400" b="0" dirty="0">
                <a:solidFill>
                  <a:srgbClr val="000000"/>
                </a:solidFill>
                <a:latin typeface="Microsoft YaHei"/>
              </a:rPr>
              <a:t>。</a:t>
            </a:r>
          </a:p>
        </p:txBody>
      </p:sp>
      <p:sp>
        <p:nvSpPr>
          <p:cNvPr id="3" name="Rectangle 107">
            <a:extLst>
              <a:ext uri="{FF2B5EF4-FFF2-40B4-BE49-F238E27FC236}">
                <a16:creationId xmlns:a16="http://schemas.microsoft.com/office/drawing/2014/main" id="{49CAE1F6-96DD-1F1E-4000-8AD0D0524BCB}"/>
              </a:ext>
            </a:extLst>
          </p:cNvPr>
          <p:cNvSpPr/>
          <p:nvPr/>
        </p:nvSpPr>
        <p:spPr>
          <a:xfrm>
            <a:off x="668781" y="1015559"/>
            <a:ext cx="10332720" cy="27432"/>
          </a:xfrm>
          <a:prstGeom prst="rect">
            <a:avLst/>
          </a:prstGeom>
          <a:solidFill>
            <a:srgbClr val="005643"/>
          </a:solidFill>
          <a:ln>
            <a:solidFill>
              <a:srgbClr val="005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764201881"/>
      </p:ext>
    </p:extLst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梯形 34"/>
          <p:cNvSpPr/>
          <p:nvPr/>
        </p:nvSpPr>
        <p:spPr>
          <a:xfrm rot="16200000">
            <a:off x="7446198" y="-451317"/>
            <a:ext cx="2291737" cy="7199871"/>
          </a:xfrm>
          <a:prstGeom prst="trapezoid">
            <a:avLst>
              <a:gd name="adj" fmla="val 16935"/>
            </a:avLst>
          </a:prstGeom>
          <a:solidFill>
            <a:srgbClr val="0058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7" name="梯形 36"/>
          <p:cNvSpPr/>
          <p:nvPr/>
        </p:nvSpPr>
        <p:spPr>
          <a:xfrm rot="5400000">
            <a:off x="1331640" y="636804"/>
            <a:ext cx="2344067" cy="5007345"/>
          </a:xfrm>
          <a:prstGeom prst="trapezoid">
            <a:avLst>
              <a:gd name="adj" fmla="val 17865"/>
            </a:avLst>
          </a:prstGeom>
          <a:solidFill>
            <a:schemeClr val="bg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6" name="文本框 1"/>
          <p:cNvSpPr txBox="1"/>
          <p:nvPr/>
        </p:nvSpPr>
        <p:spPr>
          <a:xfrm>
            <a:off x="3729079" y="1779865"/>
            <a:ext cx="1261884" cy="523220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/>
          </a:p>
        </p:txBody>
      </p:sp>
      <p:sp>
        <p:nvSpPr>
          <p:cNvPr id="27" name="文本框 2"/>
          <p:cNvSpPr txBox="1"/>
          <p:nvPr/>
        </p:nvSpPr>
        <p:spPr>
          <a:xfrm>
            <a:off x="3729079" y="2556165"/>
            <a:ext cx="1164101" cy="1200329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7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5638797" y="2692405"/>
            <a:ext cx="3877985" cy="830997"/>
          </a:xfrm>
          <a:prstGeom prst="rect">
            <a:avLst/>
          </a:prstGeom>
        </p:spPr>
        <p:txBody>
          <a:bodyPr wrap="none" lIns="91440" tIns="45720" rIns="91440" bIns="45720">
            <a:spAutoFit/>
          </a:bodyPr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/>
          </a:p>
        </p:txBody>
      </p:sp>
      <p:grpSp>
        <p:nvGrpSpPr>
          <p:cNvPr id="2" name="组合 1"/>
          <p:cNvGrpSpPr/>
          <p:nvPr/>
        </p:nvGrpSpPr>
        <p:grpSpPr>
          <a:xfrm>
            <a:off x="9692917" y="2366027"/>
            <a:ext cx="1570637" cy="1537031"/>
            <a:chOff x="5838758" y="1774520"/>
            <a:chExt cx="1177978" cy="1152773"/>
          </a:xfrm>
        </p:grpSpPr>
        <p:grpSp>
          <p:nvGrpSpPr>
            <p:cNvPr id="31" name="组合 30"/>
            <p:cNvGrpSpPr/>
            <p:nvPr/>
          </p:nvGrpSpPr>
          <p:grpSpPr>
            <a:xfrm>
              <a:off x="5838758" y="1774520"/>
              <a:ext cx="1164021" cy="869113"/>
              <a:chOff x="9140243" y="2649839"/>
              <a:chExt cx="1552027" cy="1158817"/>
            </a:xfrm>
          </p:grpSpPr>
          <p:sp>
            <p:nvSpPr>
              <p:cNvPr id="32" name="矩形 31"/>
              <p:cNvSpPr/>
              <p:nvPr/>
            </p:nvSpPr>
            <p:spPr>
              <a:xfrm>
                <a:off x="9140243" y="2649839"/>
                <a:ext cx="1552027" cy="37965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457189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67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  <a:sym typeface="微软雅黑" pitchFamily="34" charset="-122"/>
                </a:endParaRPr>
              </a:p>
            </p:txBody>
          </p:sp>
          <p:sp>
            <p:nvSpPr>
              <p:cNvPr id="33" name="矩形 32"/>
              <p:cNvSpPr/>
              <p:nvPr/>
            </p:nvSpPr>
            <p:spPr>
              <a:xfrm>
                <a:off x="9140243" y="3037021"/>
                <a:ext cx="1552027" cy="37965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45718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/>
              </a:p>
            </p:txBody>
          </p:sp>
          <p:sp>
            <p:nvSpPr>
              <p:cNvPr id="34" name="矩形 33"/>
              <p:cNvSpPr/>
              <p:nvPr/>
            </p:nvSpPr>
            <p:spPr>
              <a:xfrm>
                <a:off x="9140243" y="3429000"/>
                <a:ext cx="1552027" cy="37965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45718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67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endParaRPr>
              </a:p>
            </p:txBody>
          </p:sp>
        </p:grpSp>
        <p:sp>
          <p:nvSpPr>
            <p:cNvPr id="38" name="矩形 37"/>
            <p:cNvSpPr/>
            <p:nvPr/>
          </p:nvSpPr>
          <p:spPr>
            <a:xfrm>
              <a:off x="5852715" y="2642551"/>
              <a:ext cx="1164021" cy="28474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67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</p:grpSp>
      <p:sp>
        <p:nvSpPr>
          <p:cNvPr id="16" name="椭圆 15">
            <a:extLst>
              <a:ext uri="{FF2B5EF4-FFF2-40B4-BE49-F238E27FC236}">
                <a16:creationId xmlns:a16="http://schemas.microsoft.com/office/drawing/2014/main" id="{95C3B4ED-3674-46BA-99D1-2131CB6AEC38}"/>
              </a:ext>
            </a:extLst>
          </p:cNvPr>
          <p:cNvSpPr/>
          <p:nvPr/>
        </p:nvSpPr>
        <p:spPr>
          <a:xfrm>
            <a:off x="464768" y="1391626"/>
            <a:ext cx="3102819" cy="310281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34D15BD1-A8DC-4A00-9D6B-838D24AE845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7965" y="1504503"/>
            <a:ext cx="2879284" cy="2877064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C3C1A84E-7811-48BB-9855-D30D22328FF2}"/>
              </a:ext>
            </a:extLst>
          </p:cNvPr>
          <p:cNvSpPr/>
          <p:nvPr/>
        </p:nvSpPr>
        <p:spPr>
          <a:xfrm>
            <a:off x="129209" y="6241148"/>
            <a:ext cx="1254180" cy="487441"/>
          </a:xfrm>
          <a:prstGeom prst="rect">
            <a:avLst/>
          </a:prstGeom>
        </p:spPr>
        <p:txBody>
          <a:bodyPr wrap="square" lIns="91440" tIns="45720" rIns="91440" bIns="45720">
            <a:spAutoFit/>
          </a:bodyPr>
          <a:lstStyle/>
          <a:p>
            <a:pPr marL="0" marR="0" lvl="0" indent="0" algn="l" defTabSz="457189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184020" y="2881225"/>
            <a:ext cx="5303520" cy="594360"/>
          </a:xfrm>
          <a:prstGeom prst="rect">
            <a:avLst/>
          </a:prstGeom>
          <a:noFill/>
        </p:spPr>
        <p:txBody>
          <a:bodyPr wrap="square" lIns="50800" tIns="25400" rIns="50800" bIns="25400">
            <a:normAutofit/>
          </a:bodyPr>
          <a:lstStyle/>
          <a:p>
            <a:r>
              <a:rPr sz="3200" b="1" dirty="0" err="1">
                <a:solidFill>
                  <a:schemeClr val="bg1"/>
                </a:solidFill>
                <a:latin typeface="KaiTi"/>
              </a:rPr>
              <a:t>实验结果与模型分析</a:t>
            </a:r>
            <a:endParaRPr sz="3200" b="1" dirty="0">
              <a:solidFill>
                <a:schemeClr val="bg1"/>
              </a:solidFill>
              <a:latin typeface="KaiTi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9583057" y="2625193"/>
            <a:ext cx="5029200" cy="256032"/>
          </a:xfrm>
          <a:prstGeom prst="rect">
            <a:avLst/>
          </a:prstGeom>
          <a:noFill/>
        </p:spPr>
        <p:txBody>
          <a:bodyPr wrap="square" lIns="50800" tIns="25400" rIns="50800" bIns="25400">
            <a:normAutofit fontScale="92500" lnSpcReduction="20000"/>
          </a:bodyPr>
          <a:lstStyle/>
          <a:p>
            <a:r>
              <a:rPr sz="1600" b="0" dirty="0">
                <a:solidFill>
                  <a:schemeClr val="bg1"/>
                </a:solidFill>
                <a:latin typeface="Microsoft YaHei"/>
              </a:rPr>
              <a:t>3-1  </a:t>
            </a:r>
            <a:r>
              <a:rPr sz="1600" b="0" dirty="0" err="1">
                <a:solidFill>
                  <a:schemeClr val="bg1"/>
                </a:solidFill>
                <a:latin typeface="Microsoft YaHei"/>
              </a:rPr>
              <a:t>实验设置</a:t>
            </a:r>
            <a:endParaRPr sz="1600" b="0" dirty="0">
              <a:solidFill>
                <a:schemeClr val="bg1"/>
              </a:solidFill>
              <a:latin typeface="Microsoft YaHei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9583057" y="2972665"/>
            <a:ext cx="5029200" cy="256032"/>
          </a:xfrm>
          <a:prstGeom prst="rect">
            <a:avLst/>
          </a:prstGeom>
          <a:noFill/>
        </p:spPr>
        <p:txBody>
          <a:bodyPr wrap="square" lIns="50800" tIns="25400" rIns="50800" bIns="25400">
            <a:normAutofit fontScale="92500" lnSpcReduction="20000"/>
          </a:bodyPr>
          <a:lstStyle/>
          <a:p>
            <a:r>
              <a:rPr sz="1600" b="0" dirty="0">
                <a:solidFill>
                  <a:schemeClr val="bg1"/>
                </a:solidFill>
                <a:latin typeface="Microsoft YaHei"/>
              </a:rPr>
              <a:t>3-2  </a:t>
            </a:r>
            <a:r>
              <a:rPr sz="1600" b="0" dirty="0" err="1">
                <a:solidFill>
                  <a:schemeClr val="bg1"/>
                </a:solidFill>
                <a:latin typeface="Microsoft YaHei"/>
              </a:rPr>
              <a:t>单任务结果</a:t>
            </a:r>
            <a:endParaRPr sz="1600" b="0" dirty="0">
              <a:solidFill>
                <a:schemeClr val="bg1"/>
              </a:solidFill>
              <a:latin typeface="Microsoft YaHei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9583057" y="3320137"/>
            <a:ext cx="5029200" cy="256032"/>
          </a:xfrm>
          <a:prstGeom prst="rect">
            <a:avLst/>
          </a:prstGeom>
          <a:noFill/>
        </p:spPr>
        <p:txBody>
          <a:bodyPr wrap="square" lIns="50800" tIns="25400" rIns="50800" bIns="25400">
            <a:normAutofit fontScale="92500" lnSpcReduction="20000"/>
          </a:bodyPr>
          <a:lstStyle/>
          <a:p>
            <a:r>
              <a:rPr sz="1600" b="0" dirty="0">
                <a:solidFill>
                  <a:schemeClr val="bg1"/>
                </a:solidFill>
                <a:latin typeface="Microsoft YaHei"/>
              </a:rPr>
              <a:t>3-3  </a:t>
            </a:r>
            <a:r>
              <a:rPr sz="1600" b="0" dirty="0" err="1">
                <a:solidFill>
                  <a:schemeClr val="bg1"/>
                </a:solidFill>
                <a:latin typeface="Microsoft YaHei"/>
              </a:rPr>
              <a:t>级联实验</a:t>
            </a:r>
            <a:endParaRPr sz="1600" b="0" dirty="0">
              <a:solidFill>
                <a:schemeClr val="bg1"/>
              </a:solidFill>
              <a:latin typeface="Microsoft YaHei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9583057" y="3667609"/>
            <a:ext cx="5029200" cy="256032"/>
          </a:xfrm>
          <a:prstGeom prst="rect">
            <a:avLst/>
          </a:prstGeom>
          <a:noFill/>
        </p:spPr>
        <p:txBody>
          <a:bodyPr wrap="square" lIns="50800" tIns="25400" rIns="50800" bIns="25400">
            <a:normAutofit fontScale="92500" lnSpcReduction="20000"/>
          </a:bodyPr>
          <a:lstStyle/>
          <a:p>
            <a:r>
              <a:rPr sz="1600" b="0" dirty="0">
                <a:solidFill>
                  <a:schemeClr val="bg1"/>
                </a:solidFill>
                <a:latin typeface="Microsoft YaHei"/>
              </a:rPr>
              <a:t>3-4  </a:t>
            </a:r>
            <a:r>
              <a:rPr sz="1600" b="0" dirty="0" err="1">
                <a:solidFill>
                  <a:schemeClr val="bg1"/>
                </a:solidFill>
                <a:latin typeface="Microsoft YaHei"/>
              </a:rPr>
              <a:t>机制分析</a:t>
            </a:r>
            <a:endParaRPr sz="1600" b="0" dirty="0">
              <a:solidFill>
                <a:schemeClr val="bg1"/>
              </a:solidFill>
              <a:latin typeface="Microsoft YaHei"/>
            </a:endParaRPr>
          </a:p>
        </p:txBody>
      </p:sp>
      <p:sp>
        <p:nvSpPr>
          <p:cNvPr id="4" name="TextBox 40">
            <a:extLst>
              <a:ext uri="{FF2B5EF4-FFF2-40B4-BE49-F238E27FC236}">
                <a16:creationId xmlns:a16="http://schemas.microsoft.com/office/drawing/2014/main" id="{31395B23-8D9C-21D4-EE72-4CF4292FCF57}"/>
              </a:ext>
            </a:extLst>
          </p:cNvPr>
          <p:cNvSpPr txBox="1"/>
          <p:nvPr/>
        </p:nvSpPr>
        <p:spPr>
          <a:xfrm>
            <a:off x="3809998" y="3002920"/>
            <a:ext cx="1828800" cy="457200"/>
          </a:xfrm>
          <a:prstGeom prst="rect">
            <a:avLst/>
          </a:prstGeom>
          <a:noFill/>
        </p:spPr>
        <p:txBody>
          <a:bodyPr wrap="square" lIns="50800" tIns="25400" rIns="50800" bIns="25400">
            <a:normAutofit/>
          </a:bodyPr>
          <a:lstStyle/>
          <a:p>
            <a:r>
              <a:rPr sz="2400" b="1" dirty="0">
                <a:solidFill>
                  <a:schemeClr val="bg1"/>
                </a:solidFill>
                <a:latin typeface="Microsoft YaHei"/>
              </a:rPr>
              <a:t>Part</a:t>
            </a:r>
            <a:r>
              <a:rPr lang="en-US" sz="2400" b="1" dirty="0">
                <a:solidFill>
                  <a:schemeClr val="bg1"/>
                </a:solidFill>
                <a:latin typeface="Microsoft YaHei"/>
              </a:rPr>
              <a:t>3</a:t>
            </a:r>
            <a:endParaRPr sz="2400" b="1" dirty="0">
              <a:solidFill>
                <a:schemeClr val="bg1"/>
              </a:solidFill>
              <a:latin typeface="Microsoft YaHei"/>
            </a:endParaRPr>
          </a:p>
        </p:txBody>
      </p:sp>
      <p:sp>
        <p:nvSpPr>
          <p:cNvPr id="6" name="AutoShape 11">
            <a:extLst>
              <a:ext uri="{FF2B5EF4-FFF2-40B4-BE49-F238E27FC236}">
                <a16:creationId xmlns:a16="http://schemas.microsoft.com/office/drawing/2014/main" id="{A322DCE1-E680-A4DC-57ED-1D43297DF4E2}"/>
              </a:ext>
            </a:extLst>
          </p:cNvPr>
          <p:cNvSpPr/>
          <p:nvPr/>
        </p:nvSpPr>
        <p:spPr>
          <a:xfrm>
            <a:off x="127000" y="6235700"/>
            <a:ext cx="2706688" cy="482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900" b="1" i="0" u="none" strike="noStrike" dirty="0" err="1">
                <a:solidFill>
                  <a:srgbClr val="000000"/>
                </a:solidFill>
                <a:latin typeface="华文隶书"/>
                <a:ea typeface="华文隶书"/>
                <a:cs typeface="华文隶书"/>
                <a:sym typeface="华文隶书"/>
              </a:rPr>
              <a:t>同舟共济</a:t>
            </a:r>
            <a:endParaRPr lang="en-US" sz="1100" b="1" dirty="0"/>
          </a:p>
        </p:txBody>
      </p:sp>
    </p:spTree>
    <p:extLst>
      <p:ext uri="{BB962C8B-B14F-4D97-AF65-F5344CB8AC3E}">
        <p14:creationId xmlns:p14="http://schemas.microsoft.com/office/powerpoint/2010/main" val="3409872488"/>
      </p:ext>
    </p:extLst>
  </p:cSld>
  <p:clrMapOvr>
    <a:masterClrMapping/>
  </p:clrMapOvr>
  <p:transition spd="slow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15"/>
          <p:cNvSpPr txBox="1"/>
          <p:nvPr/>
        </p:nvSpPr>
        <p:spPr>
          <a:xfrm>
            <a:off x="3706865" y="1554082"/>
            <a:ext cx="5934291" cy="987578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marL="0" marR="0" lvl="0" indent="0" algn="l" defTabSz="457189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/>
          </a:p>
        </p:txBody>
      </p:sp>
      <p:sp>
        <p:nvSpPr>
          <p:cNvPr id="7" name="文本框 18"/>
          <p:cNvSpPr txBox="1"/>
          <p:nvPr/>
        </p:nvSpPr>
        <p:spPr>
          <a:xfrm>
            <a:off x="2499594" y="4302412"/>
            <a:ext cx="6051541" cy="830997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/>
          </a:p>
        </p:txBody>
      </p:sp>
      <p:sp>
        <p:nvSpPr>
          <p:cNvPr id="8" name="矩形 7"/>
          <p:cNvSpPr/>
          <p:nvPr/>
        </p:nvSpPr>
        <p:spPr>
          <a:xfrm rot="20926619">
            <a:off x="1950635" y="3031978"/>
            <a:ext cx="8243888" cy="3918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1930264" y="1467971"/>
            <a:ext cx="1640115" cy="1455647"/>
            <a:chOff x="411429" y="2379138"/>
            <a:chExt cx="1640114" cy="1455646"/>
          </a:xfrm>
        </p:grpSpPr>
        <p:sp>
          <p:nvSpPr>
            <p:cNvPr id="10" name="下箭头 9"/>
            <p:cNvSpPr/>
            <p:nvPr/>
          </p:nvSpPr>
          <p:spPr>
            <a:xfrm>
              <a:off x="411429" y="2379138"/>
              <a:ext cx="1640114" cy="1455646"/>
            </a:xfrm>
            <a:prstGeom prst="downArrow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1" name="文本框 4"/>
            <p:cNvSpPr txBox="1"/>
            <p:nvPr/>
          </p:nvSpPr>
          <p:spPr>
            <a:xfrm>
              <a:off x="985370" y="2392494"/>
              <a:ext cx="492443" cy="1254762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/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8574782" y="3580676"/>
            <a:ext cx="1640115" cy="1455648"/>
            <a:chOff x="7055945" y="4194060"/>
            <a:chExt cx="1640114" cy="1455648"/>
          </a:xfrm>
        </p:grpSpPr>
        <p:sp>
          <p:nvSpPr>
            <p:cNvPr id="13" name="下箭头 12"/>
            <p:cNvSpPr/>
            <p:nvPr/>
          </p:nvSpPr>
          <p:spPr>
            <a:xfrm flipV="1">
              <a:off x="7055945" y="4194060"/>
              <a:ext cx="1640114" cy="1455648"/>
            </a:xfrm>
            <a:prstGeom prst="downArrow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" rtlCol="0" anchor="ctr"/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4" name="文本框 22"/>
            <p:cNvSpPr txBox="1"/>
            <p:nvPr/>
          </p:nvSpPr>
          <p:spPr>
            <a:xfrm>
              <a:off x="7629877" y="4371789"/>
              <a:ext cx="492443" cy="1254763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/>
            </a:p>
          </p:txBody>
        </p:sp>
      </p:grpSp>
      <p:sp>
        <p:nvSpPr>
          <p:cNvPr id="15" name="等腰三角形 14"/>
          <p:cNvSpPr/>
          <p:nvPr/>
        </p:nvSpPr>
        <p:spPr>
          <a:xfrm>
            <a:off x="5655405" y="3409513"/>
            <a:ext cx="870859" cy="75074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7" name="文本框 19"/>
          <p:cNvSpPr txBox="1"/>
          <p:nvPr/>
        </p:nvSpPr>
        <p:spPr>
          <a:xfrm>
            <a:off x="1065121" y="5562661"/>
            <a:ext cx="10048352" cy="679801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marL="0" marR="0" lvl="0" indent="0" algn="l" defTabSz="457189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/>
          </a:p>
        </p:txBody>
      </p:sp>
      <p:sp>
        <p:nvSpPr>
          <p:cNvPr id="18" name="矩形 17"/>
          <p:cNvSpPr>
            <a:spLocks noChangeArrowheads="1"/>
          </p:cNvSpPr>
          <p:nvPr/>
        </p:nvSpPr>
        <p:spPr bwMode="auto">
          <a:xfrm>
            <a:off x="634918" y="237124"/>
            <a:ext cx="1887690" cy="615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1917" tIns="60959" rIns="121917" bIns="60959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endParaRPr/>
          </a:p>
        </p:txBody>
      </p:sp>
      <p:sp>
        <p:nvSpPr>
          <p:cNvPr id="19" name="等腰三角形 18"/>
          <p:cNvSpPr>
            <a:spLocks noChangeArrowheads="1"/>
          </p:cNvSpPr>
          <p:nvPr/>
        </p:nvSpPr>
        <p:spPr bwMode="auto">
          <a:xfrm rot="5400000">
            <a:off x="-53049" y="209721"/>
            <a:ext cx="774879" cy="66878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121917" tIns="60959" rIns="121917" bIns="60959" anchor="ctr"/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zh-CN" altLang="zh-CN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  <a:sym typeface="微软雅黑" pitchFamily="3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0" y="1024128"/>
            <a:ext cx="12188952" cy="526694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347472"/>
            <a:ext cx="10698480" cy="502920"/>
          </a:xfrm>
          <a:prstGeom prst="rect">
            <a:avLst/>
          </a:prstGeom>
          <a:noFill/>
        </p:spPr>
        <p:txBody>
          <a:bodyPr wrap="square" lIns="50800" tIns="25400" rIns="50800" bIns="25400">
            <a:normAutofit lnSpcReduction="10000"/>
          </a:bodyPr>
          <a:lstStyle/>
          <a:p>
            <a:r>
              <a:rPr sz="3000" b="1">
                <a:solidFill>
                  <a:srgbClr val="000000"/>
                </a:solidFill>
                <a:latin typeface="KaiTi"/>
              </a:rPr>
              <a:t>实验设置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777240" y="1143000"/>
          <a:ext cx="507492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icrosoft YaHei"/>
                        </a:rPr>
                        <a:t>配置项</a:t>
                      </a:r>
                    </a:p>
                  </a:txBody>
                  <a:tcPr marL="25400" marR="25400" marT="25400" marB="25400">
                    <a:solidFill>
                      <a:srgbClr val="D9EE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icrosoft YaHei"/>
                        </a:rPr>
                        <a:t>设置</a:t>
                      </a:r>
                    </a:p>
                  </a:txBody>
                  <a:tcPr marL="25400" marR="25400" marT="25400" marB="25400">
                    <a:solidFill>
                      <a:srgbClr val="D9EE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Microsoft YaHei"/>
                        </a:rPr>
                        <a:t>模型选择</a:t>
                      </a:r>
                    </a:p>
                  </a:txBody>
                  <a:tcPr marL="25400" marR="254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Microsoft YaHei"/>
                        </a:rPr>
                        <a:t>验证集 AUC</a:t>
                      </a:r>
                    </a:p>
                  </a:txBody>
                  <a:tcPr marL="25400" marR="254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Microsoft YaHei"/>
                        </a:rPr>
                        <a:t>损失函数</a:t>
                      </a:r>
                    </a:p>
                  </a:txBody>
                  <a:tcPr marL="25400" marR="254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Microsoft YaHei"/>
                        </a:rPr>
                        <a:t>二元交叉熵</a:t>
                      </a:r>
                    </a:p>
                  </a:txBody>
                  <a:tcPr marL="25400" marR="254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Microsoft YaHei"/>
                        </a:rPr>
                        <a:t>优化器</a:t>
                      </a:r>
                    </a:p>
                  </a:txBody>
                  <a:tcPr marL="25400" marR="254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000000"/>
                          </a:solidFill>
                          <a:latin typeface="Microsoft YaHei"/>
                        </a:rPr>
                        <a:t>Adam</a:t>
                      </a:r>
                    </a:p>
                  </a:txBody>
                  <a:tcPr marL="25400" marR="254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Microsoft YaHei"/>
                        </a:rPr>
                        <a:t>DIN embedding dim</a:t>
                      </a:r>
                    </a:p>
                  </a:txBody>
                  <a:tcPr marL="25400" marR="254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Microsoft YaHei"/>
                        </a:rPr>
                        <a:t>64</a:t>
                      </a:r>
                    </a:p>
                  </a:txBody>
                  <a:tcPr marL="25400" marR="254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Microsoft YaHei"/>
                        </a:rPr>
                        <a:t>序列最大长度</a:t>
                      </a:r>
                    </a:p>
                  </a:txBody>
                  <a:tcPr marL="25400" marR="254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000000"/>
                          </a:solidFill>
                          <a:latin typeface="Microsoft YaHei"/>
                        </a:rPr>
                        <a:t>64</a:t>
                      </a:r>
                    </a:p>
                  </a:txBody>
                  <a:tcPr marL="25400" marR="254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6400800" y="1143000"/>
          <a:ext cx="470916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icrosoft YaHei"/>
                        </a:rPr>
                        <a:t>模型</a:t>
                      </a:r>
                    </a:p>
                  </a:txBody>
                  <a:tcPr marL="25400" marR="25400" marT="25400" marB="25400">
                    <a:solidFill>
                      <a:srgbClr val="D9EE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icrosoft YaHei"/>
                        </a:rPr>
                        <a:t>关键设置</a:t>
                      </a:r>
                    </a:p>
                  </a:txBody>
                  <a:tcPr marL="25400" marR="25400" marT="25400" marB="25400">
                    <a:solidFill>
                      <a:srgbClr val="D9EE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Microsoft YaHei"/>
                        </a:rPr>
                        <a:t>Task 1</a:t>
                      </a:r>
                    </a:p>
                  </a:txBody>
                  <a:tcPr marL="25400" marR="254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Microsoft YaHei"/>
                        </a:rPr>
                        <a:t>Jina-CLIP-v2 + PCA</a:t>
                      </a:r>
                    </a:p>
                  </a:txBody>
                  <a:tcPr marL="25400" marR="254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Microsoft YaHei"/>
                        </a:rPr>
                        <a:t>Task 2</a:t>
                      </a:r>
                    </a:p>
                  </a:txBody>
                  <a:tcPr marL="25400" marR="254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Microsoft YaHei"/>
                        </a:rPr>
                        <a:t>Transformer 2 层</a:t>
                      </a:r>
                    </a:p>
                  </a:txBody>
                  <a:tcPr marL="25400" marR="254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Microsoft YaHei"/>
                        </a:rPr>
                        <a:t>CrossNetV2</a:t>
                      </a:r>
                    </a:p>
                  </a:txBody>
                  <a:tcPr marL="25400" marR="254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Microsoft YaHei"/>
                        </a:rPr>
                        <a:t>3 层交叉网络</a:t>
                      </a:r>
                    </a:p>
                  </a:txBody>
                  <a:tcPr marL="25400" marR="254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Microsoft YaHei"/>
                        </a:rPr>
                        <a:t>级联因子</a:t>
                      </a:r>
                    </a:p>
                  </a:txBody>
                  <a:tcPr marL="25400" marR="254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Microsoft YaHei"/>
                        </a:rPr>
                        <a:t>α = 0.5</a:t>
                      </a:r>
                    </a:p>
                  </a:txBody>
                  <a:tcPr marL="25400" marR="254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Microsoft YaHei"/>
                        </a:rPr>
                        <a:t>运行环境</a:t>
                      </a:r>
                    </a:p>
                  </a:txBody>
                  <a:tcPr marL="25400" marR="254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Microsoft YaHei"/>
                        </a:rPr>
                        <a:t>PyTorch / FuxiCTR</a:t>
                      </a:r>
                    </a:p>
                  </a:txBody>
                  <a:tcPr marL="25400" marR="254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2566518" y="4701204"/>
            <a:ext cx="7668563" cy="548640"/>
          </a:xfrm>
          <a:prstGeom prst="rect">
            <a:avLst/>
          </a:prstGeom>
          <a:noFill/>
        </p:spPr>
        <p:txBody>
          <a:bodyPr wrap="square" lIns="50800" tIns="25400" rIns="50800" bIns="25400">
            <a:noAutofit/>
          </a:bodyPr>
          <a:lstStyle/>
          <a:p>
            <a:r>
              <a:rPr sz="2400" b="0" dirty="0" err="1">
                <a:solidFill>
                  <a:srgbClr val="000000"/>
                </a:solidFill>
                <a:latin typeface="Microsoft YaHei"/>
              </a:rPr>
              <a:t>所有实验使用同一训练集、验证集和测试集。Task</a:t>
            </a:r>
            <a:r>
              <a:rPr sz="2400" b="0" dirty="0">
                <a:solidFill>
                  <a:srgbClr val="000000"/>
                </a:solidFill>
                <a:latin typeface="Microsoft YaHei"/>
              </a:rPr>
              <a:t> 1 </a:t>
            </a:r>
            <a:r>
              <a:rPr sz="2400" b="0" dirty="0" err="1">
                <a:solidFill>
                  <a:srgbClr val="000000"/>
                </a:solidFill>
                <a:latin typeface="Microsoft YaHei"/>
              </a:rPr>
              <a:t>保持</a:t>
            </a:r>
            <a:r>
              <a:rPr sz="2400" b="0" dirty="0">
                <a:solidFill>
                  <a:srgbClr val="000000"/>
                </a:solidFill>
                <a:latin typeface="Microsoft YaHei"/>
              </a:rPr>
              <a:t> DIN </a:t>
            </a:r>
            <a:r>
              <a:rPr sz="2400" b="0" dirty="0" err="1">
                <a:solidFill>
                  <a:srgbClr val="000000"/>
                </a:solidFill>
                <a:latin typeface="Microsoft YaHei"/>
              </a:rPr>
              <a:t>结构不变，只更换物品侧</a:t>
            </a:r>
            <a:r>
              <a:rPr sz="2400" b="0" dirty="0">
                <a:solidFill>
                  <a:srgbClr val="000000"/>
                </a:solidFill>
                <a:latin typeface="Microsoft YaHei"/>
              </a:rPr>
              <a:t> item_emb_d128。</a:t>
            </a:r>
          </a:p>
        </p:txBody>
      </p:sp>
      <p:sp>
        <p:nvSpPr>
          <p:cNvPr id="3" name="Rectangle 107">
            <a:extLst>
              <a:ext uri="{FF2B5EF4-FFF2-40B4-BE49-F238E27FC236}">
                <a16:creationId xmlns:a16="http://schemas.microsoft.com/office/drawing/2014/main" id="{BC141C9E-C479-79F7-29E9-010DC6EC88BE}"/>
              </a:ext>
            </a:extLst>
          </p:cNvPr>
          <p:cNvSpPr/>
          <p:nvPr/>
        </p:nvSpPr>
        <p:spPr>
          <a:xfrm>
            <a:off x="668781" y="1015559"/>
            <a:ext cx="10332720" cy="27432"/>
          </a:xfrm>
          <a:prstGeom prst="rect">
            <a:avLst/>
          </a:prstGeom>
          <a:solidFill>
            <a:srgbClr val="005643"/>
          </a:solidFill>
          <a:ln>
            <a:solidFill>
              <a:srgbClr val="005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55957119"/>
      </p:ext>
    </p:extLst>
  </p:cSld>
  <p:clrMapOvr>
    <a:masterClrMapping/>
  </p:clrMapOvr>
  <p:transition spd="slow">
    <p:cove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/>
          <p:cNvSpPr/>
          <p:nvPr/>
        </p:nvSpPr>
        <p:spPr>
          <a:xfrm>
            <a:off x="2637794" y="1587735"/>
            <a:ext cx="1004399" cy="100439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HK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3642194" y="3356749"/>
            <a:ext cx="1004399" cy="100439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HK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2637794" y="4977345"/>
            <a:ext cx="1004399" cy="100439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HK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9" name="直接连接符 8"/>
          <p:cNvCxnSpPr/>
          <p:nvPr/>
        </p:nvCxnSpPr>
        <p:spPr>
          <a:xfrm flipV="1">
            <a:off x="1598053" y="2456194"/>
            <a:ext cx="888520" cy="527559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1818691" y="3858947"/>
            <a:ext cx="159656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1562019" y="4723543"/>
            <a:ext cx="960589" cy="507148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/>
        </p:nvGrpSpPr>
        <p:grpSpPr>
          <a:xfrm>
            <a:off x="4012557" y="1442319"/>
            <a:ext cx="6088665" cy="1375616"/>
            <a:chOff x="4012556" y="1375083"/>
            <a:chExt cx="5516462" cy="1375617"/>
          </a:xfrm>
        </p:grpSpPr>
        <p:sp>
          <p:nvSpPr>
            <p:cNvPr id="12" name="矩形 11"/>
            <p:cNvSpPr/>
            <p:nvPr/>
          </p:nvSpPr>
          <p:spPr>
            <a:xfrm>
              <a:off x="4012556" y="1729714"/>
              <a:ext cx="5516462" cy="10209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457189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3" name="文本框 42"/>
            <p:cNvSpPr txBox="1"/>
            <p:nvPr/>
          </p:nvSpPr>
          <p:spPr>
            <a:xfrm>
              <a:off x="4012556" y="1375083"/>
              <a:ext cx="2374014" cy="3796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/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4873534" y="3199999"/>
            <a:ext cx="6088665" cy="1375615"/>
            <a:chOff x="4873534" y="3109566"/>
            <a:chExt cx="5516462" cy="1375614"/>
          </a:xfrm>
        </p:grpSpPr>
        <p:sp>
          <p:nvSpPr>
            <p:cNvPr id="14" name="矩形 13"/>
            <p:cNvSpPr/>
            <p:nvPr/>
          </p:nvSpPr>
          <p:spPr>
            <a:xfrm>
              <a:off x="4873534" y="3464195"/>
              <a:ext cx="5516462" cy="10209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457189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5" name="文本框 44"/>
            <p:cNvSpPr txBox="1"/>
            <p:nvPr/>
          </p:nvSpPr>
          <p:spPr>
            <a:xfrm>
              <a:off x="4873534" y="3109566"/>
              <a:ext cx="2374014" cy="3796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/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4012557" y="4841524"/>
            <a:ext cx="6088665" cy="1375616"/>
            <a:chOff x="4012556" y="5002204"/>
            <a:chExt cx="5516462" cy="1375617"/>
          </a:xfrm>
        </p:grpSpPr>
        <p:sp>
          <p:nvSpPr>
            <p:cNvPr id="16" name="矩形 15"/>
            <p:cNvSpPr/>
            <p:nvPr/>
          </p:nvSpPr>
          <p:spPr>
            <a:xfrm>
              <a:off x="4012556" y="5356835"/>
              <a:ext cx="5516462" cy="10209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457189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7" name="文本框 46"/>
            <p:cNvSpPr txBox="1"/>
            <p:nvPr/>
          </p:nvSpPr>
          <p:spPr>
            <a:xfrm>
              <a:off x="4012556" y="5002204"/>
              <a:ext cx="2374014" cy="3796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/>
            </a:p>
          </p:txBody>
        </p:sp>
      </p:grpSp>
      <p:pic>
        <p:nvPicPr>
          <p:cNvPr id="18" name="图片 17"/>
          <p:cNvPicPr>
            <a:picLocks noChangeAspect="1"/>
          </p:cNvPicPr>
          <p:nvPr/>
        </p:nvPicPr>
        <p:blipFill rotWithShape="1">
          <a:blip r:embed="rId3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8604"/>
          <a:stretch/>
        </p:blipFill>
        <p:spPr>
          <a:xfrm>
            <a:off x="1" y="2158068"/>
            <a:ext cx="1623327" cy="3158577"/>
          </a:xfrm>
          <a:prstGeom prst="rect">
            <a:avLst/>
          </a:prstGeom>
        </p:spPr>
      </p:pic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634918" y="237124"/>
            <a:ext cx="1887690" cy="615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1917" tIns="60959" rIns="121917" bIns="60959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endParaRPr/>
          </a:p>
        </p:txBody>
      </p:sp>
      <p:sp>
        <p:nvSpPr>
          <p:cNvPr id="23" name="等腰三角形 22"/>
          <p:cNvSpPr>
            <a:spLocks noChangeArrowheads="1"/>
          </p:cNvSpPr>
          <p:nvPr/>
        </p:nvSpPr>
        <p:spPr bwMode="auto">
          <a:xfrm rot="5400000">
            <a:off x="-53049" y="209721"/>
            <a:ext cx="774879" cy="66878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121917" tIns="60959" rIns="121917" bIns="60959" anchor="ctr"/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zh-CN" altLang="zh-CN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  <a:sym typeface="微软雅黑" pitchFamily="3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0" y="1024128"/>
            <a:ext cx="12188952" cy="526694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5800" y="347472"/>
            <a:ext cx="10698480" cy="502920"/>
          </a:xfrm>
          <a:prstGeom prst="rect">
            <a:avLst/>
          </a:prstGeom>
          <a:noFill/>
        </p:spPr>
        <p:txBody>
          <a:bodyPr wrap="square" lIns="50800" tIns="25400" rIns="50800" bIns="25400">
            <a:normAutofit lnSpcReduction="10000"/>
          </a:bodyPr>
          <a:lstStyle/>
          <a:p>
            <a:r>
              <a:rPr sz="3000" b="1">
                <a:solidFill>
                  <a:srgbClr val="000000"/>
                </a:solidFill>
                <a:latin typeface="KaiTi"/>
              </a:rPr>
              <a:t>单任务实验结果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685800" y="1143000"/>
          <a:ext cx="53949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icrosoft YaHei"/>
                        </a:rPr>
                        <a:t>Task 1 方法</a:t>
                      </a:r>
                    </a:p>
                  </a:txBody>
                  <a:tcPr marL="25400" marR="25400" marT="25400" marB="25400">
                    <a:solidFill>
                      <a:srgbClr val="D9EE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icrosoft YaHei"/>
                        </a:rPr>
                        <a:t>Valid AUC</a:t>
                      </a:r>
                    </a:p>
                  </a:txBody>
                  <a:tcPr marL="25400" marR="25400" marT="25400" marB="25400">
                    <a:solidFill>
                      <a:srgbClr val="D9EE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icrosoft YaHei"/>
                        </a:rPr>
                        <a:t>Logloss</a:t>
                      </a:r>
                    </a:p>
                  </a:txBody>
                  <a:tcPr marL="25400" marR="25400" marT="25400" marB="25400">
                    <a:solidFill>
                      <a:srgbClr val="D9EE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Microsoft YaHei"/>
                        </a:rPr>
                        <a:t>官方 embedding + DIN</a:t>
                      </a:r>
                    </a:p>
                  </a:txBody>
                  <a:tcPr marL="25400" marR="254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Microsoft YaHei"/>
                        </a:rPr>
                        <a:t>0.8724</a:t>
                      </a:r>
                    </a:p>
                  </a:txBody>
                  <a:tcPr marL="25400" marR="254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Microsoft YaHei"/>
                        </a:rPr>
                        <a:t>2.5293</a:t>
                      </a:r>
                    </a:p>
                  </a:txBody>
                  <a:tcPr marL="25400" marR="254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Microsoft YaHei"/>
                        </a:rPr>
                        <a:t>多模态 embedding + DIN</a:t>
                      </a:r>
                    </a:p>
                  </a:txBody>
                  <a:tcPr marL="25400" marR="254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Microsoft YaHei"/>
                        </a:rPr>
                        <a:t>0.9312</a:t>
                      </a:r>
                    </a:p>
                  </a:txBody>
                  <a:tcPr marL="25400" marR="254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Microsoft YaHei"/>
                        </a:rPr>
                        <a:t>1.3447</a:t>
                      </a:r>
                    </a:p>
                  </a:txBody>
                  <a:tcPr marL="25400" marR="254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6629400" y="1143000"/>
          <a:ext cx="44805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icrosoft YaHei"/>
                        </a:rPr>
                        <a:t>Task 2 方法</a:t>
                      </a:r>
                    </a:p>
                  </a:txBody>
                  <a:tcPr marL="25400" marR="25400" marT="25400" marB="25400">
                    <a:solidFill>
                      <a:srgbClr val="D9EE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icrosoft YaHei"/>
                        </a:rPr>
                        <a:t>Valid AUC</a:t>
                      </a:r>
                    </a:p>
                  </a:txBody>
                  <a:tcPr marL="25400" marR="25400" marT="25400" marB="25400">
                    <a:solidFill>
                      <a:srgbClr val="D9EE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icrosoft YaHei"/>
                        </a:rPr>
                        <a:t>Online AUC</a:t>
                      </a:r>
                    </a:p>
                  </a:txBody>
                  <a:tcPr marL="25400" marR="25400" marT="25400" marB="25400">
                    <a:solidFill>
                      <a:srgbClr val="D9EE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Microsoft YaHei"/>
                        </a:rPr>
                        <a:t>CascadeMultimodalDCN</a:t>
                      </a:r>
                    </a:p>
                  </a:txBody>
                  <a:tcPr marL="25400" marR="254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Microsoft YaHei"/>
                        </a:rPr>
                        <a:t>0.9458</a:t>
                      </a:r>
                    </a:p>
                  </a:txBody>
                  <a:tcPr marL="25400" marR="254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Microsoft YaHei"/>
                        </a:rPr>
                        <a:t>0.9517</a:t>
                      </a:r>
                    </a:p>
                  </a:txBody>
                  <a:tcPr marL="25400" marR="254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1005840" y="3520440"/>
            <a:ext cx="2377440" cy="274320"/>
          </a:xfrm>
          <a:prstGeom prst="rect">
            <a:avLst/>
          </a:prstGeom>
          <a:noFill/>
        </p:spPr>
        <p:txBody>
          <a:bodyPr wrap="square" lIns="50800" tIns="25400" rIns="50800" bIns="25400">
            <a:normAutofit fontScale="85000" lnSpcReduction="20000"/>
          </a:bodyPr>
          <a:lstStyle/>
          <a:p>
            <a:r>
              <a:rPr sz="2000" b="1">
                <a:solidFill>
                  <a:srgbClr val="000000"/>
                </a:solidFill>
                <a:latin typeface="KaiTi"/>
              </a:rPr>
              <a:t>Task 1 验证集 AUC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4069080"/>
            <a:ext cx="731520" cy="256032"/>
          </a:xfrm>
          <a:prstGeom prst="rect">
            <a:avLst/>
          </a:prstGeom>
          <a:noFill/>
        </p:spPr>
        <p:txBody>
          <a:bodyPr wrap="square" lIns="50800" tIns="25400" rIns="50800" bIns="25400">
            <a:normAutofit lnSpcReduction="10000"/>
          </a:bodyPr>
          <a:lstStyle/>
          <a:p>
            <a:r>
              <a:rPr sz="1400" b="0">
                <a:solidFill>
                  <a:srgbClr val="000000"/>
                </a:solidFill>
                <a:latin typeface="Microsoft YaHei"/>
              </a:rPr>
              <a:t>官方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828800" y="4114800"/>
            <a:ext cx="1185062" cy="182880"/>
          </a:xfrm>
          <a:prstGeom prst="rect">
            <a:avLst/>
          </a:prstGeom>
          <a:solidFill>
            <a:srgbClr val="D9EEE4"/>
          </a:solidFill>
          <a:ln>
            <a:solidFill>
              <a:srgbClr val="005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151022" y="4069080"/>
            <a:ext cx="822960" cy="256032"/>
          </a:xfrm>
          <a:prstGeom prst="rect">
            <a:avLst/>
          </a:prstGeom>
          <a:noFill/>
        </p:spPr>
        <p:txBody>
          <a:bodyPr wrap="square" lIns="50800" tIns="25400" rIns="50800" bIns="25400">
            <a:normAutofit lnSpcReduction="10000"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0.8724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4544568"/>
            <a:ext cx="731520" cy="256032"/>
          </a:xfrm>
          <a:prstGeom prst="rect">
            <a:avLst/>
          </a:prstGeom>
          <a:noFill/>
        </p:spPr>
        <p:txBody>
          <a:bodyPr wrap="square" lIns="50800" tIns="25400" rIns="50800" bIns="25400">
            <a:normAutofit lnSpcReduction="10000"/>
          </a:bodyPr>
          <a:lstStyle/>
          <a:p>
            <a:r>
              <a:rPr sz="1400" b="0">
                <a:solidFill>
                  <a:srgbClr val="000000"/>
                </a:solidFill>
                <a:latin typeface="Microsoft YaHei"/>
              </a:rPr>
              <a:t>多模态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28800" y="4590288"/>
            <a:ext cx="3335731" cy="182880"/>
          </a:xfrm>
          <a:prstGeom prst="rect">
            <a:avLst/>
          </a:prstGeom>
          <a:solidFill>
            <a:srgbClr val="005643"/>
          </a:solidFill>
          <a:ln>
            <a:solidFill>
              <a:srgbClr val="005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301691" y="4544568"/>
            <a:ext cx="822960" cy="256032"/>
          </a:xfrm>
          <a:prstGeom prst="rect">
            <a:avLst/>
          </a:prstGeom>
          <a:noFill/>
        </p:spPr>
        <p:txBody>
          <a:bodyPr wrap="square" lIns="50800" tIns="25400" rIns="50800" bIns="25400">
            <a:normAutofit lnSpcReduction="10000"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0.9312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7289" y="3886200"/>
            <a:ext cx="4023360" cy="411480"/>
          </a:xfrm>
          <a:prstGeom prst="rect">
            <a:avLst/>
          </a:prstGeom>
          <a:noFill/>
        </p:spPr>
        <p:txBody>
          <a:bodyPr wrap="square" lIns="50800" tIns="25400" rIns="50800" bIns="25400">
            <a:normAutofit/>
          </a:bodyPr>
          <a:lstStyle/>
          <a:p>
            <a:pPr algn="ctr"/>
            <a:r>
              <a:rPr sz="2200" b="1" dirty="0" err="1">
                <a:solidFill>
                  <a:srgbClr val="000000"/>
                </a:solidFill>
                <a:latin typeface="Microsoft YaHei"/>
              </a:rPr>
              <a:t>Codabench</a:t>
            </a:r>
            <a:r>
              <a:rPr sz="2200" b="1" dirty="0">
                <a:solidFill>
                  <a:srgbClr val="000000"/>
                </a:solidFill>
                <a:latin typeface="Microsoft YaHei"/>
              </a:rPr>
              <a:t> Task 1：0.9402</a:t>
            </a:r>
          </a:p>
        </p:txBody>
      </p:sp>
      <p:sp>
        <p:nvSpPr>
          <p:cNvPr id="3" name="Rectangle 107">
            <a:extLst>
              <a:ext uri="{FF2B5EF4-FFF2-40B4-BE49-F238E27FC236}">
                <a16:creationId xmlns:a16="http://schemas.microsoft.com/office/drawing/2014/main" id="{42337970-395F-F6CB-BE37-4F28D3D2113C}"/>
              </a:ext>
            </a:extLst>
          </p:cNvPr>
          <p:cNvSpPr/>
          <p:nvPr/>
        </p:nvSpPr>
        <p:spPr>
          <a:xfrm>
            <a:off x="668781" y="1015559"/>
            <a:ext cx="10332720" cy="27432"/>
          </a:xfrm>
          <a:prstGeom prst="rect">
            <a:avLst/>
          </a:prstGeom>
          <a:solidFill>
            <a:srgbClr val="005643"/>
          </a:solidFill>
          <a:ln>
            <a:solidFill>
              <a:srgbClr val="005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952512180"/>
      </p:ext>
    </p:extLst>
  </p:cSld>
  <p:clrMapOvr>
    <a:masterClrMapping/>
  </p:clrMapOvr>
  <p:transition spd="slow">
    <p:cover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1997239" y="1918639"/>
            <a:ext cx="7857087" cy="4158091"/>
            <a:chOff x="833990" y="2092248"/>
            <a:chExt cx="7565435" cy="4003744"/>
          </a:xfrm>
          <a:solidFill>
            <a:schemeClr val="accent1"/>
          </a:solidFill>
        </p:grpSpPr>
        <p:sp>
          <p:nvSpPr>
            <p:cNvPr id="7" name="Freeform 5"/>
            <p:cNvSpPr>
              <a:spLocks/>
            </p:cNvSpPr>
            <p:nvPr/>
          </p:nvSpPr>
          <p:spPr bwMode="auto">
            <a:xfrm>
              <a:off x="7706873" y="2730069"/>
              <a:ext cx="58940" cy="25260"/>
            </a:xfrm>
            <a:custGeom>
              <a:avLst/>
              <a:gdLst>
                <a:gd name="T0" fmla="*/ 2 w 12"/>
                <a:gd name="T1" fmla="*/ 3 h 5"/>
                <a:gd name="T2" fmla="*/ 4 w 12"/>
                <a:gd name="T3" fmla="*/ 3 h 5"/>
                <a:gd name="T4" fmla="*/ 10 w 12"/>
                <a:gd name="T5" fmla="*/ 5 h 5"/>
                <a:gd name="T6" fmla="*/ 12 w 12"/>
                <a:gd name="T7" fmla="*/ 4 h 5"/>
                <a:gd name="T8" fmla="*/ 7 w 12"/>
                <a:gd name="T9" fmla="*/ 1 h 5"/>
                <a:gd name="T10" fmla="*/ 4 w 12"/>
                <a:gd name="T11" fmla="*/ 2 h 5"/>
                <a:gd name="T12" fmla="*/ 1 w 12"/>
                <a:gd name="T13" fmla="*/ 1 h 5"/>
                <a:gd name="T14" fmla="*/ 2 w 12"/>
                <a:gd name="T15" fmla="*/ 3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5">
                  <a:moveTo>
                    <a:pt x="2" y="3"/>
                  </a:moveTo>
                  <a:cubicBezTo>
                    <a:pt x="3" y="4"/>
                    <a:pt x="3" y="3"/>
                    <a:pt x="4" y="3"/>
                  </a:cubicBezTo>
                  <a:cubicBezTo>
                    <a:pt x="5" y="3"/>
                    <a:pt x="8" y="5"/>
                    <a:pt x="10" y="5"/>
                  </a:cubicBezTo>
                  <a:cubicBezTo>
                    <a:pt x="11" y="5"/>
                    <a:pt x="12" y="4"/>
                    <a:pt x="12" y="4"/>
                  </a:cubicBezTo>
                  <a:cubicBezTo>
                    <a:pt x="12" y="4"/>
                    <a:pt x="9" y="2"/>
                    <a:pt x="7" y="1"/>
                  </a:cubicBezTo>
                  <a:cubicBezTo>
                    <a:pt x="6" y="0"/>
                    <a:pt x="5" y="2"/>
                    <a:pt x="4" y="2"/>
                  </a:cubicBezTo>
                  <a:cubicBezTo>
                    <a:pt x="3" y="2"/>
                    <a:pt x="2" y="1"/>
                    <a:pt x="1" y="1"/>
                  </a:cubicBezTo>
                  <a:cubicBezTo>
                    <a:pt x="0" y="1"/>
                    <a:pt x="1" y="3"/>
                    <a:pt x="2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8" name="Freeform 6"/>
            <p:cNvSpPr>
              <a:spLocks/>
            </p:cNvSpPr>
            <p:nvPr/>
          </p:nvSpPr>
          <p:spPr bwMode="auto">
            <a:xfrm>
              <a:off x="2478010" y="2205919"/>
              <a:ext cx="63151" cy="61047"/>
            </a:xfrm>
            <a:custGeom>
              <a:avLst/>
              <a:gdLst>
                <a:gd name="T0" fmla="*/ 2 w 13"/>
                <a:gd name="T1" fmla="*/ 3 h 12"/>
                <a:gd name="T2" fmla="*/ 5 w 13"/>
                <a:gd name="T3" fmla="*/ 2 h 12"/>
                <a:gd name="T4" fmla="*/ 7 w 13"/>
                <a:gd name="T5" fmla="*/ 2 h 12"/>
                <a:gd name="T6" fmla="*/ 7 w 13"/>
                <a:gd name="T7" fmla="*/ 3 h 12"/>
                <a:gd name="T8" fmla="*/ 4 w 13"/>
                <a:gd name="T9" fmla="*/ 4 h 12"/>
                <a:gd name="T10" fmla="*/ 3 w 13"/>
                <a:gd name="T11" fmla="*/ 7 h 12"/>
                <a:gd name="T12" fmla="*/ 4 w 13"/>
                <a:gd name="T13" fmla="*/ 7 h 12"/>
                <a:gd name="T14" fmla="*/ 5 w 13"/>
                <a:gd name="T15" fmla="*/ 9 h 12"/>
                <a:gd name="T16" fmla="*/ 8 w 13"/>
                <a:gd name="T17" fmla="*/ 11 h 12"/>
                <a:gd name="T18" fmla="*/ 11 w 13"/>
                <a:gd name="T19" fmla="*/ 11 h 12"/>
                <a:gd name="T20" fmla="*/ 12 w 13"/>
                <a:gd name="T21" fmla="*/ 9 h 12"/>
                <a:gd name="T22" fmla="*/ 13 w 13"/>
                <a:gd name="T23" fmla="*/ 6 h 12"/>
                <a:gd name="T24" fmla="*/ 13 w 13"/>
                <a:gd name="T25" fmla="*/ 3 h 12"/>
                <a:gd name="T26" fmla="*/ 12 w 13"/>
                <a:gd name="T27" fmla="*/ 1 h 12"/>
                <a:gd name="T28" fmla="*/ 8 w 13"/>
                <a:gd name="T29" fmla="*/ 1 h 12"/>
                <a:gd name="T30" fmla="*/ 2 w 13"/>
                <a:gd name="T31" fmla="*/ 1 h 12"/>
                <a:gd name="T32" fmla="*/ 1 w 13"/>
                <a:gd name="T33" fmla="*/ 1 h 12"/>
                <a:gd name="T34" fmla="*/ 2 w 13"/>
                <a:gd name="T35" fmla="*/ 3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3" h="12">
                  <a:moveTo>
                    <a:pt x="2" y="3"/>
                  </a:moveTo>
                  <a:cubicBezTo>
                    <a:pt x="3" y="4"/>
                    <a:pt x="4" y="3"/>
                    <a:pt x="5" y="2"/>
                  </a:cubicBezTo>
                  <a:cubicBezTo>
                    <a:pt x="5" y="2"/>
                    <a:pt x="6" y="2"/>
                    <a:pt x="7" y="2"/>
                  </a:cubicBezTo>
                  <a:cubicBezTo>
                    <a:pt x="7" y="2"/>
                    <a:pt x="7" y="2"/>
                    <a:pt x="7" y="3"/>
                  </a:cubicBezTo>
                  <a:cubicBezTo>
                    <a:pt x="7" y="3"/>
                    <a:pt x="5" y="4"/>
                    <a:pt x="4" y="4"/>
                  </a:cubicBezTo>
                  <a:cubicBezTo>
                    <a:pt x="3" y="5"/>
                    <a:pt x="3" y="6"/>
                    <a:pt x="3" y="7"/>
                  </a:cubicBezTo>
                  <a:cubicBezTo>
                    <a:pt x="3" y="8"/>
                    <a:pt x="3" y="7"/>
                    <a:pt x="4" y="7"/>
                  </a:cubicBezTo>
                  <a:cubicBezTo>
                    <a:pt x="4" y="7"/>
                    <a:pt x="4" y="9"/>
                    <a:pt x="5" y="9"/>
                  </a:cubicBezTo>
                  <a:cubicBezTo>
                    <a:pt x="6" y="10"/>
                    <a:pt x="7" y="11"/>
                    <a:pt x="8" y="11"/>
                  </a:cubicBezTo>
                  <a:cubicBezTo>
                    <a:pt x="9" y="12"/>
                    <a:pt x="11" y="11"/>
                    <a:pt x="11" y="11"/>
                  </a:cubicBezTo>
                  <a:cubicBezTo>
                    <a:pt x="12" y="11"/>
                    <a:pt x="12" y="9"/>
                    <a:pt x="12" y="9"/>
                  </a:cubicBezTo>
                  <a:cubicBezTo>
                    <a:pt x="12" y="8"/>
                    <a:pt x="13" y="7"/>
                    <a:pt x="13" y="6"/>
                  </a:cubicBezTo>
                  <a:cubicBezTo>
                    <a:pt x="13" y="6"/>
                    <a:pt x="13" y="4"/>
                    <a:pt x="13" y="3"/>
                  </a:cubicBezTo>
                  <a:cubicBezTo>
                    <a:pt x="12" y="3"/>
                    <a:pt x="12" y="1"/>
                    <a:pt x="12" y="1"/>
                  </a:cubicBezTo>
                  <a:cubicBezTo>
                    <a:pt x="11" y="0"/>
                    <a:pt x="9" y="0"/>
                    <a:pt x="8" y="1"/>
                  </a:cubicBezTo>
                  <a:cubicBezTo>
                    <a:pt x="6" y="1"/>
                    <a:pt x="4" y="1"/>
                    <a:pt x="2" y="1"/>
                  </a:cubicBezTo>
                  <a:cubicBezTo>
                    <a:pt x="0" y="1"/>
                    <a:pt x="0" y="1"/>
                    <a:pt x="1" y="1"/>
                  </a:cubicBezTo>
                  <a:cubicBezTo>
                    <a:pt x="1" y="2"/>
                    <a:pt x="2" y="3"/>
                    <a:pt x="2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9" name="Freeform 7"/>
            <p:cNvSpPr>
              <a:spLocks/>
            </p:cNvSpPr>
            <p:nvPr/>
          </p:nvSpPr>
          <p:spPr bwMode="auto">
            <a:xfrm>
              <a:off x="2004381" y="4323567"/>
              <a:ext cx="25260" cy="25260"/>
            </a:xfrm>
            <a:custGeom>
              <a:avLst/>
              <a:gdLst>
                <a:gd name="T0" fmla="*/ 1 w 5"/>
                <a:gd name="T1" fmla="*/ 5 h 5"/>
                <a:gd name="T2" fmla="*/ 5 w 5"/>
                <a:gd name="T3" fmla="*/ 3 h 5"/>
                <a:gd name="T4" fmla="*/ 3 w 5"/>
                <a:gd name="T5" fmla="*/ 1 h 5"/>
                <a:gd name="T6" fmla="*/ 2 w 5"/>
                <a:gd name="T7" fmla="*/ 3 h 5"/>
                <a:gd name="T8" fmla="*/ 1 w 5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5">
                  <a:moveTo>
                    <a:pt x="1" y="5"/>
                  </a:moveTo>
                  <a:cubicBezTo>
                    <a:pt x="2" y="5"/>
                    <a:pt x="4" y="4"/>
                    <a:pt x="5" y="3"/>
                  </a:cubicBezTo>
                  <a:cubicBezTo>
                    <a:pt x="5" y="3"/>
                    <a:pt x="4" y="1"/>
                    <a:pt x="3" y="1"/>
                  </a:cubicBezTo>
                  <a:cubicBezTo>
                    <a:pt x="2" y="0"/>
                    <a:pt x="2" y="2"/>
                    <a:pt x="2" y="3"/>
                  </a:cubicBezTo>
                  <a:cubicBezTo>
                    <a:pt x="3" y="4"/>
                    <a:pt x="0" y="5"/>
                    <a:pt x="1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0" name="Freeform 8"/>
            <p:cNvSpPr>
              <a:spLocks/>
            </p:cNvSpPr>
            <p:nvPr/>
          </p:nvSpPr>
          <p:spPr bwMode="auto">
            <a:xfrm>
              <a:off x="3722075" y="2641659"/>
              <a:ext cx="214712" cy="113671"/>
            </a:xfrm>
            <a:custGeom>
              <a:avLst/>
              <a:gdLst>
                <a:gd name="T0" fmla="*/ 4 w 43"/>
                <a:gd name="T1" fmla="*/ 9 h 23"/>
                <a:gd name="T2" fmla="*/ 10 w 43"/>
                <a:gd name="T3" fmla="*/ 9 h 23"/>
                <a:gd name="T4" fmla="*/ 10 w 43"/>
                <a:gd name="T5" fmla="*/ 10 h 23"/>
                <a:gd name="T6" fmla="*/ 10 w 43"/>
                <a:gd name="T7" fmla="*/ 11 h 23"/>
                <a:gd name="T8" fmla="*/ 11 w 43"/>
                <a:gd name="T9" fmla="*/ 12 h 23"/>
                <a:gd name="T10" fmla="*/ 3 w 43"/>
                <a:gd name="T11" fmla="*/ 13 h 23"/>
                <a:gd name="T12" fmla="*/ 7 w 43"/>
                <a:gd name="T13" fmla="*/ 13 h 23"/>
                <a:gd name="T14" fmla="*/ 9 w 43"/>
                <a:gd name="T15" fmla="*/ 15 h 23"/>
                <a:gd name="T16" fmla="*/ 10 w 43"/>
                <a:gd name="T17" fmla="*/ 17 h 23"/>
                <a:gd name="T18" fmla="*/ 6 w 43"/>
                <a:gd name="T19" fmla="*/ 19 h 23"/>
                <a:gd name="T20" fmla="*/ 9 w 43"/>
                <a:gd name="T21" fmla="*/ 21 h 23"/>
                <a:gd name="T22" fmla="*/ 14 w 43"/>
                <a:gd name="T23" fmla="*/ 22 h 23"/>
                <a:gd name="T24" fmla="*/ 21 w 43"/>
                <a:gd name="T25" fmla="*/ 23 h 23"/>
                <a:gd name="T26" fmla="*/ 24 w 43"/>
                <a:gd name="T27" fmla="*/ 21 h 23"/>
                <a:gd name="T28" fmla="*/ 28 w 43"/>
                <a:gd name="T29" fmla="*/ 21 h 23"/>
                <a:gd name="T30" fmla="*/ 32 w 43"/>
                <a:gd name="T31" fmla="*/ 18 h 23"/>
                <a:gd name="T32" fmla="*/ 35 w 43"/>
                <a:gd name="T33" fmla="*/ 17 h 23"/>
                <a:gd name="T34" fmla="*/ 38 w 43"/>
                <a:gd name="T35" fmla="*/ 14 h 23"/>
                <a:gd name="T36" fmla="*/ 41 w 43"/>
                <a:gd name="T37" fmla="*/ 11 h 23"/>
                <a:gd name="T38" fmla="*/ 41 w 43"/>
                <a:gd name="T39" fmla="*/ 8 h 23"/>
                <a:gd name="T40" fmla="*/ 39 w 43"/>
                <a:gd name="T41" fmla="*/ 6 h 23"/>
                <a:gd name="T42" fmla="*/ 38 w 43"/>
                <a:gd name="T43" fmla="*/ 4 h 23"/>
                <a:gd name="T44" fmla="*/ 38 w 43"/>
                <a:gd name="T45" fmla="*/ 2 h 23"/>
                <a:gd name="T46" fmla="*/ 37 w 43"/>
                <a:gd name="T47" fmla="*/ 1 h 23"/>
                <a:gd name="T48" fmla="*/ 35 w 43"/>
                <a:gd name="T49" fmla="*/ 3 h 23"/>
                <a:gd name="T50" fmla="*/ 33 w 43"/>
                <a:gd name="T51" fmla="*/ 0 h 23"/>
                <a:gd name="T52" fmla="*/ 32 w 43"/>
                <a:gd name="T53" fmla="*/ 2 h 23"/>
                <a:gd name="T54" fmla="*/ 30 w 43"/>
                <a:gd name="T55" fmla="*/ 3 h 23"/>
                <a:gd name="T56" fmla="*/ 29 w 43"/>
                <a:gd name="T57" fmla="*/ 5 h 23"/>
                <a:gd name="T58" fmla="*/ 26 w 43"/>
                <a:gd name="T59" fmla="*/ 4 h 23"/>
                <a:gd name="T60" fmla="*/ 26 w 43"/>
                <a:gd name="T61" fmla="*/ 6 h 23"/>
                <a:gd name="T62" fmla="*/ 24 w 43"/>
                <a:gd name="T63" fmla="*/ 5 h 23"/>
                <a:gd name="T64" fmla="*/ 22 w 43"/>
                <a:gd name="T65" fmla="*/ 4 h 23"/>
                <a:gd name="T66" fmla="*/ 21 w 43"/>
                <a:gd name="T67" fmla="*/ 6 h 23"/>
                <a:gd name="T68" fmla="*/ 18 w 43"/>
                <a:gd name="T69" fmla="*/ 4 h 23"/>
                <a:gd name="T70" fmla="*/ 17 w 43"/>
                <a:gd name="T71" fmla="*/ 7 h 23"/>
                <a:gd name="T72" fmla="*/ 16 w 43"/>
                <a:gd name="T73" fmla="*/ 7 h 23"/>
                <a:gd name="T74" fmla="*/ 14 w 43"/>
                <a:gd name="T75" fmla="*/ 10 h 23"/>
                <a:gd name="T76" fmla="*/ 13 w 43"/>
                <a:gd name="T77" fmla="*/ 5 h 23"/>
                <a:gd name="T78" fmla="*/ 12 w 43"/>
                <a:gd name="T79" fmla="*/ 3 h 23"/>
                <a:gd name="T80" fmla="*/ 8 w 43"/>
                <a:gd name="T81" fmla="*/ 2 h 23"/>
                <a:gd name="T82" fmla="*/ 9 w 43"/>
                <a:gd name="T83" fmla="*/ 5 h 23"/>
                <a:gd name="T84" fmla="*/ 6 w 43"/>
                <a:gd name="T85" fmla="*/ 4 h 23"/>
                <a:gd name="T86" fmla="*/ 6 w 43"/>
                <a:gd name="T87" fmla="*/ 6 h 23"/>
                <a:gd name="T88" fmla="*/ 3 w 43"/>
                <a:gd name="T89" fmla="*/ 6 h 23"/>
                <a:gd name="T90" fmla="*/ 4 w 43"/>
                <a:gd name="T91" fmla="*/ 7 h 23"/>
                <a:gd name="T92" fmla="*/ 2 w 43"/>
                <a:gd name="T93" fmla="*/ 8 h 23"/>
                <a:gd name="T94" fmla="*/ 4 w 43"/>
                <a:gd name="T95" fmla="*/ 9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43" h="23">
                  <a:moveTo>
                    <a:pt x="4" y="9"/>
                  </a:moveTo>
                  <a:cubicBezTo>
                    <a:pt x="5" y="9"/>
                    <a:pt x="9" y="8"/>
                    <a:pt x="10" y="9"/>
                  </a:cubicBezTo>
                  <a:cubicBezTo>
                    <a:pt x="11" y="9"/>
                    <a:pt x="11" y="9"/>
                    <a:pt x="10" y="10"/>
                  </a:cubicBezTo>
                  <a:cubicBezTo>
                    <a:pt x="8" y="11"/>
                    <a:pt x="9" y="11"/>
                    <a:pt x="10" y="11"/>
                  </a:cubicBezTo>
                  <a:cubicBezTo>
                    <a:pt x="11" y="11"/>
                    <a:pt x="11" y="10"/>
                    <a:pt x="11" y="12"/>
                  </a:cubicBezTo>
                  <a:cubicBezTo>
                    <a:pt x="11" y="13"/>
                    <a:pt x="5" y="12"/>
                    <a:pt x="3" y="13"/>
                  </a:cubicBezTo>
                  <a:cubicBezTo>
                    <a:pt x="1" y="14"/>
                    <a:pt x="6" y="13"/>
                    <a:pt x="7" y="13"/>
                  </a:cubicBezTo>
                  <a:cubicBezTo>
                    <a:pt x="8" y="13"/>
                    <a:pt x="8" y="15"/>
                    <a:pt x="9" y="15"/>
                  </a:cubicBezTo>
                  <a:cubicBezTo>
                    <a:pt x="10" y="15"/>
                    <a:pt x="10" y="15"/>
                    <a:pt x="10" y="17"/>
                  </a:cubicBezTo>
                  <a:cubicBezTo>
                    <a:pt x="11" y="19"/>
                    <a:pt x="8" y="19"/>
                    <a:pt x="6" y="19"/>
                  </a:cubicBezTo>
                  <a:cubicBezTo>
                    <a:pt x="4" y="20"/>
                    <a:pt x="7" y="20"/>
                    <a:pt x="9" y="21"/>
                  </a:cubicBezTo>
                  <a:cubicBezTo>
                    <a:pt x="11" y="21"/>
                    <a:pt x="13" y="21"/>
                    <a:pt x="14" y="22"/>
                  </a:cubicBezTo>
                  <a:cubicBezTo>
                    <a:pt x="15" y="23"/>
                    <a:pt x="19" y="23"/>
                    <a:pt x="21" y="23"/>
                  </a:cubicBezTo>
                  <a:cubicBezTo>
                    <a:pt x="22" y="23"/>
                    <a:pt x="23" y="22"/>
                    <a:pt x="24" y="21"/>
                  </a:cubicBezTo>
                  <a:cubicBezTo>
                    <a:pt x="25" y="21"/>
                    <a:pt x="26" y="21"/>
                    <a:pt x="28" y="21"/>
                  </a:cubicBezTo>
                  <a:cubicBezTo>
                    <a:pt x="29" y="20"/>
                    <a:pt x="31" y="19"/>
                    <a:pt x="32" y="18"/>
                  </a:cubicBezTo>
                  <a:cubicBezTo>
                    <a:pt x="33" y="17"/>
                    <a:pt x="34" y="17"/>
                    <a:pt x="35" y="17"/>
                  </a:cubicBezTo>
                  <a:cubicBezTo>
                    <a:pt x="37" y="17"/>
                    <a:pt x="38" y="15"/>
                    <a:pt x="38" y="14"/>
                  </a:cubicBezTo>
                  <a:cubicBezTo>
                    <a:pt x="38" y="13"/>
                    <a:pt x="40" y="12"/>
                    <a:pt x="41" y="11"/>
                  </a:cubicBezTo>
                  <a:cubicBezTo>
                    <a:pt x="43" y="11"/>
                    <a:pt x="41" y="10"/>
                    <a:pt x="41" y="8"/>
                  </a:cubicBezTo>
                  <a:cubicBezTo>
                    <a:pt x="41" y="7"/>
                    <a:pt x="40" y="7"/>
                    <a:pt x="39" y="6"/>
                  </a:cubicBezTo>
                  <a:cubicBezTo>
                    <a:pt x="37" y="6"/>
                    <a:pt x="38" y="4"/>
                    <a:pt x="38" y="4"/>
                  </a:cubicBezTo>
                  <a:cubicBezTo>
                    <a:pt x="37" y="3"/>
                    <a:pt x="37" y="3"/>
                    <a:pt x="38" y="2"/>
                  </a:cubicBezTo>
                  <a:cubicBezTo>
                    <a:pt x="39" y="1"/>
                    <a:pt x="39" y="1"/>
                    <a:pt x="37" y="1"/>
                  </a:cubicBezTo>
                  <a:cubicBezTo>
                    <a:pt x="36" y="2"/>
                    <a:pt x="36" y="2"/>
                    <a:pt x="35" y="3"/>
                  </a:cubicBezTo>
                  <a:cubicBezTo>
                    <a:pt x="34" y="3"/>
                    <a:pt x="34" y="0"/>
                    <a:pt x="33" y="0"/>
                  </a:cubicBezTo>
                  <a:cubicBezTo>
                    <a:pt x="33" y="0"/>
                    <a:pt x="31" y="1"/>
                    <a:pt x="32" y="2"/>
                  </a:cubicBezTo>
                  <a:cubicBezTo>
                    <a:pt x="32" y="3"/>
                    <a:pt x="31" y="3"/>
                    <a:pt x="30" y="3"/>
                  </a:cubicBezTo>
                  <a:cubicBezTo>
                    <a:pt x="29" y="3"/>
                    <a:pt x="29" y="4"/>
                    <a:pt x="29" y="5"/>
                  </a:cubicBezTo>
                  <a:cubicBezTo>
                    <a:pt x="28" y="5"/>
                    <a:pt x="27" y="4"/>
                    <a:pt x="26" y="4"/>
                  </a:cubicBezTo>
                  <a:cubicBezTo>
                    <a:pt x="25" y="4"/>
                    <a:pt x="26" y="5"/>
                    <a:pt x="26" y="6"/>
                  </a:cubicBezTo>
                  <a:cubicBezTo>
                    <a:pt x="26" y="7"/>
                    <a:pt x="25" y="6"/>
                    <a:pt x="24" y="5"/>
                  </a:cubicBezTo>
                  <a:cubicBezTo>
                    <a:pt x="24" y="4"/>
                    <a:pt x="23" y="3"/>
                    <a:pt x="22" y="4"/>
                  </a:cubicBezTo>
                  <a:cubicBezTo>
                    <a:pt x="21" y="4"/>
                    <a:pt x="22" y="5"/>
                    <a:pt x="21" y="6"/>
                  </a:cubicBezTo>
                  <a:cubicBezTo>
                    <a:pt x="20" y="7"/>
                    <a:pt x="19" y="4"/>
                    <a:pt x="18" y="4"/>
                  </a:cubicBezTo>
                  <a:cubicBezTo>
                    <a:pt x="17" y="4"/>
                    <a:pt x="17" y="6"/>
                    <a:pt x="17" y="7"/>
                  </a:cubicBezTo>
                  <a:cubicBezTo>
                    <a:pt x="17" y="7"/>
                    <a:pt x="16" y="6"/>
                    <a:pt x="16" y="7"/>
                  </a:cubicBezTo>
                  <a:cubicBezTo>
                    <a:pt x="15" y="7"/>
                    <a:pt x="15" y="10"/>
                    <a:pt x="14" y="10"/>
                  </a:cubicBezTo>
                  <a:cubicBezTo>
                    <a:pt x="13" y="10"/>
                    <a:pt x="14" y="5"/>
                    <a:pt x="13" y="5"/>
                  </a:cubicBezTo>
                  <a:cubicBezTo>
                    <a:pt x="12" y="5"/>
                    <a:pt x="12" y="4"/>
                    <a:pt x="12" y="3"/>
                  </a:cubicBezTo>
                  <a:cubicBezTo>
                    <a:pt x="11" y="2"/>
                    <a:pt x="9" y="1"/>
                    <a:pt x="8" y="2"/>
                  </a:cubicBezTo>
                  <a:cubicBezTo>
                    <a:pt x="6" y="3"/>
                    <a:pt x="10" y="4"/>
                    <a:pt x="9" y="5"/>
                  </a:cubicBezTo>
                  <a:cubicBezTo>
                    <a:pt x="9" y="6"/>
                    <a:pt x="7" y="3"/>
                    <a:pt x="6" y="4"/>
                  </a:cubicBezTo>
                  <a:cubicBezTo>
                    <a:pt x="5" y="4"/>
                    <a:pt x="6" y="5"/>
                    <a:pt x="6" y="6"/>
                  </a:cubicBezTo>
                  <a:cubicBezTo>
                    <a:pt x="6" y="7"/>
                    <a:pt x="5" y="6"/>
                    <a:pt x="3" y="6"/>
                  </a:cubicBezTo>
                  <a:cubicBezTo>
                    <a:pt x="2" y="6"/>
                    <a:pt x="4" y="6"/>
                    <a:pt x="4" y="7"/>
                  </a:cubicBezTo>
                  <a:cubicBezTo>
                    <a:pt x="5" y="8"/>
                    <a:pt x="3" y="7"/>
                    <a:pt x="2" y="8"/>
                  </a:cubicBezTo>
                  <a:cubicBezTo>
                    <a:pt x="0" y="9"/>
                    <a:pt x="3" y="9"/>
                    <a:pt x="4" y="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1" name="Freeform 9"/>
            <p:cNvSpPr>
              <a:spLocks/>
            </p:cNvSpPr>
            <p:nvPr/>
          </p:nvSpPr>
          <p:spPr bwMode="auto">
            <a:xfrm>
              <a:off x="4035723" y="2911100"/>
              <a:ext cx="164191" cy="258917"/>
            </a:xfrm>
            <a:custGeom>
              <a:avLst/>
              <a:gdLst>
                <a:gd name="T0" fmla="*/ 2 w 33"/>
                <a:gd name="T1" fmla="*/ 9 h 52"/>
                <a:gd name="T2" fmla="*/ 0 w 33"/>
                <a:gd name="T3" fmla="*/ 11 h 52"/>
                <a:gd name="T4" fmla="*/ 2 w 33"/>
                <a:gd name="T5" fmla="*/ 12 h 52"/>
                <a:gd name="T6" fmla="*/ 5 w 33"/>
                <a:gd name="T7" fmla="*/ 12 h 52"/>
                <a:gd name="T8" fmla="*/ 3 w 33"/>
                <a:gd name="T9" fmla="*/ 14 h 52"/>
                <a:gd name="T10" fmla="*/ 2 w 33"/>
                <a:gd name="T11" fmla="*/ 16 h 52"/>
                <a:gd name="T12" fmla="*/ 5 w 33"/>
                <a:gd name="T13" fmla="*/ 15 h 52"/>
                <a:gd name="T14" fmla="*/ 6 w 33"/>
                <a:gd name="T15" fmla="*/ 17 h 52"/>
                <a:gd name="T16" fmla="*/ 6 w 33"/>
                <a:gd name="T17" fmla="*/ 19 h 52"/>
                <a:gd name="T18" fmla="*/ 6 w 33"/>
                <a:gd name="T19" fmla="*/ 23 h 52"/>
                <a:gd name="T20" fmla="*/ 7 w 33"/>
                <a:gd name="T21" fmla="*/ 25 h 52"/>
                <a:gd name="T22" fmla="*/ 11 w 33"/>
                <a:gd name="T23" fmla="*/ 24 h 52"/>
                <a:gd name="T24" fmla="*/ 12 w 33"/>
                <a:gd name="T25" fmla="*/ 28 h 52"/>
                <a:gd name="T26" fmla="*/ 13 w 33"/>
                <a:gd name="T27" fmla="*/ 31 h 52"/>
                <a:gd name="T28" fmla="*/ 9 w 33"/>
                <a:gd name="T29" fmla="*/ 33 h 52"/>
                <a:gd name="T30" fmla="*/ 6 w 33"/>
                <a:gd name="T31" fmla="*/ 34 h 52"/>
                <a:gd name="T32" fmla="*/ 7 w 33"/>
                <a:gd name="T33" fmla="*/ 36 h 52"/>
                <a:gd name="T34" fmla="*/ 8 w 33"/>
                <a:gd name="T35" fmla="*/ 38 h 52"/>
                <a:gd name="T36" fmla="*/ 3 w 33"/>
                <a:gd name="T37" fmla="*/ 41 h 52"/>
                <a:gd name="T38" fmla="*/ 8 w 33"/>
                <a:gd name="T39" fmla="*/ 43 h 52"/>
                <a:gd name="T40" fmla="*/ 11 w 33"/>
                <a:gd name="T41" fmla="*/ 44 h 52"/>
                <a:gd name="T42" fmla="*/ 7 w 33"/>
                <a:gd name="T43" fmla="*/ 46 h 52"/>
                <a:gd name="T44" fmla="*/ 5 w 33"/>
                <a:gd name="T45" fmla="*/ 49 h 52"/>
                <a:gd name="T46" fmla="*/ 2 w 33"/>
                <a:gd name="T47" fmla="*/ 52 h 52"/>
                <a:gd name="T48" fmla="*/ 7 w 33"/>
                <a:gd name="T49" fmla="*/ 50 h 52"/>
                <a:gd name="T50" fmla="*/ 10 w 33"/>
                <a:gd name="T51" fmla="*/ 50 h 52"/>
                <a:gd name="T52" fmla="*/ 13 w 33"/>
                <a:gd name="T53" fmla="*/ 48 h 52"/>
                <a:gd name="T54" fmla="*/ 17 w 33"/>
                <a:gd name="T55" fmla="*/ 48 h 52"/>
                <a:gd name="T56" fmla="*/ 23 w 33"/>
                <a:gd name="T57" fmla="*/ 47 h 52"/>
                <a:gd name="T58" fmla="*/ 29 w 33"/>
                <a:gd name="T59" fmla="*/ 45 h 52"/>
                <a:gd name="T60" fmla="*/ 27 w 33"/>
                <a:gd name="T61" fmla="*/ 43 h 52"/>
                <a:gd name="T62" fmla="*/ 32 w 33"/>
                <a:gd name="T63" fmla="*/ 37 h 52"/>
                <a:gd name="T64" fmla="*/ 26 w 33"/>
                <a:gd name="T65" fmla="*/ 36 h 52"/>
                <a:gd name="T66" fmla="*/ 26 w 33"/>
                <a:gd name="T67" fmla="*/ 34 h 52"/>
                <a:gd name="T68" fmla="*/ 25 w 33"/>
                <a:gd name="T69" fmla="*/ 31 h 52"/>
                <a:gd name="T70" fmla="*/ 23 w 33"/>
                <a:gd name="T71" fmla="*/ 27 h 52"/>
                <a:gd name="T72" fmla="*/ 19 w 33"/>
                <a:gd name="T73" fmla="*/ 23 h 52"/>
                <a:gd name="T74" fmla="*/ 17 w 33"/>
                <a:gd name="T75" fmla="*/ 18 h 52"/>
                <a:gd name="T76" fmla="*/ 15 w 33"/>
                <a:gd name="T77" fmla="*/ 15 h 52"/>
                <a:gd name="T78" fmla="*/ 18 w 33"/>
                <a:gd name="T79" fmla="*/ 11 h 52"/>
                <a:gd name="T80" fmla="*/ 19 w 33"/>
                <a:gd name="T81" fmla="*/ 7 h 52"/>
                <a:gd name="T82" fmla="*/ 15 w 33"/>
                <a:gd name="T83" fmla="*/ 7 h 52"/>
                <a:gd name="T84" fmla="*/ 9 w 33"/>
                <a:gd name="T85" fmla="*/ 8 h 52"/>
                <a:gd name="T86" fmla="*/ 12 w 33"/>
                <a:gd name="T87" fmla="*/ 4 h 52"/>
                <a:gd name="T88" fmla="*/ 15 w 33"/>
                <a:gd name="T89" fmla="*/ 1 h 52"/>
                <a:gd name="T90" fmla="*/ 11 w 33"/>
                <a:gd name="T91" fmla="*/ 1 h 52"/>
                <a:gd name="T92" fmla="*/ 6 w 33"/>
                <a:gd name="T93" fmla="*/ 1 h 52"/>
                <a:gd name="T94" fmla="*/ 5 w 33"/>
                <a:gd name="T95" fmla="*/ 4 h 52"/>
                <a:gd name="T96" fmla="*/ 6 w 33"/>
                <a:gd name="T97" fmla="*/ 6 h 52"/>
                <a:gd name="T98" fmla="*/ 4 w 33"/>
                <a:gd name="T99" fmla="*/ 8 h 52"/>
                <a:gd name="T100" fmla="*/ 3 w 33"/>
                <a:gd name="T101" fmla="*/ 10 h 52"/>
                <a:gd name="T102" fmla="*/ 2 w 33"/>
                <a:gd name="T103" fmla="*/ 9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33" h="52">
                  <a:moveTo>
                    <a:pt x="2" y="9"/>
                  </a:moveTo>
                  <a:cubicBezTo>
                    <a:pt x="1" y="9"/>
                    <a:pt x="0" y="10"/>
                    <a:pt x="0" y="11"/>
                  </a:cubicBezTo>
                  <a:cubicBezTo>
                    <a:pt x="1" y="11"/>
                    <a:pt x="2" y="13"/>
                    <a:pt x="2" y="12"/>
                  </a:cubicBezTo>
                  <a:cubicBezTo>
                    <a:pt x="3" y="12"/>
                    <a:pt x="5" y="12"/>
                    <a:pt x="5" y="12"/>
                  </a:cubicBezTo>
                  <a:cubicBezTo>
                    <a:pt x="4" y="13"/>
                    <a:pt x="4" y="13"/>
                    <a:pt x="3" y="14"/>
                  </a:cubicBezTo>
                  <a:cubicBezTo>
                    <a:pt x="3" y="14"/>
                    <a:pt x="2" y="15"/>
                    <a:pt x="2" y="16"/>
                  </a:cubicBezTo>
                  <a:cubicBezTo>
                    <a:pt x="3" y="16"/>
                    <a:pt x="6" y="14"/>
                    <a:pt x="5" y="15"/>
                  </a:cubicBezTo>
                  <a:cubicBezTo>
                    <a:pt x="5" y="15"/>
                    <a:pt x="6" y="16"/>
                    <a:pt x="6" y="17"/>
                  </a:cubicBezTo>
                  <a:cubicBezTo>
                    <a:pt x="7" y="17"/>
                    <a:pt x="6" y="19"/>
                    <a:pt x="6" y="19"/>
                  </a:cubicBezTo>
                  <a:cubicBezTo>
                    <a:pt x="6" y="20"/>
                    <a:pt x="6" y="22"/>
                    <a:pt x="6" y="23"/>
                  </a:cubicBezTo>
                  <a:cubicBezTo>
                    <a:pt x="5" y="23"/>
                    <a:pt x="6" y="25"/>
                    <a:pt x="7" y="25"/>
                  </a:cubicBezTo>
                  <a:cubicBezTo>
                    <a:pt x="8" y="25"/>
                    <a:pt x="11" y="24"/>
                    <a:pt x="11" y="24"/>
                  </a:cubicBezTo>
                  <a:cubicBezTo>
                    <a:pt x="11" y="25"/>
                    <a:pt x="11" y="27"/>
                    <a:pt x="12" y="28"/>
                  </a:cubicBezTo>
                  <a:cubicBezTo>
                    <a:pt x="13" y="29"/>
                    <a:pt x="14" y="30"/>
                    <a:pt x="13" y="31"/>
                  </a:cubicBezTo>
                  <a:cubicBezTo>
                    <a:pt x="12" y="32"/>
                    <a:pt x="10" y="33"/>
                    <a:pt x="9" y="33"/>
                  </a:cubicBezTo>
                  <a:cubicBezTo>
                    <a:pt x="9" y="33"/>
                    <a:pt x="7" y="33"/>
                    <a:pt x="6" y="34"/>
                  </a:cubicBezTo>
                  <a:cubicBezTo>
                    <a:pt x="6" y="35"/>
                    <a:pt x="6" y="37"/>
                    <a:pt x="7" y="36"/>
                  </a:cubicBezTo>
                  <a:cubicBezTo>
                    <a:pt x="8" y="36"/>
                    <a:pt x="9" y="37"/>
                    <a:pt x="8" y="38"/>
                  </a:cubicBezTo>
                  <a:cubicBezTo>
                    <a:pt x="7" y="39"/>
                    <a:pt x="3" y="41"/>
                    <a:pt x="3" y="41"/>
                  </a:cubicBezTo>
                  <a:cubicBezTo>
                    <a:pt x="3" y="42"/>
                    <a:pt x="6" y="43"/>
                    <a:pt x="8" y="43"/>
                  </a:cubicBezTo>
                  <a:cubicBezTo>
                    <a:pt x="9" y="43"/>
                    <a:pt x="12" y="44"/>
                    <a:pt x="11" y="44"/>
                  </a:cubicBezTo>
                  <a:cubicBezTo>
                    <a:pt x="11" y="45"/>
                    <a:pt x="7" y="45"/>
                    <a:pt x="7" y="46"/>
                  </a:cubicBezTo>
                  <a:cubicBezTo>
                    <a:pt x="6" y="47"/>
                    <a:pt x="5" y="49"/>
                    <a:pt x="5" y="49"/>
                  </a:cubicBezTo>
                  <a:cubicBezTo>
                    <a:pt x="4" y="50"/>
                    <a:pt x="1" y="51"/>
                    <a:pt x="2" y="52"/>
                  </a:cubicBezTo>
                  <a:cubicBezTo>
                    <a:pt x="3" y="52"/>
                    <a:pt x="6" y="50"/>
                    <a:pt x="7" y="50"/>
                  </a:cubicBezTo>
                  <a:cubicBezTo>
                    <a:pt x="8" y="50"/>
                    <a:pt x="9" y="51"/>
                    <a:pt x="10" y="50"/>
                  </a:cubicBezTo>
                  <a:cubicBezTo>
                    <a:pt x="12" y="49"/>
                    <a:pt x="12" y="47"/>
                    <a:pt x="13" y="48"/>
                  </a:cubicBezTo>
                  <a:cubicBezTo>
                    <a:pt x="14" y="48"/>
                    <a:pt x="15" y="49"/>
                    <a:pt x="17" y="48"/>
                  </a:cubicBezTo>
                  <a:cubicBezTo>
                    <a:pt x="19" y="47"/>
                    <a:pt x="22" y="47"/>
                    <a:pt x="23" y="47"/>
                  </a:cubicBezTo>
                  <a:cubicBezTo>
                    <a:pt x="25" y="47"/>
                    <a:pt x="30" y="46"/>
                    <a:pt x="29" y="45"/>
                  </a:cubicBezTo>
                  <a:cubicBezTo>
                    <a:pt x="28" y="44"/>
                    <a:pt x="26" y="44"/>
                    <a:pt x="27" y="43"/>
                  </a:cubicBezTo>
                  <a:cubicBezTo>
                    <a:pt x="29" y="41"/>
                    <a:pt x="33" y="39"/>
                    <a:pt x="32" y="37"/>
                  </a:cubicBezTo>
                  <a:cubicBezTo>
                    <a:pt x="30" y="36"/>
                    <a:pt x="28" y="35"/>
                    <a:pt x="26" y="36"/>
                  </a:cubicBezTo>
                  <a:cubicBezTo>
                    <a:pt x="25" y="36"/>
                    <a:pt x="26" y="35"/>
                    <a:pt x="26" y="34"/>
                  </a:cubicBezTo>
                  <a:cubicBezTo>
                    <a:pt x="26" y="33"/>
                    <a:pt x="25" y="32"/>
                    <a:pt x="25" y="31"/>
                  </a:cubicBezTo>
                  <a:cubicBezTo>
                    <a:pt x="25" y="30"/>
                    <a:pt x="24" y="27"/>
                    <a:pt x="23" y="27"/>
                  </a:cubicBezTo>
                  <a:cubicBezTo>
                    <a:pt x="21" y="26"/>
                    <a:pt x="19" y="25"/>
                    <a:pt x="19" y="23"/>
                  </a:cubicBezTo>
                  <a:cubicBezTo>
                    <a:pt x="18" y="21"/>
                    <a:pt x="19" y="19"/>
                    <a:pt x="17" y="18"/>
                  </a:cubicBezTo>
                  <a:cubicBezTo>
                    <a:pt x="15" y="17"/>
                    <a:pt x="14" y="17"/>
                    <a:pt x="15" y="15"/>
                  </a:cubicBezTo>
                  <a:cubicBezTo>
                    <a:pt x="16" y="14"/>
                    <a:pt x="17" y="12"/>
                    <a:pt x="18" y="11"/>
                  </a:cubicBezTo>
                  <a:cubicBezTo>
                    <a:pt x="19" y="10"/>
                    <a:pt x="21" y="8"/>
                    <a:pt x="19" y="7"/>
                  </a:cubicBezTo>
                  <a:cubicBezTo>
                    <a:pt x="18" y="7"/>
                    <a:pt x="16" y="7"/>
                    <a:pt x="15" y="7"/>
                  </a:cubicBezTo>
                  <a:cubicBezTo>
                    <a:pt x="14" y="7"/>
                    <a:pt x="9" y="9"/>
                    <a:pt x="9" y="8"/>
                  </a:cubicBezTo>
                  <a:cubicBezTo>
                    <a:pt x="10" y="8"/>
                    <a:pt x="12" y="5"/>
                    <a:pt x="12" y="4"/>
                  </a:cubicBezTo>
                  <a:cubicBezTo>
                    <a:pt x="13" y="4"/>
                    <a:pt x="15" y="3"/>
                    <a:pt x="15" y="1"/>
                  </a:cubicBezTo>
                  <a:cubicBezTo>
                    <a:pt x="15" y="0"/>
                    <a:pt x="13" y="1"/>
                    <a:pt x="11" y="1"/>
                  </a:cubicBezTo>
                  <a:cubicBezTo>
                    <a:pt x="10" y="1"/>
                    <a:pt x="7" y="1"/>
                    <a:pt x="6" y="1"/>
                  </a:cubicBezTo>
                  <a:cubicBezTo>
                    <a:pt x="6" y="1"/>
                    <a:pt x="5" y="3"/>
                    <a:pt x="5" y="4"/>
                  </a:cubicBezTo>
                  <a:cubicBezTo>
                    <a:pt x="4" y="4"/>
                    <a:pt x="7" y="5"/>
                    <a:pt x="6" y="6"/>
                  </a:cubicBezTo>
                  <a:cubicBezTo>
                    <a:pt x="5" y="6"/>
                    <a:pt x="3" y="7"/>
                    <a:pt x="4" y="8"/>
                  </a:cubicBezTo>
                  <a:cubicBezTo>
                    <a:pt x="4" y="8"/>
                    <a:pt x="4" y="10"/>
                    <a:pt x="3" y="10"/>
                  </a:cubicBezTo>
                  <a:cubicBezTo>
                    <a:pt x="2" y="10"/>
                    <a:pt x="2" y="8"/>
                    <a:pt x="2" y="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2" name="Freeform 10"/>
            <p:cNvSpPr>
              <a:spLocks/>
            </p:cNvSpPr>
            <p:nvPr/>
          </p:nvSpPr>
          <p:spPr bwMode="auto">
            <a:xfrm>
              <a:off x="3940997" y="3024773"/>
              <a:ext cx="105251" cy="101041"/>
            </a:xfrm>
            <a:custGeom>
              <a:avLst/>
              <a:gdLst>
                <a:gd name="T0" fmla="*/ 7 w 21"/>
                <a:gd name="T1" fmla="*/ 20 h 20"/>
                <a:gd name="T2" fmla="*/ 13 w 21"/>
                <a:gd name="T3" fmla="*/ 17 h 20"/>
                <a:gd name="T4" fmla="*/ 18 w 21"/>
                <a:gd name="T5" fmla="*/ 16 h 20"/>
                <a:gd name="T6" fmla="*/ 21 w 21"/>
                <a:gd name="T7" fmla="*/ 10 h 20"/>
                <a:gd name="T8" fmla="*/ 20 w 21"/>
                <a:gd name="T9" fmla="*/ 6 h 20"/>
                <a:gd name="T10" fmla="*/ 20 w 21"/>
                <a:gd name="T11" fmla="*/ 6 h 20"/>
                <a:gd name="T12" fmla="*/ 20 w 21"/>
                <a:gd name="T13" fmla="*/ 6 h 20"/>
                <a:gd name="T14" fmla="*/ 21 w 21"/>
                <a:gd name="T15" fmla="*/ 5 h 20"/>
                <a:gd name="T16" fmla="*/ 21 w 21"/>
                <a:gd name="T17" fmla="*/ 5 h 20"/>
                <a:gd name="T18" fmla="*/ 21 w 21"/>
                <a:gd name="T19" fmla="*/ 4 h 20"/>
                <a:gd name="T20" fmla="*/ 21 w 21"/>
                <a:gd name="T21" fmla="*/ 4 h 20"/>
                <a:gd name="T22" fmla="*/ 21 w 21"/>
                <a:gd name="T23" fmla="*/ 4 h 20"/>
                <a:gd name="T24" fmla="*/ 21 w 21"/>
                <a:gd name="T25" fmla="*/ 3 h 20"/>
                <a:gd name="T26" fmla="*/ 21 w 21"/>
                <a:gd name="T27" fmla="*/ 3 h 20"/>
                <a:gd name="T28" fmla="*/ 21 w 21"/>
                <a:gd name="T29" fmla="*/ 2 h 20"/>
                <a:gd name="T30" fmla="*/ 21 w 21"/>
                <a:gd name="T31" fmla="*/ 2 h 20"/>
                <a:gd name="T32" fmla="*/ 21 w 21"/>
                <a:gd name="T33" fmla="*/ 2 h 20"/>
                <a:gd name="T34" fmla="*/ 21 w 21"/>
                <a:gd name="T35" fmla="*/ 1 h 20"/>
                <a:gd name="T36" fmla="*/ 21 w 21"/>
                <a:gd name="T37" fmla="*/ 1 h 20"/>
                <a:gd name="T38" fmla="*/ 21 w 21"/>
                <a:gd name="T39" fmla="*/ 1 h 20"/>
                <a:gd name="T40" fmla="*/ 21 w 21"/>
                <a:gd name="T41" fmla="*/ 1 h 20"/>
                <a:gd name="T42" fmla="*/ 21 w 21"/>
                <a:gd name="T43" fmla="*/ 0 h 20"/>
                <a:gd name="T44" fmla="*/ 20 w 21"/>
                <a:gd name="T45" fmla="*/ 0 h 20"/>
                <a:gd name="T46" fmla="*/ 20 w 21"/>
                <a:gd name="T47" fmla="*/ 0 h 20"/>
                <a:gd name="T48" fmla="*/ 20 w 21"/>
                <a:gd name="T49" fmla="*/ 0 h 20"/>
                <a:gd name="T50" fmla="*/ 19 w 21"/>
                <a:gd name="T51" fmla="*/ 0 h 20"/>
                <a:gd name="T52" fmla="*/ 19 w 21"/>
                <a:gd name="T53" fmla="*/ 0 h 20"/>
                <a:gd name="T54" fmla="*/ 18 w 21"/>
                <a:gd name="T55" fmla="*/ 0 h 20"/>
                <a:gd name="T56" fmla="*/ 18 w 21"/>
                <a:gd name="T57" fmla="*/ 0 h 20"/>
                <a:gd name="T58" fmla="*/ 17 w 21"/>
                <a:gd name="T59" fmla="*/ 0 h 20"/>
                <a:gd name="T60" fmla="*/ 16 w 21"/>
                <a:gd name="T61" fmla="*/ 0 h 20"/>
                <a:gd name="T62" fmla="*/ 16 w 21"/>
                <a:gd name="T63" fmla="*/ 0 h 20"/>
                <a:gd name="T64" fmla="*/ 15 w 21"/>
                <a:gd name="T65" fmla="*/ 0 h 20"/>
                <a:gd name="T66" fmla="*/ 15 w 21"/>
                <a:gd name="T67" fmla="*/ 0 h 20"/>
                <a:gd name="T68" fmla="*/ 14 w 21"/>
                <a:gd name="T69" fmla="*/ 0 h 20"/>
                <a:gd name="T70" fmla="*/ 10 w 21"/>
                <a:gd name="T71" fmla="*/ 2 h 20"/>
                <a:gd name="T72" fmla="*/ 11 w 21"/>
                <a:gd name="T73" fmla="*/ 5 h 20"/>
                <a:gd name="T74" fmla="*/ 5 w 21"/>
                <a:gd name="T75" fmla="*/ 5 h 20"/>
                <a:gd name="T76" fmla="*/ 7 w 21"/>
                <a:gd name="T77" fmla="*/ 7 h 20"/>
                <a:gd name="T78" fmla="*/ 5 w 21"/>
                <a:gd name="T79" fmla="*/ 9 h 20"/>
                <a:gd name="T80" fmla="*/ 7 w 21"/>
                <a:gd name="T81" fmla="*/ 10 h 20"/>
                <a:gd name="T82" fmla="*/ 8 w 21"/>
                <a:gd name="T83" fmla="*/ 11 h 20"/>
                <a:gd name="T84" fmla="*/ 7 w 21"/>
                <a:gd name="T85" fmla="*/ 14 h 20"/>
                <a:gd name="T86" fmla="*/ 7 w 21"/>
                <a:gd name="T87" fmla="*/ 15 h 20"/>
                <a:gd name="T88" fmla="*/ 3 w 21"/>
                <a:gd name="T89" fmla="*/ 17 h 20"/>
                <a:gd name="T90" fmla="*/ 7 w 21"/>
                <a:gd name="T91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1" h="20">
                  <a:moveTo>
                    <a:pt x="7" y="20"/>
                  </a:moveTo>
                  <a:cubicBezTo>
                    <a:pt x="9" y="20"/>
                    <a:pt x="12" y="18"/>
                    <a:pt x="13" y="17"/>
                  </a:cubicBezTo>
                  <a:cubicBezTo>
                    <a:pt x="14" y="17"/>
                    <a:pt x="17" y="16"/>
                    <a:pt x="18" y="16"/>
                  </a:cubicBezTo>
                  <a:cubicBezTo>
                    <a:pt x="19" y="16"/>
                    <a:pt x="21" y="12"/>
                    <a:pt x="21" y="10"/>
                  </a:cubicBezTo>
                  <a:cubicBezTo>
                    <a:pt x="21" y="9"/>
                    <a:pt x="20" y="7"/>
                    <a:pt x="20" y="6"/>
                  </a:cubicBezTo>
                  <a:cubicBezTo>
                    <a:pt x="20" y="6"/>
                    <a:pt x="20" y="6"/>
                    <a:pt x="20" y="6"/>
                  </a:cubicBezTo>
                  <a:cubicBezTo>
                    <a:pt x="20" y="6"/>
                    <a:pt x="20" y="6"/>
                    <a:pt x="20" y="6"/>
                  </a:cubicBezTo>
                  <a:cubicBezTo>
                    <a:pt x="20" y="5"/>
                    <a:pt x="20" y="5"/>
                    <a:pt x="21" y="5"/>
                  </a:cubicBezTo>
                  <a:cubicBezTo>
                    <a:pt x="21" y="5"/>
                    <a:pt x="21" y="5"/>
                    <a:pt x="21" y="5"/>
                  </a:cubicBezTo>
                  <a:cubicBezTo>
                    <a:pt x="21" y="5"/>
                    <a:pt x="21" y="4"/>
                    <a:pt x="21" y="4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21" y="3"/>
                    <a:pt x="21" y="3"/>
                    <a:pt x="21" y="2"/>
                  </a:cubicBezTo>
                  <a:cubicBezTo>
                    <a:pt x="21" y="2"/>
                    <a:pt x="21" y="2"/>
                    <a:pt x="21" y="2"/>
                  </a:cubicBezTo>
                  <a:cubicBezTo>
                    <a:pt x="21" y="2"/>
                    <a:pt x="21" y="2"/>
                    <a:pt x="21" y="2"/>
                  </a:cubicBezTo>
                  <a:cubicBezTo>
                    <a:pt x="21" y="2"/>
                    <a:pt x="21" y="2"/>
                    <a:pt x="21" y="1"/>
                  </a:cubicBezTo>
                  <a:cubicBezTo>
                    <a:pt x="21" y="1"/>
                    <a:pt x="21" y="1"/>
                    <a:pt x="21" y="1"/>
                  </a:cubicBezTo>
                  <a:cubicBezTo>
                    <a:pt x="21" y="1"/>
                    <a:pt x="21" y="1"/>
                    <a:pt x="21" y="1"/>
                  </a:cubicBezTo>
                  <a:cubicBezTo>
                    <a:pt x="21" y="1"/>
                    <a:pt x="21" y="1"/>
                    <a:pt x="21" y="1"/>
                  </a:cubicBezTo>
                  <a:cubicBezTo>
                    <a:pt x="21" y="1"/>
                    <a:pt x="21" y="1"/>
                    <a:pt x="21" y="0"/>
                  </a:cubicBezTo>
                  <a:cubicBezTo>
                    <a:pt x="21" y="0"/>
                    <a:pt x="21" y="0"/>
                    <a:pt x="20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7" y="0"/>
                    <a:pt x="17" y="0"/>
                    <a:pt x="1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0"/>
                    <a:pt x="15" y="0"/>
                    <a:pt x="15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5" y="0"/>
                    <a:pt x="15" y="0"/>
                    <a:pt x="14" y="0"/>
                  </a:cubicBezTo>
                  <a:cubicBezTo>
                    <a:pt x="12" y="0"/>
                    <a:pt x="10" y="2"/>
                    <a:pt x="10" y="2"/>
                  </a:cubicBezTo>
                  <a:cubicBezTo>
                    <a:pt x="10" y="3"/>
                    <a:pt x="11" y="4"/>
                    <a:pt x="11" y="5"/>
                  </a:cubicBezTo>
                  <a:cubicBezTo>
                    <a:pt x="10" y="5"/>
                    <a:pt x="8" y="5"/>
                    <a:pt x="5" y="5"/>
                  </a:cubicBezTo>
                  <a:cubicBezTo>
                    <a:pt x="3" y="5"/>
                    <a:pt x="6" y="6"/>
                    <a:pt x="7" y="7"/>
                  </a:cubicBezTo>
                  <a:cubicBezTo>
                    <a:pt x="8" y="8"/>
                    <a:pt x="7" y="8"/>
                    <a:pt x="5" y="9"/>
                  </a:cubicBezTo>
                  <a:cubicBezTo>
                    <a:pt x="3" y="10"/>
                    <a:pt x="5" y="10"/>
                    <a:pt x="7" y="10"/>
                  </a:cubicBezTo>
                  <a:cubicBezTo>
                    <a:pt x="9" y="10"/>
                    <a:pt x="9" y="11"/>
                    <a:pt x="8" y="11"/>
                  </a:cubicBezTo>
                  <a:cubicBezTo>
                    <a:pt x="7" y="12"/>
                    <a:pt x="5" y="14"/>
                    <a:pt x="7" y="14"/>
                  </a:cubicBezTo>
                  <a:cubicBezTo>
                    <a:pt x="8" y="14"/>
                    <a:pt x="8" y="14"/>
                    <a:pt x="7" y="15"/>
                  </a:cubicBezTo>
                  <a:cubicBezTo>
                    <a:pt x="6" y="15"/>
                    <a:pt x="5" y="16"/>
                    <a:pt x="3" y="17"/>
                  </a:cubicBezTo>
                  <a:cubicBezTo>
                    <a:pt x="0" y="18"/>
                    <a:pt x="5" y="20"/>
                    <a:pt x="7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3" name="Freeform 11"/>
            <p:cNvSpPr>
              <a:spLocks/>
            </p:cNvSpPr>
            <p:nvPr/>
          </p:nvSpPr>
          <p:spPr bwMode="auto">
            <a:xfrm>
              <a:off x="4031513" y="2919522"/>
              <a:ext cx="25260" cy="31575"/>
            </a:xfrm>
            <a:custGeom>
              <a:avLst/>
              <a:gdLst>
                <a:gd name="T0" fmla="*/ 1 w 5"/>
                <a:gd name="T1" fmla="*/ 5 h 6"/>
                <a:gd name="T2" fmla="*/ 4 w 5"/>
                <a:gd name="T3" fmla="*/ 1 h 6"/>
                <a:gd name="T4" fmla="*/ 0 w 5"/>
                <a:gd name="T5" fmla="*/ 3 h 6"/>
                <a:gd name="T6" fmla="*/ 1 w 5"/>
                <a:gd name="T7" fmla="*/ 5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6">
                  <a:moveTo>
                    <a:pt x="1" y="5"/>
                  </a:moveTo>
                  <a:cubicBezTo>
                    <a:pt x="2" y="4"/>
                    <a:pt x="5" y="0"/>
                    <a:pt x="4" y="1"/>
                  </a:cubicBezTo>
                  <a:cubicBezTo>
                    <a:pt x="2" y="2"/>
                    <a:pt x="0" y="3"/>
                    <a:pt x="0" y="3"/>
                  </a:cubicBezTo>
                  <a:cubicBezTo>
                    <a:pt x="0" y="4"/>
                    <a:pt x="0" y="6"/>
                    <a:pt x="1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4" name="Freeform 12"/>
            <p:cNvSpPr>
              <a:spLocks/>
            </p:cNvSpPr>
            <p:nvPr/>
          </p:nvSpPr>
          <p:spPr bwMode="auto">
            <a:xfrm>
              <a:off x="4315690" y="3348943"/>
              <a:ext cx="25260" cy="46311"/>
            </a:xfrm>
            <a:custGeom>
              <a:avLst/>
              <a:gdLst>
                <a:gd name="T0" fmla="*/ 4 w 5"/>
                <a:gd name="T1" fmla="*/ 5 h 9"/>
                <a:gd name="T2" fmla="*/ 4 w 5"/>
                <a:gd name="T3" fmla="*/ 1 h 9"/>
                <a:gd name="T4" fmla="*/ 1 w 5"/>
                <a:gd name="T5" fmla="*/ 4 h 9"/>
                <a:gd name="T6" fmla="*/ 2 w 5"/>
                <a:gd name="T7" fmla="*/ 9 h 9"/>
                <a:gd name="T8" fmla="*/ 4 w 5"/>
                <a:gd name="T9" fmla="*/ 5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9">
                  <a:moveTo>
                    <a:pt x="4" y="5"/>
                  </a:moveTo>
                  <a:cubicBezTo>
                    <a:pt x="5" y="4"/>
                    <a:pt x="5" y="0"/>
                    <a:pt x="4" y="1"/>
                  </a:cubicBezTo>
                  <a:cubicBezTo>
                    <a:pt x="3" y="1"/>
                    <a:pt x="1" y="3"/>
                    <a:pt x="1" y="4"/>
                  </a:cubicBezTo>
                  <a:cubicBezTo>
                    <a:pt x="0" y="5"/>
                    <a:pt x="1" y="9"/>
                    <a:pt x="2" y="9"/>
                  </a:cubicBezTo>
                  <a:cubicBezTo>
                    <a:pt x="3" y="9"/>
                    <a:pt x="4" y="7"/>
                    <a:pt x="4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5" name="Freeform 13"/>
            <p:cNvSpPr>
              <a:spLocks/>
            </p:cNvSpPr>
            <p:nvPr/>
          </p:nvSpPr>
          <p:spPr bwMode="auto">
            <a:xfrm>
              <a:off x="4305165" y="3388939"/>
              <a:ext cx="39995" cy="65256"/>
            </a:xfrm>
            <a:custGeom>
              <a:avLst/>
              <a:gdLst>
                <a:gd name="T0" fmla="*/ 2 w 8"/>
                <a:gd name="T1" fmla="*/ 13 h 13"/>
                <a:gd name="T2" fmla="*/ 6 w 8"/>
                <a:gd name="T3" fmla="*/ 10 h 13"/>
                <a:gd name="T4" fmla="*/ 5 w 8"/>
                <a:gd name="T5" fmla="*/ 3 h 13"/>
                <a:gd name="T6" fmla="*/ 2 w 8"/>
                <a:gd name="T7" fmla="*/ 7 h 13"/>
                <a:gd name="T8" fmla="*/ 2 w 8"/>
                <a:gd name="T9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13">
                  <a:moveTo>
                    <a:pt x="2" y="13"/>
                  </a:moveTo>
                  <a:cubicBezTo>
                    <a:pt x="3" y="13"/>
                    <a:pt x="6" y="11"/>
                    <a:pt x="6" y="10"/>
                  </a:cubicBezTo>
                  <a:cubicBezTo>
                    <a:pt x="7" y="9"/>
                    <a:pt x="8" y="0"/>
                    <a:pt x="5" y="3"/>
                  </a:cubicBezTo>
                  <a:cubicBezTo>
                    <a:pt x="4" y="3"/>
                    <a:pt x="2" y="6"/>
                    <a:pt x="2" y="7"/>
                  </a:cubicBezTo>
                  <a:cubicBezTo>
                    <a:pt x="2" y="8"/>
                    <a:pt x="0" y="12"/>
                    <a:pt x="2" y="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6" name="Freeform 14"/>
            <p:cNvSpPr>
              <a:spLocks/>
            </p:cNvSpPr>
            <p:nvPr/>
          </p:nvSpPr>
          <p:spPr bwMode="auto">
            <a:xfrm>
              <a:off x="4389365" y="3475244"/>
              <a:ext cx="65256" cy="33680"/>
            </a:xfrm>
            <a:custGeom>
              <a:avLst/>
              <a:gdLst>
                <a:gd name="T0" fmla="*/ 9 w 13"/>
                <a:gd name="T1" fmla="*/ 1 h 7"/>
                <a:gd name="T2" fmla="*/ 4 w 13"/>
                <a:gd name="T3" fmla="*/ 1 h 7"/>
                <a:gd name="T4" fmla="*/ 1 w 13"/>
                <a:gd name="T5" fmla="*/ 1 h 7"/>
                <a:gd name="T6" fmla="*/ 5 w 13"/>
                <a:gd name="T7" fmla="*/ 4 h 7"/>
                <a:gd name="T8" fmla="*/ 10 w 13"/>
                <a:gd name="T9" fmla="*/ 7 h 7"/>
                <a:gd name="T10" fmla="*/ 12 w 13"/>
                <a:gd name="T11" fmla="*/ 4 h 7"/>
                <a:gd name="T12" fmla="*/ 13 w 13"/>
                <a:gd name="T13" fmla="*/ 1 h 7"/>
                <a:gd name="T14" fmla="*/ 9 w 13"/>
                <a:gd name="T15" fmla="*/ 1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" h="7">
                  <a:moveTo>
                    <a:pt x="9" y="1"/>
                  </a:moveTo>
                  <a:cubicBezTo>
                    <a:pt x="7" y="2"/>
                    <a:pt x="5" y="1"/>
                    <a:pt x="4" y="1"/>
                  </a:cubicBezTo>
                  <a:cubicBezTo>
                    <a:pt x="2" y="0"/>
                    <a:pt x="1" y="1"/>
                    <a:pt x="1" y="1"/>
                  </a:cubicBezTo>
                  <a:cubicBezTo>
                    <a:pt x="0" y="2"/>
                    <a:pt x="4" y="3"/>
                    <a:pt x="5" y="4"/>
                  </a:cubicBezTo>
                  <a:cubicBezTo>
                    <a:pt x="7" y="4"/>
                    <a:pt x="8" y="6"/>
                    <a:pt x="10" y="7"/>
                  </a:cubicBezTo>
                  <a:cubicBezTo>
                    <a:pt x="13" y="7"/>
                    <a:pt x="12" y="5"/>
                    <a:pt x="12" y="4"/>
                  </a:cubicBezTo>
                  <a:cubicBezTo>
                    <a:pt x="12" y="3"/>
                    <a:pt x="12" y="2"/>
                    <a:pt x="13" y="1"/>
                  </a:cubicBezTo>
                  <a:cubicBezTo>
                    <a:pt x="13" y="0"/>
                    <a:pt x="10" y="1"/>
                    <a:pt x="9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7" name="Freeform 15"/>
            <p:cNvSpPr>
              <a:spLocks/>
            </p:cNvSpPr>
            <p:nvPr/>
          </p:nvSpPr>
          <p:spPr bwMode="auto">
            <a:xfrm>
              <a:off x="4618812" y="3534186"/>
              <a:ext cx="75781" cy="10525"/>
            </a:xfrm>
            <a:custGeom>
              <a:avLst/>
              <a:gdLst>
                <a:gd name="T0" fmla="*/ 12 w 15"/>
                <a:gd name="T1" fmla="*/ 2 h 2"/>
                <a:gd name="T2" fmla="*/ 5 w 15"/>
                <a:gd name="T3" fmla="*/ 0 h 2"/>
                <a:gd name="T4" fmla="*/ 1 w 15"/>
                <a:gd name="T5" fmla="*/ 0 h 2"/>
                <a:gd name="T6" fmla="*/ 5 w 15"/>
                <a:gd name="T7" fmla="*/ 2 h 2"/>
                <a:gd name="T8" fmla="*/ 12 w 15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2">
                  <a:moveTo>
                    <a:pt x="12" y="2"/>
                  </a:moveTo>
                  <a:cubicBezTo>
                    <a:pt x="15" y="2"/>
                    <a:pt x="7" y="0"/>
                    <a:pt x="5" y="0"/>
                  </a:cubicBezTo>
                  <a:cubicBezTo>
                    <a:pt x="3" y="0"/>
                    <a:pt x="1" y="0"/>
                    <a:pt x="1" y="0"/>
                  </a:cubicBezTo>
                  <a:cubicBezTo>
                    <a:pt x="0" y="1"/>
                    <a:pt x="4" y="1"/>
                    <a:pt x="5" y="2"/>
                  </a:cubicBezTo>
                  <a:cubicBezTo>
                    <a:pt x="6" y="2"/>
                    <a:pt x="9" y="2"/>
                    <a:pt x="12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8" name="Freeform 16"/>
            <p:cNvSpPr>
              <a:spLocks/>
            </p:cNvSpPr>
            <p:nvPr/>
          </p:nvSpPr>
          <p:spPr bwMode="auto">
            <a:xfrm>
              <a:off x="3722075" y="2092248"/>
              <a:ext cx="3999533" cy="3149107"/>
            </a:xfrm>
            <a:custGeom>
              <a:avLst/>
              <a:gdLst>
                <a:gd name="T0" fmla="*/ 539 w 803"/>
                <a:gd name="T1" fmla="*/ 441 h 631"/>
                <a:gd name="T2" fmla="*/ 515 w 803"/>
                <a:gd name="T3" fmla="*/ 398 h 631"/>
                <a:gd name="T4" fmla="*/ 537 w 803"/>
                <a:gd name="T5" fmla="*/ 365 h 631"/>
                <a:gd name="T6" fmla="*/ 589 w 803"/>
                <a:gd name="T7" fmla="*/ 334 h 631"/>
                <a:gd name="T8" fmla="*/ 592 w 803"/>
                <a:gd name="T9" fmla="*/ 269 h 631"/>
                <a:gd name="T10" fmla="*/ 617 w 803"/>
                <a:gd name="T11" fmla="*/ 293 h 631"/>
                <a:gd name="T12" fmla="*/ 640 w 803"/>
                <a:gd name="T13" fmla="*/ 195 h 631"/>
                <a:gd name="T14" fmla="*/ 691 w 803"/>
                <a:gd name="T15" fmla="*/ 163 h 631"/>
                <a:gd name="T16" fmla="*/ 702 w 803"/>
                <a:gd name="T17" fmla="*/ 198 h 631"/>
                <a:gd name="T18" fmla="*/ 729 w 803"/>
                <a:gd name="T19" fmla="*/ 156 h 631"/>
                <a:gd name="T20" fmla="*/ 766 w 803"/>
                <a:gd name="T21" fmla="*/ 111 h 631"/>
                <a:gd name="T22" fmla="*/ 764 w 803"/>
                <a:gd name="T23" fmla="*/ 94 h 631"/>
                <a:gd name="T24" fmla="*/ 662 w 803"/>
                <a:gd name="T25" fmla="*/ 72 h 631"/>
                <a:gd name="T26" fmla="*/ 599 w 803"/>
                <a:gd name="T27" fmla="*/ 71 h 631"/>
                <a:gd name="T28" fmla="*/ 543 w 803"/>
                <a:gd name="T29" fmla="*/ 46 h 631"/>
                <a:gd name="T30" fmla="*/ 500 w 803"/>
                <a:gd name="T31" fmla="*/ 18 h 631"/>
                <a:gd name="T32" fmla="*/ 443 w 803"/>
                <a:gd name="T33" fmla="*/ 21 h 631"/>
                <a:gd name="T34" fmla="*/ 380 w 803"/>
                <a:gd name="T35" fmla="*/ 55 h 631"/>
                <a:gd name="T36" fmla="*/ 380 w 803"/>
                <a:gd name="T37" fmla="*/ 95 h 631"/>
                <a:gd name="T38" fmla="*/ 340 w 803"/>
                <a:gd name="T39" fmla="*/ 80 h 631"/>
                <a:gd name="T40" fmla="*/ 297 w 803"/>
                <a:gd name="T41" fmla="*/ 88 h 631"/>
                <a:gd name="T42" fmla="*/ 234 w 803"/>
                <a:gd name="T43" fmla="*/ 120 h 631"/>
                <a:gd name="T44" fmla="*/ 237 w 803"/>
                <a:gd name="T45" fmla="*/ 93 h 631"/>
                <a:gd name="T46" fmla="*/ 199 w 803"/>
                <a:gd name="T47" fmla="*/ 71 h 631"/>
                <a:gd name="T48" fmla="*/ 172 w 803"/>
                <a:gd name="T49" fmla="*/ 81 h 631"/>
                <a:gd name="T50" fmla="*/ 142 w 803"/>
                <a:gd name="T51" fmla="*/ 111 h 631"/>
                <a:gd name="T52" fmla="*/ 110 w 803"/>
                <a:gd name="T53" fmla="*/ 151 h 631"/>
                <a:gd name="T54" fmla="*/ 134 w 803"/>
                <a:gd name="T55" fmla="*/ 168 h 631"/>
                <a:gd name="T56" fmla="*/ 177 w 803"/>
                <a:gd name="T57" fmla="*/ 116 h 631"/>
                <a:gd name="T58" fmla="*/ 198 w 803"/>
                <a:gd name="T59" fmla="*/ 159 h 631"/>
                <a:gd name="T60" fmla="*/ 165 w 803"/>
                <a:gd name="T61" fmla="*/ 191 h 631"/>
                <a:gd name="T62" fmla="*/ 127 w 803"/>
                <a:gd name="T63" fmla="*/ 186 h 631"/>
                <a:gd name="T64" fmla="*/ 114 w 803"/>
                <a:gd name="T65" fmla="*/ 196 h 631"/>
                <a:gd name="T66" fmla="*/ 77 w 803"/>
                <a:gd name="T67" fmla="*/ 233 h 631"/>
                <a:gd name="T68" fmla="*/ 50 w 803"/>
                <a:gd name="T69" fmla="*/ 282 h 631"/>
                <a:gd name="T70" fmla="*/ 114 w 803"/>
                <a:gd name="T71" fmla="*/ 250 h 631"/>
                <a:gd name="T72" fmla="*/ 136 w 803"/>
                <a:gd name="T73" fmla="*/ 243 h 631"/>
                <a:gd name="T74" fmla="*/ 163 w 803"/>
                <a:gd name="T75" fmla="*/ 258 h 631"/>
                <a:gd name="T76" fmla="*/ 183 w 803"/>
                <a:gd name="T77" fmla="*/ 274 h 631"/>
                <a:gd name="T78" fmla="*/ 200 w 803"/>
                <a:gd name="T79" fmla="*/ 250 h 631"/>
                <a:gd name="T80" fmla="*/ 241 w 803"/>
                <a:gd name="T81" fmla="*/ 230 h 631"/>
                <a:gd name="T82" fmla="*/ 214 w 803"/>
                <a:gd name="T83" fmla="*/ 260 h 631"/>
                <a:gd name="T84" fmla="*/ 232 w 803"/>
                <a:gd name="T85" fmla="*/ 286 h 631"/>
                <a:gd name="T86" fmla="*/ 175 w 803"/>
                <a:gd name="T87" fmla="*/ 302 h 631"/>
                <a:gd name="T88" fmla="*/ 86 w 803"/>
                <a:gd name="T89" fmla="*/ 285 h 631"/>
                <a:gd name="T90" fmla="*/ 5 w 803"/>
                <a:gd name="T91" fmla="*/ 351 h 631"/>
                <a:gd name="T92" fmla="*/ 8 w 803"/>
                <a:gd name="T93" fmla="*/ 399 h 631"/>
                <a:gd name="T94" fmla="*/ 54 w 803"/>
                <a:gd name="T95" fmla="*/ 424 h 631"/>
                <a:gd name="T96" fmla="*/ 81 w 803"/>
                <a:gd name="T97" fmla="*/ 420 h 631"/>
                <a:gd name="T98" fmla="*/ 117 w 803"/>
                <a:gd name="T99" fmla="*/ 438 h 631"/>
                <a:gd name="T100" fmla="*/ 125 w 803"/>
                <a:gd name="T101" fmla="*/ 471 h 631"/>
                <a:gd name="T102" fmla="*/ 137 w 803"/>
                <a:gd name="T103" fmla="*/ 582 h 631"/>
                <a:gd name="T104" fmla="*/ 210 w 803"/>
                <a:gd name="T105" fmla="*/ 603 h 631"/>
                <a:gd name="T106" fmla="*/ 252 w 803"/>
                <a:gd name="T107" fmla="*/ 489 h 631"/>
                <a:gd name="T108" fmla="*/ 267 w 803"/>
                <a:gd name="T109" fmla="*/ 395 h 631"/>
                <a:gd name="T110" fmla="*/ 225 w 803"/>
                <a:gd name="T111" fmla="*/ 324 h 631"/>
                <a:gd name="T112" fmla="*/ 306 w 803"/>
                <a:gd name="T113" fmla="*/ 374 h 631"/>
                <a:gd name="T114" fmla="*/ 321 w 803"/>
                <a:gd name="T115" fmla="*/ 339 h 631"/>
                <a:gd name="T116" fmla="*/ 283 w 803"/>
                <a:gd name="T117" fmla="*/ 317 h 631"/>
                <a:gd name="T118" fmla="*/ 346 w 803"/>
                <a:gd name="T119" fmla="*/ 336 h 631"/>
                <a:gd name="T120" fmla="*/ 428 w 803"/>
                <a:gd name="T121" fmla="*/ 392 h 631"/>
                <a:gd name="T122" fmla="*/ 475 w 803"/>
                <a:gd name="T123" fmla="*/ 354 h 6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03" h="631">
                  <a:moveTo>
                    <a:pt x="500" y="374"/>
                  </a:moveTo>
                  <a:cubicBezTo>
                    <a:pt x="501" y="374"/>
                    <a:pt x="504" y="381"/>
                    <a:pt x="505" y="384"/>
                  </a:cubicBezTo>
                  <a:cubicBezTo>
                    <a:pt x="507" y="387"/>
                    <a:pt x="507" y="389"/>
                    <a:pt x="508" y="391"/>
                  </a:cubicBezTo>
                  <a:cubicBezTo>
                    <a:pt x="510" y="392"/>
                    <a:pt x="508" y="396"/>
                    <a:pt x="509" y="397"/>
                  </a:cubicBezTo>
                  <a:cubicBezTo>
                    <a:pt x="509" y="398"/>
                    <a:pt x="509" y="399"/>
                    <a:pt x="508" y="400"/>
                  </a:cubicBezTo>
                  <a:cubicBezTo>
                    <a:pt x="508" y="401"/>
                    <a:pt x="508" y="401"/>
                    <a:pt x="508" y="402"/>
                  </a:cubicBezTo>
                  <a:cubicBezTo>
                    <a:pt x="508" y="402"/>
                    <a:pt x="508" y="403"/>
                    <a:pt x="508" y="403"/>
                  </a:cubicBezTo>
                  <a:cubicBezTo>
                    <a:pt x="508" y="403"/>
                    <a:pt x="508" y="403"/>
                    <a:pt x="508" y="403"/>
                  </a:cubicBezTo>
                  <a:cubicBezTo>
                    <a:pt x="508" y="403"/>
                    <a:pt x="508" y="403"/>
                    <a:pt x="508" y="403"/>
                  </a:cubicBezTo>
                  <a:cubicBezTo>
                    <a:pt x="508" y="403"/>
                    <a:pt x="508" y="404"/>
                    <a:pt x="508" y="404"/>
                  </a:cubicBezTo>
                  <a:cubicBezTo>
                    <a:pt x="508" y="405"/>
                    <a:pt x="509" y="409"/>
                    <a:pt x="510" y="410"/>
                  </a:cubicBezTo>
                  <a:cubicBezTo>
                    <a:pt x="511" y="411"/>
                    <a:pt x="512" y="411"/>
                    <a:pt x="513" y="412"/>
                  </a:cubicBezTo>
                  <a:cubicBezTo>
                    <a:pt x="513" y="412"/>
                    <a:pt x="513" y="412"/>
                    <a:pt x="513" y="412"/>
                  </a:cubicBezTo>
                  <a:cubicBezTo>
                    <a:pt x="513" y="412"/>
                    <a:pt x="513" y="413"/>
                    <a:pt x="513" y="413"/>
                  </a:cubicBezTo>
                  <a:cubicBezTo>
                    <a:pt x="514" y="413"/>
                    <a:pt x="514" y="413"/>
                    <a:pt x="514" y="413"/>
                  </a:cubicBezTo>
                  <a:cubicBezTo>
                    <a:pt x="514" y="413"/>
                    <a:pt x="514" y="413"/>
                    <a:pt x="515" y="414"/>
                  </a:cubicBezTo>
                  <a:cubicBezTo>
                    <a:pt x="515" y="414"/>
                    <a:pt x="515" y="414"/>
                    <a:pt x="515" y="414"/>
                  </a:cubicBezTo>
                  <a:cubicBezTo>
                    <a:pt x="515" y="414"/>
                    <a:pt x="516" y="414"/>
                    <a:pt x="516" y="415"/>
                  </a:cubicBezTo>
                  <a:cubicBezTo>
                    <a:pt x="516" y="415"/>
                    <a:pt x="516" y="415"/>
                    <a:pt x="516" y="415"/>
                  </a:cubicBezTo>
                  <a:cubicBezTo>
                    <a:pt x="517" y="415"/>
                    <a:pt x="517" y="416"/>
                    <a:pt x="517" y="416"/>
                  </a:cubicBezTo>
                  <a:cubicBezTo>
                    <a:pt x="517" y="416"/>
                    <a:pt x="518" y="416"/>
                    <a:pt x="518" y="417"/>
                  </a:cubicBezTo>
                  <a:cubicBezTo>
                    <a:pt x="518" y="417"/>
                    <a:pt x="518" y="417"/>
                    <a:pt x="519" y="417"/>
                  </a:cubicBezTo>
                  <a:cubicBezTo>
                    <a:pt x="519" y="417"/>
                    <a:pt x="519" y="418"/>
                    <a:pt x="519" y="418"/>
                  </a:cubicBezTo>
                  <a:cubicBezTo>
                    <a:pt x="519" y="418"/>
                    <a:pt x="520" y="419"/>
                    <a:pt x="520" y="419"/>
                  </a:cubicBezTo>
                  <a:cubicBezTo>
                    <a:pt x="520" y="419"/>
                    <a:pt x="520" y="419"/>
                    <a:pt x="521" y="420"/>
                  </a:cubicBezTo>
                  <a:cubicBezTo>
                    <a:pt x="521" y="420"/>
                    <a:pt x="521" y="420"/>
                    <a:pt x="521" y="421"/>
                  </a:cubicBezTo>
                  <a:cubicBezTo>
                    <a:pt x="522" y="422"/>
                    <a:pt x="521" y="423"/>
                    <a:pt x="522" y="425"/>
                  </a:cubicBezTo>
                  <a:cubicBezTo>
                    <a:pt x="523" y="426"/>
                    <a:pt x="524" y="429"/>
                    <a:pt x="525" y="431"/>
                  </a:cubicBezTo>
                  <a:cubicBezTo>
                    <a:pt x="526" y="432"/>
                    <a:pt x="527" y="435"/>
                    <a:pt x="529" y="436"/>
                  </a:cubicBezTo>
                  <a:cubicBezTo>
                    <a:pt x="531" y="437"/>
                    <a:pt x="535" y="440"/>
                    <a:pt x="537" y="441"/>
                  </a:cubicBezTo>
                  <a:cubicBezTo>
                    <a:pt x="538" y="441"/>
                    <a:pt x="538" y="441"/>
                    <a:pt x="539" y="441"/>
                  </a:cubicBezTo>
                  <a:cubicBezTo>
                    <a:pt x="539" y="441"/>
                    <a:pt x="539" y="441"/>
                    <a:pt x="539" y="441"/>
                  </a:cubicBezTo>
                  <a:cubicBezTo>
                    <a:pt x="540" y="441"/>
                    <a:pt x="540" y="441"/>
                    <a:pt x="540" y="441"/>
                  </a:cubicBezTo>
                  <a:cubicBezTo>
                    <a:pt x="540" y="441"/>
                    <a:pt x="540" y="441"/>
                    <a:pt x="541" y="441"/>
                  </a:cubicBezTo>
                  <a:cubicBezTo>
                    <a:pt x="541" y="441"/>
                    <a:pt x="541" y="441"/>
                    <a:pt x="541" y="441"/>
                  </a:cubicBezTo>
                  <a:cubicBezTo>
                    <a:pt x="541" y="441"/>
                    <a:pt x="542" y="441"/>
                    <a:pt x="542" y="441"/>
                  </a:cubicBezTo>
                  <a:cubicBezTo>
                    <a:pt x="542" y="441"/>
                    <a:pt x="542" y="441"/>
                    <a:pt x="542" y="441"/>
                  </a:cubicBezTo>
                  <a:cubicBezTo>
                    <a:pt x="542" y="441"/>
                    <a:pt x="542" y="441"/>
                    <a:pt x="542" y="441"/>
                  </a:cubicBezTo>
                  <a:cubicBezTo>
                    <a:pt x="542" y="441"/>
                    <a:pt x="542" y="441"/>
                    <a:pt x="542" y="441"/>
                  </a:cubicBezTo>
                  <a:cubicBezTo>
                    <a:pt x="542" y="440"/>
                    <a:pt x="542" y="440"/>
                    <a:pt x="542" y="440"/>
                  </a:cubicBezTo>
                  <a:cubicBezTo>
                    <a:pt x="542" y="440"/>
                    <a:pt x="542" y="440"/>
                    <a:pt x="542" y="440"/>
                  </a:cubicBezTo>
                  <a:cubicBezTo>
                    <a:pt x="542" y="439"/>
                    <a:pt x="541" y="439"/>
                    <a:pt x="541" y="439"/>
                  </a:cubicBezTo>
                  <a:cubicBezTo>
                    <a:pt x="541" y="439"/>
                    <a:pt x="541" y="439"/>
                    <a:pt x="541" y="438"/>
                  </a:cubicBezTo>
                  <a:cubicBezTo>
                    <a:pt x="541" y="438"/>
                    <a:pt x="541" y="438"/>
                    <a:pt x="541" y="438"/>
                  </a:cubicBezTo>
                  <a:cubicBezTo>
                    <a:pt x="541" y="438"/>
                    <a:pt x="541" y="438"/>
                    <a:pt x="541" y="438"/>
                  </a:cubicBezTo>
                  <a:cubicBezTo>
                    <a:pt x="541" y="438"/>
                    <a:pt x="541" y="438"/>
                    <a:pt x="540" y="437"/>
                  </a:cubicBezTo>
                  <a:cubicBezTo>
                    <a:pt x="540" y="437"/>
                    <a:pt x="540" y="437"/>
                    <a:pt x="540" y="437"/>
                  </a:cubicBezTo>
                  <a:cubicBezTo>
                    <a:pt x="540" y="436"/>
                    <a:pt x="540" y="436"/>
                    <a:pt x="540" y="436"/>
                  </a:cubicBezTo>
                  <a:cubicBezTo>
                    <a:pt x="540" y="436"/>
                    <a:pt x="540" y="436"/>
                    <a:pt x="539" y="435"/>
                  </a:cubicBezTo>
                  <a:cubicBezTo>
                    <a:pt x="539" y="435"/>
                    <a:pt x="539" y="435"/>
                    <a:pt x="539" y="435"/>
                  </a:cubicBezTo>
                  <a:cubicBezTo>
                    <a:pt x="539" y="435"/>
                    <a:pt x="539" y="435"/>
                    <a:pt x="539" y="435"/>
                  </a:cubicBezTo>
                  <a:cubicBezTo>
                    <a:pt x="537" y="433"/>
                    <a:pt x="536" y="427"/>
                    <a:pt x="536" y="426"/>
                  </a:cubicBezTo>
                  <a:cubicBezTo>
                    <a:pt x="536" y="425"/>
                    <a:pt x="532" y="422"/>
                    <a:pt x="529" y="420"/>
                  </a:cubicBezTo>
                  <a:cubicBezTo>
                    <a:pt x="528" y="420"/>
                    <a:pt x="528" y="419"/>
                    <a:pt x="527" y="419"/>
                  </a:cubicBezTo>
                  <a:cubicBezTo>
                    <a:pt x="527" y="419"/>
                    <a:pt x="527" y="419"/>
                    <a:pt x="527" y="419"/>
                  </a:cubicBezTo>
                  <a:cubicBezTo>
                    <a:pt x="527" y="419"/>
                    <a:pt x="527" y="419"/>
                    <a:pt x="527" y="419"/>
                  </a:cubicBezTo>
                  <a:cubicBezTo>
                    <a:pt x="526" y="418"/>
                    <a:pt x="526" y="418"/>
                    <a:pt x="526" y="418"/>
                  </a:cubicBezTo>
                  <a:cubicBezTo>
                    <a:pt x="526" y="418"/>
                    <a:pt x="526" y="418"/>
                    <a:pt x="525" y="418"/>
                  </a:cubicBezTo>
                  <a:cubicBezTo>
                    <a:pt x="525" y="418"/>
                    <a:pt x="525" y="418"/>
                    <a:pt x="525" y="418"/>
                  </a:cubicBezTo>
                  <a:cubicBezTo>
                    <a:pt x="524" y="417"/>
                    <a:pt x="524" y="417"/>
                    <a:pt x="523" y="417"/>
                  </a:cubicBezTo>
                  <a:cubicBezTo>
                    <a:pt x="521" y="416"/>
                    <a:pt x="518" y="409"/>
                    <a:pt x="517" y="407"/>
                  </a:cubicBezTo>
                  <a:cubicBezTo>
                    <a:pt x="516" y="406"/>
                    <a:pt x="515" y="406"/>
                    <a:pt x="515" y="407"/>
                  </a:cubicBezTo>
                  <a:cubicBezTo>
                    <a:pt x="514" y="407"/>
                    <a:pt x="513" y="403"/>
                    <a:pt x="513" y="402"/>
                  </a:cubicBezTo>
                  <a:cubicBezTo>
                    <a:pt x="514" y="401"/>
                    <a:pt x="514" y="400"/>
                    <a:pt x="515" y="398"/>
                  </a:cubicBezTo>
                  <a:cubicBezTo>
                    <a:pt x="515" y="396"/>
                    <a:pt x="516" y="389"/>
                    <a:pt x="516" y="388"/>
                  </a:cubicBezTo>
                  <a:cubicBezTo>
                    <a:pt x="517" y="387"/>
                    <a:pt x="518" y="389"/>
                    <a:pt x="519" y="390"/>
                  </a:cubicBezTo>
                  <a:cubicBezTo>
                    <a:pt x="520" y="391"/>
                    <a:pt x="520" y="390"/>
                    <a:pt x="521" y="390"/>
                  </a:cubicBezTo>
                  <a:cubicBezTo>
                    <a:pt x="522" y="390"/>
                    <a:pt x="523" y="392"/>
                    <a:pt x="524" y="394"/>
                  </a:cubicBezTo>
                  <a:cubicBezTo>
                    <a:pt x="525" y="395"/>
                    <a:pt x="525" y="394"/>
                    <a:pt x="526" y="394"/>
                  </a:cubicBezTo>
                  <a:cubicBezTo>
                    <a:pt x="526" y="394"/>
                    <a:pt x="527" y="394"/>
                    <a:pt x="527" y="394"/>
                  </a:cubicBezTo>
                  <a:cubicBezTo>
                    <a:pt x="527" y="394"/>
                    <a:pt x="527" y="394"/>
                    <a:pt x="527" y="394"/>
                  </a:cubicBezTo>
                  <a:cubicBezTo>
                    <a:pt x="527" y="395"/>
                    <a:pt x="527" y="395"/>
                    <a:pt x="527" y="395"/>
                  </a:cubicBezTo>
                  <a:cubicBezTo>
                    <a:pt x="527" y="395"/>
                    <a:pt x="528" y="395"/>
                    <a:pt x="528" y="396"/>
                  </a:cubicBezTo>
                  <a:cubicBezTo>
                    <a:pt x="528" y="396"/>
                    <a:pt x="528" y="396"/>
                    <a:pt x="528" y="396"/>
                  </a:cubicBezTo>
                  <a:cubicBezTo>
                    <a:pt x="528" y="396"/>
                    <a:pt x="528" y="397"/>
                    <a:pt x="529" y="397"/>
                  </a:cubicBezTo>
                  <a:cubicBezTo>
                    <a:pt x="529" y="397"/>
                    <a:pt x="529" y="397"/>
                    <a:pt x="529" y="397"/>
                  </a:cubicBezTo>
                  <a:cubicBezTo>
                    <a:pt x="529" y="398"/>
                    <a:pt x="529" y="398"/>
                    <a:pt x="530" y="398"/>
                  </a:cubicBezTo>
                  <a:cubicBezTo>
                    <a:pt x="530" y="399"/>
                    <a:pt x="530" y="399"/>
                    <a:pt x="530" y="399"/>
                  </a:cubicBezTo>
                  <a:cubicBezTo>
                    <a:pt x="531" y="401"/>
                    <a:pt x="533" y="398"/>
                    <a:pt x="535" y="400"/>
                  </a:cubicBezTo>
                  <a:cubicBezTo>
                    <a:pt x="535" y="400"/>
                    <a:pt x="535" y="400"/>
                    <a:pt x="536" y="401"/>
                  </a:cubicBezTo>
                  <a:cubicBezTo>
                    <a:pt x="536" y="401"/>
                    <a:pt x="536" y="401"/>
                    <a:pt x="536" y="401"/>
                  </a:cubicBezTo>
                  <a:cubicBezTo>
                    <a:pt x="536" y="401"/>
                    <a:pt x="536" y="401"/>
                    <a:pt x="536" y="402"/>
                  </a:cubicBezTo>
                  <a:cubicBezTo>
                    <a:pt x="536" y="402"/>
                    <a:pt x="537" y="402"/>
                    <a:pt x="537" y="402"/>
                  </a:cubicBezTo>
                  <a:cubicBezTo>
                    <a:pt x="537" y="402"/>
                    <a:pt x="538" y="402"/>
                    <a:pt x="538" y="403"/>
                  </a:cubicBezTo>
                  <a:cubicBezTo>
                    <a:pt x="538" y="403"/>
                    <a:pt x="539" y="403"/>
                    <a:pt x="539" y="404"/>
                  </a:cubicBezTo>
                  <a:cubicBezTo>
                    <a:pt x="540" y="404"/>
                    <a:pt x="538" y="409"/>
                    <a:pt x="539" y="410"/>
                  </a:cubicBezTo>
                  <a:cubicBezTo>
                    <a:pt x="540" y="411"/>
                    <a:pt x="542" y="408"/>
                    <a:pt x="542" y="407"/>
                  </a:cubicBezTo>
                  <a:cubicBezTo>
                    <a:pt x="542" y="406"/>
                    <a:pt x="545" y="406"/>
                    <a:pt x="545" y="406"/>
                  </a:cubicBezTo>
                  <a:cubicBezTo>
                    <a:pt x="546" y="405"/>
                    <a:pt x="546" y="403"/>
                    <a:pt x="546" y="402"/>
                  </a:cubicBezTo>
                  <a:cubicBezTo>
                    <a:pt x="547" y="400"/>
                    <a:pt x="548" y="401"/>
                    <a:pt x="550" y="401"/>
                  </a:cubicBezTo>
                  <a:cubicBezTo>
                    <a:pt x="551" y="401"/>
                    <a:pt x="554" y="398"/>
                    <a:pt x="555" y="397"/>
                  </a:cubicBezTo>
                  <a:cubicBezTo>
                    <a:pt x="556" y="395"/>
                    <a:pt x="556" y="389"/>
                    <a:pt x="555" y="388"/>
                  </a:cubicBezTo>
                  <a:cubicBezTo>
                    <a:pt x="555" y="386"/>
                    <a:pt x="553" y="381"/>
                    <a:pt x="552" y="380"/>
                  </a:cubicBezTo>
                  <a:cubicBezTo>
                    <a:pt x="551" y="378"/>
                    <a:pt x="547" y="375"/>
                    <a:pt x="545" y="374"/>
                  </a:cubicBezTo>
                  <a:cubicBezTo>
                    <a:pt x="544" y="374"/>
                    <a:pt x="543" y="372"/>
                    <a:pt x="541" y="369"/>
                  </a:cubicBezTo>
                  <a:cubicBezTo>
                    <a:pt x="539" y="367"/>
                    <a:pt x="539" y="367"/>
                    <a:pt x="537" y="365"/>
                  </a:cubicBezTo>
                  <a:cubicBezTo>
                    <a:pt x="535" y="364"/>
                    <a:pt x="536" y="364"/>
                    <a:pt x="536" y="362"/>
                  </a:cubicBezTo>
                  <a:cubicBezTo>
                    <a:pt x="536" y="361"/>
                    <a:pt x="536" y="360"/>
                    <a:pt x="536" y="359"/>
                  </a:cubicBezTo>
                  <a:cubicBezTo>
                    <a:pt x="537" y="359"/>
                    <a:pt x="537" y="358"/>
                    <a:pt x="538" y="357"/>
                  </a:cubicBezTo>
                  <a:cubicBezTo>
                    <a:pt x="538" y="356"/>
                    <a:pt x="538" y="356"/>
                    <a:pt x="539" y="356"/>
                  </a:cubicBezTo>
                  <a:cubicBezTo>
                    <a:pt x="539" y="356"/>
                    <a:pt x="539" y="356"/>
                    <a:pt x="539" y="356"/>
                  </a:cubicBezTo>
                  <a:cubicBezTo>
                    <a:pt x="539" y="356"/>
                    <a:pt x="539" y="356"/>
                    <a:pt x="539" y="355"/>
                  </a:cubicBezTo>
                  <a:cubicBezTo>
                    <a:pt x="539" y="355"/>
                    <a:pt x="540" y="355"/>
                    <a:pt x="540" y="355"/>
                  </a:cubicBezTo>
                  <a:cubicBezTo>
                    <a:pt x="540" y="355"/>
                    <a:pt x="540" y="355"/>
                    <a:pt x="540" y="355"/>
                  </a:cubicBezTo>
                  <a:cubicBezTo>
                    <a:pt x="540" y="355"/>
                    <a:pt x="540" y="355"/>
                    <a:pt x="541" y="355"/>
                  </a:cubicBezTo>
                  <a:cubicBezTo>
                    <a:pt x="541" y="355"/>
                    <a:pt x="541" y="355"/>
                    <a:pt x="541" y="354"/>
                  </a:cubicBezTo>
                  <a:cubicBezTo>
                    <a:pt x="541" y="354"/>
                    <a:pt x="541" y="354"/>
                    <a:pt x="542" y="354"/>
                  </a:cubicBezTo>
                  <a:cubicBezTo>
                    <a:pt x="542" y="354"/>
                    <a:pt x="543" y="354"/>
                    <a:pt x="544" y="353"/>
                  </a:cubicBezTo>
                  <a:cubicBezTo>
                    <a:pt x="544" y="353"/>
                    <a:pt x="544" y="353"/>
                    <a:pt x="544" y="353"/>
                  </a:cubicBezTo>
                  <a:cubicBezTo>
                    <a:pt x="544" y="353"/>
                    <a:pt x="544" y="353"/>
                    <a:pt x="544" y="353"/>
                  </a:cubicBezTo>
                  <a:cubicBezTo>
                    <a:pt x="544" y="353"/>
                    <a:pt x="545" y="353"/>
                    <a:pt x="545" y="353"/>
                  </a:cubicBezTo>
                  <a:cubicBezTo>
                    <a:pt x="546" y="352"/>
                    <a:pt x="546" y="354"/>
                    <a:pt x="547" y="354"/>
                  </a:cubicBezTo>
                  <a:cubicBezTo>
                    <a:pt x="548" y="354"/>
                    <a:pt x="549" y="353"/>
                    <a:pt x="550" y="353"/>
                  </a:cubicBezTo>
                  <a:cubicBezTo>
                    <a:pt x="551" y="353"/>
                    <a:pt x="551" y="353"/>
                    <a:pt x="551" y="355"/>
                  </a:cubicBezTo>
                  <a:cubicBezTo>
                    <a:pt x="551" y="357"/>
                    <a:pt x="554" y="357"/>
                    <a:pt x="554" y="356"/>
                  </a:cubicBezTo>
                  <a:cubicBezTo>
                    <a:pt x="554" y="355"/>
                    <a:pt x="554" y="355"/>
                    <a:pt x="555" y="354"/>
                  </a:cubicBezTo>
                  <a:cubicBezTo>
                    <a:pt x="556" y="353"/>
                    <a:pt x="558" y="353"/>
                    <a:pt x="560" y="353"/>
                  </a:cubicBezTo>
                  <a:cubicBezTo>
                    <a:pt x="562" y="353"/>
                    <a:pt x="566" y="351"/>
                    <a:pt x="566" y="351"/>
                  </a:cubicBezTo>
                  <a:cubicBezTo>
                    <a:pt x="567" y="350"/>
                    <a:pt x="566" y="349"/>
                    <a:pt x="566" y="348"/>
                  </a:cubicBezTo>
                  <a:cubicBezTo>
                    <a:pt x="566" y="348"/>
                    <a:pt x="568" y="349"/>
                    <a:pt x="569" y="349"/>
                  </a:cubicBezTo>
                  <a:cubicBezTo>
                    <a:pt x="571" y="349"/>
                    <a:pt x="571" y="347"/>
                    <a:pt x="572" y="347"/>
                  </a:cubicBezTo>
                  <a:cubicBezTo>
                    <a:pt x="572" y="346"/>
                    <a:pt x="574" y="347"/>
                    <a:pt x="575" y="347"/>
                  </a:cubicBezTo>
                  <a:cubicBezTo>
                    <a:pt x="577" y="347"/>
                    <a:pt x="578" y="346"/>
                    <a:pt x="578" y="345"/>
                  </a:cubicBezTo>
                  <a:cubicBezTo>
                    <a:pt x="578" y="345"/>
                    <a:pt x="579" y="344"/>
                    <a:pt x="580" y="344"/>
                  </a:cubicBezTo>
                  <a:cubicBezTo>
                    <a:pt x="581" y="344"/>
                    <a:pt x="583" y="342"/>
                    <a:pt x="584" y="341"/>
                  </a:cubicBezTo>
                  <a:cubicBezTo>
                    <a:pt x="584" y="340"/>
                    <a:pt x="584" y="339"/>
                    <a:pt x="585" y="339"/>
                  </a:cubicBezTo>
                  <a:cubicBezTo>
                    <a:pt x="587" y="338"/>
                    <a:pt x="586" y="337"/>
                    <a:pt x="586" y="336"/>
                  </a:cubicBezTo>
                  <a:cubicBezTo>
                    <a:pt x="586" y="336"/>
                    <a:pt x="588" y="335"/>
                    <a:pt x="589" y="334"/>
                  </a:cubicBezTo>
                  <a:cubicBezTo>
                    <a:pt x="590" y="333"/>
                    <a:pt x="589" y="332"/>
                    <a:pt x="589" y="332"/>
                  </a:cubicBezTo>
                  <a:cubicBezTo>
                    <a:pt x="590" y="331"/>
                    <a:pt x="590" y="327"/>
                    <a:pt x="590" y="326"/>
                  </a:cubicBezTo>
                  <a:cubicBezTo>
                    <a:pt x="590" y="325"/>
                    <a:pt x="592" y="324"/>
                    <a:pt x="594" y="323"/>
                  </a:cubicBezTo>
                  <a:cubicBezTo>
                    <a:pt x="595" y="323"/>
                    <a:pt x="595" y="323"/>
                    <a:pt x="595" y="321"/>
                  </a:cubicBezTo>
                  <a:cubicBezTo>
                    <a:pt x="595" y="320"/>
                    <a:pt x="596" y="319"/>
                    <a:pt x="596" y="318"/>
                  </a:cubicBezTo>
                  <a:cubicBezTo>
                    <a:pt x="597" y="318"/>
                    <a:pt x="596" y="316"/>
                    <a:pt x="595" y="315"/>
                  </a:cubicBezTo>
                  <a:cubicBezTo>
                    <a:pt x="595" y="315"/>
                    <a:pt x="592" y="315"/>
                    <a:pt x="591" y="314"/>
                  </a:cubicBezTo>
                  <a:cubicBezTo>
                    <a:pt x="590" y="313"/>
                    <a:pt x="594" y="310"/>
                    <a:pt x="594" y="310"/>
                  </a:cubicBezTo>
                  <a:cubicBezTo>
                    <a:pt x="594" y="309"/>
                    <a:pt x="592" y="308"/>
                    <a:pt x="592" y="307"/>
                  </a:cubicBezTo>
                  <a:cubicBezTo>
                    <a:pt x="591" y="307"/>
                    <a:pt x="592" y="307"/>
                    <a:pt x="592" y="307"/>
                  </a:cubicBezTo>
                  <a:cubicBezTo>
                    <a:pt x="593" y="306"/>
                    <a:pt x="591" y="303"/>
                    <a:pt x="589" y="303"/>
                  </a:cubicBezTo>
                  <a:cubicBezTo>
                    <a:pt x="588" y="302"/>
                    <a:pt x="586" y="300"/>
                    <a:pt x="585" y="299"/>
                  </a:cubicBezTo>
                  <a:cubicBezTo>
                    <a:pt x="584" y="297"/>
                    <a:pt x="582" y="294"/>
                    <a:pt x="580" y="293"/>
                  </a:cubicBezTo>
                  <a:cubicBezTo>
                    <a:pt x="579" y="292"/>
                    <a:pt x="579" y="291"/>
                    <a:pt x="580" y="290"/>
                  </a:cubicBezTo>
                  <a:cubicBezTo>
                    <a:pt x="580" y="289"/>
                    <a:pt x="582" y="287"/>
                    <a:pt x="582" y="286"/>
                  </a:cubicBezTo>
                  <a:cubicBezTo>
                    <a:pt x="582" y="285"/>
                    <a:pt x="583" y="284"/>
                    <a:pt x="585" y="284"/>
                  </a:cubicBezTo>
                  <a:cubicBezTo>
                    <a:pt x="586" y="284"/>
                    <a:pt x="589" y="283"/>
                    <a:pt x="591" y="283"/>
                  </a:cubicBezTo>
                  <a:cubicBezTo>
                    <a:pt x="593" y="282"/>
                    <a:pt x="592" y="281"/>
                    <a:pt x="590" y="281"/>
                  </a:cubicBezTo>
                  <a:cubicBezTo>
                    <a:pt x="588" y="281"/>
                    <a:pt x="585" y="280"/>
                    <a:pt x="584" y="279"/>
                  </a:cubicBezTo>
                  <a:cubicBezTo>
                    <a:pt x="582" y="279"/>
                    <a:pt x="579" y="281"/>
                    <a:pt x="578" y="282"/>
                  </a:cubicBezTo>
                  <a:cubicBezTo>
                    <a:pt x="577" y="282"/>
                    <a:pt x="575" y="281"/>
                    <a:pt x="574" y="279"/>
                  </a:cubicBezTo>
                  <a:cubicBezTo>
                    <a:pt x="573" y="277"/>
                    <a:pt x="570" y="276"/>
                    <a:pt x="569" y="274"/>
                  </a:cubicBezTo>
                  <a:cubicBezTo>
                    <a:pt x="568" y="273"/>
                    <a:pt x="567" y="273"/>
                    <a:pt x="569" y="272"/>
                  </a:cubicBezTo>
                  <a:cubicBezTo>
                    <a:pt x="571" y="272"/>
                    <a:pt x="573" y="272"/>
                    <a:pt x="574" y="272"/>
                  </a:cubicBezTo>
                  <a:cubicBezTo>
                    <a:pt x="576" y="271"/>
                    <a:pt x="574" y="270"/>
                    <a:pt x="575" y="268"/>
                  </a:cubicBezTo>
                  <a:cubicBezTo>
                    <a:pt x="576" y="267"/>
                    <a:pt x="581" y="264"/>
                    <a:pt x="581" y="264"/>
                  </a:cubicBezTo>
                  <a:cubicBezTo>
                    <a:pt x="582" y="263"/>
                    <a:pt x="583" y="263"/>
                    <a:pt x="583" y="263"/>
                  </a:cubicBezTo>
                  <a:cubicBezTo>
                    <a:pt x="584" y="263"/>
                    <a:pt x="585" y="264"/>
                    <a:pt x="585" y="265"/>
                  </a:cubicBezTo>
                  <a:cubicBezTo>
                    <a:pt x="586" y="266"/>
                    <a:pt x="584" y="268"/>
                    <a:pt x="584" y="268"/>
                  </a:cubicBezTo>
                  <a:cubicBezTo>
                    <a:pt x="583" y="269"/>
                    <a:pt x="584" y="269"/>
                    <a:pt x="584" y="270"/>
                  </a:cubicBezTo>
                  <a:cubicBezTo>
                    <a:pt x="585" y="272"/>
                    <a:pt x="584" y="272"/>
                    <a:pt x="585" y="273"/>
                  </a:cubicBezTo>
                  <a:cubicBezTo>
                    <a:pt x="586" y="273"/>
                    <a:pt x="590" y="270"/>
                    <a:pt x="592" y="269"/>
                  </a:cubicBezTo>
                  <a:cubicBezTo>
                    <a:pt x="592" y="269"/>
                    <a:pt x="593" y="269"/>
                    <a:pt x="593" y="269"/>
                  </a:cubicBezTo>
                  <a:cubicBezTo>
                    <a:pt x="593" y="269"/>
                    <a:pt x="593" y="269"/>
                    <a:pt x="593" y="269"/>
                  </a:cubicBezTo>
                  <a:cubicBezTo>
                    <a:pt x="594" y="269"/>
                    <a:pt x="594" y="269"/>
                    <a:pt x="594" y="269"/>
                  </a:cubicBezTo>
                  <a:cubicBezTo>
                    <a:pt x="594" y="269"/>
                    <a:pt x="594" y="269"/>
                    <a:pt x="594" y="269"/>
                  </a:cubicBezTo>
                  <a:cubicBezTo>
                    <a:pt x="595" y="269"/>
                    <a:pt x="595" y="269"/>
                    <a:pt x="595" y="269"/>
                  </a:cubicBezTo>
                  <a:cubicBezTo>
                    <a:pt x="595" y="269"/>
                    <a:pt x="595" y="269"/>
                    <a:pt x="595" y="269"/>
                  </a:cubicBezTo>
                  <a:cubicBezTo>
                    <a:pt x="595" y="269"/>
                    <a:pt x="595" y="269"/>
                    <a:pt x="595" y="269"/>
                  </a:cubicBezTo>
                  <a:cubicBezTo>
                    <a:pt x="595" y="269"/>
                    <a:pt x="595" y="269"/>
                    <a:pt x="595" y="269"/>
                  </a:cubicBezTo>
                  <a:cubicBezTo>
                    <a:pt x="595" y="269"/>
                    <a:pt x="596" y="269"/>
                    <a:pt x="596" y="269"/>
                  </a:cubicBezTo>
                  <a:cubicBezTo>
                    <a:pt x="596" y="269"/>
                    <a:pt x="596" y="269"/>
                    <a:pt x="596" y="269"/>
                  </a:cubicBezTo>
                  <a:cubicBezTo>
                    <a:pt x="597" y="270"/>
                    <a:pt x="598" y="270"/>
                    <a:pt x="599" y="270"/>
                  </a:cubicBezTo>
                  <a:cubicBezTo>
                    <a:pt x="600" y="270"/>
                    <a:pt x="599" y="272"/>
                    <a:pt x="599" y="273"/>
                  </a:cubicBezTo>
                  <a:cubicBezTo>
                    <a:pt x="600" y="274"/>
                    <a:pt x="598" y="276"/>
                    <a:pt x="598" y="277"/>
                  </a:cubicBezTo>
                  <a:cubicBezTo>
                    <a:pt x="598" y="277"/>
                    <a:pt x="598" y="277"/>
                    <a:pt x="598" y="277"/>
                  </a:cubicBezTo>
                  <a:cubicBezTo>
                    <a:pt x="599" y="277"/>
                    <a:pt x="599" y="277"/>
                    <a:pt x="599" y="277"/>
                  </a:cubicBezTo>
                  <a:cubicBezTo>
                    <a:pt x="599" y="277"/>
                    <a:pt x="599" y="277"/>
                    <a:pt x="599" y="277"/>
                  </a:cubicBezTo>
                  <a:cubicBezTo>
                    <a:pt x="599" y="277"/>
                    <a:pt x="599" y="278"/>
                    <a:pt x="600" y="278"/>
                  </a:cubicBezTo>
                  <a:cubicBezTo>
                    <a:pt x="600" y="278"/>
                    <a:pt x="600" y="278"/>
                    <a:pt x="600" y="278"/>
                  </a:cubicBezTo>
                  <a:cubicBezTo>
                    <a:pt x="601" y="278"/>
                    <a:pt x="601" y="278"/>
                    <a:pt x="601" y="278"/>
                  </a:cubicBezTo>
                  <a:cubicBezTo>
                    <a:pt x="601" y="278"/>
                    <a:pt x="602" y="278"/>
                    <a:pt x="602" y="278"/>
                  </a:cubicBezTo>
                  <a:cubicBezTo>
                    <a:pt x="602" y="278"/>
                    <a:pt x="602" y="278"/>
                    <a:pt x="602" y="278"/>
                  </a:cubicBezTo>
                  <a:cubicBezTo>
                    <a:pt x="603" y="278"/>
                    <a:pt x="604" y="279"/>
                    <a:pt x="605" y="279"/>
                  </a:cubicBezTo>
                  <a:cubicBezTo>
                    <a:pt x="605" y="279"/>
                    <a:pt x="605" y="279"/>
                    <a:pt x="606" y="279"/>
                  </a:cubicBezTo>
                  <a:cubicBezTo>
                    <a:pt x="606" y="279"/>
                    <a:pt x="606" y="279"/>
                    <a:pt x="606" y="279"/>
                  </a:cubicBezTo>
                  <a:cubicBezTo>
                    <a:pt x="606" y="279"/>
                    <a:pt x="606" y="279"/>
                    <a:pt x="606" y="279"/>
                  </a:cubicBezTo>
                  <a:cubicBezTo>
                    <a:pt x="607" y="279"/>
                    <a:pt x="608" y="282"/>
                    <a:pt x="608" y="282"/>
                  </a:cubicBezTo>
                  <a:cubicBezTo>
                    <a:pt x="608" y="283"/>
                    <a:pt x="607" y="282"/>
                    <a:pt x="606" y="282"/>
                  </a:cubicBezTo>
                  <a:cubicBezTo>
                    <a:pt x="605" y="283"/>
                    <a:pt x="608" y="286"/>
                    <a:pt x="608" y="287"/>
                  </a:cubicBezTo>
                  <a:cubicBezTo>
                    <a:pt x="609" y="288"/>
                    <a:pt x="608" y="290"/>
                    <a:pt x="608" y="291"/>
                  </a:cubicBezTo>
                  <a:cubicBezTo>
                    <a:pt x="608" y="293"/>
                    <a:pt x="609" y="295"/>
                    <a:pt x="610" y="295"/>
                  </a:cubicBezTo>
                  <a:cubicBezTo>
                    <a:pt x="611" y="295"/>
                    <a:pt x="613" y="293"/>
                    <a:pt x="614" y="293"/>
                  </a:cubicBezTo>
                  <a:cubicBezTo>
                    <a:pt x="614" y="292"/>
                    <a:pt x="616" y="293"/>
                    <a:pt x="617" y="293"/>
                  </a:cubicBezTo>
                  <a:cubicBezTo>
                    <a:pt x="618" y="293"/>
                    <a:pt x="619" y="291"/>
                    <a:pt x="620" y="290"/>
                  </a:cubicBezTo>
                  <a:cubicBezTo>
                    <a:pt x="620" y="288"/>
                    <a:pt x="619" y="286"/>
                    <a:pt x="618" y="285"/>
                  </a:cubicBezTo>
                  <a:cubicBezTo>
                    <a:pt x="618" y="283"/>
                    <a:pt x="617" y="280"/>
                    <a:pt x="616" y="278"/>
                  </a:cubicBezTo>
                  <a:cubicBezTo>
                    <a:pt x="616" y="278"/>
                    <a:pt x="616" y="278"/>
                    <a:pt x="616" y="278"/>
                  </a:cubicBezTo>
                  <a:cubicBezTo>
                    <a:pt x="616" y="278"/>
                    <a:pt x="616" y="278"/>
                    <a:pt x="616" y="278"/>
                  </a:cubicBezTo>
                  <a:cubicBezTo>
                    <a:pt x="615" y="276"/>
                    <a:pt x="613" y="275"/>
                    <a:pt x="612" y="273"/>
                  </a:cubicBezTo>
                  <a:cubicBezTo>
                    <a:pt x="612" y="273"/>
                    <a:pt x="612" y="273"/>
                    <a:pt x="611" y="273"/>
                  </a:cubicBezTo>
                  <a:cubicBezTo>
                    <a:pt x="611" y="273"/>
                    <a:pt x="611" y="273"/>
                    <a:pt x="610" y="272"/>
                  </a:cubicBezTo>
                  <a:cubicBezTo>
                    <a:pt x="607" y="271"/>
                    <a:pt x="608" y="270"/>
                    <a:pt x="608" y="269"/>
                  </a:cubicBezTo>
                  <a:cubicBezTo>
                    <a:pt x="609" y="268"/>
                    <a:pt x="611" y="268"/>
                    <a:pt x="612" y="267"/>
                  </a:cubicBezTo>
                  <a:cubicBezTo>
                    <a:pt x="613" y="266"/>
                    <a:pt x="615" y="262"/>
                    <a:pt x="615" y="261"/>
                  </a:cubicBezTo>
                  <a:cubicBezTo>
                    <a:pt x="616" y="260"/>
                    <a:pt x="617" y="256"/>
                    <a:pt x="617" y="256"/>
                  </a:cubicBezTo>
                  <a:cubicBezTo>
                    <a:pt x="617" y="256"/>
                    <a:pt x="617" y="255"/>
                    <a:pt x="617" y="255"/>
                  </a:cubicBezTo>
                  <a:cubicBezTo>
                    <a:pt x="618" y="255"/>
                    <a:pt x="619" y="255"/>
                    <a:pt x="620" y="254"/>
                  </a:cubicBezTo>
                  <a:cubicBezTo>
                    <a:pt x="620" y="254"/>
                    <a:pt x="620" y="254"/>
                    <a:pt x="620" y="254"/>
                  </a:cubicBezTo>
                  <a:cubicBezTo>
                    <a:pt x="620" y="254"/>
                    <a:pt x="620" y="254"/>
                    <a:pt x="620" y="254"/>
                  </a:cubicBezTo>
                  <a:cubicBezTo>
                    <a:pt x="621" y="254"/>
                    <a:pt x="621" y="252"/>
                    <a:pt x="622" y="251"/>
                  </a:cubicBezTo>
                  <a:cubicBezTo>
                    <a:pt x="622" y="251"/>
                    <a:pt x="624" y="253"/>
                    <a:pt x="625" y="254"/>
                  </a:cubicBezTo>
                  <a:cubicBezTo>
                    <a:pt x="627" y="255"/>
                    <a:pt x="631" y="253"/>
                    <a:pt x="632" y="253"/>
                  </a:cubicBezTo>
                  <a:cubicBezTo>
                    <a:pt x="633" y="252"/>
                    <a:pt x="635" y="249"/>
                    <a:pt x="636" y="248"/>
                  </a:cubicBezTo>
                  <a:cubicBezTo>
                    <a:pt x="636" y="247"/>
                    <a:pt x="638" y="245"/>
                    <a:pt x="638" y="244"/>
                  </a:cubicBezTo>
                  <a:cubicBezTo>
                    <a:pt x="639" y="243"/>
                    <a:pt x="640" y="242"/>
                    <a:pt x="642" y="241"/>
                  </a:cubicBezTo>
                  <a:cubicBezTo>
                    <a:pt x="643" y="240"/>
                    <a:pt x="644" y="236"/>
                    <a:pt x="644" y="235"/>
                  </a:cubicBezTo>
                  <a:cubicBezTo>
                    <a:pt x="644" y="234"/>
                    <a:pt x="646" y="231"/>
                    <a:pt x="647" y="229"/>
                  </a:cubicBezTo>
                  <a:cubicBezTo>
                    <a:pt x="647" y="227"/>
                    <a:pt x="648" y="227"/>
                    <a:pt x="649" y="226"/>
                  </a:cubicBezTo>
                  <a:cubicBezTo>
                    <a:pt x="650" y="225"/>
                    <a:pt x="648" y="219"/>
                    <a:pt x="648" y="216"/>
                  </a:cubicBezTo>
                  <a:cubicBezTo>
                    <a:pt x="648" y="213"/>
                    <a:pt x="647" y="212"/>
                    <a:pt x="647" y="210"/>
                  </a:cubicBezTo>
                  <a:cubicBezTo>
                    <a:pt x="647" y="208"/>
                    <a:pt x="649" y="205"/>
                    <a:pt x="649" y="204"/>
                  </a:cubicBezTo>
                  <a:cubicBezTo>
                    <a:pt x="649" y="203"/>
                    <a:pt x="647" y="202"/>
                    <a:pt x="647" y="202"/>
                  </a:cubicBezTo>
                  <a:cubicBezTo>
                    <a:pt x="646" y="203"/>
                    <a:pt x="645" y="199"/>
                    <a:pt x="644" y="198"/>
                  </a:cubicBezTo>
                  <a:cubicBezTo>
                    <a:pt x="643" y="198"/>
                    <a:pt x="644" y="198"/>
                    <a:pt x="645" y="197"/>
                  </a:cubicBezTo>
                  <a:cubicBezTo>
                    <a:pt x="645" y="197"/>
                    <a:pt x="642" y="195"/>
                    <a:pt x="640" y="195"/>
                  </a:cubicBezTo>
                  <a:cubicBezTo>
                    <a:pt x="639" y="194"/>
                    <a:pt x="639" y="192"/>
                    <a:pt x="638" y="192"/>
                  </a:cubicBezTo>
                  <a:cubicBezTo>
                    <a:pt x="636" y="191"/>
                    <a:pt x="633" y="190"/>
                    <a:pt x="632" y="190"/>
                  </a:cubicBezTo>
                  <a:cubicBezTo>
                    <a:pt x="631" y="190"/>
                    <a:pt x="634" y="193"/>
                    <a:pt x="633" y="193"/>
                  </a:cubicBezTo>
                  <a:cubicBezTo>
                    <a:pt x="632" y="193"/>
                    <a:pt x="631" y="194"/>
                    <a:pt x="629" y="194"/>
                  </a:cubicBezTo>
                  <a:cubicBezTo>
                    <a:pt x="627" y="194"/>
                    <a:pt x="629" y="193"/>
                    <a:pt x="629" y="193"/>
                  </a:cubicBezTo>
                  <a:cubicBezTo>
                    <a:pt x="629" y="192"/>
                    <a:pt x="626" y="193"/>
                    <a:pt x="625" y="193"/>
                  </a:cubicBezTo>
                  <a:cubicBezTo>
                    <a:pt x="624" y="193"/>
                    <a:pt x="626" y="191"/>
                    <a:pt x="625" y="191"/>
                  </a:cubicBezTo>
                  <a:cubicBezTo>
                    <a:pt x="625" y="190"/>
                    <a:pt x="624" y="190"/>
                    <a:pt x="624" y="191"/>
                  </a:cubicBezTo>
                  <a:cubicBezTo>
                    <a:pt x="623" y="191"/>
                    <a:pt x="620" y="189"/>
                    <a:pt x="619" y="189"/>
                  </a:cubicBezTo>
                  <a:cubicBezTo>
                    <a:pt x="618" y="190"/>
                    <a:pt x="617" y="188"/>
                    <a:pt x="619" y="187"/>
                  </a:cubicBezTo>
                  <a:cubicBezTo>
                    <a:pt x="622" y="185"/>
                    <a:pt x="627" y="180"/>
                    <a:pt x="627" y="179"/>
                  </a:cubicBezTo>
                  <a:cubicBezTo>
                    <a:pt x="627" y="177"/>
                    <a:pt x="631" y="175"/>
                    <a:pt x="632" y="174"/>
                  </a:cubicBezTo>
                  <a:cubicBezTo>
                    <a:pt x="633" y="173"/>
                    <a:pt x="634" y="170"/>
                    <a:pt x="636" y="169"/>
                  </a:cubicBezTo>
                  <a:cubicBezTo>
                    <a:pt x="637" y="167"/>
                    <a:pt x="636" y="166"/>
                    <a:pt x="639" y="163"/>
                  </a:cubicBezTo>
                  <a:cubicBezTo>
                    <a:pt x="642" y="160"/>
                    <a:pt x="651" y="161"/>
                    <a:pt x="652" y="162"/>
                  </a:cubicBezTo>
                  <a:cubicBezTo>
                    <a:pt x="654" y="162"/>
                    <a:pt x="657" y="162"/>
                    <a:pt x="659" y="162"/>
                  </a:cubicBezTo>
                  <a:cubicBezTo>
                    <a:pt x="660" y="162"/>
                    <a:pt x="664" y="164"/>
                    <a:pt x="665" y="163"/>
                  </a:cubicBezTo>
                  <a:cubicBezTo>
                    <a:pt x="666" y="162"/>
                    <a:pt x="665" y="162"/>
                    <a:pt x="663" y="162"/>
                  </a:cubicBezTo>
                  <a:cubicBezTo>
                    <a:pt x="661" y="161"/>
                    <a:pt x="664" y="160"/>
                    <a:pt x="665" y="160"/>
                  </a:cubicBezTo>
                  <a:cubicBezTo>
                    <a:pt x="666" y="160"/>
                    <a:pt x="666" y="160"/>
                    <a:pt x="665" y="159"/>
                  </a:cubicBezTo>
                  <a:cubicBezTo>
                    <a:pt x="664" y="159"/>
                    <a:pt x="668" y="159"/>
                    <a:pt x="669" y="159"/>
                  </a:cubicBezTo>
                  <a:cubicBezTo>
                    <a:pt x="670" y="159"/>
                    <a:pt x="670" y="160"/>
                    <a:pt x="670" y="160"/>
                  </a:cubicBezTo>
                  <a:cubicBezTo>
                    <a:pt x="671" y="161"/>
                    <a:pt x="672" y="159"/>
                    <a:pt x="672" y="159"/>
                  </a:cubicBezTo>
                  <a:cubicBezTo>
                    <a:pt x="673" y="159"/>
                    <a:pt x="673" y="161"/>
                    <a:pt x="673" y="161"/>
                  </a:cubicBezTo>
                  <a:cubicBezTo>
                    <a:pt x="673" y="162"/>
                    <a:pt x="674" y="162"/>
                    <a:pt x="676" y="163"/>
                  </a:cubicBezTo>
                  <a:cubicBezTo>
                    <a:pt x="677" y="164"/>
                    <a:pt x="674" y="164"/>
                    <a:pt x="674" y="164"/>
                  </a:cubicBezTo>
                  <a:cubicBezTo>
                    <a:pt x="673" y="164"/>
                    <a:pt x="675" y="166"/>
                    <a:pt x="676" y="166"/>
                  </a:cubicBezTo>
                  <a:cubicBezTo>
                    <a:pt x="676" y="166"/>
                    <a:pt x="680" y="165"/>
                    <a:pt x="681" y="164"/>
                  </a:cubicBezTo>
                  <a:cubicBezTo>
                    <a:pt x="682" y="163"/>
                    <a:pt x="682" y="163"/>
                    <a:pt x="684" y="164"/>
                  </a:cubicBezTo>
                  <a:cubicBezTo>
                    <a:pt x="685" y="164"/>
                    <a:pt x="685" y="164"/>
                    <a:pt x="686" y="164"/>
                  </a:cubicBezTo>
                  <a:cubicBezTo>
                    <a:pt x="686" y="164"/>
                    <a:pt x="687" y="164"/>
                    <a:pt x="688" y="164"/>
                  </a:cubicBezTo>
                  <a:cubicBezTo>
                    <a:pt x="689" y="164"/>
                    <a:pt x="689" y="163"/>
                    <a:pt x="691" y="163"/>
                  </a:cubicBezTo>
                  <a:cubicBezTo>
                    <a:pt x="692" y="163"/>
                    <a:pt x="692" y="162"/>
                    <a:pt x="692" y="161"/>
                  </a:cubicBezTo>
                  <a:cubicBezTo>
                    <a:pt x="691" y="160"/>
                    <a:pt x="688" y="161"/>
                    <a:pt x="687" y="161"/>
                  </a:cubicBezTo>
                  <a:cubicBezTo>
                    <a:pt x="686" y="161"/>
                    <a:pt x="686" y="160"/>
                    <a:pt x="687" y="160"/>
                  </a:cubicBezTo>
                  <a:cubicBezTo>
                    <a:pt x="688" y="159"/>
                    <a:pt x="689" y="157"/>
                    <a:pt x="689" y="156"/>
                  </a:cubicBezTo>
                  <a:cubicBezTo>
                    <a:pt x="690" y="156"/>
                    <a:pt x="691" y="155"/>
                    <a:pt x="692" y="155"/>
                  </a:cubicBezTo>
                  <a:cubicBezTo>
                    <a:pt x="693" y="154"/>
                    <a:pt x="693" y="149"/>
                    <a:pt x="694" y="147"/>
                  </a:cubicBezTo>
                  <a:cubicBezTo>
                    <a:pt x="695" y="146"/>
                    <a:pt x="699" y="145"/>
                    <a:pt x="699" y="145"/>
                  </a:cubicBezTo>
                  <a:cubicBezTo>
                    <a:pt x="700" y="144"/>
                    <a:pt x="701" y="145"/>
                    <a:pt x="702" y="145"/>
                  </a:cubicBezTo>
                  <a:cubicBezTo>
                    <a:pt x="703" y="144"/>
                    <a:pt x="703" y="142"/>
                    <a:pt x="704" y="142"/>
                  </a:cubicBezTo>
                  <a:cubicBezTo>
                    <a:pt x="705" y="141"/>
                    <a:pt x="703" y="145"/>
                    <a:pt x="704" y="146"/>
                  </a:cubicBezTo>
                  <a:cubicBezTo>
                    <a:pt x="704" y="147"/>
                    <a:pt x="702" y="148"/>
                    <a:pt x="703" y="149"/>
                  </a:cubicBezTo>
                  <a:cubicBezTo>
                    <a:pt x="703" y="150"/>
                    <a:pt x="705" y="151"/>
                    <a:pt x="706" y="151"/>
                  </a:cubicBezTo>
                  <a:cubicBezTo>
                    <a:pt x="707" y="152"/>
                    <a:pt x="707" y="151"/>
                    <a:pt x="707" y="150"/>
                  </a:cubicBezTo>
                  <a:cubicBezTo>
                    <a:pt x="708" y="149"/>
                    <a:pt x="710" y="146"/>
                    <a:pt x="711" y="146"/>
                  </a:cubicBezTo>
                  <a:cubicBezTo>
                    <a:pt x="711" y="145"/>
                    <a:pt x="710" y="144"/>
                    <a:pt x="709" y="142"/>
                  </a:cubicBezTo>
                  <a:cubicBezTo>
                    <a:pt x="708" y="141"/>
                    <a:pt x="709" y="140"/>
                    <a:pt x="710" y="140"/>
                  </a:cubicBezTo>
                  <a:cubicBezTo>
                    <a:pt x="711" y="140"/>
                    <a:pt x="712" y="139"/>
                    <a:pt x="712" y="139"/>
                  </a:cubicBezTo>
                  <a:cubicBezTo>
                    <a:pt x="713" y="138"/>
                    <a:pt x="713" y="140"/>
                    <a:pt x="713" y="141"/>
                  </a:cubicBezTo>
                  <a:cubicBezTo>
                    <a:pt x="714" y="141"/>
                    <a:pt x="714" y="141"/>
                    <a:pt x="713" y="142"/>
                  </a:cubicBezTo>
                  <a:cubicBezTo>
                    <a:pt x="712" y="143"/>
                    <a:pt x="713" y="146"/>
                    <a:pt x="713" y="147"/>
                  </a:cubicBezTo>
                  <a:cubicBezTo>
                    <a:pt x="713" y="147"/>
                    <a:pt x="714" y="148"/>
                    <a:pt x="714" y="149"/>
                  </a:cubicBezTo>
                  <a:cubicBezTo>
                    <a:pt x="715" y="149"/>
                    <a:pt x="714" y="150"/>
                    <a:pt x="713" y="150"/>
                  </a:cubicBezTo>
                  <a:cubicBezTo>
                    <a:pt x="713" y="151"/>
                    <a:pt x="714" y="151"/>
                    <a:pt x="715" y="151"/>
                  </a:cubicBezTo>
                  <a:cubicBezTo>
                    <a:pt x="715" y="152"/>
                    <a:pt x="712" y="154"/>
                    <a:pt x="712" y="155"/>
                  </a:cubicBezTo>
                  <a:cubicBezTo>
                    <a:pt x="712" y="156"/>
                    <a:pt x="711" y="157"/>
                    <a:pt x="710" y="158"/>
                  </a:cubicBezTo>
                  <a:cubicBezTo>
                    <a:pt x="709" y="158"/>
                    <a:pt x="706" y="162"/>
                    <a:pt x="705" y="163"/>
                  </a:cubicBezTo>
                  <a:cubicBezTo>
                    <a:pt x="704" y="164"/>
                    <a:pt x="703" y="169"/>
                    <a:pt x="703" y="170"/>
                  </a:cubicBezTo>
                  <a:cubicBezTo>
                    <a:pt x="702" y="170"/>
                    <a:pt x="700" y="171"/>
                    <a:pt x="699" y="171"/>
                  </a:cubicBezTo>
                  <a:cubicBezTo>
                    <a:pt x="698" y="171"/>
                    <a:pt x="699" y="172"/>
                    <a:pt x="699" y="173"/>
                  </a:cubicBezTo>
                  <a:cubicBezTo>
                    <a:pt x="699" y="175"/>
                    <a:pt x="696" y="179"/>
                    <a:pt x="696" y="180"/>
                  </a:cubicBezTo>
                  <a:cubicBezTo>
                    <a:pt x="695" y="181"/>
                    <a:pt x="697" y="187"/>
                    <a:pt x="699" y="190"/>
                  </a:cubicBezTo>
                  <a:cubicBezTo>
                    <a:pt x="700" y="192"/>
                    <a:pt x="701" y="196"/>
                    <a:pt x="702" y="198"/>
                  </a:cubicBezTo>
                  <a:cubicBezTo>
                    <a:pt x="703" y="201"/>
                    <a:pt x="705" y="202"/>
                    <a:pt x="705" y="203"/>
                  </a:cubicBezTo>
                  <a:cubicBezTo>
                    <a:pt x="706" y="203"/>
                    <a:pt x="707" y="205"/>
                    <a:pt x="708" y="206"/>
                  </a:cubicBezTo>
                  <a:cubicBezTo>
                    <a:pt x="709" y="207"/>
                    <a:pt x="709" y="210"/>
                    <a:pt x="711" y="211"/>
                  </a:cubicBezTo>
                  <a:cubicBezTo>
                    <a:pt x="713" y="213"/>
                    <a:pt x="712" y="209"/>
                    <a:pt x="713" y="208"/>
                  </a:cubicBezTo>
                  <a:cubicBezTo>
                    <a:pt x="714" y="208"/>
                    <a:pt x="715" y="205"/>
                    <a:pt x="715" y="204"/>
                  </a:cubicBezTo>
                  <a:cubicBezTo>
                    <a:pt x="715" y="203"/>
                    <a:pt x="713" y="203"/>
                    <a:pt x="714" y="203"/>
                  </a:cubicBezTo>
                  <a:cubicBezTo>
                    <a:pt x="714" y="202"/>
                    <a:pt x="713" y="201"/>
                    <a:pt x="713" y="201"/>
                  </a:cubicBezTo>
                  <a:cubicBezTo>
                    <a:pt x="712" y="200"/>
                    <a:pt x="713" y="198"/>
                    <a:pt x="714" y="198"/>
                  </a:cubicBezTo>
                  <a:cubicBezTo>
                    <a:pt x="715" y="197"/>
                    <a:pt x="717" y="198"/>
                    <a:pt x="717" y="198"/>
                  </a:cubicBezTo>
                  <a:cubicBezTo>
                    <a:pt x="718" y="198"/>
                    <a:pt x="715" y="195"/>
                    <a:pt x="715" y="194"/>
                  </a:cubicBezTo>
                  <a:cubicBezTo>
                    <a:pt x="716" y="192"/>
                    <a:pt x="717" y="192"/>
                    <a:pt x="717" y="191"/>
                  </a:cubicBezTo>
                  <a:cubicBezTo>
                    <a:pt x="718" y="190"/>
                    <a:pt x="720" y="189"/>
                    <a:pt x="721" y="189"/>
                  </a:cubicBezTo>
                  <a:cubicBezTo>
                    <a:pt x="722" y="189"/>
                    <a:pt x="723" y="189"/>
                    <a:pt x="723" y="188"/>
                  </a:cubicBezTo>
                  <a:cubicBezTo>
                    <a:pt x="724" y="187"/>
                    <a:pt x="723" y="186"/>
                    <a:pt x="722" y="186"/>
                  </a:cubicBezTo>
                  <a:cubicBezTo>
                    <a:pt x="721" y="186"/>
                    <a:pt x="721" y="185"/>
                    <a:pt x="722" y="184"/>
                  </a:cubicBezTo>
                  <a:cubicBezTo>
                    <a:pt x="722" y="184"/>
                    <a:pt x="722" y="183"/>
                    <a:pt x="721" y="182"/>
                  </a:cubicBezTo>
                  <a:cubicBezTo>
                    <a:pt x="721" y="182"/>
                    <a:pt x="722" y="181"/>
                    <a:pt x="723" y="180"/>
                  </a:cubicBezTo>
                  <a:cubicBezTo>
                    <a:pt x="724" y="180"/>
                    <a:pt x="725" y="181"/>
                    <a:pt x="726" y="181"/>
                  </a:cubicBezTo>
                  <a:cubicBezTo>
                    <a:pt x="726" y="180"/>
                    <a:pt x="726" y="179"/>
                    <a:pt x="726" y="178"/>
                  </a:cubicBezTo>
                  <a:cubicBezTo>
                    <a:pt x="726" y="177"/>
                    <a:pt x="724" y="177"/>
                    <a:pt x="723" y="177"/>
                  </a:cubicBezTo>
                  <a:cubicBezTo>
                    <a:pt x="722" y="177"/>
                    <a:pt x="721" y="176"/>
                    <a:pt x="721" y="174"/>
                  </a:cubicBezTo>
                  <a:cubicBezTo>
                    <a:pt x="720" y="173"/>
                    <a:pt x="722" y="172"/>
                    <a:pt x="722" y="172"/>
                  </a:cubicBezTo>
                  <a:cubicBezTo>
                    <a:pt x="723" y="171"/>
                    <a:pt x="721" y="169"/>
                    <a:pt x="720" y="169"/>
                  </a:cubicBezTo>
                  <a:cubicBezTo>
                    <a:pt x="719" y="170"/>
                    <a:pt x="718" y="169"/>
                    <a:pt x="719" y="168"/>
                  </a:cubicBezTo>
                  <a:cubicBezTo>
                    <a:pt x="719" y="168"/>
                    <a:pt x="718" y="166"/>
                    <a:pt x="718" y="165"/>
                  </a:cubicBezTo>
                  <a:cubicBezTo>
                    <a:pt x="718" y="164"/>
                    <a:pt x="719" y="161"/>
                    <a:pt x="720" y="161"/>
                  </a:cubicBezTo>
                  <a:cubicBezTo>
                    <a:pt x="721" y="160"/>
                    <a:pt x="721" y="159"/>
                    <a:pt x="720" y="158"/>
                  </a:cubicBezTo>
                  <a:cubicBezTo>
                    <a:pt x="720" y="157"/>
                    <a:pt x="721" y="157"/>
                    <a:pt x="722" y="157"/>
                  </a:cubicBezTo>
                  <a:cubicBezTo>
                    <a:pt x="723" y="156"/>
                    <a:pt x="723" y="157"/>
                    <a:pt x="724" y="157"/>
                  </a:cubicBezTo>
                  <a:cubicBezTo>
                    <a:pt x="725" y="157"/>
                    <a:pt x="724" y="157"/>
                    <a:pt x="725" y="156"/>
                  </a:cubicBezTo>
                  <a:cubicBezTo>
                    <a:pt x="725" y="155"/>
                    <a:pt x="727" y="154"/>
                    <a:pt x="728" y="154"/>
                  </a:cubicBezTo>
                  <a:cubicBezTo>
                    <a:pt x="729" y="154"/>
                    <a:pt x="728" y="156"/>
                    <a:pt x="729" y="156"/>
                  </a:cubicBezTo>
                  <a:cubicBezTo>
                    <a:pt x="730" y="157"/>
                    <a:pt x="731" y="154"/>
                    <a:pt x="732" y="154"/>
                  </a:cubicBezTo>
                  <a:cubicBezTo>
                    <a:pt x="733" y="153"/>
                    <a:pt x="733" y="153"/>
                    <a:pt x="733" y="152"/>
                  </a:cubicBezTo>
                  <a:cubicBezTo>
                    <a:pt x="733" y="152"/>
                    <a:pt x="735" y="151"/>
                    <a:pt x="736" y="151"/>
                  </a:cubicBezTo>
                  <a:cubicBezTo>
                    <a:pt x="738" y="152"/>
                    <a:pt x="739" y="154"/>
                    <a:pt x="739" y="155"/>
                  </a:cubicBezTo>
                  <a:cubicBezTo>
                    <a:pt x="740" y="156"/>
                    <a:pt x="741" y="155"/>
                    <a:pt x="741" y="154"/>
                  </a:cubicBezTo>
                  <a:cubicBezTo>
                    <a:pt x="742" y="153"/>
                    <a:pt x="742" y="152"/>
                    <a:pt x="742" y="152"/>
                  </a:cubicBezTo>
                  <a:cubicBezTo>
                    <a:pt x="743" y="151"/>
                    <a:pt x="744" y="151"/>
                    <a:pt x="745" y="151"/>
                  </a:cubicBezTo>
                  <a:cubicBezTo>
                    <a:pt x="745" y="151"/>
                    <a:pt x="744" y="149"/>
                    <a:pt x="744" y="149"/>
                  </a:cubicBezTo>
                  <a:cubicBezTo>
                    <a:pt x="744" y="148"/>
                    <a:pt x="746" y="149"/>
                    <a:pt x="746" y="149"/>
                  </a:cubicBezTo>
                  <a:cubicBezTo>
                    <a:pt x="747" y="148"/>
                    <a:pt x="745" y="147"/>
                    <a:pt x="745" y="147"/>
                  </a:cubicBezTo>
                  <a:cubicBezTo>
                    <a:pt x="745" y="146"/>
                    <a:pt x="746" y="147"/>
                    <a:pt x="746" y="147"/>
                  </a:cubicBezTo>
                  <a:cubicBezTo>
                    <a:pt x="747" y="147"/>
                    <a:pt x="748" y="146"/>
                    <a:pt x="748" y="145"/>
                  </a:cubicBezTo>
                  <a:cubicBezTo>
                    <a:pt x="748" y="145"/>
                    <a:pt x="749" y="146"/>
                    <a:pt x="750" y="146"/>
                  </a:cubicBezTo>
                  <a:cubicBezTo>
                    <a:pt x="750" y="146"/>
                    <a:pt x="751" y="143"/>
                    <a:pt x="754" y="140"/>
                  </a:cubicBezTo>
                  <a:cubicBezTo>
                    <a:pt x="758" y="137"/>
                    <a:pt x="763" y="137"/>
                    <a:pt x="764" y="137"/>
                  </a:cubicBezTo>
                  <a:cubicBezTo>
                    <a:pt x="765" y="137"/>
                    <a:pt x="765" y="137"/>
                    <a:pt x="767" y="138"/>
                  </a:cubicBezTo>
                  <a:cubicBezTo>
                    <a:pt x="769" y="138"/>
                    <a:pt x="769" y="137"/>
                    <a:pt x="770" y="137"/>
                  </a:cubicBezTo>
                  <a:cubicBezTo>
                    <a:pt x="770" y="137"/>
                    <a:pt x="770" y="135"/>
                    <a:pt x="770" y="135"/>
                  </a:cubicBezTo>
                  <a:cubicBezTo>
                    <a:pt x="770" y="134"/>
                    <a:pt x="768" y="132"/>
                    <a:pt x="767" y="132"/>
                  </a:cubicBezTo>
                  <a:cubicBezTo>
                    <a:pt x="766" y="132"/>
                    <a:pt x="766" y="130"/>
                    <a:pt x="764" y="130"/>
                  </a:cubicBezTo>
                  <a:cubicBezTo>
                    <a:pt x="763" y="129"/>
                    <a:pt x="763" y="128"/>
                    <a:pt x="763" y="128"/>
                  </a:cubicBezTo>
                  <a:cubicBezTo>
                    <a:pt x="762" y="127"/>
                    <a:pt x="762" y="127"/>
                    <a:pt x="762" y="128"/>
                  </a:cubicBezTo>
                  <a:cubicBezTo>
                    <a:pt x="761" y="129"/>
                    <a:pt x="762" y="129"/>
                    <a:pt x="759" y="128"/>
                  </a:cubicBezTo>
                  <a:cubicBezTo>
                    <a:pt x="756" y="128"/>
                    <a:pt x="757" y="125"/>
                    <a:pt x="757" y="124"/>
                  </a:cubicBezTo>
                  <a:cubicBezTo>
                    <a:pt x="757" y="123"/>
                    <a:pt x="757" y="122"/>
                    <a:pt x="755" y="122"/>
                  </a:cubicBezTo>
                  <a:cubicBezTo>
                    <a:pt x="753" y="122"/>
                    <a:pt x="754" y="121"/>
                    <a:pt x="755" y="121"/>
                  </a:cubicBezTo>
                  <a:cubicBezTo>
                    <a:pt x="756" y="121"/>
                    <a:pt x="758" y="121"/>
                    <a:pt x="759" y="121"/>
                  </a:cubicBezTo>
                  <a:cubicBezTo>
                    <a:pt x="760" y="121"/>
                    <a:pt x="761" y="122"/>
                    <a:pt x="762" y="122"/>
                  </a:cubicBezTo>
                  <a:cubicBezTo>
                    <a:pt x="763" y="122"/>
                    <a:pt x="765" y="121"/>
                    <a:pt x="767" y="120"/>
                  </a:cubicBezTo>
                  <a:cubicBezTo>
                    <a:pt x="768" y="119"/>
                    <a:pt x="768" y="117"/>
                    <a:pt x="768" y="116"/>
                  </a:cubicBezTo>
                  <a:cubicBezTo>
                    <a:pt x="767" y="116"/>
                    <a:pt x="767" y="115"/>
                    <a:pt x="766" y="115"/>
                  </a:cubicBezTo>
                  <a:cubicBezTo>
                    <a:pt x="766" y="115"/>
                    <a:pt x="766" y="111"/>
                    <a:pt x="766" y="111"/>
                  </a:cubicBezTo>
                  <a:cubicBezTo>
                    <a:pt x="766" y="110"/>
                    <a:pt x="767" y="111"/>
                    <a:pt x="768" y="111"/>
                  </a:cubicBezTo>
                  <a:cubicBezTo>
                    <a:pt x="768" y="112"/>
                    <a:pt x="769" y="112"/>
                    <a:pt x="768" y="113"/>
                  </a:cubicBezTo>
                  <a:cubicBezTo>
                    <a:pt x="768" y="113"/>
                    <a:pt x="769" y="114"/>
                    <a:pt x="769" y="115"/>
                  </a:cubicBezTo>
                  <a:cubicBezTo>
                    <a:pt x="770" y="115"/>
                    <a:pt x="770" y="116"/>
                    <a:pt x="772" y="116"/>
                  </a:cubicBezTo>
                  <a:cubicBezTo>
                    <a:pt x="773" y="117"/>
                    <a:pt x="778" y="117"/>
                    <a:pt x="779" y="117"/>
                  </a:cubicBezTo>
                  <a:cubicBezTo>
                    <a:pt x="780" y="117"/>
                    <a:pt x="783" y="119"/>
                    <a:pt x="782" y="120"/>
                  </a:cubicBezTo>
                  <a:cubicBezTo>
                    <a:pt x="781" y="120"/>
                    <a:pt x="783" y="122"/>
                    <a:pt x="784" y="122"/>
                  </a:cubicBezTo>
                  <a:cubicBezTo>
                    <a:pt x="785" y="122"/>
                    <a:pt x="788" y="122"/>
                    <a:pt x="790" y="123"/>
                  </a:cubicBezTo>
                  <a:cubicBezTo>
                    <a:pt x="791" y="123"/>
                    <a:pt x="792" y="125"/>
                    <a:pt x="794" y="125"/>
                  </a:cubicBezTo>
                  <a:cubicBezTo>
                    <a:pt x="795" y="125"/>
                    <a:pt x="797" y="124"/>
                    <a:pt x="797" y="123"/>
                  </a:cubicBezTo>
                  <a:cubicBezTo>
                    <a:pt x="797" y="123"/>
                    <a:pt x="795" y="122"/>
                    <a:pt x="795" y="123"/>
                  </a:cubicBezTo>
                  <a:cubicBezTo>
                    <a:pt x="794" y="123"/>
                    <a:pt x="794" y="122"/>
                    <a:pt x="793" y="122"/>
                  </a:cubicBezTo>
                  <a:cubicBezTo>
                    <a:pt x="793" y="121"/>
                    <a:pt x="794" y="121"/>
                    <a:pt x="795" y="121"/>
                  </a:cubicBezTo>
                  <a:cubicBezTo>
                    <a:pt x="796" y="120"/>
                    <a:pt x="795" y="119"/>
                    <a:pt x="794" y="118"/>
                  </a:cubicBezTo>
                  <a:cubicBezTo>
                    <a:pt x="794" y="117"/>
                    <a:pt x="793" y="116"/>
                    <a:pt x="793" y="116"/>
                  </a:cubicBezTo>
                  <a:cubicBezTo>
                    <a:pt x="794" y="116"/>
                    <a:pt x="796" y="116"/>
                    <a:pt x="797" y="116"/>
                  </a:cubicBezTo>
                  <a:cubicBezTo>
                    <a:pt x="799" y="116"/>
                    <a:pt x="797" y="115"/>
                    <a:pt x="797" y="114"/>
                  </a:cubicBezTo>
                  <a:cubicBezTo>
                    <a:pt x="796" y="114"/>
                    <a:pt x="799" y="115"/>
                    <a:pt x="800" y="116"/>
                  </a:cubicBezTo>
                  <a:cubicBezTo>
                    <a:pt x="801" y="116"/>
                    <a:pt x="800" y="116"/>
                    <a:pt x="800" y="114"/>
                  </a:cubicBezTo>
                  <a:cubicBezTo>
                    <a:pt x="801" y="113"/>
                    <a:pt x="801" y="113"/>
                    <a:pt x="802" y="113"/>
                  </a:cubicBezTo>
                  <a:cubicBezTo>
                    <a:pt x="803" y="112"/>
                    <a:pt x="802" y="112"/>
                    <a:pt x="800" y="111"/>
                  </a:cubicBezTo>
                  <a:cubicBezTo>
                    <a:pt x="797" y="110"/>
                    <a:pt x="797" y="109"/>
                    <a:pt x="796" y="108"/>
                  </a:cubicBezTo>
                  <a:cubicBezTo>
                    <a:pt x="796" y="107"/>
                    <a:pt x="795" y="107"/>
                    <a:pt x="795" y="108"/>
                  </a:cubicBezTo>
                  <a:cubicBezTo>
                    <a:pt x="794" y="108"/>
                    <a:pt x="793" y="105"/>
                    <a:pt x="792" y="105"/>
                  </a:cubicBezTo>
                  <a:cubicBezTo>
                    <a:pt x="791" y="105"/>
                    <a:pt x="789" y="104"/>
                    <a:pt x="789" y="105"/>
                  </a:cubicBezTo>
                  <a:cubicBezTo>
                    <a:pt x="788" y="105"/>
                    <a:pt x="785" y="104"/>
                    <a:pt x="785" y="105"/>
                  </a:cubicBezTo>
                  <a:cubicBezTo>
                    <a:pt x="784" y="105"/>
                    <a:pt x="786" y="109"/>
                    <a:pt x="785" y="109"/>
                  </a:cubicBezTo>
                  <a:cubicBezTo>
                    <a:pt x="784" y="110"/>
                    <a:pt x="782" y="103"/>
                    <a:pt x="782" y="102"/>
                  </a:cubicBezTo>
                  <a:cubicBezTo>
                    <a:pt x="782" y="101"/>
                    <a:pt x="781" y="100"/>
                    <a:pt x="780" y="100"/>
                  </a:cubicBezTo>
                  <a:cubicBezTo>
                    <a:pt x="779" y="100"/>
                    <a:pt x="776" y="99"/>
                    <a:pt x="774" y="99"/>
                  </a:cubicBezTo>
                  <a:cubicBezTo>
                    <a:pt x="772" y="99"/>
                    <a:pt x="771" y="96"/>
                    <a:pt x="769" y="96"/>
                  </a:cubicBezTo>
                  <a:cubicBezTo>
                    <a:pt x="768" y="96"/>
                    <a:pt x="765" y="95"/>
                    <a:pt x="764" y="94"/>
                  </a:cubicBezTo>
                  <a:cubicBezTo>
                    <a:pt x="762" y="93"/>
                    <a:pt x="761" y="93"/>
                    <a:pt x="759" y="92"/>
                  </a:cubicBezTo>
                  <a:cubicBezTo>
                    <a:pt x="756" y="91"/>
                    <a:pt x="756" y="90"/>
                    <a:pt x="755" y="89"/>
                  </a:cubicBezTo>
                  <a:cubicBezTo>
                    <a:pt x="753" y="88"/>
                    <a:pt x="752" y="89"/>
                    <a:pt x="751" y="88"/>
                  </a:cubicBezTo>
                  <a:cubicBezTo>
                    <a:pt x="750" y="88"/>
                    <a:pt x="750" y="86"/>
                    <a:pt x="749" y="85"/>
                  </a:cubicBezTo>
                  <a:cubicBezTo>
                    <a:pt x="747" y="85"/>
                    <a:pt x="745" y="84"/>
                    <a:pt x="743" y="84"/>
                  </a:cubicBezTo>
                  <a:cubicBezTo>
                    <a:pt x="741" y="83"/>
                    <a:pt x="741" y="82"/>
                    <a:pt x="739" y="81"/>
                  </a:cubicBezTo>
                  <a:cubicBezTo>
                    <a:pt x="736" y="80"/>
                    <a:pt x="728" y="81"/>
                    <a:pt x="725" y="81"/>
                  </a:cubicBezTo>
                  <a:cubicBezTo>
                    <a:pt x="722" y="80"/>
                    <a:pt x="720" y="79"/>
                    <a:pt x="720" y="79"/>
                  </a:cubicBezTo>
                  <a:cubicBezTo>
                    <a:pt x="719" y="80"/>
                    <a:pt x="720" y="81"/>
                    <a:pt x="721" y="81"/>
                  </a:cubicBezTo>
                  <a:cubicBezTo>
                    <a:pt x="722" y="82"/>
                    <a:pt x="719" y="82"/>
                    <a:pt x="719" y="82"/>
                  </a:cubicBezTo>
                  <a:cubicBezTo>
                    <a:pt x="719" y="83"/>
                    <a:pt x="720" y="84"/>
                    <a:pt x="721" y="84"/>
                  </a:cubicBezTo>
                  <a:cubicBezTo>
                    <a:pt x="723" y="85"/>
                    <a:pt x="722" y="85"/>
                    <a:pt x="722" y="86"/>
                  </a:cubicBezTo>
                  <a:cubicBezTo>
                    <a:pt x="722" y="87"/>
                    <a:pt x="722" y="87"/>
                    <a:pt x="723" y="88"/>
                  </a:cubicBezTo>
                  <a:cubicBezTo>
                    <a:pt x="724" y="88"/>
                    <a:pt x="723" y="89"/>
                    <a:pt x="723" y="89"/>
                  </a:cubicBezTo>
                  <a:cubicBezTo>
                    <a:pt x="722" y="89"/>
                    <a:pt x="723" y="91"/>
                    <a:pt x="722" y="92"/>
                  </a:cubicBezTo>
                  <a:cubicBezTo>
                    <a:pt x="721" y="92"/>
                    <a:pt x="720" y="90"/>
                    <a:pt x="720" y="90"/>
                  </a:cubicBezTo>
                  <a:cubicBezTo>
                    <a:pt x="719" y="90"/>
                    <a:pt x="720" y="92"/>
                    <a:pt x="720" y="92"/>
                  </a:cubicBezTo>
                  <a:cubicBezTo>
                    <a:pt x="719" y="92"/>
                    <a:pt x="717" y="89"/>
                    <a:pt x="717" y="89"/>
                  </a:cubicBezTo>
                  <a:cubicBezTo>
                    <a:pt x="717" y="88"/>
                    <a:pt x="714" y="87"/>
                    <a:pt x="713" y="86"/>
                  </a:cubicBezTo>
                  <a:cubicBezTo>
                    <a:pt x="712" y="85"/>
                    <a:pt x="711" y="82"/>
                    <a:pt x="711" y="82"/>
                  </a:cubicBezTo>
                  <a:cubicBezTo>
                    <a:pt x="710" y="82"/>
                    <a:pt x="710" y="82"/>
                    <a:pt x="710" y="83"/>
                  </a:cubicBezTo>
                  <a:cubicBezTo>
                    <a:pt x="710" y="84"/>
                    <a:pt x="703" y="83"/>
                    <a:pt x="701" y="83"/>
                  </a:cubicBezTo>
                  <a:cubicBezTo>
                    <a:pt x="698" y="82"/>
                    <a:pt x="693" y="82"/>
                    <a:pt x="692" y="82"/>
                  </a:cubicBezTo>
                  <a:cubicBezTo>
                    <a:pt x="690" y="83"/>
                    <a:pt x="689" y="84"/>
                    <a:pt x="689" y="85"/>
                  </a:cubicBezTo>
                  <a:cubicBezTo>
                    <a:pt x="689" y="86"/>
                    <a:pt x="690" y="89"/>
                    <a:pt x="690" y="89"/>
                  </a:cubicBezTo>
                  <a:cubicBezTo>
                    <a:pt x="689" y="90"/>
                    <a:pt x="688" y="87"/>
                    <a:pt x="688" y="86"/>
                  </a:cubicBezTo>
                  <a:cubicBezTo>
                    <a:pt x="688" y="85"/>
                    <a:pt x="686" y="85"/>
                    <a:pt x="685" y="84"/>
                  </a:cubicBezTo>
                  <a:cubicBezTo>
                    <a:pt x="684" y="83"/>
                    <a:pt x="683" y="82"/>
                    <a:pt x="682" y="81"/>
                  </a:cubicBezTo>
                  <a:cubicBezTo>
                    <a:pt x="680" y="80"/>
                    <a:pt x="681" y="81"/>
                    <a:pt x="681" y="80"/>
                  </a:cubicBezTo>
                  <a:cubicBezTo>
                    <a:pt x="681" y="79"/>
                    <a:pt x="680" y="78"/>
                    <a:pt x="679" y="77"/>
                  </a:cubicBezTo>
                  <a:cubicBezTo>
                    <a:pt x="678" y="76"/>
                    <a:pt x="676" y="73"/>
                    <a:pt x="674" y="72"/>
                  </a:cubicBezTo>
                  <a:cubicBezTo>
                    <a:pt x="671" y="71"/>
                    <a:pt x="665" y="72"/>
                    <a:pt x="662" y="72"/>
                  </a:cubicBezTo>
                  <a:cubicBezTo>
                    <a:pt x="659" y="72"/>
                    <a:pt x="655" y="73"/>
                    <a:pt x="653" y="73"/>
                  </a:cubicBezTo>
                  <a:cubicBezTo>
                    <a:pt x="651" y="73"/>
                    <a:pt x="649" y="72"/>
                    <a:pt x="648" y="71"/>
                  </a:cubicBezTo>
                  <a:cubicBezTo>
                    <a:pt x="647" y="71"/>
                    <a:pt x="643" y="67"/>
                    <a:pt x="642" y="66"/>
                  </a:cubicBezTo>
                  <a:cubicBezTo>
                    <a:pt x="641" y="65"/>
                    <a:pt x="639" y="66"/>
                    <a:pt x="639" y="65"/>
                  </a:cubicBezTo>
                  <a:cubicBezTo>
                    <a:pt x="639" y="64"/>
                    <a:pt x="641" y="65"/>
                    <a:pt x="642" y="65"/>
                  </a:cubicBezTo>
                  <a:cubicBezTo>
                    <a:pt x="642" y="65"/>
                    <a:pt x="641" y="63"/>
                    <a:pt x="641" y="62"/>
                  </a:cubicBezTo>
                  <a:cubicBezTo>
                    <a:pt x="640" y="61"/>
                    <a:pt x="638" y="60"/>
                    <a:pt x="636" y="60"/>
                  </a:cubicBezTo>
                  <a:cubicBezTo>
                    <a:pt x="634" y="60"/>
                    <a:pt x="633" y="59"/>
                    <a:pt x="631" y="59"/>
                  </a:cubicBezTo>
                  <a:cubicBezTo>
                    <a:pt x="629" y="59"/>
                    <a:pt x="630" y="60"/>
                    <a:pt x="629" y="60"/>
                  </a:cubicBezTo>
                  <a:cubicBezTo>
                    <a:pt x="629" y="60"/>
                    <a:pt x="627" y="60"/>
                    <a:pt x="626" y="60"/>
                  </a:cubicBezTo>
                  <a:cubicBezTo>
                    <a:pt x="625" y="60"/>
                    <a:pt x="625" y="61"/>
                    <a:pt x="624" y="61"/>
                  </a:cubicBezTo>
                  <a:cubicBezTo>
                    <a:pt x="623" y="61"/>
                    <a:pt x="621" y="61"/>
                    <a:pt x="620" y="61"/>
                  </a:cubicBezTo>
                  <a:cubicBezTo>
                    <a:pt x="618" y="61"/>
                    <a:pt x="619" y="61"/>
                    <a:pt x="620" y="60"/>
                  </a:cubicBezTo>
                  <a:cubicBezTo>
                    <a:pt x="620" y="59"/>
                    <a:pt x="620" y="59"/>
                    <a:pt x="620" y="58"/>
                  </a:cubicBezTo>
                  <a:cubicBezTo>
                    <a:pt x="619" y="58"/>
                    <a:pt x="620" y="58"/>
                    <a:pt x="621" y="58"/>
                  </a:cubicBezTo>
                  <a:cubicBezTo>
                    <a:pt x="622" y="58"/>
                    <a:pt x="627" y="59"/>
                    <a:pt x="628" y="59"/>
                  </a:cubicBezTo>
                  <a:cubicBezTo>
                    <a:pt x="630" y="59"/>
                    <a:pt x="622" y="57"/>
                    <a:pt x="619" y="57"/>
                  </a:cubicBezTo>
                  <a:cubicBezTo>
                    <a:pt x="616" y="57"/>
                    <a:pt x="610" y="56"/>
                    <a:pt x="608" y="56"/>
                  </a:cubicBezTo>
                  <a:cubicBezTo>
                    <a:pt x="607" y="57"/>
                    <a:pt x="603" y="58"/>
                    <a:pt x="602" y="58"/>
                  </a:cubicBezTo>
                  <a:cubicBezTo>
                    <a:pt x="602" y="58"/>
                    <a:pt x="601" y="59"/>
                    <a:pt x="602" y="61"/>
                  </a:cubicBezTo>
                  <a:cubicBezTo>
                    <a:pt x="603" y="62"/>
                    <a:pt x="603" y="61"/>
                    <a:pt x="603" y="60"/>
                  </a:cubicBezTo>
                  <a:cubicBezTo>
                    <a:pt x="604" y="60"/>
                    <a:pt x="604" y="61"/>
                    <a:pt x="606" y="61"/>
                  </a:cubicBezTo>
                  <a:cubicBezTo>
                    <a:pt x="607" y="62"/>
                    <a:pt x="604" y="61"/>
                    <a:pt x="604" y="62"/>
                  </a:cubicBezTo>
                  <a:cubicBezTo>
                    <a:pt x="605" y="62"/>
                    <a:pt x="604" y="62"/>
                    <a:pt x="604" y="63"/>
                  </a:cubicBezTo>
                  <a:cubicBezTo>
                    <a:pt x="603" y="64"/>
                    <a:pt x="606" y="66"/>
                    <a:pt x="607" y="67"/>
                  </a:cubicBezTo>
                  <a:cubicBezTo>
                    <a:pt x="607" y="67"/>
                    <a:pt x="606" y="67"/>
                    <a:pt x="605" y="67"/>
                  </a:cubicBezTo>
                  <a:cubicBezTo>
                    <a:pt x="605" y="67"/>
                    <a:pt x="605" y="67"/>
                    <a:pt x="604" y="68"/>
                  </a:cubicBezTo>
                  <a:cubicBezTo>
                    <a:pt x="603" y="68"/>
                    <a:pt x="602" y="66"/>
                    <a:pt x="602" y="66"/>
                  </a:cubicBezTo>
                  <a:cubicBezTo>
                    <a:pt x="602" y="65"/>
                    <a:pt x="600" y="65"/>
                    <a:pt x="599" y="66"/>
                  </a:cubicBezTo>
                  <a:cubicBezTo>
                    <a:pt x="598" y="66"/>
                    <a:pt x="600" y="67"/>
                    <a:pt x="601" y="68"/>
                  </a:cubicBezTo>
                  <a:cubicBezTo>
                    <a:pt x="601" y="69"/>
                    <a:pt x="600" y="69"/>
                    <a:pt x="599" y="69"/>
                  </a:cubicBezTo>
                  <a:cubicBezTo>
                    <a:pt x="599" y="69"/>
                    <a:pt x="600" y="71"/>
                    <a:pt x="599" y="71"/>
                  </a:cubicBezTo>
                  <a:cubicBezTo>
                    <a:pt x="598" y="71"/>
                    <a:pt x="596" y="68"/>
                    <a:pt x="595" y="68"/>
                  </a:cubicBezTo>
                  <a:cubicBezTo>
                    <a:pt x="594" y="67"/>
                    <a:pt x="593" y="66"/>
                    <a:pt x="592" y="67"/>
                  </a:cubicBezTo>
                  <a:cubicBezTo>
                    <a:pt x="591" y="67"/>
                    <a:pt x="590" y="66"/>
                    <a:pt x="588" y="66"/>
                  </a:cubicBezTo>
                  <a:cubicBezTo>
                    <a:pt x="587" y="65"/>
                    <a:pt x="586" y="66"/>
                    <a:pt x="586" y="67"/>
                  </a:cubicBezTo>
                  <a:cubicBezTo>
                    <a:pt x="585" y="67"/>
                    <a:pt x="584" y="67"/>
                    <a:pt x="583" y="67"/>
                  </a:cubicBezTo>
                  <a:cubicBezTo>
                    <a:pt x="582" y="67"/>
                    <a:pt x="580" y="64"/>
                    <a:pt x="579" y="63"/>
                  </a:cubicBezTo>
                  <a:cubicBezTo>
                    <a:pt x="578" y="62"/>
                    <a:pt x="579" y="63"/>
                    <a:pt x="578" y="65"/>
                  </a:cubicBezTo>
                  <a:cubicBezTo>
                    <a:pt x="577" y="66"/>
                    <a:pt x="577" y="68"/>
                    <a:pt x="578" y="70"/>
                  </a:cubicBezTo>
                  <a:cubicBezTo>
                    <a:pt x="578" y="72"/>
                    <a:pt x="576" y="73"/>
                    <a:pt x="576" y="74"/>
                  </a:cubicBezTo>
                  <a:cubicBezTo>
                    <a:pt x="575" y="74"/>
                    <a:pt x="575" y="73"/>
                    <a:pt x="574" y="72"/>
                  </a:cubicBezTo>
                  <a:cubicBezTo>
                    <a:pt x="574" y="72"/>
                    <a:pt x="573" y="72"/>
                    <a:pt x="572" y="72"/>
                  </a:cubicBezTo>
                  <a:cubicBezTo>
                    <a:pt x="572" y="72"/>
                    <a:pt x="571" y="70"/>
                    <a:pt x="571" y="70"/>
                  </a:cubicBezTo>
                  <a:cubicBezTo>
                    <a:pt x="571" y="69"/>
                    <a:pt x="570" y="68"/>
                    <a:pt x="570" y="68"/>
                  </a:cubicBezTo>
                  <a:cubicBezTo>
                    <a:pt x="569" y="67"/>
                    <a:pt x="569" y="67"/>
                    <a:pt x="567" y="66"/>
                  </a:cubicBezTo>
                  <a:cubicBezTo>
                    <a:pt x="566" y="65"/>
                    <a:pt x="566" y="65"/>
                    <a:pt x="566" y="64"/>
                  </a:cubicBezTo>
                  <a:cubicBezTo>
                    <a:pt x="565" y="63"/>
                    <a:pt x="565" y="64"/>
                    <a:pt x="564" y="64"/>
                  </a:cubicBezTo>
                  <a:cubicBezTo>
                    <a:pt x="564" y="64"/>
                    <a:pt x="563" y="63"/>
                    <a:pt x="563" y="63"/>
                  </a:cubicBezTo>
                  <a:cubicBezTo>
                    <a:pt x="563" y="62"/>
                    <a:pt x="562" y="62"/>
                    <a:pt x="562" y="63"/>
                  </a:cubicBezTo>
                  <a:cubicBezTo>
                    <a:pt x="562" y="63"/>
                    <a:pt x="560" y="60"/>
                    <a:pt x="560" y="60"/>
                  </a:cubicBezTo>
                  <a:cubicBezTo>
                    <a:pt x="559" y="59"/>
                    <a:pt x="557" y="59"/>
                    <a:pt x="556" y="59"/>
                  </a:cubicBezTo>
                  <a:cubicBezTo>
                    <a:pt x="555" y="59"/>
                    <a:pt x="554" y="58"/>
                    <a:pt x="554" y="57"/>
                  </a:cubicBezTo>
                  <a:cubicBezTo>
                    <a:pt x="553" y="56"/>
                    <a:pt x="558" y="58"/>
                    <a:pt x="559" y="59"/>
                  </a:cubicBezTo>
                  <a:cubicBezTo>
                    <a:pt x="561" y="59"/>
                    <a:pt x="561" y="60"/>
                    <a:pt x="562" y="61"/>
                  </a:cubicBezTo>
                  <a:cubicBezTo>
                    <a:pt x="564" y="62"/>
                    <a:pt x="565" y="62"/>
                    <a:pt x="565" y="62"/>
                  </a:cubicBezTo>
                  <a:cubicBezTo>
                    <a:pt x="565" y="61"/>
                    <a:pt x="564" y="55"/>
                    <a:pt x="564" y="54"/>
                  </a:cubicBezTo>
                  <a:cubicBezTo>
                    <a:pt x="564" y="53"/>
                    <a:pt x="562" y="53"/>
                    <a:pt x="560" y="52"/>
                  </a:cubicBezTo>
                  <a:cubicBezTo>
                    <a:pt x="559" y="51"/>
                    <a:pt x="560" y="50"/>
                    <a:pt x="558" y="49"/>
                  </a:cubicBezTo>
                  <a:cubicBezTo>
                    <a:pt x="557" y="49"/>
                    <a:pt x="557" y="48"/>
                    <a:pt x="556" y="48"/>
                  </a:cubicBezTo>
                  <a:cubicBezTo>
                    <a:pt x="555" y="48"/>
                    <a:pt x="553" y="48"/>
                    <a:pt x="553" y="48"/>
                  </a:cubicBezTo>
                  <a:cubicBezTo>
                    <a:pt x="552" y="48"/>
                    <a:pt x="551" y="48"/>
                    <a:pt x="550" y="48"/>
                  </a:cubicBezTo>
                  <a:cubicBezTo>
                    <a:pt x="548" y="48"/>
                    <a:pt x="547" y="48"/>
                    <a:pt x="546" y="47"/>
                  </a:cubicBezTo>
                  <a:cubicBezTo>
                    <a:pt x="545" y="46"/>
                    <a:pt x="545" y="46"/>
                    <a:pt x="543" y="46"/>
                  </a:cubicBezTo>
                  <a:cubicBezTo>
                    <a:pt x="542" y="46"/>
                    <a:pt x="541" y="45"/>
                    <a:pt x="540" y="45"/>
                  </a:cubicBezTo>
                  <a:cubicBezTo>
                    <a:pt x="539" y="45"/>
                    <a:pt x="539" y="46"/>
                    <a:pt x="538" y="47"/>
                  </a:cubicBezTo>
                  <a:cubicBezTo>
                    <a:pt x="538" y="47"/>
                    <a:pt x="540" y="48"/>
                    <a:pt x="541" y="49"/>
                  </a:cubicBezTo>
                  <a:cubicBezTo>
                    <a:pt x="542" y="50"/>
                    <a:pt x="542" y="50"/>
                    <a:pt x="541" y="50"/>
                  </a:cubicBezTo>
                  <a:cubicBezTo>
                    <a:pt x="540" y="51"/>
                    <a:pt x="540" y="51"/>
                    <a:pt x="541" y="52"/>
                  </a:cubicBezTo>
                  <a:cubicBezTo>
                    <a:pt x="543" y="53"/>
                    <a:pt x="540" y="52"/>
                    <a:pt x="541" y="53"/>
                  </a:cubicBezTo>
                  <a:cubicBezTo>
                    <a:pt x="542" y="54"/>
                    <a:pt x="538" y="54"/>
                    <a:pt x="536" y="53"/>
                  </a:cubicBezTo>
                  <a:cubicBezTo>
                    <a:pt x="533" y="52"/>
                    <a:pt x="531" y="53"/>
                    <a:pt x="530" y="53"/>
                  </a:cubicBezTo>
                  <a:cubicBezTo>
                    <a:pt x="529" y="53"/>
                    <a:pt x="528" y="50"/>
                    <a:pt x="528" y="50"/>
                  </a:cubicBezTo>
                  <a:cubicBezTo>
                    <a:pt x="528" y="49"/>
                    <a:pt x="525" y="49"/>
                    <a:pt x="523" y="49"/>
                  </a:cubicBezTo>
                  <a:cubicBezTo>
                    <a:pt x="521" y="49"/>
                    <a:pt x="518" y="48"/>
                    <a:pt x="517" y="47"/>
                  </a:cubicBezTo>
                  <a:cubicBezTo>
                    <a:pt x="516" y="47"/>
                    <a:pt x="517" y="47"/>
                    <a:pt x="516" y="48"/>
                  </a:cubicBezTo>
                  <a:cubicBezTo>
                    <a:pt x="516" y="48"/>
                    <a:pt x="512" y="46"/>
                    <a:pt x="510" y="46"/>
                  </a:cubicBezTo>
                  <a:cubicBezTo>
                    <a:pt x="508" y="46"/>
                    <a:pt x="507" y="46"/>
                    <a:pt x="506" y="47"/>
                  </a:cubicBezTo>
                  <a:cubicBezTo>
                    <a:pt x="506" y="48"/>
                    <a:pt x="508" y="50"/>
                    <a:pt x="509" y="51"/>
                  </a:cubicBezTo>
                  <a:cubicBezTo>
                    <a:pt x="510" y="52"/>
                    <a:pt x="507" y="53"/>
                    <a:pt x="506" y="54"/>
                  </a:cubicBezTo>
                  <a:cubicBezTo>
                    <a:pt x="506" y="54"/>
                    <a:pt x="507" y="52"/>
                    <a:pt x="507" y="51"/>
                  </a:cubicBezTo>
                  <a:cubicBezTo>
                    <a:pt x="506" y="50"/>
                    <a:pt x="504" y="44"/>
                    <a:pt x="503" y="44"/>
                  </a:cubicBezTo>
                  <a:cubicBezTo>
                    <a:pt x="503" y="43"/>
                    <a:pt x="502" y="43"/>
                    <a:pt x="500" y="43"/>
                  </a:cubicBezTo>
                  <a:cubicBezTo>
                    <a:pt x="499" y="43"/>
                    <a:pt x="499" y="40"/>
                    <a:pt x="498" y="39"/>
                  </a:cubicBezTo>
                  <a:cubicBezTo>
                    <a:pt x="498" y="39"/>
                    <a:pt x="498" y="40"/>
                    <a:pt x="496" y="40"/>
                  </a:cubicBezTo>
                  <a:cubicBezTo>
                    <a:pt x="495" y="41"/>
                    <a:pt x="495" y="41"/>
                    <a:pt x="494" y="42"/>
                  </a:cubicBezTo>
                  <a:cubicBezTo>
                    <a:pt x="492" y="44"/>
                    <a:pt x="492" y="44"/>
                    <a:pt x="490" y="45"/>
                  </a:cubicBezTo>
                  <a:cubicBezTo>
                    <a:pt x="488" y="46"/>
                    <a:pt x="485" y="50"/>
                    <a:pt x="484" y="51"/>
                  </a:cubicBezTo>
                  <a:cubicBezTo>
                    <a:pt x="482" y="52"/>
                    <a:pt x="483" y="49"/>
                    <a:pt x="483" y="47"/>
                  </a:cubicBezTo>
                  <a:cubicBezTo>
                    <a:pt x="483" y="44"/>
                    <a:pt x="483" y="43"/>
                    <a:pt x="482" y="43"/>
                  </a:cubicBezTo>
                  <a:cubicBezTo>
                    <a:pt x="482" y="42"/>
                    <a:pt x="484" y="43"/>
                    <a:pt x="485" y="43"/>
                  </a:cubicBezTo>
                  <a:cubicBezTo>
                    <a:pt x="486" y="43"/>
                    <a:pt x="490" y="37"/>
                    <a:pt x="491" y="36"/>
                  </a:cubicBezTo>
                  <a:cubicBezTo>
                    <a:pt x="493" y="36"/>
                    <a:pt x="493" y="35"/>
                    <a:pt x="495" y="34"/>
                  </a:cubicBezTo>
                  <a:cubicBezTo>
                    <a:pt x="496" y="33"/>
                    <a:pt x="497" y="34"/>
                    <a:pt x="500" y="32"/>
                  </a:cubicBezTo>
                  <a:cubicBezTo>
                    <a:pt x="502" y="30"/>
                    <a:pt x="501" y="25"/>
                    <a:pt x="501" y="23"/>
                  </a:cubicBezTo>
                  <a:cubicBezTo>
                    <a:pt x="501" y="20"/>
                    <a:pt x="501" y="19"/>
                    <a:pt x="500" y="18"/>
                  </a:cubicBezTo>
                  <a:cubicBezTo>
                    <a:pt x="499" y="17"/>
                    <a:pt x="499" y="17"/>
                    <a:pt x="498" y="15"/>
                  </a:cubicBezTo>
                  <a:cubicBezTo>
                    <a:pt x="497" y="14"/>
                    <a:pt x="496" y="13"/>
                    <a:pt x="495" y="13"/>
                  </a:cubicBezTo>
                  <a:cubicBezTo>
                    <a:pt x="494" y="13"/>
                    <a:pt x="493" y="13"/>
                    <a:pt x="493" y="13"/>
                  </a:cubicBezTo>
                  <a:cubicBezTo>
                    <a:pt x="493" y="13"/>
                    <a:pt x="491" y="13"/>
                    <a:pt x="490" y="13"/>
                  </a:cubicBezTo>
                  <a:cubicBezTo>
                    <a:pt x="489" y="14"/>
                    <a:pt x="481" y="13"/>
                    <a:pt x="478" y="13"/>
                  </a:cubicBezTo>
                  <a:cubicBezTo>
                    <a:pt x="475" y="13"/>
                    <a:pt x="476" y="14"/>
                    <a:pt x="475" y="15"/>
                  </a:cubicBezTo>
                  <a:cubicBezTo>
                    <a:pt x="474" y="16"/>
                    <a:pt x="473" y="16"/>
                    <a:pt x="472" y="17"/>
                  </a:cubicBezTo>
                  <a:cubicBezTo>
                    <a:pt x="471" y="17"/>
                    <a:pt x="471" y="15"/>
                    <a:pt x="472" y="14"/>
                  </a:cubicBezTo>
                  <a:cubicBezTo>
                    <a:pt x="472" y="13"/>
                    <a:pt x="473" y="10"/>
                    <a:pt x="473" y="10"/>
                  </a:cubicBezTo>
                  <a:cubicBezTo>
                    <a:pt x="473" y="9"/>
                    <a:pt x="471" y="9"/>
                    <a:pt x="470" y="9"/>
                  </a:cubicBezTo>
                  <a:cubicBezTo>
                    <a:pt x="469" y="9"/>
                    <a:pt x="471" y="8"/>
                    <a:pt x="471" y="7"/>
                  </a:cubicBezTo>
                  <a:cubicBezTo>
                    <a:pt x="472" y="7"/>
                    <a:pt x="472" y="6"/>
                    <a:pt x="472" y="5"/>
                  </a:cubicBezTo>
                  <a:cubicBezTo>
                    <a:pt x="472" y="4"/>
                    <a:pt x="472" y="4"/>
                    <a:pt x="470" y="3"/>
                  </a:cubicBezTo>
                  <a:cubicBezTo>
                    <a:pt x="469" y="2"/>
                    <a:pt x="468" y="1"/>
                    <a:pt x="467" y="1"/>
                  </a:cubicBezTo>
                  <a:cubicBezTo>
                    <a:pt x="465" y="0"/>
                    <a:pt x="465" y="0"/>
                    <a:pt x="464" y="0"/>
                  </a:cubicBezTo>
                  <a:cubicBezTo>
                    <a:pt x="463" y="0"/>
                    <a:pt x="463" y="0"/>
                    <a:pt x="462" y="1"/>
                  </a:cubicBezTo>
                  <a:cubicBezTo>
                    <a:pt x="461" y="1"/>
                    <a:pt x="458" y="2"/>
                    <a:pt x="458" y="3"/>
                  </a:cubicBezTo>
                  <a:cubicBezTo>
                    <a:pt x="458" y="4"/>
                    <a:pt x="458" y="5"/>
                    <a:pt x="456" y="7"/>
                  </a:cubicBezTo>
                  <a:cubicBezTo>
                    <a:pt x="455" y="9"/>
                    <a:pt x="456" y="10"/>
                    <a:pt x="456" y="12"/>
                  </a:cubicBezTo>
                  <a:cubicBezTo>
                    <a:pt x="456" y="14"/>
                    <a:pt x="456" y="15"/>
                    <a:pt x="452" y="15"/>
                  </a:cubicBezTo>
                  <a:cubicBezTo>
                    <a:pt x="449" y="16"/>
                    <a:pt x="449" y="14"/>
                    <a:pt x="448" y="16"/>
                  </a:cubicBezTo>
                  <a:cubicBezTo>
                    <a:pt x="447" y="17"/>
                    <a:pt x="449" y="19"/>
                    <a:pt x="453" y="21"/>
                  </a:cubicBezTo>
                  <a:cubicBezTo>
                    <a:pt x="457" y="22"/>
                    <a:pt x="456" y="21"/>
                    <a:pt x="456" y="22"/>
                  </a:cubicBezTo>
                  <a:cubicBezTo>
                    <a:pt x="456" y="23"/>
                    <a:pt x="454" y="22"/>
                    <a:pt x="453" y="22"/>
                  </a:cubicBezTo>
                  <a:cubicBezTo>
                    <a:pt x="451" y="23"/>
                    <a:pt x="453" y="23"/>
                    <a:pt x="454" y="23"/>
                  </a:cubicBezTo>
                  <a:cubicBezTo>
                    <a:pt x="455" y="23"/>
                    <a:pt x="456" y="24"/>
                    <a:pt x="457" y="25"/>
                  </a:cubicBezTo>
                  <a:cubicBezTo>
                    <a:pt x="458" y="27"/>
                    <a:pt x="456" y="28"/>
                    <a:pt x="456" y="29"/>
                  </a:cubicBezTo>
                  <a:cubicBezTo>
                    <a:pt x="456" y="29"/>
                    <a:pt x="456" y="27"/>
                    <a:pt x="455" y="26"/>
                  </a:cubicBezTo>
                  <a:cubicBezTo>
                    <a:pt x="455" y="25"/>
                    <a:pt x="454" y="25"/>
                    <a:pt x="453" y="26"/>
                  </a:cubicBezTo>
                  <a:cubicBezTo>
                    <a:pt x="451" y="26"/>
                    <a:pt x="450" y="25"/>
                    <a:pt x="450" y="24"/>
                  </a:cubicBezTo>
                  <a:cubicBezTo>
                    <a:pt x="449" y="23"/>
                    <a:pt x="448" y="22"/>
                    <a:pt x="447" y="21"/>
                  </a:cubicBezTo>
                  <a:cubicBezTo>
                    <a:pt x="445" y="20"/>
                    <a:pt x="445" y="21"/>
                    <a:pt x="443" y="21"/>
                  </a:cubicBezTo>
                  <a:cubicBezTo>
                    <a:pt x="442" y="22"/>
                    <a:pt x="443" y="20"/>
                    <a:pt x="441" y="19"/>
                  </a:cubicBezTo>
                  <a:cubicBezTo>
                    <a:pt x="440" y="19"/>
                    <a:pt x="441" y="18"/>
                    <a:pt x="439" y="19"/>
                  </a:cubicBezTo>
                  <a:cubicBezTo>
                    <a:pt x="438" y="19"/>
                    <a:pt x="438" y="19"/>
                    <a:pt x="436" y="19"/>
                  </a:cubicBezTo>
                  <a:cubicBezTo>
                    <a:pt x="434" y="19"/>
                    <a:pt x="434" y="20"/>
                    <a:pt x="432" y="20"/>
                  </a:cubicBezTo>
                  <a:cubicBezTo>
                    <a:pt x="431" y="20"/>
                    <a:pt x="432" y="19"/>
                    <a:pt x="432" y="18"/>
                  </a:cubicBezTo>
                  <a:cubicBezTo>
                    <a:pt x="432" y="18"/>
                    <a:pt x="430" y="19"/>
                    <a:pt x="429" y="20"/>
                  </a:cubicBezTo>
                  <a:cubicBezTo>
                    <a:pt x="427" y="20"/>
                    <a:pt x="426" y="21"/>
                    <a:pt x="425" y="22"/>
                  </a:cubicBezTo>
                  <a:cubicBezTo>
                    <a:pt x="424" y="22"/>
                    <a:pt x="420" y="23"/>
                    <a:pt x="417" y="25"/>
                  </a:cubicBezTo>
                  <a:cubicBezTo>
                    <a:pt x="414" y="26"/>
                    <a:pt x="414" y="28"/>
                    <a:pt x="412" y="30"/>
                  </a:cubicBezTo>
                  <a:cubicBezTo>
                    <a:pt x="411" y="31"/>
                    <a:pt x="412" y="31"/>
                    <a:pt x="410" y="32"/>
                  </a:cubicBezTo>
                  <a:cubicBezTo>
                    <a:pt x="409" y="32"/>
                    <a:pt x="407" y="33"/>
                    <a:pt x="406" y="34"/>
                  </a:cubicBezTo>
                  <a:cubicBezTo>
                    <a:pt x="405" y="35"/>
                    <a:pt x="405" y="35"/>
                    <a:pt x="404" y="36"/>
                  </a:cubicBezTo>
                  <a:cubicBezTo>
                    <a:pt x="402" y="37"/>
                    <a:pt x="403" y="38"/>
                    <a:pt x="403" y="39"/>
                  </a:cubicBezTo>
                  <a:cubicBezTo>
                    <a:pt x="403" y="40"/>
                    <a:pt x="405" y="40"/>
                    <a:pt x="404" y="41"/>
                  </a:cubicBezTo>
                  <a:cubicBezTo>
                    <a:pt x="404" y="42"/>
                    <a:pt x="404" y="43"/>
                    <a:pt x="402" y="43"/>
                  </a:cubicBezTo>
                  <a:cubicBezTo>
                    <a:pt x="400" y="43"/>
                    <a:pt x="399" y="44"/>
                    <a:pt x="396" y="45"/>
                  </a:cubicBezTo>
                  <a:cubicBezTo>
                    <a:pt x="393" y="46"/>
                    <a:pt x="391" y="45"/>
                    <a:pt x="390" y="46"/>
                  </a:cubicBezTo>
                  <a:cubicBezTo>
                    <a:pt x="388" y="47"/>
                    <a:pt x="390" y="50"/>
                    <a:pt x="389" y="51"/>
                  </a:cubicBezTo>
                  <a:cubicBezTo>
                    <a:pt x="389" y="53"/>
                    <a:pt x="390" y="54"/>
                    <a:pt x="391" y="55"/>
                  </a:cubicBezTo>
                  <a:cubicBezTo>
                    <a:pt x="392" y="57"/>
                    <a:pt x="392" y="58"/>
                    <a:pt x="394" y="58"/>
                  </a:cubicBezTo>
                  <a:cubicBezTo>
                    <a:pt x="395" y="59"/>
                    <a:pt x="397" y="60"/>
                    <a:pt x="398" y="61"/>
                  </a:cubicBezTo>
                  <a:cubicBezTo>
                    <a:pt x="399" y="62"/>
                    <a:pt x="400" y="62"/>
                    <a:pt x="401" y="63"/>
                  </a:cubicBezTo>
                  <a:cubicBezTo>
                    <a:pt x="402" y="64"/>
                    <a:pt x="402" y="67"/>
                    <a:pt x="402" y="68"/>
                  </a:cubicBezTo>
                  <a:cubicBezTo>
                    <a:pt x="402" y="69"/>
                    <a:pt x="401" y="73"/>
                    <a:pt x="401" y="74"/>
                  </a:cubicBezTo>
                  <a:cubicBezTo>
                    <a:pt x="401" y="75"/>
                    <a:pt x="400" y="72"/>
                    <a:pt x="399" y="71"/>
                  </a:cubicBezTo>
                  <a:cubicBezTo>
                    <a:pt x="399" y="71"/>
                    <a:pt x="398" y="71"/>
                    <a:pt x="397" y="71"/>
                  </a:cubicBezTo>
                  <a:cubicBezTo>
                    <a:pt x="396" y="72"/>
                    <a:pt x="398" y="69"/>
                    <a:pt x="399" y="68"/>
                  </a:cubicBezTo>
                  <a:cubicBezTo>
                    <a:pt x="400" y="68"/>
                    <a:pt x="400" y="66"/>
                    <a:pt x="400" y="65"/>
                  </a:cubicBezTo>
                  <a:cubicBezTo>
                    <a:pt x="400" y="64"/>
                    <a:pt x="394" y="64"/>
                    <a:pt x="392" y="63"/>
                  </a:cubicBezTo>
                  <a:cubicBezTo>
                    <a:pt x="391" y="62"/>
                    <a:pt x="387" y="56"/>
                    <a:pt x="386" y="55"/>
                  </a:cubicBezTo>
                  <a:cubicBezTo>
                    <a:pt x="386" y="53"/>
                    <a:pt x="383" y="53"/>
                    <a:pt x="383" y="53"/>
                  </a:cubicBezTo>
                  <a:cubicBezTo>
                    <a:pt x="382" y="53"/>
                    <a:pt x="380" y="55"/>
                    <a:pt x="380" y="55"/>
                  </a:cubicBezTo>
                  <a:cubicBezTo>
                    <a:pt x="379" y="56"/>
                    <a:pt x="381" y="56"/>
                    <a:pt x="382" y="57"/>
                  </a:cubicBezTo>
                  <a:cubicBezTo>
                    <a:pt x="383" y="57"/>
                    <a:pt x="383" y="58"/>
                    <a:pt x="382" y="59"/>
                  </a:cubicBezTo>
                  <a:cubicBezTo>
                    <a:pt x="382" y="59"/>
                    <a:pt x="382" y="57"/>
                    <a:pt x="381" y="58"/>
                  </a:cubicBezTo>
                  <a:cubicBezTo>
                    <a:pt x="380" y="59"/>
                    <a:pt x="378" y="57"/>
                    <a:pt x="377" y="57"/>
                  </a:cubicBezTo>
                  <a:cubicBezTo>
                    <a:pt x="376" y="57"/>
                    <a:pt x="374" y="57"/>
                    <a:pt x="374" y="58"/>
                  </a:cubicBezTo>
                  <a:cubicBezTo>
                    <a:pt x="375" y="58"/>
                    <a:pt x="374" y="59"/>
                    <a:pt x="375" y="60"/>
                  </a:cubicBezTo>
                  <a:cubicBezTo>
                    <a:pt x="375" y="62"/>
                    <a:pt x="377" y="63"/>
                    <a:pt x="378" y="64"/>
                  </a:cubicBezTo>
                  <a:cubicBezTo>
                    <a:pt x="379" y="64"/>
                    <a:pt x="381" y="64"/>
                    <a:pt x="382" y="65"/>
                  </a:cubicBezTo>
                  <a:cubicBezTo>
                    <a:pt x="383" y="66"/>
                    <a:pt x="383" y="67"/>
                    <a:pt x="382" y="68"/>
                  </a:cubicBezTo>
                  <a:cubicBezTo>
                    <a:pt x="382" y="69"/>
                    <a:pt x="380" y="67"/>
                    <a:pt x="378" y="67"/>
                  </a:cubicBezTo>
                  <a:cubicBezTo>
                    <a:pt x="377" y="68"/>
                    <a:pt x="375" y="68"/>
                    <a:pt x="374" y="68"/>
                  </a:cubicBezTo>
                  <a:cubicBezTo>
                    <a:pt x="373" y="68"/>
                    <a:pt x="372" y="67"/>
                    <a:pt x="372" y="65"/>
                  </a:cubicBezTo>
                  <a:cubicBezTo>
                    <a:pt x="373" y="64"/>
                    <a:pt x="372" y="56"/>
                    <a:pt x="371" y="55"/>
                  </a:cubicBezTo>
                  <a:cubicBezTo>
                    <a:pt x="370" y="54"/>
                    <a:pt x="369" y="53"/>
                    <a:pt x="369" y="53"/>
                  </a:cubicBezTo>
                  <a:cubicBezTo>
                    <a:pt x="369" y="54"/>
                    <a:pt x="369" y="58"/>
                    <a:pt x="369" y="59"/>
                  </a:cubicBezTo>
                  <a:cubicBezTo>
                    <a:pt x="369" y="60"/>
                    <a:pt x="365" y="62"/>
                    <a:pt x="365" y="63"/>
                  </a:cubicBezTo>
                  <a:cubicBezTo>
                    <a:pt x="365" y="65"/>
                    <a:pt x="364" y="65"/>
                    <a:pt x="364" y="67"/>
                  </a:cubicBezTo>
                  <a:cubicBezTo>
                    <a:pt x="363" y="68"/>
                    <a:pt x="367" y="71"/>
                    <a:pt x="368" y="72"/>
                  </a:cubicBezTo>
                  <a:cubicBezTo>
                    <a:pt x="369" y="73"/>
                    <a:pt x="368" y="74"/>
                    <a:pt x="368" y="75"/>
                  </a:cubicBezTo>
                  <a:cubicBezTo>
                    <a:pt x="368" y="75"/>
                    <a:pt x="367" y="81"/>
                    <a:pt x="368" y="83"/>
                  </a:cubicBezTo>
                  <a:cubicBezTo>
                    <a:pt x="368" y="86"/>
                    <a:pt x="368" y="87"/>
                    <a:pt x="369" y="88"/>
                  </a:cubicBezTo>
                  <a:cubicBezTo>
                    <a:pt x="370" y="88"/>
                    <a:pt x="370" y="87"/>
                    <a:pt x="371" y="87"/>
                  </a:cubicBezTo>
                  <a:cubicBezTo>
                    <a:pt x="372" y="87"/>
                    <a:pt x="373" y="86"/>
                    <a:pt x="374" y="86"/>
                  </a:cubicBezTo>
                  <a:cubicBezTo>
                    <a:pt x="375" y="86"/>
                    <a:pt x="378" y="86"/>
                    <a:pt x="380" y="86"/>
                  </a:cubicBezTo>
                  <a:cubicBezTo>
                    <a:pt x="382" y="87"/>
                    <a:pt x="382" y="88"/>
                    <a:pt x="383" y="90"/>
                  </a:cubicBezTo>
                  <a:cubicBezTo>
                    <a:pt x="383" y="91"/>
                    <a:pt x="385" y="93"/>
                    <a:pt x="386" y="94"/>
                  </a:cubicBezTo>
                  <a:cubicBezTo>
                    <a:pt x="387" y="96"/>
                    <a:pt x="384" y="96"/>
                    <a:pt x="384" y="98"/>
                  </a:cubicBezTo>
                  <a:cubicBezTo>
                    <a:pt x="384" y="101"/>
                    <a:pt x="386" y="102"/>
                    <a:pt x="388" y="102"/>
                  </a:cubicBezTo>
                  <a:cubicBezTo>
                    <a:pt x="389" y="103"/>
                    <a:pt x="387" y="103"/>
                    <a:pt x="386" y="103"/>
                  </a:cubicBezTo>
                  <a:cubicBezTo>
                    <a:pt x="385" y="103"/>
                    <a:pt x="384" y="104"/>
                    <a:pt x="384" y="105"/>
                  </a:cubicBezTo>
                  <a:cubicBezTo>
                    <a:pt x="383" y="105"/>
                    <a:pt x="382" y="104"/>
                    <a:pt x="382" y="103"/>
                  </a:cubicBezTo>
                  <a:cubicBezTo>
                    <a:pt x="381" y="103"/>
                    <a:pt x="381" y="97"/>
                    <a:pt x="380" y="95"/>
                  </a:cubicBezTo>
                  <a:cubicBezTo>
                    <a:pt x="380" y="93"/>
                    <a:pt x="379" y="91"/>
                    <a:pt x="378" y="90"/>
                  </a:cubicBezTo>
                  <a:cubicBezTo>
                    <a:pt x="376" y="89"/>
                    <a:pt x="371" y="93"/>
                    <a:pt x="370" y="94"/>
                  </a:cubicBezTo>
                  <a:cubicBezTo>
                    <a:pt x="370" y="95"/>
                    <a:pt x="371" y="95"/>
                    <a:pt x="372" y="97"/>
                  </a:cubicBezTo>
                  <a:cubicBezTo>
                    <a:pt x="372" y="98"/>
                    <a:pt x="371" y="101"/>
                    <a:pt x="370" y="103"/>
                  </a:cubicBezTo>
                  <a:cubicBezTo>
                    <a:pt x="369" y="106"/>
                    <a:pt x="366" y="110"/>
                    <a:pt x="365" y="110"/>
                  </a:cubicBezTo>
                  <a:cubicBezTo>
                    <a:pt x="364" y="111"/>
                    <a:pt x="367" y="112"/>
                    <a:pt x="368" y="114"/>
                  </a:cubicBezTo>
                  <a:cubicBezTo>
                    <a:pt x="369" y="115"/>
                    <a:pt x="369" y="116"/>
                    <a:pt x="368" y="118"/>
                  </a:cubicBezTo>
                  <a:cubicBezTo>
                    <a:pt x="368" y="119"/>
                    <a:pt x="365" y="113"/>
                    <a:pt x="364" y="112"/>
                  </a:cubicBezTo>
                  <a:cubicBezTo>
                    <a:pt x="363" y="111"/>
                    <a:pt x="360" y="111"/>
                    <a:pt x="358" y="111"/>
                  </a:cubicBezTo>
                  <a:cubicBezTo>
                    <a:pt x="356" y="111"/>
                    <a:pt x="353" y="110"/>
                    <a:pt x="352" y="108"/>
                  </a:cubicBezTo>
                  <a:cubicBezTo>
                    <a:pt x="351" y="107"/>
                    <a:pt x="350" y="108"/>
                    <a:pt x="350" y="108"/>
                  </a:cubicBezTo>
                  <a:cubicBezTo>
                    <a:pt x="349" y="109"/>
                    <a:pt x="349" y="108"/>
                    <a:pt x="349" y="107"/>
                  </a:cubicBezTo>
                  <a:cubicBezTo>
                    <a:pt x="350" y="106"/>
                    <a:pt x="355" y="107"/>
                    <a:pt x="357" y="107"/>
                  </a:cubicBezTo>
                  <a:cubicBezTo>
                    <a:pt x="359" y="107"/>
                    <a:pt x="360" y="106"/>
                    <a:pt x="362" y="105"/>
                  </a:cubicBezTo>
                  <a:cubicBezTo>
                    <a:pt x="364" y="104"/>
                    <a:pt x="366" y="95"/>
                    <a:pt x="366" y="94"/>
                  </a:cubicBezTo>
                  <a:cubicBezTo>
                    <a:pt x="367" y="93"/>
                    <a:pt x="366" y="92"/>
                    <a:pt x="365" y="91"/>
                  </a:cubicBezTo>
                  <a:cubicBezTo>
                    <a:pt x="364" y="90"/>
                    <a:pt x="362" y="85"/>
                    <a:pt x="362" y="82"/>
                  </a:cubicBezTo>
                  <a:cubicBezTo>
                    <a:pt x="362" y="79"/>
                    <a:pt x="362" y="76"/>
                    <a:pt x="362" y="74"/>
                  </a:cubicBezTo>
                  <a:cubicBezTo>
                    <a:pt x="362" y="72"/>
                    <a:pt x="359" y="70"/>
                    <a:pt x="359" y="68"/>
                  </a:cubicBezTo>
                  <a:cubicBezTo>
                    <a:pt x="358" y="67"/>
                    <a:pt x="359" y="66"/>
                    <a:pt x="359" y="65"/>
                  </a:cubicBezTo>
                  <a:cubicBezTo>
                    <a:pt x="360" y="64"/>
                    <a:pt x="360" y="58"/>
                    <a:pt x="361" y="57"/>
                  </a:cubicBezTo>
                  <a:cubicBezTo>
                    <a:pt x="361" y="56"/>
                    <a:pt x="362" y="56"/>
                    <a:pt x="362" y="55"/>
                  </a:cubicBezTo>
                  <a:cubicBezTo>
                    <a:pt x="362" y="54"/>
                    <a:pt x="360" y="53"/>
                    <a:pt x="359" y="53"/>
                  </a:cubicBezTo>
                  <a:cubicBezTo>
                    <a:pt x="358" y="53"/>
                    <a:pt x="356" y="54"/>
                    <a:pt x="354" y="54"/>
                  </a:cubicBezTo>
                  <a:cubicBezTo>
                    <a:pt x="352" y="54"/>
                    <a:pt x="351" y="53"/>
                    <a:pt x="351" y="53"/>
                  </a:cubicBezTo>
                  <a:cubicBezTo>
                    <a:pt x="350" y="53"/>
                    <a:pt x="349" y="53"/>
                    <a:pt x="348" y="54"/>
                  </a:cubicBezTo>
                  <a:cubicBezTo>
                    <a:pt x="347" y="55"/>
                    <a:pt x="348" y="56"/>
                    <a:pt x="346" y="62"/>
                  </a:cubicBezTo>
                  <a:cubicBezTo>
                    <a:pt x="345" y="67"/>
                    <a:pt x="340" y="68"/>
                    <a:pt x="340" y="69"/>
                  </a:cubicBezTo>
                  <a:cubicBezTo>
                    <a:pt x="340" y="70"/>
                    <a:pt x="339" y="71"/>
                    <a:pt x="339" y="72"/>
                  </a:cubicBezTo>
                  <a:cubicBezTo>
                    <a:pt x="339" y="73"/>
                    <a:pt x="339" y="72"/>
                    <a:pt x="340" y="73"/>
                  </a:cubicBezTo>
                  <a:cubicBezTo>
                    <a:pt x="341" y="73"/>
                    <a:pt x="341" y="79"/>
                    <a:pt x="342" y="79"/>
                  </a:cubicBezTo>
                  <a:cubicBezTo>
                    <a:pt x="342" y="80"/>
                    <a:pt x="341" y="80"/>
                    <a:pt x="340" y="80"/>
                  </a:cubicBezTo>
                  <a:cubicBezTo>
                    <a:pt x="340" y="80"/>
                    <a:pt x="340" y="83"/>
                    <a:pt x="341" y="84"/>
                  </a:cubicBezTo>
                  <a:cubicBezTo>
                    <a:pt x="342" y="85"/>
                    <a:pt x="342" y="84"/>
                    <a:pt x="343" y="83"/>
                  </a:cubicBezTo>
                  <a:cubicBezTo>
                    <a:pt x="343" y="83"/>
                    <a:pt x="344" y="86"/>
                    <a:pt x="345" y="88"/>
                  </a:cubicBezTo>
                  <a:cubicBezTo>
                    <a:pt x="346" y="89"/>
                    <a:pt x="347" y="90"/>
                    <a:pt x="349" y="89"/>
                  </a:cubicBezTo>
                  <a:cubicBezTo>
                    <a:pt x="350" y="89"/>
                    <a:pt x="349" y="94"/>
                    <a:pt x="348" y="95"/>
                  </a:cubicBezTo>
                  <a:cubicBezTo>
                    <a:pt x="347" y="96"/>
                    <a:pt x="347" y="92"/>
                    <a:pt x="344" y="91"/>
                  </a:cubicBezTo>
                  <a:cubicBezTo>
                    <a:pt x="342" y="89"/>
                    <a:pt x="339" y="88"/>
                    <a:pt x="339" y="87"/>
                  </a:cubicBezTo>
                  <a:cubicBezTo>
                    <a:pt x="338" y="87"/>
                    <a:pt x="334" y="83"/>
                    <a:pt x="331" y="83"/>
                  </a:cubicBezTo>
                  <a:cubicBezTo>
                    <a:pt x="329" y="83"/>
                    <a:pt x="327" y="82"/>
                    <a:pt x="324" y="82"/>
                  </a:cubicBezTo>
                  <a:cubicBezTo>
                    <a:pt x="322" y="82"/>
                    <a:pt x="321" y="81"/>
                    <a:pt x="320" y="81"/>
                  </a:cubicBezTo>
                  <a:cubicBezTo>
                    <a:pt x="319" y="80"/>
                    <a:pt x="318" y="81"/>
                    <a:pt x="319" y="82"/>
                  </a:cubicBezTo>
                  <a:cubicBezTo>
                    <a:pt x="319" y="82"/>
                    <a:pt x="317" y="83"/>
                    <a:pt x="318" y="85"/>
                  </a:cubicBezTo>
                  <a:cubicBezTo>
                    <a:pt x="319" y="87"/>
                    <a:pt x="320" y="88"/>
                    <a:pt x="320" y="89"/>
                  </a:cubicBezTo>
                  <a:cubicBezTo>
                    <a:pt x="321" y="91"/>
                    <a:pt x="319" y="91"/>
                    <a:pt x="318" y="91"/>
                  </a:cubicBezTo>
                  <a:cubicBezTo>
                    <a:pt x="316" y="91"/>
                    <a:pt x="317" y="92"/>
                    <a:pt x="317" y="94"/>
                  </a:cubicBezTo>
                  <a:cubicBezTo>
                    <a:pt x="317" y="96"/>
                    <a:pt x="316" y="94"/>
                    <a:pt x="315" y="93"/>
                  </a:cubicBezTo>
                  <a:cubicBezTo>
                    <a:pt x="314" y="93"/>
                    <a:pt x="314" y="93"/>
                    <a:pt x="315" y="93"/>
                  </a:cubicBezTo>
                  <a:cubicBezTo>
                    <a:pt x="315" y="93"/>
                    <a:pt x="315" y="92"/>
                    <a:pt x="315" y="91"/>
                  </a:cubicBezTo>
                  <a:cubicBezTo>
                    <a:pt x="316" y="91"/>
                    <a:pt x="314" y="90"/>
                    <a:pt x="314" y="89"/>
                  </a:cubicBezTo>
                  <a:cubicBezTo>
                    <a:pt x="313" y="89"/>
                    <a:pt x="312" y="89"/>
                    <a:pt x="311" y="91"/>
                  </a:cubicBezTo>
                  <a:cubicBezTo>
                    <a:pt x="309" y="92"/>
                    <a:pt x="309" y="92"/>
                    <a:pt x="306" y="92"/>
                  </a:cubicBezTo>
                  <a:cubicBezTo>
                    <a:pt x="304" y="93"/>
                    <a:pt x="304" y="91"/>
                    <a:pt x="302" y="92"/>
                  </a:cubicBezTo>
                  <a:cubicBezTo>
                    <a:pt x="300" y="93"/>
                    <a:pt x="300" y="93"/>
                    <a:pt x="299" y="94"/>
                  </a:cubicBezTo>
                  <a:cubicBezTo>
                    <a:pt x="299" y="94"/>
                    <a:pt x="300" y="95"/>
                    <a:pt x="299" y="95"/>
                  </a:cubicBezTo>
                  <a:cubicBezTo>
                    <a:pt x="297" y="96"/>
                    <a:pt x="297" y="95"/>
                    <a:pt x="297" y="96"/>
                  </a:cubicBezTo>
                  <a:cubicBezTo>
                    <a:pt x="296" y="97"/>
                    <a:pt x="295" y="97"/>
                    <a:pt x="295" y="98"/>
                  </a:cubicBezTo>
                  <a:cubicBezTo>
                    <a:pt x="294" y="98"/>
                    <a:pt x="294" y="97"/>
                    <a:pt x="293" y="98"/>
                  </a:cubicBezTo>
                  <a:cubicBezTo>
                    <a:pt x="292" y="98"/>
                    <a:pt x="293" y="97"/>
                    <a:pt x="291" y="97"/>
                  </a:cubicBezTo>
                  <a:cubicBezTo>
                    <a:pt x="290" y="98"/>
                    <a:pt x="291" y="96"/>
                    <a:pt x="291" y="96"/>
                  </a:cubicBezTo>
                  <a:cubicBezTo>
                    <a:pt x="292" y="95"/>
                    <a:pt x="294" y="94"/>
                    <a:pt x="295" y="94"/>
                  </a:cubicBezTo>
                  <a:cubicBezTo>
                    <a:pt x="295" y="93"/>
                    <a:pt x="295" y="91"/>
                    <a:pt x="295" y="90"/>
                  </a:cubicBezTo>
                  <a:cubicBezTo>
                    <a:pt x="295" y="89"/>
                    <a:pt x="296" y="89"/>
                    <a:pt x="297" y="88"/>
                  </a:cubicBezTo>
                  <a:cubicBezTo>
                    <a:pt x="297" y="88"/>
                    <a:pt x="295" y="89"/>
                    <a:pt x="294" y="90"/>
                  </a:cubicBezTo>
                  <a:cubicBezTo>
                    <a:pt x="292" y="90"/>
                    <a:pt x="290" y="92"/>
                    <a:pt x="289" y="92"/>
                  </a:cubicBezTo>
                  <a:cubicBezTo>
                    <a:pt x="288" y="93"/>
                    <a:pt x="287" y="93"/>
                    <a:pt x="284" y="94"/>
                  </a:cubicBezTo>
                  <a:cubicBezTo>
                    <a:pt x="282" y="94"/>
                    <a:pt x="281" y="97"/>
                    <a:pt x="280" y="97"/>
                  </a:cubicBezTo>
                  <a:cubicBezTo>
                    <a:pt x="279" y="98"/>
                    <a:pt x="278" y="97"/>
                    <a:pt x="277" y="97"/>
                  </a:cubicBezTo>
                  <a:cubicBezTo>
                    <a:pt x="276" y="97"/>
                    <a:pt x="278" y="98"/>
                    <a:pt x="278" y="99"/>
                  </a:cubicBezTo>
                  <a:cubicBezTo>
                    <a:pt x="278" y="99"/>
                    <a:pt x="275" y="99"/>
                    <a:pt x="275" y="100"/>
                  </a:cubicBezTo>
                  <a:cubicBezTo>
                    <a:pt x="274" y="100"/>
                    <a:pt x="275" y="102"/>
                    <a:pt x="274" y="104"/>
                  </a:cubicBezTo>
                  <a:cubicBezTo>
                    <a:pt x="274" y="106"/>
                    <a:pt x="270" y="105"/>
                    <a:pt x="268" y="106"/>
                  </a:cubicBezTo>
                  <a:cubicBezTo>
                    <a:pt x="266" y="106"/>
                    <a:pt x="266" y="104"/>
                    <a:pt x="266" y="103"/>
                  </a:cubicBezTo>
                  <a:cubicBezTo>
                    <a:pt x="265" y="102"/>
                    <a:pt x="264" y="102"/>
                    <a:pt x="263" y="102"/>
                  </a:cubicBezTo>
                  <a:cubicBezTo>
                    <a:pt x="262" y="101"/>
                    <a:pt x="263" y="100"/>
                    <a:pt x="264" y="99"/>
                  </a:cubicBezTo>
                  <a:cubicBezTo>
                    <a:pt x="265" y="98"/>
                    <a:pt x="268" y="97"/>
                    <a:pt x="268" y="97"/>
                  </a:cubicBezTo>
                  <a:cubicBezTo>
                    <a:pt x="269" y="97"/>
                    <a:pt x="267" y="95"/>
                    <a:pt x="266" y="94"/>
                  </a:cubicBezTo>
                  <a:cubicBezTo>
                    <a:pt x="266" y="93"/>
                    <a:pt x="264" y="92"/>
                    <a:pt x="262" y="92"/>
                  </a:cubicBezTo>
                  <a:cubicBezTo>
                    <a:pt x="260" y="92"/>
                    <a:pt x="259" y="92"/>
                    <a:pt x="257" y="91"/>
                  </a:cubicBezTo>
                  <a:cubicBezTo>
                    <a:pt x="255" y="91"/>
                    <a:pt x="256" y="92"/>
                    <a:pt x="257" y="93"/>
                  </a:cubicBezTo>
                  <a:cubicBezTo>
                    <a:pt x="258" y="93"/>
                    <a:pt x="259" y="95"/>
                    <a:pt x="259" y="96"/>
                  </a:cubicBezTo>
                  <a:cubicBezTo>
                    <a:pt x="260" y="97"/>
                    <a:pt x="257" y="102"/>
                    <a:pt x="257" y="103"/>
                  </a:cubicBezTo>
                  <a:cubicBezTo>
                    <a:pt x="257" y="104"/>
                    <a:pt x="260" y="104"/>
                    <a:pt x="261" y="106"/>
                  </a:cubicBezTo>
                  <a:cubicBezTo>
                    <a:pt x="262" y="108"/>
                    <a:pt x="259" y="111"/>
                    <a:pt x="259" y="112"/>
                  </a:cubicBezTo>
                  <a:cubicBezTo>
                    <a:pt x="258" y="112"/>
                    <a:pt x="257" y="112"/>
                    <a:pt x="257" y="111"/>
                  </a:cubicBezTo>
                  <a:cubicBezTo>
                    <a:pt x="256" y="111"/>
                    <a:pt x="255" y="110"/>
                    <a:pt x="254" y="110"/>
                  </a:cubicBezTo>
                  <a:cubicBezTo>
                    <a:pt x="253" y="110"/>
                    <a:pt x="253" y="109"/>
                    <a:pt x="253" y="109"/>
                  </a:cubicBezTo>
                  <a:cubicBezTo>
                    <a:pt x="252" y="109"/>
                    <a:pt x="251" y="111"/>
                    <a:pt x="250" y="112"/>
                  </a:cubicBezTo>
                  <a:cubicBezTo>
                    <a:pt x="249" y="112"/>
                    <a:pt x="247" y="113"/>
                    <a:pt x="246" y="114"/>
                  </a:cubicBezTo>
                  <a:cubicBezTo>
                    <a:pt x="245" y="115"/>
                    <a:pt x="243" y="116"/>
                    <a:pt x="243" y="117"/>
                  </a:cubicBezTo>
                  <a:cubicBezTo>
                    <a:pt x="242" y="118"/>
                    <a:pt x="245" y="121"/>
                    <a:pt x="246" y="121"/>
                  </a:cubicBezTo>
                  <a:cubicBezTo>
                    <a:pt x="246" y="122"/>
                    <a:pt x="246" y="122"/>
                    <a:pt x="245" y="123"/>
                  </a:cubicBezTo>
                  <a:cubicBezTo>
                    <a:pt x="245" y="124"/>
                    <a:pt x="241" y="122"/>
                    <a:pt x="240" y="122"/>
                  </a:cubicBezTo>
                  <a:cubicBezTo>
                    <a:pt x="239" y="121"/>
                    <a:pt x="238" y="122"/>
                    <a:pt x="237" y="122"/>
                  </a:cubicBezTo>
                  <a:cubicBezTo>
                    <a:pt x="237" y="123"/>
                    <a:pt x="235" y="121"/>
                    <a:pt x="234" y="120"/>
                  </a:cubicBezTo>
                  <a:cubicBezTo>
                    <a:pt x="234" y="119"/>
                    <a:pt x="233" y="119"/>
                    <a:pt x="232" y="119"/>
                  </a:cubicBezTo>
                  <a:cubicBezTo>
                    <a:pt x="231" y="119"/>
                    <a:pt x="232" y="119"/>
                    <a:pt x="232" y="120"/>
                  </a:cubicBezTo>
                  <a:cubicBezTo>
                    <a:pt x="231" y="121"/>
                    <a:pt x="231" y="121"/>
                    <a:pt x="230" y="121"/>
                  </a:cubicBezTo>
                  <a:cubicBezTo>
                    <a:pt x="230" y="121"/>
                    <a:pt x="230" y="123"/>
                    <a:pt x="232" y="125"/>
                  </a:cubicBezTo>
                  <a:cubicBezTo>
                    <a:pt x="234" y="127"/>
                    <a:pt x="233" y="125"/>
                    <a:pt x="235" y="125"/>
                  </a:cubicBezTo>
                  <a:cubicBezTo>
                    <a:pt x="236" y="124"/>
                    <a:pt x="236" y="127"/>
                    <a:pt x="236" y="128"/>
                  </a:cubicBezTo>
                  <a:cubicBezTo>
                    <a:pt x="237" y="129"/>
                    <a:pt x="235" y="129"/>
                    <a:pt x="234" y="129"/>
                  </a:cubicBezTo>
                  <a:cubicBezTo>
                    <a:pt x="233" y="130"/>
                    <a:pt x="231" y="129"/>
                    <a:pt x="230" y="128"/>
                  </a:cubicBezTo>
                  <a:cubicBezTo>
                    <a:pt x="228" y="127"/>
                    <a:pt x="229" y="126"/>
                    <a:pt x="228" y="126"/>
                  </a:cubicBezTo>
                  <a:cubicBezTo>
                    <a:pt x="227" y="126"/>
                    <a:pt x="226" y="125"/>
                    <a:pt x="225" y="125"/>
                  </a:cubicBezTo>
                  <a:cubicBezTo>
                    <a:pt x="224" y="124"/>
                    <a:pt x="223" y="123"/>
                    <a:pt x="224" y="123"/>
                  </a:cubicBezTo>
                  <a:cubicBezTo>
                    <a:pt x="224" y="122"/>
                    <a:pt x="224" y="120"/>
                    <a:pt x="223" y="119"/>
                  </a:cubicBezTo>
                  <a:cubicBezTo>
                    <a:pt x="223" y="117"/>
                    <a:pt x="222" y="117"/>
                    <a:pt x="223" y="117"/>
                  </a:cubicBezTo>
                  <a:cubicBezTo>
                    <a:pt x="224" y="117"/>
                    <a:pt x="224" y="115"/>
                    <a:pt x="223" y="114"/>
                  </a:cubicBezTo>
                  <a:cubicBezTo>
                    <a:pt x="223" y="114"/>
                    <a:pt x="220" y="111"/>
                    <a:pt x="219" y="111"/>
                  </a:cubicBezTo>
                  <a:cubicBezTo>
                    <a:pt x="219" y="111"/>
                    <a:pt x="218" y="110"/>
                    <a:pt x="218" y="109"/>
                  </a:cubicBezTo>
                  <a:cubicBezTo>
                    <a:pt x="218" y="109"/>
                    <a:pt x="217" y="108"/>
                    <a:pt x="216" y="108"/>
                  </a:cubicBezTo>
                  <a:cubicBezTo>
                    <a:pt x="215" y="108"/>
                    <a:pt x="214" y="108"/>
                    <a:pt x="213" y="107"/>
                  </a:cubicBezTo>
                  <a:cubicBezTo>
                    <a:pt x="212" y="107"/>
                    <a:pt x="213" y="106"/>
                    <a:pt x="214" y="106"/>
                  </a:cubicBezTo>
                  <a:cubicBezTo>
                    <a:pt x="214" y="106"/>
                    <a:pt x="214" y="105"/>
                    <a:pt x="215" y="104"/>
                  </a:cubicBezTo>
                  <a:cubicBezTo>
                    <a:pt x="215" y="104"/>
                    <a:pt x="216" y="106"/>
                    <a:pt x="218" y="107"/>
                  </a:cubicBezTo>
                  <a:cubicBezTo>
                    <a:pt x="219" y="108"/>
                    <a:pt x="223" y="109"/>
                    <a:pt x="224" y="110"/>
                  </a:cubicBezTo>
                  <a:cubicBezTo>
                    <a:pt x="226" y="110"/>
                    <a:pt x="230" y="111"/>
                    <a:pt x="232" y="111"/>
                  </a:cubicBezTo>
                  <a:cubicBezTo>
                    <a:pt x="234" y="112"/>
                    <a:pt x="237" y="112"/>
                    <a:pt x="238" y="112"/>
                  </a:cubicBezTo>
                  <a:cubicBezTo>
                    <a:pt x="239" y="112"/>
                    <a:pt x="241" y="111"/>
                    <a:pt x="243" y="111"/>
                  </a:cubicBezTo>
                  <a:cubicBezTo>
                    <a:pt x="244" y="111"/>
                    <a:pt x="245" y="110"/>
                    <a:pt x="247" y="109"/>
                  </a:cubicBezTo>
                  <a:cubicBezTo>
                    <a:pt x="248" y="107"/>
                    <a:pt x="248" y="104"/>
                    <a:pt x="248" y="103"/>
                  </a:cubicBezTo>
                  <a:cubicBezTo>
                    <a:pt x="247" y="103"/>
                    <a:pt x="248" y="99"/>
                    <a:pt x="247" y="98"/>
                  </a:cubicBezTo>
                  <a:cubicBezTo>
                    <a:pt x="246" y="98"/>
                    <a:pt x="246" y="97"/>
                    <a:pt x="244" y="97"/>
                  </a:cubicBezTo>
                  <a:cubicBezTo>
                    <a:pt x="243" y="96"/>
                    <a:pt x="243" y="95"/>
                    <a:pt x="242" y="96"/>
                  </a:cubicBezTo>
                  <a:cubicBezTo>
                    <a:pt x="241" y="96"/>
                    <a:pt x="241" y="95"/>
                    <a:pt x="240" y="94"/>
                  </a:cubicBezTo>
                  <a:cubicBezTo>
                    <a:pt x="239" y="94"/>
                    <a:pt x="239" y="94"/>
                    <a:pt x="237" y="93"/>
                  </a:cubicBezTo>
                  <a:cubicBezTo>
                    <a:pt x="235" y="93"/>
                    <a:pt x="235" y="93"/>
                    <a:pt x="234" y="92"/>
                  </a:cubicBezTo>
                  <a:cubicBezTo>
                    <a:pt x="233" y="91"/>
                    <a:pt x="229" y="88"/>
                    <a:pt x="228" y="87"/>
                  </a:cubicBezTo>
                  <a:cubicBezTo>
                    <a:pt x="226" y="87"/>
                    <a:pt x="225" y="86"/>
                    <a:pt x="223" y="86"/>
                  </a:cubicBezTo>
                  <a:cubicBezTo>
                    <a:pt x="222" y="87"/>
                    <a:pt x="221" y="86"/>
                    <a:pt x="220" y="86"/>
                  </a:cubicBezTo>
                  <a:cubicBezTo>
                    <a:pt x="219" y="86"/>
                    <a:pt x="218" y="86"/>
                    <a:pt x="218" y="85"/>
                  </a:cubicBezTo>
                  <a:cubicBezTo>
                    <a:pt x="218" y="85"/>
                    <a:pt x="217" y="85"/>
                    <a:pt x="216" y="86"/>
                  </a:cubicBezTo>
                  <a:cubicBezTo>
                    <a:pt x="215" y="87"/>
                    <a:pt x="216" y="84"/>
                    <a:pt x="215" y="84"/>
                  </a:cubicBezTo>
                  <a:cubicBezTo>
                    <a:pt x="214" y="84"/>
                    <a:pt x="213" y="83"/>
                    <a:pt x="214" y="84"/>
                  </a:cubicBezTo>
                  <a:cubicBezTo>
                    <a:pt x="215" y="84"/>
                    <a:pt x="218" y="82"/>
                    <a:pt x="216" y="82"/>
                  </a:cubicBezTo>
                  <a:cubicBezTo>
                    <a:pt x="214" y="81"/>
                    <a:pt x="212" y="80"/>
                    <a:pt x="212" y="81"/>
                  </a:cubicBezTo>
                  <a:cubicBezTo>
                    <a:pt x="212" y="81"/>
                    <a:pt x="211" y="82"/>
                    <a:pt x="211" y="82"/>
                  </a:cubicBezTo>
                  <a:cubicBezTo>
                    <a:pt x="211" y="82"/>
                    <a:pt x="211" y="82"/>
                    <a:pt x="211" y="82"/>
                  </a:cubicBezTo>
                  <a:cubicBezTo>
                    <a:pt x="211" y="82"/>
                    <a:pt x="211" y="82"/>
                    <a:pt x="210" y="82"/>
                  </a:cubicBezTo>
                  <a:cubicBezTo>
                    <a:pt x="210" y="82"/>
                    <a:pt x="210" y="82"/>
                    <a:pt x="210" y="82"/>
                  </a:cubicBezTo>
                  <a:cubicBezTo>
                    <a:pt x="210" y="82"/>
                    <a:pt x="210" y="82"/>
                    <a:pt x="209" y="82"/>
                  </a:cubicBezTo>
                  <a:cubicBezTo>
                    <a:pt x="209" y="82"/>
                    <a:pt x="209" y="82"/>
                    <a:pt x="209" y="82"/>
                  </a:cubicBezTo>
                  <a:cubicBezTo>
                    <a:pt x="208" y="82"/>
                    <a:pt x="208" y="82"/>
                    <a:pt x="208" y="82"/>
                  </a:cubicBezTo>
                  <a:cubicBezTo>
                    <a:pt x="206" y="82"/>
                    <a:pt x="204" y="81"/>
                    <a:pt x="204" y="81"/>
                  </a:cubicBezTo>
                  <a:cubicBezTo>
                    <a:pt x="204" y="80"/>
                    <a:pt x="201" y="80"/>
                    <a:pt x="200" y="79"/>
                  </a:cubicBezTo>
                  <a:cubicBezTo>
                    <a:pt x="200" y="78"/>
                    <a:pt x="202" y="79"/>
                    <a:pt x="204" y="79"/>
                  </a:cubicBezTo>
                  <a:cubicBezTo>
                    <a:pt x="205" y="79"/>
                    <a:pt x="206" y="79"/>
                    <a:pt x="206" y="79"/>
                  </a:cubicBezTo>
                  <a:cubicBezTo>
                    <a:pt x="207" y="78"/>
                    <a:pt x="208" y="77"/>
                    <a:pt x="209" y="77"/>
                  </a:cubicBezTo>
                  <a:cubicBezTo>
                    <a:pt x="209" y="76"/>
                    <a:pt x="209" y="75"/>
                    <a:pt x="208" y="75"/>
                  </a:cubicBezTo>
                  <a:cubicBezTo>
                    <a:pt x="207" y="75"/>
                    <a:pt x="207" y="74"/>
                    <a:pt x="205" y="74"/>
                  </a:cubicBezTo>
                  <a:cubicBezTo>
                    <a:pt x="204" y="74"/>
                    <a:pt x="204" y="73"/>
                    <a:pt x="203" y="74"/>
                  </a:cubicBezTo>
                  <a:cubicBezTo>
                    <a:pt x="202" y="74"/>
                    <a:pt x="203" y="73"/>
                    <a:pt x="202" y="72"/>
                  </a:cubicBezTo>
                  <a:cubicBezTo>
                    <a:pt x="201" y="71"/>
                    <a:pt x="200" y="72"/>
                    <a:pt x="200" y="73"/>
                  </a:cubicBezTo>
                  <a:cubicBezTo>
                    <a:pt x="199" y="73"/>
                    <a:pt x="199" y="74"/>
                    <a:pt x="199" y="75"/>
                  </a:cubicBezTo>
                  <a:cubicBezTo>
                    <a:pt x="198" y="75"/>
                    <a:pt x="198" y="74"/>
                    <a:pt x="199" y="74"/>
                  </a:cubicBezTo>
                  <a:cubicBezTo>
                    <a:pt x="199" y="74"/>
                    <a:pt x="198" y="74"/>
                    <a:pt x="198" y="74"/>
                  </a:cubicBezTo>
                  <a:cubicBezTo>
                    <a:pt x="197" y="74"/>
                    <a:pt x="197" y="73"/>
                    <a:pt x="198" y="73"/>
                  </a:cubicBezTo>
                  <a:cubicBezTo>
                    <a:pt x="198" y="72"/>
                    <a:pt x="199" y="71"/>
                    <a:pt x="199" y="71"/>
                  </a:cubicBezTo>
                  <a:cubicBezTo>
                    <a:pt x="199" y="71"/>
                    <a:pt x="199" y="69"/>
                    <a:pt x="198" y="70"/>
                  </a:cubicBezTo>
                  <a:cubicBezTo>
                    <a:pt x="197" y="70"/>
                    <a:pt x="196" y="70"/>
                    <a:pt x="196" y="70"/>
                  </a:cubicBezTo>
                  <a:cubicBezTo>
                    <a:pt x="195" y="71"/>
                    <a:pt x="194" y="73"/>
                    <a:pt x="194" y="74"/>
                  </a:cubicBezTo>
                  <a:cubicBezTo>
                    <a:pt x="194" y="75"/>
                    <a:pt x="193" y="75"/>
                    <a:pt x="193" y="75"/>
                  </a:cubicBezTo>
                  <a:cubicBezTo>
                    <a:pt x="192" y="75"/>
                    <a:pt x="193" y="70"/>
                    <a:pt x="193" y="70"/>
                  </a:cubicBezTo>
                  <a:cubicBezTo>
                    <a:pt x="194" y="69"/>
                    <a:pt x="192" y="70"/>
                    <a:pt x="191" y="71"/>
                  </a:cubicBezTo>
                  <a:cubicBezTo>
                    <a:pt x="190" y="72"/>
                    <a:pt x="190" y="74"/>
                    <a:pt x="189" y="74"/>
                  </a:cubicBezTo>
                  <a:cubicBezTo>
                    <a:pt x="188" y="75"/>
                    <a:pt x="188" y="78"/>
                    <a:pt x="187" y="79"/>
                  </a:cubicBezTo>
                  <a:cubicBezTo>
                    <a:pt x="186" y="80"/>
                    <a:pt x="187" y="77"/>
                    <a:pt x="187" y="76"/>
                  </a:cubicBezTo>
                  <a:cubicBezTo>
                    <a:pt x="188" y="76"/>
                    <a:pt x="188" y="74"/>
                    <a:pt x="188" y="73"/>
                  </a:cubicBezTo>
                  <a:cubicBezTo>
                    <a:pt x="189" y="73"/>
                    <a:pt x="190" y="71"/>
                    <a:pt x="189" y="71"/>
                  </a:cubicBezTo>
                  <a:cubicBezTo>
                    <a:pt x="188" y="71"/>
                    <a:pt x="188" y="70"/>
                    <a:pt x="187" y="71"/>
                  </a:cubicBezTo>
                  <a:cubicBezTo>
                    <a:pt x="186" y="71"/>
                    <a:pt x="186" y="70"/>
                    <a:pt x="185" y="70"/>
                  </a:cubicBezTo>
                  <a:cubicBezTo>
                    <a:pt x="184" y="70"/>
                    <a:pt x="185" y="71"/>
                    <a:pt x="185" y="72"/>
                  </a:cubicBezTo>
                  <a:cubicBezTo>
                    <a:pt x="185" y="72"/>
                    <a:pt x="184" y="73"/>
                    <a:pt x="184" y="73"/>
                  </a:cubicBezTo>
                  <a:cubicBezTo>
                    <a:pt x="184" y="74"/>
                    <a:pt x="184" y="73"/>
                    <a:pt x="183" y="73"/>
                  </a:cubicBezTo>
                  <a:cubicBezTo>
                    <a:pt x="183" y="73"/>
                    <a:pt x="183" y="74"/>
                    <a:pt x="183" y="75"/>
                  </a:cubicBezTo>
                  <a:cubicBezTo>
                    <a:pt x="184" y="75"/>
                    <a:pt x="182" y="75"/>
                    <a:pt x="182" y="74"/>
                  </a:cubicBezTo>
                  <a:cubicBezTo>
                    <a:pt x="182" y="74"/>
                    <a:pt x="181" y="74"/>
                    <a:pt x="180" y="74"/>
                  </a:cubicBezTo>
                  <a:cubicBezTo>
                    <a:pt x="179" y="75"/>
                    <a:pt x="179" y="75"/>
                    <a:pt x="179" y="76"/>
                  </a:cubicBezTo>
                  <a:cubicBezTo>
                    <a:pt x="179" y="76"/>
                    <a:pt x="181" y="77"/>
                    <a:pt x="181" y="78"/>
                  </a:cubicBezTo>
                  <a:cubicBezTo>
                    <a:pt x="180" y="78"/>
                    <a:pt x="180" y="79"/>
                    <a:pt x="180" y="80"/>
                  </a:cubicBezTo>
                  <a:cubicBezTo>
                    <a:pt x="181" y="81"/>
                    <a:pt x="179" y="79"/>
                    <a:pt x="179" y="80"/>
                  </a:cubicBezTo>
                  <a:cubicBezTo>
                    <a:pt x="178" y="80"/>
                    <a:pt x="178" y="78"/>
                    <a:pt x="179" y="78"/>
                  </a:cubicBezTo>
                  <a:cubicBezTo>
                    <a:pt x="179" y="77"/>
                    <a:pt x="179" y="76"/>
                    <a:pt x="178" y="77"/>
                  </a:cubicBezTo>
                  <a:cubicBezTo>
                    <a:pt x="176" y="78"/>
                    <a:pt x="177" y="76"/>
                    <a:pt x="175" y="76"/>
                  </a:cubicBezTo>
                  <a:cubicBezTo>
                    <a:pt x="174" y="77"/>
                    <a:pt x="172" y="77"/>
                    <a:pt x="172" y="78"/>
                  </a:cubicBezTo>
                  <a:cubicBezTo>
                    <a:pt x="172" y="79"/>
                    <a:pt x="174" y="79"/>
                    <a:pt x="175" y="80"/>
                  </a:cubicBezTo>
                  <a:cubicBezTo>
                    <a:pt x="176" y="80"/>
                    <a:pt x="175" y="81"/>
                    <a:pt x="176" y="82"/>
                  </a:cubicBezTo>
                  <a:cubicBezTo>
                    <a:pt x="176" y="82"/>
                    <a:pt x="174" y="80"/>
                    <a:pt x="173" y="80"/>
                  </a:cubicBezTo>
                  <a:cubicBezTo>
                    <a:pt x="172" y="80"/>
                    <a:pt x="173" y="81"/>
                    <a:pt x="173" y="82"/>
                  </a:cubicBezTo>
                  <a:cubicBezTo>
                    <a:pt x="173" y="82"/>
                    <a:pt x="172" y="81"/>
                    <a:pt x="172" y="81"/>
                  </a:cubicBezTo>
                  <a:cubicBezTo>
                    <a:pt x="171" y="80"/>
                    <a:pt x="171" y="82"/>
                    <a:pt x="170" y="83"/>
                  </a:cubicBezTo>
                  <a:cubicBezTo>
                    <a:pt x="169" y="83"/>
                    <a:pt x="170" y="81"/>
                    <a:pt x="170" y="81"/>
                  </a:cubicBezTo>
                  <a:cubicBezTo>
                    <a:pt x="170" y="80"/>
                    <a:pt x="170" y="81"/>
                    <a:pt x="169" y="82"/>
                  </a:cubicBezTo>
                  <a:cubicBezTo>
                    <a:pt x="168" y="83"/>
                    <a:pt x="168" y="82"/>
                    <a:pt x="168" y="81"/>
                  </a:cubicBezTo>
                  <a:cubicBezTo>
                    <a:pt x="169" y="81"/>
                    <a:pt x="168" y="80"/>
                    <a:pt x="166" y="80"/>
                  </a:cubicBezTo>
                  <a:cubicBezTo>
                    <a:pt x="165" y="80"/>
                    <a:pt x="166" y="79"/>
                    <a:pt x="166" y="78"/>
                  </a:cubicBezTo>
                  <a:cubicBezTo>
                    <a:pt x="166" y="77"/>
                    <a:pt x="165" y="78"/>
                    <a:pt x="164" y="79"/>
                  </a:cubicBezTo>
                  <a:cubicBezTo>
                    <a:pt x="163" y="80"/>
                    <a:pt x="163" y="80"/>
                    <a:pt x="164" y="82"/>
                  </a:cubicBezTo>
                  <a:cubicBezTo>
                    <a:pt x="164" y="83"/>
                    <a:pt x="162" y="82"/>
                    <a:pt x="162" y="83"/>
                  </a:cubicBezTo>
                  <a:cubicBezTo>
                    <a:pt x="161" y="84"/>
                    <a:pt x="162" y="84"/>
                    <a:pt x="163" y="84"/>
                  </a:cubicBezTo>
                  <a:cubicBezTo>
                    <a:pt x="164" y="85"/>
                    <a:pt x="164" y="86"/>
                    <a:pt x="164" y="86"/>
                  </a:cubicBezTo>
                  <a:cubicBezTo>
                    <a:pt x="164" y="87"/>
                    <a:pt x="162" y="86"/>
                    <a:pt x="161" y="87"/>
                  </a:cubicBezTo>
                  <a:cubicBezTo>
                    <a:pt x="161" y="87"/>
                    <a:pt x="161" y="88"/>
                    <a:pt x="160" y="88"/>
                  </a:cubicBezTo>
                  <a:cubicBezTo>
                    <a:pt x="159" y="88"/>
                    <a:pt x="159" y="89"/>
                    <a:pt x="160" y="89"/>
                  </a:cubicBezTo>
                  <a:cubicBezTo>
                    <a:pt x="161" y="90"/>
                    <a:pt x="160" y="90"/>
                    <a:pt x="159" y="90"/>
                  </a:cubicBezTo>
                  <a:cubicBezTo>
                    <a:pt x="158" y="90"/>
                    <a:pt x="157" y="90"/>
                    <a:pt x="157" y="91"/>
                  </a:cubicBezTo>
                  <a:cubicBezTo>
                    <a:pt x="156" y="91"/>
                    <a:pt x="155" y="91"/>
                    <a:pt x="154" y="91"/>
                  </a:cubicBezTo>
                  <a:cubicBezTo>
                    <a:pt x="154" y="90"/>
                    <a:pt x="153" y="90"/>
                    <a:pt x="152" y="91"/>
                  </a:cubicBezTo>
                  <a:cubicBezTo>
                    <a:pt x="152" y="92"/>
                    <a:pt x="151" y="93"/>
                    <a:pt x="151" y="94"/>
                  </a:cubicBezTo>
                  <a:cubicBezTo>
                    <a:pt x="151" y="94"/>
                    <a:pt x="153" y="94"/>
                    <a:pt x="154" y="94"/>
                  </a:cubicBezTo>
                  <a:cubicBezTo>
                    <a:pt x="155" y="93"/>
                    <a:pt x="153" y="95"/>
                    <a:pt x="152" y="96"/>
                  </a:cubicBezTo>
                  <a:cubicBezTo>
                    <a:pt x="151" y="96"/>
                    <a:pt x="153" y="96"/>
                    <a:pt x="154" y="96"/>
                  </a:cubicBezTo>
                  <a:cubicBezTo>
                    <a:pt x="155" y="95"/>
                    <a:pt x="154" y="97"/>
                    <a:pt x="153" y="97"/>
                  </a:cubicBezTo>
                  <a:cubicBezTo>
                    <a:pt x="152" y="97"/>
                    <a:pt x="151" y="97"/>
                    <a:pt x="150" y="98"/>
                  </a:cubicBezTo>
                  <a:cubicBezTo>
                    <a:pt x="150" y="99"/>
                    <a:pt x="152" y="99"/>
                    <a:pt x="153" y="100"/>
                  </a:cubicBezTo>
                  <a:cubicBezTo>
                    <a:pt x="155" y="100"/>
                    <a:pt x="149" y="99"/>
                    <a:pt x="149" y="100"/>
                  </a:cubicBezTo>
                  <a:cubicBezTo>
                    <a:pt x="149" y="101"/>
                    <a:pt x="148" y="102"/>
                    <a:pt x="148" y="102"/>
                  </a:cubicBezTo>
                  <a:cubicBezTo>
                    <a:pt x="148" y="103"/>
                    <a:pt x="149" y="103"/>
                    <a:pt x="150" y="103"/>
                  </a:cubicBezTo>
                  <a:cubicBezTo>
                    <a:pt x="151" y="103"/>
                    <a:pt x="148" y="104"/>
                    <a:pt x="147" y="104"/>
                  </a:cubicBezTo>
                  <a:cubicBezTo>
                    <a:pt x="147" y="104"/>
                    <a:pt x="145" y="105"/>
                    <a:pt x="145" y="106"/>
                  </a:cubicBezTo>
                  <a:cubicBezTo>
                    <a:pt x="145" y="107"/>
                    <a:pt x="144" y="107"/>
                    <a:pt x="143" y="108"/>
                  </a:cubicBezTo>
                  <a:cubicBezTo>
                    <a:pt x="142" y="109"/>
                    <a:pt x="142" y="110"/>
                    <a:pt x="142" y="111"/>
                  </a:cubicBezTo>
                  <a:cubicBezTo>
                    <a:pt x="142" y="111"/>
                    <a:pt x="142" y="111"/>
                    <a:pt x="144" y="112"/>
                  </a:cubicBezTo>
                  <a:cubicBezTo>
                    <a:pt x="146" y="113"/>
                    <a:pt x="143" y="112"/>
                    <a:pt x="142" y="112"/>
                  </a:cubicBezTo>
                  <a:cubicBezTo>
                    <a:pt x="141" y="112"/>
                    <a:pt x="140" y="114"/>
                    <a:pt x="141" y="114"/>
                  </a:cubicBezTo>
                  <a:cubicBezTo>
                    <a:pt x="142" y="114"/>
                    <a:pt x="141" y="115"/>
                    <a:pt x="141" y="116"/>
                  </a:cubicBezTo>
                  <a:cubicBezTo>
                    <a:pt x="141" y="117"/>
                    <a:pt x="140" y="118"/>
                    <a:pt x="139" y="119"/>
                  </a:cubicBezTo>
                  <a:cubicBezTo>
                    <a:pt x="138" y="120"/>
                    <a:pt x="140" y="119"/>
                    <a:pt x="140" y="119"/>
                  </a:cubicBezTo>
                  <a:cubicBezTo>
                    <a:pt x="141" y="119"/>
                    <a:pt x="139" y="121"/>
                    <a:pt x="138" y="121"/>
                  </a:cubicBezTo>
                  <a:cubicBezTo>
                    <a:pt x="137" y="122"/>
                    <a:pt x="136" y="122"/>
                    <a:pt x="136" y="123"/>
                  </a:cubicBezTo>
                  <a:cubicBezTo>
                    <a:pt x="136" y="124"/>
                    <a:pt x="135" y="123"/>
                    <a:pt x="134" y="123"/>
                  </a:cubicBezTo>
                  <a:cubicBezTo>
                    <a:pt x="133" y="123"/>
                    <a:pt x="131" y="126"/>
                    <a:pt x="131" y="127"/>
                  </a:cubicBezTo>
                  <a:cubicBezTo>
                    <a:pt x="130" y="128"/>
                    <a:pt x="129" y="129"/>
                    <a:pt x="128" y="130"/>
                  </a:cubicBezTo>
                  <a:cubicBezTo>
                    <a:pt x="128" y="130"/>
                    <a:pt x="130" y="131"/>
                    <a:pt x="131" y="131"/>
                  </a:cubicBezTo>
                  <a:cubicBezTo>
                    <a:pt x="132" y="131"/>
                    <a:pt x="134" y="130"/>
                    <a:pt x="134" y="130"/>
                  </a:cubicBezTo>
                  <a:cubicBezTo>
                    <a:pt x="135" y="129"/>
                    <a:pt x="132" y="132"/>
                    <a:pt x="131" y="132"/>
                  </a:cubicBezTo>
                  <a:cubicBezTo>
                    <a:pt x="130" y="132"/>
                    <a:pt x="130" y="131"/>
                    <a:pt x="129" y="131"/>
                  </a:cubicBezTo>
                  <a:cubicBezTo>
                    <a:pt x="129" y="131"/>
                    <a:pt x="128" y="132"/>
                    <a:pt x="128" y="132"/>
                  </a:cubicBezTo>
                  <a:cubicBezTo>
                    <a:pt x="128" y="133"/>
                    <a:pt x="126" y="133"/>
                    <a:pt x="125" y="133"/>
                  </a:cubicBezTo>
                  <a:cubicBezTo>
                    <a:pt x="124" y="133"/>
                    <a:pt x="124" y="134"/>
                    <a:pt x="124" y="135"/>
                  </a:cubicBezTo>
                  <a:cubicBezTo>
                    <a:pt x="124" y="136"/>
                    <a:pt x="124" y="136"/>
                    <a:pt x="124" y="137"/>
                  </a:cubicBezTo>
                  <a:cubicBezTo>
                    <a:pt x="125" y="138"/>
                    <a:pt x="124" y="137"/>
                    <a:pt x="122" y="136"/>
                  </a:cubicBezTo>
                  <a:cubicBezTo>
                    <a:pt x="121" y="136"/>
                    <a:pt x="121" y="137"/>
                    <a:pt x="120" y="138"/>
                  </a:cubicBezTo>
                  <a:cubicBezTo>
                    <a:pt x="119" y="138"/>
                    <a:pt x="117" y="138"/>
                    <a:pt x="116" y="138"/>
                  </a:cubicBezTo>
                  <a:cubicBezTo>
                    <a:pt x="115" y="139"/>
                    <a:pt x="116" y="139"/>
                    <a:pt x="117" y="139"/>
                  </a:cubicBezTo>
                  <a:cubicBezTo>
                    <a:pt x="118" y="140"/>
                    <a:pt x="117" y="140"/>
                    <a:pt x="115" y="140"/>
                  </a:cubicBezTo>
                  <a:cubicBezTo>
                    <a:pt x="114" y="140"/>
                    <a:pt x="114" y="140"/>
                    <a:pt x="114" y="141"/>
                  </a:cubicBezTo>
                  <a:cubicBezTo>
                    <a:pt x="114" y="142"/>
                    <a:pt x="112" y="141"/>
                    <a:pt x="111" y="142"/>
                  </a:cubicBezTo>
                  <a:cubicBezTo>
                    <a:pt x="111" y="143"/>
                    <a:pt x="113" y="143"/>
                    <a:pt x="112" y="143"/>
                  </a:cubicBezTo>
                  <a:cubicBezTo>
                    <a:pt x="111" y="143"/>
                    <a:pt x="109" y="143"/>
                    <a:pt x="110" y="144"/>
                  </a:cubicBezTo>
                  <a:cubicBezTo>
                    <a:pt x="111" y="145"/>
                    <a:pt x="111" y="146"/>
                    <a:pt x="112" y="147"/>
                  </a:cubicBezTo>
                  <a:cubicBezTo>
                    <a:pt x="112" y="149"/>
                    <a:pt x="114" y="149"/>
                    <a:pt x="112" y="148"/>
                  </a:cubicBezTo>
                  <a:cubicBezTo>
                    <a:pt x="110" y="148"/>
                    <a:pt x="110" y="149"/>
                    <a:pt x="111" y="150"/>
                  </a:cubicBezTo>
                  <a:cubicBezTo>
                    <a:pt x="112" y="151"/>
                    <a:pt x="112" y="151"/>
                    <a:pt x="110" y="151"/>
                  </a:cubicBezTo>
                  <a:cubicBezTo>
                    <a:pt x="108" y="152"/>
                    <a:pt x="110" y="152"/>
                    <a:pt x="111" y="153"/>
                  </a:cubicBezTo>
                  <a:cubicBezTo>
                    <a:pt x="111" y="153"/>
                    <a:pt x="110" y="154"/>
                    <a:pt x="111" y="154"/>
                  </a:cubicBezTo>
                  <a:cubicBezTo>
                    <a:pt x="112" y="154"/>
                    <a:pt x="109" y="155"/>
                    <a:pt x="111" y="156"/>
                  </a:cubicBezTo>
                  <a:cubicBezTo>
                    <a:pt x="112" y="157"/>
                    <a:pt x="112" y="156"/>
                    <a:pt x="113" y="155"/>
                  </a:cubicBezTo>
                  <a:cubicBezTo>
                    <a:pt x="114" y="154"/>
                    <a:pt x="113" y="156"/>
                    <a:pt x="112" y="157"/>
                  </a:cubicBezTo>
                  <a:cubicBezTo>
                    <a:pt x="111" y="159"/>
                    <a:pt x="111" y="157"/>
                    <a:pt x="110" y="158"/>
                  </a:cubicBezTo>
                  <a:cubicBezTo>
                    <a:pt x="108" y="158"/>
                    <a:pt x="110" y="159"/>
                    <a:pt x="111" y="160"/>
                  </a:cubicBezTo>
                  <a:cubicBezTo>
                    <a:pt x="111" y="162"/>
                    <a:pt x="111" y="161"/>
                    <a:pt x="112" y="161"/>
                  </a:cubicBezTo>
                  <a:cubicBezTo>
                    <a:pt x="113" y="161"/>
                    <a:pt x="113" y="161"/>
                    <a:pt x="114" y="160"/>
                  </a:cubicBezTo>
                  <a:cubicBezTo>
                    <a:pt x="115" y="160"/>
                    <a:pt x="113" y="162"/>
                    <a:pt x="114" y="163"/>
                  </a:cubicBezTo>
                  <a:cubicBezTo>
                    <a:pt x="114" y="164"/>
                    <a:pt x="113" y="163"/>
                    <a:pt x="112" y="163"/>
                  </a:cubicBezTo>
                  <a:cubicBezTo>
                    <a:pt x="111" y="164"/>
                    <a:pt x="111" y="165"/>
                    <a:pt x="112" y="166"/>
                  </a:cubicBezTo>
                  <a:cubicBezTo>
                    <a:pt x="113" y="166"/>
                    <a:pt x="114" y="168"/>
                    <a:pt x="115" y="168"/>
                  </a:cubicBezTo>
                  <a:cubicBezTo>
                    <a:pt x="116" y="169"/>
                    <a:pt x="118" y="169"/>
                    <a:pt x="120" y="169"/>
                  </a:cubicBezTo>
                  <a:cubicBezTo>
                    <a:pt x="121" y="168"/>
                    <a:pt x="121" y="169"/>
                    <a:pt x="122" y="168"/>
                  </a:cubicBezTo>
                  <a:cubicBezTo>
                    <a:pt x="123" y="168"/>
                    <a:pt x="125" y="166"/>
                    <a:pt x="126" y="164"/>
                  </a:cubicBezTo>
                  <a:cubicBezTo>
                    <a:pt x="128" y="162"/>
                    <a:pt x="129" y="162"/>
                    <a:pt x="130" y="162"/>
                  </a:cubicBezTo>
                  <a:cubicBezTo>
                    <a:pt x="131" y="161"/>
                    <a:pt x="131" y="161"/>
                    <a:pt x="131" y="159"/>
                  </a:cubicBezTo>
                  <a:cubicBezTo>
                    <a:pt x="131" y="159"/>
                    <a:pt x="131" y="159"/>
                    <a:pt x="131" y="159"/>
                  </a:cubicBezTo>
                  <a:cubicBezTo>
                    <a:pt x="131" y="159"/>
                    <a:pt x="131" y="159"/>
                    <a:pt x="131" y="159"/>
                  </a:cubicBezTo>
                  <a:cubicBezTo>
                    <a:pt x="131" y="159"/>
                    <a:pt x="131" y="159"/>
                    <a:pt x="131" y="159"/>
                  </a:cubicBezTo>
                  <a:cubicBezTo>
                    <a:pt x="131" y="159"/>
                    <a:pt x="131" y="159"/>
                    <a:pt x="131" y="159"/>
                  </a:cubicBezTo>
                  <a:cubicBezTo>
                    <a:pt x="131" y="159"/>
                    <a:pt x="131" y="160"/>
                    <a:pt x="131" y="160"/>
                  </a:cubicBezTo>
                  <a:cubicBezTo>
                    <a:pt x="131" y="160"/>
                    <a:pt x="131" y="160"/>
                    <a:pt x="131" y="160"/>
                  </a:cubicBezTo>
                  <a:cubicBezTo>
                    <a:pt x="131" y="160"/>
                    <a:pt x="132" y="160"/>
                    <a:pt x="132" y="160"/>
                  </a:cubicBezTo>
                  <a:cubicBezTo>
                    <a:pt x="132" y="160"/>
                    <a:pt x="132" y="161"/>
                    <a:pt x="132" y="161"/>
                  </a:cubicBezTo>
                  <a:cubicBezTo>
                    <a:pt x="132" y="161"/>
                    <a:pt x="132" y="161"/>
                    <a:pt x="132" y="161"/>
                  </a:cubicBezTo>
                  <a:cubicBezTo>
                    <a:pt x="132" y="161"/>
                    <a:pt x="132" y="161"/>
                    <a:pt x="132" y="162"/>
                  </a:cubicBezTo>
                  <a:cubicBezTo>
                    <a:pt x="132" y="162"/>
                    <a:pt x="132" y="162"/>
                    <a:pt x="132" y="162"/>
                  </a:cubicBezTo>
                  <a:cubicBezTo>
                    <a:pt x="132" y="162"/>
                    <a:pt x="132" y="162"/>
                    <a:pt x="132" y="162"/>
                  </a:cubicBezTo>
                  <a:cubicBezTo>
                    <a:pt x="132" y="163"/>
                    <a:pt x="133" y="163"/>
                    <a:pt x="133" y="163"/>
                  </a:cubicBezTo>
                  <a:cubicBezTo>
                    <a:pt x="133" y="164"/>
                    <a:pt x="133" y="167"/>
                    <a:pt x="134" y="168"/>
                  </a:cubicBezTo>
                  <a:cubicBezTo>
                    <a:pt x="134" y="169"/>
                    <a:pt x="135" y="169"/>
                    <a:pt x="136" y="168"/>
                  </a:cubicBezTo>
                  <a:cubicBezTo>
                    <a:pt x="137" y="167"/>
                    <a:pt x="135" y="171"/>
                    <a:pt x="135" y="172"/>
                  </a:cubicBezTo>
                  <a:cubicBezTo>
                    <a:pt x="135" y="173"/>
                    <a:pt x="137" y="176"/>
                    <a:pt x="138" y="177"/>
                  </a:cubicBezTo>
                  <a:cubicBezTo>
                    <a:pt x="138" y="178"/>
                    <a:pt x="139" y="180"/>
                    <a:pt x="139" y="181"/>
                  </a:cubicBezTo>
                  <a:cubicBezTo>
                    <a:pt x="139" y="182"/>
                    <a:pt x="138" y="185"/>
                    <a:pt x="139" y="185"/>
                  </a:cubicBezTo>
                  <a:cubicBezTo>
                    <a:pt x="139" y="185"/>
                    <a:pt x="141" y="185"/>
                    <a:pt x="142" y="185"/>
                  </a:cubicBezTo>
                  <a:cubicBezTo>
                    <a:pt x="144" y="185"/>
                    <a:pt x="144" y="185"/>
                    <a:pt x="145" y="184"/>
                  </a:cubicBezTo>
                  <a:cubicBezTo>
                    <a:pt x="145" y="183"/>
                    <a:pt x="145" y="182"/>
                    <a:pt x="147" y="181"/>
                  </a:cubicBezTo>
                  <a:cubicBezTo>
                    <a:pt x="149" y="180"/>
                    <a:pt x="150" y="181"/>
                    <a:pt x="151" y="180"/>
                  </a:cubicBezTo>
                  <a:cubicBezTo>
                    <a:pt x="152" y="180"/>
                    <a:pt x="154" y="174"/>
                    <a:pt x="155" y="173"/>
                  </a:cubicBezTo>
                  <a:cubicBezTo>
                    <a:pt x="155" y="171"/>
                    <a:pt x="155" y="169"/>
                    <a:pt x="155" y="168"/>
                  </a:cubicBezTo>
                  <a:cubicBezTo>
                    <a:pt x="155" y="167"/>
                    <a:pt x="158" y="164"/>
                    <a:pt x="158" y="163"/>
                  </a:cubicBezTo>
                  <a:cubicBezTo>
                    <a:pt x="159" y="163"/>
                    <a:pt x="159" y="163"/>
                    <a:pt x="160" y="163"/>
                  </a:cubicBezTo>
                  <a:cubicBezTo>
                    <a:pt x="160" y="163"/>
                    <a:pt x="161" y="160"/>
                    <a:pt x="162" y="160"/>
                  </a:cubicBezTo>
                  <a:cubicBezTo>
                    <a:pt x="163" y="159"/>
                    <a:pt x="163" y="158"/>
                    <a:pt x="164" y="158"/>
                  </a:cubicBezTo>
                  <a:cubicBezTo>
                    <a:pt x="164" y="157"/>
                    <a:pt x="163" y="155"/>
                    <a:pt x="162" y="154"/>
                  </a:cubicBezTo>
                  <a:cubicBezTo>
                    <a:pt x="162" y="153"/>
                    <a:pt x="161" y="152"/>
                    <a:pt x="159" y="152"/>
                  </a:cubicBezTo>
                  <a:cubicBezTo>
                    <a:pt x="157" y="152"/>
                    <a:pt x="157" y="151"/>
                    <a:pt x="157" y="150"/>
                  </a:cubicBezTo>
                  <a:cubicBezTo>
                    <a:pt x="156" y="149"/>
                    <a:pt x="157" y="146"/>
                    <a:pt x="157" y="146"/>
                  </a:cubicBezTo>
                  <a:cubicBezTo>
                    <a:pt x="158" y="145"/>
                    <a:pt x="158" y="142"/>
                    <a:pt x="158" y="141"/>
                  </a:cubicBezTo>
                  <a:cubicBezTo>
                    <a:pt x="159" y="140"/>
                    <a:pt x="157" y="139"/>
                    <a:pt x="157" y="139"/>
                  </a:cubicBezTo>
                  <a:cubicBezTo>
                    <a:pt x="157" y="138"/>
                    <a:pt x="158" y="139"/>
                    <a:pt x="159" y="139"/>
                  </a:cubicBezTo>
                  <a:cubicBezTo>
                    <a:pt x="160" y="139"/>
                    <a:pt x="162" y="136"/>
                    <a:pt x="163" y="135"/>
                  </a:cubicBezTo>
                  <a:cubicBezTo>
                    <a:pt x="164" y="134"/>
                    <a:pt x="164" y="132"/>
                    <a:pt x="165" y="132"/>
                  </a:cubicBezTo>
                  <a:cubicBezTo>
                    <a:pt x="165" y="131"/>
                    <a:pt x="168" y="130"/>
                    <a:pt x="168" y="130"/>
                  </a:cubicBezTo>
                  <a:cubicBezTo>
                    <a:pt x="169" y="130"/>
                    <a:pt x="171" y="129"/>
                    <a:pt x="171" y="128"/>
                  </a:cubicBezTo>
                  <a:cubicBezTo>
                    <a:pt x="171" y="126"/>
                    <a:pt x="174" y="125"/>
                    <a:pt x="174" y="124"/>
                  </a:cubicBezTo>
                  <a:cubicBezTo>
                    <a:pt x="175" y="123"/>
                    <a:pt x="173" y="123"/>
                    <a:pt x="173" y="122"/>
                  </a:cubicBezTo>
                  <a:cubicBezTo>
                    <a:pt x="172" y="121"/>
                    <a:pt x="173" y="121"/>
                    <a:pt x="174" y="120"/>
                  </a:cubicBezTo>
                  <a:cubicBezTo>
                    <a:pt x="174" y="120"/>
                    <a:pt x="174" y="119"/>
                    <a:pt x="174" y="119"/>
                  </a:cubicBezTo>
                  <a:cubicBezTo>
                    <a:pt x="175" y="118"/>
                    <a:pt x="175" y="118"/>
                    <a:pt x="176" y="117"/>
                  </a:cubicBezTo>
                  <a:cubicBezTo>
                    <a:pt x="178" y="116"/>
                    <a:pt x="177" y="116"/>
                    <a:pt x="177" y="116"/>
                  </a:cubicBezTo>
                  <a:cubicBezTo>
                    <a:pt x="177" y="115"/>
                    <a:pt x="179" y="115"/>
                    <a:pt x="180" y="115"/>
                  </a:cubicBezTo>
                  <a:cubicBezTo>
                    <a:pt x="181" y="116"/>
                    <a:pt x="181" y="116"/>
                    <a:pt x="181" y="116"/>
                  </a:cubicBezTo>
                  <a:cubicBezTo>
                    <a:pt x="181" y="116"/>
                    <a:pt x="181" y="116"/>
                    <a:pt x="182" y="116"/>
                  </a:cubicBezTo>
                  <a:cubicBezTo>
                    <a:pt x="182" y="116"/>
                    <a:pt x="182" y="115"/>
                    <a:pt x="182" y="115"/>
                  </a:cubicBezTo>
                  <a:cubicBezTo>
                    <a:pt x="182" y="115"/>
                    <a:pt x="182" y="115"/>
                    <a:pt x="183" y="115"/>
                  </a:cubicBezTo>
                  <a:cubicBezTo>
                    <a:pt x="183" y="115"/>
                    <a:pt x="183" y="115"/>
                    <a:pt x="183" y="115"/>
                  </a:cubicBezTo>
                  <a:cubicBezTo>
                    <a:pt x="184" y="115"/>
                    <a:pt x="184" y="115"/>
                    <a:pt x="184" y="115"/>
                  </a:cubicBezTo>
                  <a:cubicBezTo>
                    <a:pt x="186" y="115"/>
                    <a:pt x="186" y="116"/>
                    <a:pt x="187" y="117"/>
                  </a:cubicBezTo>
                  <a:cubicBezTo>
                    <a:pt x="188" y="118"/>
                    <a:pt x="187" y="121"/>
                    <a:pt x="186" y="121"/>
                  </a:cubicBezTo>
                  <a:cubicBezTo>
                    <a:pt x="185" y="121"/>
                    <a:pt x="183" y="125"/>
                    <a:pt x="182" y="126"/>
                  </a:cubicBezTo>
                  <a:cubicBezTo>
                    <a:pt x="182" y="127"/>
                    <a:pt x="178" y="130"/>
                    <a:pt x="177" y="131"/>
                  </a:cubicBezTo>
                  <a:cubicBezTo>
                    <a:pt x="177" y="133"/>
                    <a:pt x="173" y="136"/>
                    <a:pt x="172" y="137"/>
                  </a:cubicBezTo>
                  <a:cubicBezTo>
                    <a:pt x="171" y="138"/>
                    <a:pt x="172" y="138"/>
                    <a:pt x="173" y="139"/>
                  </a:cubicBezTo>
                  <a:cubicBezTo>
                    <a:pt x="173" y="141"/>
                    <a:pt x="174" y="146"/>
                    <a:pt x="174" y="147"/>
                  </a:cubicBezTo>
                  <a:cubicBezTo>
                    <a:pt x="173" y="148"/>
                    <a:pt x="173" y="149"/>
                    <a:pt x="173" y="150"/>
                  </a:cubicBezTo>
                  <a:cubicBezTo>
                    <a:pt x="173" y="151"/>
                    <a:pt x="173" y="152"/>
                    <a:pt x="174" y="152"/>
                  </a:cubicBezTo>
                  <a:cubicBezTo>
                    <a:pt x="176" y="152"/>
                    <a:pt x="177" y="153"/>
                    <a:pt x="177" y="154"/>
                  </a:cubicBezTo>
                  <a:cubicBezTo>
                    <a:pt x="177" y="155"/>
                    <a:pt x="177" y="155"/>
                    <a:pt x="179" y="156"/>
                  </a:cubicBezTo>
                  <a:cubicBezTo>
                    <a:pt x="180" y="156"/>
                    <a:pt x="182" y="156"/>
                    <a:pt x="183" y="156"/>
                  </a:cubicBezTo>
                  <a:cubicBezTo>
                    <a:pt x="184" y="156"/>
                    <a:pt x="185" y="155"/>
                    <a:pt x="187" y="155"/>
                  </a:cubicBezTo>
                  <a:cubicBezTo>
                    <a:pt x="189" y="154"/>
                    <a:pt x="191" y="154"/>
                    <a:pt x="193" y="153"/>
                  </a:cubicBezTo>
                  <a:cubicBezTo>
                    <a:pt x="194" y="153"/>
                    <a:pt x="195" y="153"/>
                    <a:pt x="195" y="153"/>
                  </a:cubicBezTo>
                  <a:cubicBezTo>
                    <a:pt x="196" y="153"/>
                    <a:pt x="196" y="153"/>
                    <a:pt x="196" y="153"/>
                  </a:cubicBezTo>
                  <a:cubicBezTo>
                    <a:pt x="196" y="153"/>
                    <a:pt x="196" y="153"/>
                    <a:pt x="196" y="153"/>
                  </a:cubicBezTo>
                  <a:cubicBezTo>
                    <a:pt x="197" y="153"/>
                    <a:pt x="198" y="153"/>
                    <a:pt x="199" y="153"/>
                  </a:cubicBezTo>
                  <a:cubicBezTo>
                    <a:pt x="200" y="152"/>
                    <a:pt x="200" y="152"/>
                    <a:pt x="200" y="153"/>
                  </a:cubicBezTo>
                  <a:cubicBezTo>
                    <a:pt x="200" y="155"/>
                    <a:pt x="202" y="154"/>
                    <a:pt x="203" y="155"/>
                  </a:cubicBezTo>
                  <a:cubicBezTo>
                    <a:pt x="204" y="155"/>
                    <a:pt x="204" y="157"/>
                    <a:pt x="203" y="157"/>
                  </a:cubicBezTo>
                  <a:cubicBezTo>
                    <a:pt x="201" y="157"/>
                    <a:pt x="198" y="157"/>
                    <a:pt x="199" y="158"/>
                  </a:cubicBezTo>
                  <a:cubicBezTo>
                    <a:pt x="199" y="158"/>
                    <a:pt x="199" y="158"/>
                    <a:pt x="199" y="158"/>
                  </a:cubicBezTo>
                  <a:cubicBezTo>
                    <a:pt x="199" y="158"/>
                    <a:pt x="199" y="158"/>
                    <a:pt x="199" y="158"/>
                  </a:cubicBezTo>
                  <a:cubicBezTo>
                    <a:pt x="199" y="159"/>
                    <a:pt x="199" y="159"/>
                    <a:pt x="198" y="159"/>
                  </a:cubicBezTo>
                  <a:cubicBezTo>
                    <a:pt x="198" y="159"/>
                    <a:pt x="198" y="159"/>
                    <a:pt x="197" y="159"/>
                  </a:cubicBezTo>
                  <a:cubicBezTo>
                    <a:pt x="197" y="159"/>
                    <a:pt x="197" y="159"/>
                    <a:pt x="197" y="159"/>
                  </a:cubicBezTo>
                  <a:cubicBezTo>
                    <a:pt x="194" y="159"/>
                    <a:pt x="189" y="159"/>
                    <a:pt x="187" y="159"/>
                  </a:cubicBezTo>
                  <a:cubicBezTo>
                    <a:pt x="186" y="159"/>
                    <a:pt x="181" y="161"/>
                    <a:pt x="181" y="162"/>
                  </a:cubicBezTo>
                  <a:cubicBezTo>
                    <a:pt x="181" y="164"/>
                    <a:pt x="182" y="166"/>
                    <a:pt x="183" y="167"/>
                  </a:cubicBezTo>
                  <a:cubicBezTo>
                    <a:pt x="183" y="167"/>
                    <a:pt x="184" y="167"/>
                    <a:pt x="184" y="167"/>
                  </a:cubicBezTo>
                  <a:cubicBezTo>
                    <a:pt x="184" y="167"/>
                    <a:pt x="184" y="167"/>
                    <a:pt x="184" y="167"/>
                  </a:cubicBezTo>
                  <a:cubicBezTo>
                    <a:pt x="184" y="167"/>
                    <a:pt x="184" y="168"/>
                    <a:pt x="184" y="168"/>
                  </a:cubicBezTo>
                  <a:cubicBezTo>
                    <a:pt x="184" y="168"/>
                    <a:pt x="184" y="168"/>
                    <a:pt x="184" y="168"/>
                  </a:cubicBezTo>
                  <a:cubicBezTo>
                    <a:pt x="184" y="169"/>
                    <a:pt x="185" y="169"/>
                    <a:pt x="185" y="170"/>
                  </a:cubicBezTo>
                  <a:cubicBezTo>
                    <a:pt x="185" y="171"/>
                    <a:pt x="185" y="171"/>
                    <a:pt x="185" y="172"/>
                  </a:cubicBezTo>
                  <a:cubicBezTo>
                    <a:pt x="185" y="174"/>
                    <a:pt x="183" y="176"/>
                    <a:pt x="182" y="176"/>
                  </a:cubicBezTo>
                  <a:cubicBezTo>
                    <a:pt x="180" y="175"/>
                    <a:pt x="178" y="171"/>
                    <a:pt x="177" y="171"/>
                  </a:cubicBezTo>
                  <a:cubicBezTo>
                    <a:pt x="176" y="171"/>
                    <a:pt x="173" y="172"/>
                    <a:pt x="173" y="173"/>
                  </a:cubicBezTo>
                  <a:cubicBezTo>
                    <a:pt x="173" y="174"/>
                    <a:pt x="172" y="175"/>
                    <a:pt x="172" y="176"/>
                  </a:cubicBezTo>
                  <a:cubicBezTo>
                    <a:pt x="171" y="177"/>
                    <a:pt x="171" y="178"/>
                    <a:pt x="171" y="179"/>
                  </a:cubicBezTo>
                  <a:cubicBezTo>
                    <a:pt x="171" y="180"/>
                    <a:pt x="171" y="181"/>
                    <a:pt x="171" y="181"/>
                  </a:cubicBezTo>
                  <a:cubicBezTo>
                    <a:pt x="171" y="181"/>
                    <a:pt x="171" y="181"/>
                    <a:pt x="171" y="181"/>
                  </a:cubicBezTo>
                  <a:cubicBezTo>
                    <a:pt x="171" y="182"/>
                    <a:pt x="171" y="183"/>
                    <a:pt x="171" y="183"/>
                  </a:cubicBezTo>
                  <a:cubicBezTo>
                    <a:pt x="171" y="184"/>
                    <a:pt x="170" y="184"/>
                    <a:pt x="170" y="185"/>
                  </a:cubicBezTo>
                  <a:cubicBezTo>
                    <a:pt x="170" y="185"/>
                    <a:pt x="170" y="185"/>
                    <a:pt x="170" y="185"/>
                  </a:cubicBezTo>
                  <a:cubicBezTo>
                    <a:pt x="170" y="185"/>
                    <a:pt x="170" y="186"/>
                    <a:pt x="169" y="186"/>
                  </a:cubicBezTo>
                  <a:cubicBezTo>
                    <a:pt x="169" y="186"/>
                    <a:pt x="169" y="186"/>
                    <a:pt x="169" y="186"/>
                  </a:cubicBezTo>
                  <a:cubicBezTo>
                    <a:pt x="169" y="187"/>
                    <a:pt x="168" y="187"/>
                    <a:pt x="168" y="187"/>
                  </a:cubicBezTo>
                  <a:cubicBezTo>
                    <a:pt x="168" y="188"/>
                    <a:pt x="167" y="188"/>
                    <a:pt x="167" y="188"/>
                  </a:cubicBezTo>
                  <a:cubicBezTo>
                    <a:pt x="167" y="188"/>
                    <a:pt x="167" y="188"/>
                    <a:pt x="167" y="188"/>
                  </a:cubicBezTo>
                  <a:cubicBezTo>
                    <a:pt x="167" y="188"/>
                    <a:pt x="167" y="188"/>
                    <a:pt x="167" y="188"/>
                  </a:cubicBezTo>
                  <a:cubicBezTo>
                    <a:pt x="167" y="189"/>
                    <a:pt x="167" y="189"/>
                    <a:pt x="167" y="189"/>
                  </a:cubicBezTo>
                  <a:cubicBezTo>
                    <a:pt x="167" y="189"/>
                    <a:pt x="166" y="189"/>
                    <a:pt x="166" y="189"/>
                  </a:cubicBezTo>
                  <a:cubicBezTo>
                    <a:pt x="166" y="190"/>
                    <a:pt x="166" y="190"/>
                    <a:pt x="166" y="190"/>
                  </a:cubicBezTo>
                  <a:cubicBezTo>
                    <a:pt x="166" y="190"/>
                    <a:pt x="166" y="190"/>
                    <a:pt x="166" y="190"/>
                  </a:cubicBezTo>
                  <a:cubicBezTo>
                    <a:pt x="165" y="190"/>
                    <a:pt x="165" y="191"/>
                    <a:pt x="165" y="191"/>
                  </a:cubicBezTo>
                  <a:cubicBezTo>
                    <a:pt x="165" y="191"/>
                    <a:pt x="165" y="191"/>
                    <a:pt x="165" y="191"/>
                  </a:cubicBezTo>
                  <a:cubicBezTo>
                    <a:pt x="164" y="191"/>
                    <a:pt x="164" y="191"/>
                    <a:pt x="164" y="191"/>
                  </a:cubicBezTo>
                  <a:cubicBezTo>
                    <a:pt x="162" y="191"/>
                    <a:pt x="163" y="189"/>
                    <a:pt x="160" y="189"/>
                  </a:cubicBezTo>
                  <a:cubicBezTo>
                    <a:pt x="158" y="189"/>
                    <a:pt x="152" y="190"/>
                    <a:pt x="150" y="191"/>
                  </a:cubicBezTo>
                  <a:cubicBezTo>
                    <a:pt x="150" y="192"/>
                    <a:pt x="149" y="192"/>
                    <a:pt x="149" y="192"/>
                  </a:cubicBezTo>
                  <a:cubicBezTo>
                    <a:pt x="149" y="192"/>
                    <a:pt x="148" y="192"/>
                    <a:pt x="148" y="192"/>
                  </a:cubicBezTo>
                  <a:cubicBezTo>
                    <a:pt x="148" y="192"/>
                    <a:pt x="148" y="192"/>
                    <a:pt x="147" y="192"/>
                  </a:cubicBezTo>
                  <a:cubicBezTo>
                    <a:pt x="147" y="192"/>
                    <a:pt x="147" y="193"/>
                    <a:pt x="147" y="193"/>
                  </a:cubicBezTo>
                  <a:cubicBezTo>
                    <a:pt x="146" y="193"/>
                    <a:pt x="146" y="193"/>
                    <a:pt x="146" y="193"/>
                  </a:cubicBezTo>
                  <a:cubicBezTo>
                    <a:pt x="146" y="193"/>
                    <a:pt x="145" y="193"/>
                    <a:pt x="145" y="193"/>
                  </a:cubicBezTo>
                  <a:cubicBezTo>
                    <a:pt x="145" y="193"/>
                    <a:pt x="145" y="193"/>
                    <a:pt x="144" y="193"/>
                  </a:cubicBezTo>
                  <a:cubicBezTo>
                    <a:pt x="143" y="193"/>
                    <a:pt x="143" y="191"/>
                    <a:pt x="143" y="190"/>
                  </a:cubicBezTo>
                  <a:cubicBezTo>
                    <a:pt x="142" y="190"/>
                    <a:pt x="142" y="191"/>
                    <a:pt x="141" y="192"/>
                  </a:cubicBezTo>
                  <a:cubicBezTo>
                    <a:pt x="140" y="193"/>
                    <a:pt x="140" y="191"/>
                    <a:pt x="138" y="191"/>
                  </a:cubicBezTo>
                  <a:cubicBezTo>
                    <a:pt x="137" y="191"/>
                    <a:pt x="134" y="193"/>
                    <a:pt x="133" y="193"/>
                  </a:cubicBezTo>
                  <a:cubicBezTo>
                    <a:pt x="132" y="193"/>
                    <a:pt x="133" y="191"/>
                    <a:pt x="133" y="191"/>
                  </a:cubicBezTo>
                  <a:cubicBezTo>
                    <a:pt x="132" y="190"/>
                    <a:pt x="129" y="192"/>
                    <a:pt x="129" y="192"/>
                  </a:cubicBezTo>
                  <a:cubicBezTo>
                    <a:pt x="128" y="191"/>
                    <a:pt x="127" y="190"/>
                    <a:pt x="128" y="190"/>
                  </a:cubicBezTo>
                  <a:cubicBezTo>
                    <a:pt x="128" y="190"/>
                    <a:pt x="128" y="190"/>
                    <a:pt x="128" y="190"/>
                  </a:cubicBezTo>
                  <a:cubicBezTo>
                    <a:pt x="128" y="190"/>
                    <a:pt x="128" y="189"/>
                    <a:pt x="128" y="189"/>
                  </a:cubicBezTo>
                  <a:cubicBezTo>
                    <a:pt x="128" y="189"/>
                    <a:pt x="128" y="189"/>
                    <a:pt x="128" y="189"/>
                  </a:cubicBezTo>
                  <a:cubicBezTo>
                    <a:pt x="128" y="189"/>
                    <a:pt x="128" y="189"/>
                    <a:pt x="128" y="189"/>
                  </a:cubicBezTo>
                  <a:cubicBezTo>
                    <a:pt x="128" y="189"/>
                    <a:pt x="128" y="189"/>
                    <a:pt x="128" y="189"/>
                  </a:cubicBezTo>
                  <a:cubicBezTo>
                    <a:pt x="128" y="189"/>
                    <a:pt x="128" y="188"/>
                    <a:pt x="128" y="188"/>
                  </a:cubicBezTo>
                  <a:cubicBezTo>
                    <a:pt x="128" y="188"/>
                    <a:pt x="128" y="188"/>
                    <a:pt x="128" y="188"/>
                  </a:cubicBezTo>
                  <a:cubicBezTo>
                    <a:pt x="128" y="188"/>
                    <a:pt x="128" y="188"/>
                    <a:pt x="128" y="188"/>
                  </a:cubicBezTo>
                  <a:cubicBezTo>
                    <a:pt x="127" y="188"/>
                    <a:pt x="127" y="188"/>
                    <a:pt x="127" y="188"/>
                  </a:cubicBezTo>
                  <a:cubicBezTo>
                    <a:pt x="127" y="187"/>
                    <a:pt x="127" y="187"/>
                    <a:pt x="127" y="187"/>
                  </a:cubicBezTo>
                  <a:cubicBezTo>
                    <a:pt x="127" y="187"/>
                    <a:pt x="127" y="187"/>
                    <a:pt x="127" y="187"/>
                  </a:cubicBezTo>
                  <a:cubicBezTo>
                    <a:pt x="127" y="187"/>
                    <a:pt x="127" y="187"/>
                    <a:pt x="127" y="187"/>
                  </a:cubicBezTo>
                  <a:cubicBezTo>
                    <a:pt x="127" y="187"/>
                    <a:pt x="127" y="187"/>
                    <a:pt x="127" y="187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7" y="186"/>
                    <a:pt x="129" y="186"/>
                    <a:pt x="130" y="186"/>
                  </a:cubicBezTo>
                  <a:cubicBezTo>
                    <a:pt x="131" y="185"/>
                    <a:pt x="128" y="184"/>
                    <a:pt x="127" y="184"/>
                  </a:cubicBezTo>
                  <a:cubicBezTo>
                    <a:pt x="126" y="184"/>
                    <a:pt x="128" y="182"/>
                    <a:pt x="129" y="181"/>
                  </a:cubicBezTo>
                  <a:cubicBezTo>
                    <a:pt x="131" y="180"/>
                    <a:pt x="131" y="180"/>
                    <a:pt x="132" y="179"/>
                  </a:cubicBezTo>
                  <a:cubicBezTo>
                    <a:pt x="132" y="178"/>
                    <a:pt x="131" y="178"/>
                    <a:pt x="130" y="179"/>
                  </a:cubicBezTo>
                  <a:cubicBezTo>
                    <a:pt x="129" y="179"/>
                    <a:pt x="128" y="176"/>
                    <a:pt x="129" y="175"/>
                  </a:cubicBezTo>
                  <a:cubicBezTo>
                    <a:pt x="130" y="175"/>
                    <a:pt x="130" y="173"/>
                    <a:pt x="130" y="172"/>
                  </a:cubicBezTo>
                  <a:cubicBezTo>
                    <a:pt x="130" y="171"/>
                    <a:pt x="128" y="172"/>
                    <a:pt x="127" y="173"/>
                  </a:cubicBezTo>
                  <a:cubicBezTo>
                    <a:pt x="127" y="173"/>
                    <a:pt x="126" y="175"/>
                    <a:pt x="126" y="175"/>
                  </a:cubicBezTo>
                  <a:cubicBezTo>
                    <a:pt x="127" y="176"/>
                    <a:pt x="126" y="177"/>
                    <a:pt x="125" y="177"/>
                  </a:cubicBezTo>
                  <a:cubicBezTo>
                    <a:pt x="124" y="178"/>
                    <a:pt x="124" y="176"/>
                    <a:pt x="123" y="175"/>
                  </a:cubicBezTo>
                  <a:cubicBezTo>
                    <a:pt x="123" y="175"/>
                    <a:pt x="122" y="176"/>
                    <a:pt x="122" y="177"/>
                  </a:cubicBezTo>
                  <a:cubicBezTo>
                    <a:pt x="121" y="177"/>
                    <a:pt x="121" y="181"/>
                    <a:pt x="121" y="182"/>
                  </a:cubicBezTo>
                  <a:cubicBezTo>
                    <a:pt x="120" y="182"/>
                    <a:pt x="121" y="184"/>
                    <a:pt x="122" y="185"/>
                  </a:cubicBezTo>
                  <a:cubicBezTo>
                    <a:pt x="122" y="185"/>
                    <a:pt x="122" y="186"/>
                    <a:pt x="122" y="186"/>
                  </a:cubicBezTo>
                  <a:cubicBezTo>
                    <a:pt x="122" y="186"/>
                    <a:pt x="122" y="186"/>
                    <a:pt x="122" y="186"/>
                  </a:cubicBezTo>
                  <a:cubicBezTo>
                    <a:pt x="122" y="186"/>
                    <a:pt x="122" y="187"/>
                    <a:pt x="122" y="187"/>
                  </a:cubicBezTo>
                  <a:cubicBezTo>
                    <a:pt x="122" y="187"/>
                    <a:pt x="122" y="188"/>
                    <a:pt x="122" y="188"/>
                  </a:cubicBezTo>
                  <a:cubicBezTo>
                    <a:pt x="122" y="188"/>
                    <a:pt x="122" y="188"/>
                    <a:pt x="122" y="188"/>
                  </a:cubicBezTo>
                  <a:cubicBezTo>
                    <a:pt x="122" y="188"/>
                    <a:pt x="122" y="189"/>
                    <a:pt x="122" y="189"/>
                  </a:cubicBezTo>
                  <a:cubicBezTo>
                    <a:pt x="122" y="190"/>
                    <a:pt x="122" y="190"/>
                    <a:pt x="122" y="190"/>
                  </a:cubicBezTo>
                  <a:cubicBezTo>
                    <a:pt x="123" y="190"/>
                    <a:pt x="123" y="190"/>
                    <a:pt x="123" y="191"/>
                  </a:cubicBezTo>
                  <a:cubicBezTo>
                    <a:pt x="123" y="191"/>
                    <a:pt x="123" y="191"/>
                    <a:pt x="123" y="191"/>
                  </a:cubicBezTo>
                  <a:cubicBezTo>
                    <a:pt x="123" y="191"/>
                    <a:pt x="123" y="192"/>
                    <a:pt x="123" y="192"/>
                  </a:cubicBezTo>
                  <a:cubicBezTo>
                    <a:pt x="123" y="192"/>
                    <a:pt x="123" y="192"/>
                    <a:pt x="123" y="192"/>
                  </a:cubicBezTo>
                  <a:cubicBezTo>
                    <a:pt x="123" y="192"/>
                    <a:pt x="123" y="193"/>
                    <a:pt x="123" y="193"/>
                  </a:cubicBezTo>
                  <a:cubicBezTo>
                    <a:pt x="123" y="194"/>
                    <a:pt x="123" y="195"/>
                    <a:pt x="122" y="196"/>
                  </a:cubicBezTo>
                  <a:cubicBezTo>
                    <a:pt x="121" y="196"/>
                    <a:pt x="118" y="193"/>
                    <a:pt x="117" y="195"/>
                  </a:cubicBezTo>
                  <a:cubicBezTo>
                    <a:pt x="116" y="195"/>
                    <a:pt x="116" y="195"/>
                    <a:pt x="116" y="196"/>
                  </a:cubicBezTo>
                  <a:cubicBezTo>
                    <a:pt x="115" y="196"/>
                    <a:pt x="115" y="196"/>
                    <a:pt x="115" y="196"/>
                  </a:cubicBezTo>
                  <a:cubicBezTo>
                    <a:pt x="115" y="196"/>
                    <a:pt x="115" y="196"/>
                    <a:pt x="114" y="196"/>
                  </a:cubicBezTo>
                  <a:cubicBezTo>
                    <a:pt x="114" y="196"/>
                    <a:pt x="114" y="196"/>
                    <a:pt x="114" y="196"/>
                  </a:cubicBezTo>
                  <a:cubicBezTo>
                    <a:pt x="114" y="196"/>
                    <a:pt x="113" y="197"/>
                    <a:pt x="113" y="197"/>
                  </a:cubicBezTo>
                  <a:cubicBezTo>
                    <a:pt x="112" y="197"/>
                    <a:pt x="111" y="197"/>
                    <a:pt x="110" y="198"/>
                  </a:cubicBezTo>
                  <a:cubicBezTo>
                    <a:pt x="108" y="199"/>
                    <a:pt x="108" y="199"/>
                    <a:pt x="107" y="199"/>
                  </a:cubicBezTo>
                  <a:cubicBezTo>
                    <a:pt x="106" y="199"/>
                    <a:pt x="104" y="204"/>
                    <a:pt x="103" y="206"/>
                  </a:cubicBezTo>
                  <a:cubicBezTo>
                    <a:pt x="103" y="206"/>
                    <a:pt x="103" y="206"/>
                    <a:pt x="103" y="207"/>
                  </a:cubicBezTo>
                  <a:cubicBezTo>
                    <a:pt x="103" y="207"/>
                    <a:pt x="103" y="207"/>
                    <a:pt x="103" y="207"/>
                  </a:cubicBezTo>
                  <a:cubicBezTo>
                    <a:pt x="102" y="207"/>
                    <a:pt x="102" y="207"/>
                    <a:pt x="102" y="207"/>
                  </a:cubicBezTo>
                  <a:cubicBezTo>
                    <a:pt x="102" y="207"/>
                    <a:pt x="102" y="207"/>
                    <a:pt x="102" y="207"/>
                  </a:cubicBezTo>
                  <a:cubicBezTo>
                    <a:pt x="102" y="208"/>
                    <a:pt x="101" y="208"/>
                    <a:pt x="101" y="208"/>
                  </a:cubicBezTo>
                  <a:cubicBezTo>
                    <a:pt x="101" y="208"/>
                    <a:pt x="101" y="208"/>
                    <a:pt x="101" y="208"/>
                  </a:cubicBezTo>
                  <a:cubicBezTo>
                    <a:pt x="101" y="208"/>
                    <a:pt x="101" y="208"/>
                    <a:pt x="101" y="208"/>
                  </a:cubicBezTo>
                  <a:cubicBezTo>
                    <a:pt x="100" y="208"/>
                    <a:pt x="100" y="208"/>
                    <a:pt x="100" y="208"/>
                  </a:cubicBezTo>
                  <a:cubicBezTo>
                    <a:pt x="100" y="208"/>
                    <a:pt x="100" y="208"/>
                    <a:pt x="100" y="208"/>
                  </a:cubicBezTo>
                  <a:cubicBezTo>
                    <a:pt x="100" y="208"/>
                    <a:pt x="100" y="208"/>
                    <a:pt x="100" y="208"/>
                  </a:cubicBezTo>
                  <a:cubicBezTo>
                    <a:pt x="100" y="208"/>
                    <a:pt x="100" y="208"/>
                    <a:pt x="99" y="208"/>
                  </a:cubicBezTo>
                  <a:cubicBezTo>
                    <a:pt x="99" y="208"/>
                    <a:pt x="98" y="208"/>
                    <a:pt x="97" y="208"/>
                  </a:cubicBezTo>
                  <a:cubicBezTo>
                    <a:pt x="96" y="208"/>
                    <a:pt x="96" y="208"/>
                    <a:pt x="95" y="209"/>
                  </a:cubicBezTo>
                  <a:cubicBezTo>
                    <a:pt x="95" y="209"/>
                    <a:pt x="95" y="209"/>
                    <a:pt x="95" y="209"/>
                  </a:cubicBezTo>
                  <a:cubicBezTo>
                    <a:pt x="95" y="209"/>
                    <a:pt x="94" y="209"/>
                    <a:pt x="94" y="210"/>
                  </a:cubicBezTo>
                  <a:cubicBezTo>
                    <a:pt x="93" y="211"/>
                    <a:pt x="94" y="213"/>
                    <a:pt x="94" y="214"/>
                  </a:cubicBezTo>
                  <a:cubicBezTo>
                    <a:pt x="94" y="214"/>
                    <a:pt x="92" y="216"/>
                    <a:pt x="91" y="216"/>
                  </a:cubicBezTo>
                  <a:cubicBezTo>
                    <a:pt x="91" y="217"/>
                    <a:pt x="90" y="216"/>
                    <a:pt x="88" y="217"/>
                  </a:cubicBezTo>
                  <a:cubicBezTo>
                    <a:pt x="87" y="218"/>
                    <a:pt x="87" y="219"/>
                    <a:pt x="86" y="220"/>
                  </a:cubicBezTo>
                  <a:cubicBezTo>
                    <a:pt x="84" y="221"/>
                    <a:pt x="83" y="220"/>
                    <a:pt x="82" y="219"/>
                  </a:cubicBezTo>
                  <a:cubicBezTo>
                    <a:pt x="80" y="218"/>
                    <a:pt x="79" y="218"/>
                    <a:pt x="80" y="219"/>
                  </a:cubicBezTo>
                  <a:cubicBezTo>
                    <a:pt x="80" y="220"/>
                    <a:pt x="81" y="222"/>
                    <a:pt x="81" y="223"/>
                  </a:cubicBezTo>
                  <a:cubicBezTo>
                    <a:pt x="81" y="223"/>
                    <a:pt x="80" y="224"/>
                    <a:pt x="78" y="224"/>
                  </a:cubicBezTo>
                  <a:cubicBezTo>
                    <a:pt x="76" y="224"/>
                    <a:pt x="74" y="222"/>
                    <a:pt x="71" y="223"/>
                  </a:cubicBezTo>
                  <a:cubicBezTo>
                    <a:pt x="68" y="223"/>
                    <a:pt x="67" y="224"/>
                    <a:pt x="68" y="224"/>
                  </a:cubicBezTo>
                  <a:cubicBezTo>
                    <a:pt x="68" y="224"/>
                    <a:pt x="68" y="226"/>
                    <a:pt x="68" y="227"/>
                  </a:cubicBezTo>
                  <a:cubicBezTo>
                    <a:pt x="69" y="228"/>
                    <a:pt x="76" y="230"/>
                    <a:pt x="77" y="231"/>
                  </a:cubicBezTo>
                  <a:cubicBezTo>
                    <a:pt x="78" y="231"/>
                    <a:pt x="77" y="232"/>
                    <a:pt x="77" y="233"/>
                  </a:cubicBezTo>
                  <a:cubicBezTo>
                    <a:pt x="78" y="234"/>
                    <a:pt x="80" y="235"/>
                    <a:pt x="81" y="240"/>
                  </a:cubicBezTo>
                  <a:cubicBezTo>
                    <a:pt x="82" y="244"/>
                    <a:pt x="80" y="245"/>
                    <a:pt x="80" y="247"/>
                  </a:cubicBezTo>
                  <a:cubicBezTo>
                    <a:pt x="80" y="247"/>
                    <a:pt x="80" y="248"/>
                    <a:pt x="80" y="248"/>
                  </a:cubicBezTo>
                  <a:cubicBezTo>
                    <a:pt x="80" y="248"/>
                    <a:pt x="80" y="248"/>
                    <a:pt x="80" y="249"/>
                  </a:cubicBezTo>
                  <a:cubicBezTo>
                    <a:pt x="79" y="249"/>
                    <a:pt x="79" y="249"/>
                    <a:pt x="79" y="249"/>
                  </a:cubicBezTo>
                  <a:cubicBezTo>
                    <a:pt x="79" y="249"/>
                    <a:pt x="79" y="250"/>
                    <a:pt x="79" y="250"/>
                  </a:cubicBezTo>
                  <a:cubicBezTo>
                    <a:pt x="79" y="250"/>
                    <a:pt x="79" y="250"/>
                    <a:pt x="79" y="250"/>
                  </a:cubicBezTo>
                  <a:cubicBezTo>
                    <a:pt x="79" y="250"/>
                    <a:pt x="78" y="250"/>
                    <a:pt x="78" y="251"/>
                  </a:cubicBezTo>
                  <a:cubicBezTo>
                    <a:pt x="78" y="251"/>
                    <a:pt x="78" y="251"/>
                    <a:pt x="77" y="251"/>
                  </a:cubicBezTo>
                  <a:cubicBezTo>
                    <a:pt x="75" y="252"/>
                    <a:pt x="70" y="250"/>
                    <a:pt x="68" y="250"/>
                  </a:cubicBezTo>
                  <a:cubicBezTo>
                    <a:pt x="65" y="250"/>
                    <a:pt x="59" y="250"/>
                    <a:pt x="57" y="250"/>
                  </a:cubicBezTo>
                  <a:cubicBezTo>
                    <a:pt x="55" y="250"/>
                    <a:pt x="53" y="250"/>
                    <a:pt x="52" y="251"/>
                  </a:cubicBezTo>
                  <a:cubicBezTo>
                    <a:pt x="51" y="252"/>
                    <a:pt x="49" y="251"/>
                    <a:pt x="47" y="252"/>
                  </a:cubicBezTo>
                  <a:cubicBezTo>
                    <a:pt x="46" y="254"/>
                    <a:pt x="47" y="254"/>
                    <a:pt x="48" y="256"/>
                  </a:cubicBezTo>
                  <a:cubicBezTo>
                    <a:pt x="48" y="256"/>
                    <a:pt x="48" y="257"/>
                    <a:pt x="48" y="257"/>
                  </a:cubicBezTo>
                  <a:cubicBezTo>
                    <a:pt x="48" y="257"/>
                    <a:pt x="48" y="258"/>
                    <a:pt x="48" y="258"/>
                  </a:cubicBezTo>
                  <a:cubicBezTo>
                    <a:pt x="48" y="258"/>
                    <a:pt x="48" y="258"/>
                    <a:pt x="48" y="259"/>
                  </a:cubicBezTo>
                  <a:cubicBezTo>
                    <a:pt x="48" y="259"/>
                    <a:pt x="48" y="259"/>
                    <a:pt x="48" y="259"/>
                  </a:cubicBezTo>
                  <a:cubicBezTo>
                    <a:pt x="48" y="259"/>
                    <a:pt x="48" y="259"/>
                    <a:pt x="48" y="260"/>
                  </a:cubicBezTo>
                  <a:cubicBezTo>
                    <a:pt x="48" y="260"/>
                    <a:pt x="48" y="260"/>
                    <a:pt x="48" y="260"/>
                  </a:cubicBezTo>
                  <a:cubicBezTo>
                    <a:pt x="48" y="261"/>
                    <a:pt x="48" y="261"/>
                    <a:pt x="48" y="261"/>
                  </a:cubicBezTo>
                  <a:cubicBezTo>
                    <a:pt x="48" y="261"/>
                    <a:pt x="48" y="262"/>
                    <a:pt x="49" y="263"/>
                  </a:cubicBezTo>
                  <a:cubicBezTo>
                    <a:pt x="49" y="263"/>
                    <a:pt x="49" y="263"/>
                    <a:pt x="49" y="263"/>
                  </a:cubicBezTo>
                  <a:cubicBezTo>
                    <a:pt x="49" y="263"/>
                    <a:pt x="49" y="263"/>
                    <a:pt x="49" y="263"/>
                  </a:cubicBezTo>
                  <a:cubicBezTo>
                    <a:pt x="49" y="264"/>
                    <a:pt x="49" y="264"/>
                    <a:pt x="49" y="264"/>
                  </a:cubicBezTo>
                  <a:cubicBezTo>
                    <a:pt x="49" y="264"/>
                    <a:pt x="49" y="264"/>
                    <a:pt x="49" y="264"/>
                  </a:cubicBezTo>
                  <a:cubicBezTo>
                    <a:pt x="49" y="265"/>
                    <a:pt x="49" y="265"/>
                    <a:pt x="49" y="265"/>
                  </a:cubicBezTo>
                  <a:cubicBezTo>
                    <a:pt x="49" y="267"/>
                    <a:pt x="46" y="271"/>
                    <a:pt x="45" y="273"/>
                  </a:cubicBezTo>
                  <a:cubicBezTo>
                    <a:pt x="44" y="275"/>
                    <a:pt x="45" y="274"/>
                    <a:pt x="46" y="275"/>
                  </a:cubicBezTo>
                  <a:cubicBezTo>
                    <a:pt x="47" y="275"/>
                    <a:pt x="47" y="278"/>
                    <a:pt x="47" y="279"/>
                  </a:cubicBezTo>
                  <a:cubicBezTo>
                    <a:pt x="46" y="281"/>
                    <a:pt x="46" y="282"/>
                    <a:pt x="48" y="282"/>
                  </a:cubicBezTo>
                  <a:cubicBezTo>
                    <a:pt x="49" y="282"/>
                    <a:pt x="49" y="282"/>
                    <a:pt x="50" y="282"/>
                  </a:cubicBezTo>
                  <a:cubicBezTo>
                    <a:pt x="50" y="282"/>
                    <a:pt x="50" y="282"/>
                    <a:pt x="50" y="282"/>
                  </a:cubicBezTo>
                  <a:cubicBezTo>
                    <a:pt x="50" y="282"/>
                    <a:pt x="50" y="282"/>
                    <a:pt x="51" y="282"/>
                  </a:cubicBezTo>
                  <a:cubicBezTo>
                    <a:pt x="51" y="282"/>
                    <a:pt x="51" y="282"/>
                    <a:pt x="51" y="282"/>
                  </a:cubicBezTo>
                  <a:cubicBezTo>
                    <a:pt x="51" y="282"/>
                    <a:pt x="51" y="282"/>
                    <a:pt x="52" y="281"/>
                  </a:cubicBezTo>
                  <a:cubicBezTo>
                    <a:pt x="52" y="281"/>
                    <a:pt x="52" y="281"/>
                    <a:pt x="52" y="281"/>
                  </a:cubicBezTo>
                  <a:cubicBezTo>
                    <a:pt x="54" y="281"/>
                    <a:pt x="57" y="286"/>
                    <a:pt x="58" y="286"/>
                  </a:cubicBezTo>
                  <a:cubicBezTo>
                    <a:pt x="58" y="287"/>
                    <a:pt x="59" y="287"/>
                    <a:pt x="60" y="287"/>
                  </a:cubicBezTo>
                  <a:cubicBezTo>
                    <a:pt x="61" y="286"/>
                    <a:pt x="62" y="285"/>
                    <a:pt x="64" y="285"/>
                  </a:cubicBezTo>
                  <a:cubicBezTo>
                    <a:pt x="67" y="284"/>
                    <a:pt x="65" y="284"/>
                    <a:pt x="67" y="284"/>
                  </a:cubicBezTo>
                  <a:cubicBezTo>
                    <a:pt x="69" y="284"/>
                    <a:pt x="77" y="281"/>
                    <a:pt x="79" y="280"/>
                  </a:cubicBezTo>
                  <a:cubicBezTo>
                    <a:pt x="80" y="279"/>
                    <a:pt x="81" y="279"/>
                    <a:pt x="81" y="278"/>
                  </a:cubicBezTo>
                  <a:cubicBezTo>
                    <a:pt x="81" y="277"/>
                    <a:pt x="83" y="275"/>
                    <a:pt x="84" y="274"/>
                  </a:cubicBezTo>
                  <a:cubicBezTo>
                    <a:pt x="84" y="273"/>
                    <a:pt x="83" y="272"/>
                    <a:pt x="83" y="270"/>
                  </a:cubicBezTo>
                  <a:cubicBezTo>
                    <a:pt x="83" y="268"/>
                    <a:pt x="86" y="265"/>
                    <a:pt x="86" y="264"/>
                  </a:cubicBezTo>
                  <a:cubicBezTo>
                    <a:pt x="86" y="264"/>
                    <a:pt x="88" y="263"/>
                    <a:pt x="90" y="262"/>
                  </a:cubicBezTo>
                  <a:cubicBezTo>
                    <a:pt x="92" y="261"/>
                    <a:pt x="91" y="262"/>
                    <a:pt x="92" y="262"/>
                  </a:cubicBezTo>
                  <a:cubicBezTo>
                    <a:pt x="92" y="262"/>
                    <a:pt x="96" y="260"/>
                    <a:pt x="97" y="258"/>
                  </a:cubicBezTo>
                  <a:cubicBezTo>
                    <a:pt x="97" y="258"/>
                    <a:pt x="97" y="258"/>
                    <a:pt x="97" y="258"/>
                  </a:cubicBezTo>
                  <a:cubicBezTo>
                    <a:pt x="97" y="258"/>
                    <a:pt x="97" y="258"/>
                    <a:pt x="97" y="258"/>
                  </a:cubicBezTo>
                  <a:cubicBezTo>
                    <a:pt x="97" y="258"/>
                    <a:pt x="97" y="258"/>
                    <a:pt x="97" y="258"/>
                  </a:cubicBezTo>
                  <a:cubicBezTo>
                    <a:pt x="97" y="257"/>
                    <a:pt x="97" y="257"/>
                    <a:pt x="97" y="257"/>
                  </a:cubicBezTo>
                  <a:cubicBezTo>
                    <a:pt x="97" y="257"/>
                    <a:pt x="97" y="257"/>
                    <a:pt x="97" y="257"/>
                  </a:cubicBezTo>
                  <a:cubicBezTo>
                    <a:pt x="97" y="257"/>
                    <a:pt x="97" y="257"/>
                    <a:pt x="97" y="257"/>
                  </a:cubicBezTo>
                  <a:cubicBezTo>
                    <a:pt x="97" y="256"/>
                    <a:pt x="97" y="256"/>
                    <a:pt x="97" y="255"/>
                  </a:cubicBezTo>
                  <a:cubicBezTo>
                    <a:pt x="97" y="255"/>
                    <a:pt x="97" y="255"/>
                    <a:pt x="97" y="255"/>
                  </a:cubicBezTo>
                  <a:cubicBezTo>
                    <a:pt x="97" y="254"/>
                    <a:pt x="101" y="250"/>
                    <a:pt x="102" y="250"/>
                  </a:cubicBezTo>
                  <a:cubicBezTo>
                    <a:pt x="103" y="250"/>
                    <a:pt x="107" y="252"/>
                    <a:pt x="110" y="252"/>
                  </a:cubicBezTo>
                  <a:cubicBezTo>
                    <a:pt x="110" y="252"/>
                    <a:pt x="111" y="252"/>
                    <a:pt x="111" y="252"/>
                  </a:cubicBezTo>
                  <a:cubicBezTo>
                    <a:pt x="112" y="251"/>
                    <a:pt x="112" y="251"/>
                    <a:pt x="112" y="251"/>
                  </a:cubicBezTo>
                  <a:cubicBezTo>
                    <a:pt x="112" y="251"/>
                    <a:pt x="113" y="251"/>
                    <a:pt x="113" y="251"/>
                  </a:cubicBezTo>
                  <a:cubicBezTo>
                    <a:pt x="113" y="251"/>
                    <a:pt x="113" y="251"/>
                    <a:pt x="113" y="251"/>
                  </a:cubicBezTo>
                  <a:cubicBezTo>
                    <a:pt x="113" y="251"/>
                    <a:pt x="114" y="250"/>
                    <a:pt x="114" y="250"/>
                  </a:cubicBezTo>
                  <a:cubicBezTo>
                    <a:pt x="114" y="250"/>
                    <a:pt x="114" y="250"/>
                    <a:pt x="114" y="250"/>
                  </a:cubicBezTo>
                  <a:cubicBezTo>
                    <a:pt x="115" y="250"/>
                    <a:pt x="115" y="250"/>
                    <a:pt x="115" y="250"/>
                  </a:cubicBezTo>
                  <a:cubicBezTo>
                    <a:pt x="115" y="250"/>
                    <a:pt x="115" y="250"/>
                    <a:pt x="115" y="249"/>
                  </a:cubicBezTo>
                  <a:cubicBezTo>
                    <a:pt x="115" y="249"/>
                    <a:pt x="116" y="249"/>
                    <a:pt x="116" y="249"/>
                  </a:cubicBezTo>
                  <a:cubicBezTo>
                    <a:pt x="117" y="248"/>
                    <a:pt x="117" y="248"/>
                    <a:pt x="117" y="248"/>
                  </a:cubicBezTo>
                  <a:cubicBezTo>
                    <a:pt x="117" y="248"/>
                    <a:pt x="118" y="248"/>
                    <a:pt x="118" y="247"/>
                  </a:cubicBezTo>
                  <a:cubicBezTo>
                    <a:pt x="118" y="247"/>
                    <a:pt x="118" y="247"/>
                    <a:pt x="118" y="247"/>
                  </a:cubicBezTo>
                  <a:cubicBezTo>
                    <a:pt x="119" y="247"/>
                    <a:pt x="119" y="246"/>
                    <a:pt x="120" y="246"/>
                  </a:cubicBezTo>
                  <a:cubicBezTo>
                    <a:pt x="120" y="246"/>
                    <a:pt x="120" y="245"/>
                    <a:pt x="120" y="245"/>
                  </a:cubicBezTo>
                  <a:cubicBezTo>
                    <a:pt x="121" y="245"/>
                    <a:pt x="124" y="246"/>
                    <a:pt x="126" y="247"/>
                  </a:cubicBezTo>
                  <a:cubicBezTo>
                    <a:pt x="127" y="248"/>
                    <a:pt x="127" y="249"/>
                    <a:pt x="129" y="252"/>
                  </a:cubicBezTo>
                  <a:cubicBezTo>
                    <a:pt x="130" y="254"/>
                    <a:pt x="134" y="257"/>
                    <a:pt x="135" y="258"/>
                  </a:cubicBezTo>
                  <a:cubicBezTo>
                    <a:pt x="135" y="259"/>
                    <a:pt x="143" y="263"/>
                    <a:pt x="144" y="264"/>
                  </a:cubicBezTo>
                  <a:cubicBezTo>
                    <a:pt x="145" y="265"/>
                    <a:pt x="146" y="267"/>
                    <a:pt x="147" y="268"/>
                  </a:cubicBezTo>
                  <a:cubicBezTo>
                    <a:pt x="148" y="268"/>
                    <a:pt x="149" y="269"/>
                    <a:pt x="149" y="270"/>
                  </a:cubicBezTo>
                  <a:cubicBezTo>
                    <a:pt x="150" y="271"/>
                    <a:pt x="151" y="272"/>
                    <a:pt x="151" y="274"/>
                  </a:cubicBezTo>
                  <a:cubicBezTo>
                    <a:pt x="150" y="275"/>
                    <a:pt x="148" y="278"/>
                    <a:pt x="149" y="278"/>
                  </a:cubicBezTo>
                  <a:cubicBezTo>
                    <a:pt x="150" y="279"/>
                    <a:pt x="151" y="276"/>
                    <a:pt x="152" y="275"/>
                  </a:cubicBezTo>
                  <a:cubicBezTo>
                    <a:pt x="152" y="275"/>
                    <a:pt x="153" y="272"/>
                    <a:pt x="154" y="271"/>
                  </a:cubicBezTo>
                  <a:cubicBezTo>
                    <a:pt x="154" y="270"/>
                    <a:pt x="152" y="269"/>
                    <a:pt x="152" y="269"/>
                  </a:cubicBezTo>
                  <a:cubicBezTo>
                    <a:pt x="151" y="268"/>
                    <a:pt x="153" y="266"/>
                    <a:pt x="154" y="266"/>
                  </a:cubicBezTo>
                  <a:cubicBezTo>
                    <a:pt x="154" y="266"/>
                    <a:pt x="156" y="266"/>
                    <a:pt x="157" y="267"/>
                  </a:cubicBezTo>
                  <a:cubicBezTo>
                    <a:pt x="158" y="268"/>
                    <a:pt x="159" y="268"/>
                    <a:pt x="160" y="267"/>
                  </a:cubicBezTo>
                  <a:cubicBezTo>
                    <a:pt x="160" y="266"/>
                    <a:pt x="158" y="264"/>
                    <a:pt x="157" y="263"/>
                  </a:cubicBezTo>
                  <a:cubicBezTo>
                    <a:pt x="155" y="262"/>
                    <a:pt x="152" y="261"/>
                    <a:pt x="150" y="261"/>
                  </a:cubicBezTo>
                  <a:cubicBezTo>
                    <a:pt x="149" y="260"/>
                    <a:pt x="150" y="259"/>
                    <a:pt x="150" y="258"/>
                  </a:cubicBezTo>
                  <a:cubicBezTo>
                    <a:pt x="150" y="257"/>
                    <a:pt x="148" y="258"/>
                    <a:pt x="147" y="258"/>
                  </a:cubicBezTo>
                  <a:cubicBezTo>
                    <a:pt x="146" y="258"/>
                    <a:pt x="145" y="257"/>
                    <a:pt x="144" y="256"/>
                  </a:cubicBezTo>
                  <a:cubicBezTo>
                    <a:pt x="143" y="255"/>
                    <a:pt x="141" y="251"/>
                    <a:pt x="141" y="250"/>
                  </a:cubicBezTo>
                  <a:cubicBezTo>
                    <a:pt x="140" y="249"/>
                    <a:pt x="139" y="248"/>
                    <a:pt x="138" y="248"/>
                  </a:cubicBezTo>
                  <a:cubicBezTo>
                    <a:pt x="137" y="248"/>
                    <a:pt x="136" y="246"/>
                    <a:pt x="135" y="245"/>
                  </a:cubicBezTo>
                  <a:cubicBezTo>
                    <a:pt x="134" y="245"/>
                    <a:pt x="136" y="244"/>
                    <a:pt x="136" y="243"/>
                  </a:cubicBezTo>
                  <a:cubicBezTo>
                    <a:pt x="137" y="242"/>
                    <a:pt x="136" y="242"/>
                    <a:pt x="135" y="242"/>
                  </a:cubicBezTo>
                  <a:cubicBezTo>
                    <a:pt x="135" y="241"/>
                    <a:pt x="135" y="241"/>
                    <a:pt x="136" y="240"/>
                  </a:cubicBezTo>
                  <a:cubicBezTo>
                    <a:pt x="137" y="240"/>
                    <a:pt x="139" y="239"/>
                    <a:pt x="140" y="239"/>
                  </a:cubicBezTo>
                  <a:cubicBezTo>
                    <a:pt x="140" y="239"/>
                    <a:pt x="140" y="239"/>
                    <a:pt x="140" y="239"/>
                  </a:cubicBezTo>
                  <a:cubicBezTo>
                    <a:pt x="140" y="239"/>
                    <a:pt x="140" y="239"/>
                    <a:pt x="140" y="239"/>
                  </a:cubicBezTo>
                  <a:cubicBezTo>
                    <a:pt x="140" y="239"/>
                    <a:pt x="140" y="239"/>
                    <a:pt x="140" y="239"/>
                  </a:cubicBezTo>
                  <a:cubicBezTo>
                    <a:pt x="140" y="239"/>
                    <a:pt x="140" y="239"/>
                    <a:pt x="140" y="239"/>
                  </a:cubicBezTo>
                  <a:cubicBezTo>
                    <a:pt x="140" y="239"/>
                    <a:pt x="140" y="239"/>
                    <a:pt x="140" y="239"/>
                  </a:cubicBezTo>
                  <a:cubicBezTo>
                    <a:pt x="141" y="240"/>
                    <a:pt x="141" y="240"/>
                    <a:pt x="141" y="241"/>
                  </a:cubicBezTo>
                  <a:cubicBezTo>
                    <a:pt x="141" y="241"/>
                    <a:pt x="141" y="241"/>
                    <a:pt x="141" y="241"/>
                  </a:cubicBezTo>
                  <a:cubicBezTo>
                    <a:pt x="141" y="241"/>
                    <a:pt x="141" y="241"/>
                    <a:pt x="141" y="242"/>
                  </a:cubicBezTo>
                  <a:cubicBezTo>
                    <a:pt x="141" y="242"/>
                    <a:pt x="141" y="242"/>
                    <a:pt x="141" y="242"/>
                  </a:cubicBezTo>
                  <a:cubicBezTo>
                    <a:pt x="141" y="242"/>
                    <a:pt x="142" y="242"/>
                    <a:pt x="142" y="243"/>
                  </a:cubicBezTo>
                  <a:cubicBezTo>
                    <a:pt x="143" y="244"/>
                    <a:pt x="143" y="242"/>
                    <a:pt x="144" y="242"/>
                  </a:cubicBezTo>
                  <a:cubicBezTo>
                    <a:pt x="145" y="241"/>
                    <a:pt x="144" y="243"/>
                    <a:pt x="144" y="244"/>
                  </a:cubicBezTo>
                  <a:cubicBezTo>
                    <a:pt x="144" y="246"/>
                    <a:pt x="145" y="245"/>
                    <a:pt x="146" y="246"/>
                  </a:cubicBezTo>
                  <a:cubicBezTo>
                    <a:pt x="148" y="247"/>
                    <a:pt x="147" y="247"/>
                    <a:pt x="147" y="248"/>
                  </a:cubicBezTo>
                  <a:cubicBezTo>
                    <a:pt x="148" y="250"/>
                    <a:pt x="151" y="250"/>
                    <a:pt x="152" y="251"/>
                  </a:cubicBezTo>
                  <a:cubicBezTo>
                    <a:pt x="153" y="251"/>
                    <a:pt x="154" y="252"/>
                    <a:pt x="155" y="253"/>
                  </a:cubicBezTo>
                  <a:cubicBezTo>
                    <a:pt x="155" y="253"/>
                    <a:pt x="155" y="253"/>
                    <a:pt x="155" y="253"/>
                  </a:cubicBezTo>
                  <a:cubicBezTo>
                    <a:pt x="155" y="253"/>
                    <a:pt x="155" y="253"/>
                    <a:pt x="155" y="253"/>
                  </a:cubicBezTo>
                  <a:cubicBezTo>
                    <a:pt x="155" y="253"/>
                    <a:pt x="155" y="253"/>
                    <a:pt x="155" y="253"/>
                  </a:cubicBezTo>
                  <a:cubicBezTo>
                    <a:pt x="156" y="253"/>
                    <a:pt x="156" y="253"/>
                    <a:pt x="156" y="253"/>
                  </a:cubicBezTo>
                  <a:cubicBezTo>
                    <a:pt x="157" y="253"/>
                    <a:pt x="157" y="253"/>
                    <a:pt x="157" y="254"/>
                  </a:cubicBezTo>
                  <a:cubicBezTo>
                    <a:pt x="158" y="254"/>
                    <a:pt x="158" y="254"/>
                    <a:pt x="159" y="254"/>
                  </a:cubicBezTo>
                  <a:cubicBezTo>
                    <a:pt x="159" y="255"/>
                    <a:pt x="159" y="255"/>
                    <a:pt x="160" y="255"/>
                  </a:cubicBezTo>
                  <a:cubicBezTo>
                    <a:pt x="160" y="255"/>
                    <a:pt x="160" y="255"/>
                    <a:pt x="160" y="256"/>
                  </a:cubicBezTo>
                  <a:cubicBezTo>
                    <a:pt x="160" y="256"/>
                    <a:pt x="161" y="256"/>
                    <a:pt x="161" y="257"/>
                  </a:cubicBezTo>
                  <a:cubicBezTo>
                    <a:pt x="161" y="257"/>
                    <a:pt x="161" y="257"/>
                    <a:pt x="162" y="257"/>
                  </a:cubicBezTo>
                  <a:cubicBezTo>
                    <a:pt x="162" y="257"/>
                    <a:pt x="162" y="257"/>
                    <a:pt x="162" y="257"/>
                  </a:cubicBezTo>
                  <a:cubicBezTo>
                    <a:pt x="162" y="258"/>
                    <a:pt x="162" y="258"/>
                    <a:pt x="163" y="258"/>
                  </a:cubicBezTo>
                  <a:cubicBezTo>
                    <a:pt x="163" y="258"/>
                    <a:pt x="163" y="258"/>
                    <a:pt x="163" y="258"/>
                  </a:cubicBezTo>
                  <a:cubicBezTo>
                    <a:pt x="163" y="258"/>
                    <a:pt x="163" y="258"/>
                    <a:pt x="163" y="258"/>
                  </a:cubicBezTo>
                  <a:cubicBezTo>
                    <a:pt x="164" y="259"/>
                    <a:pt x="164" y="259"/>
                    <a:pt x="164" y="259"/>
                  </a:cubicBezTo>
                  <a:cubicBezTo>
                    <a:pt x="164" y="260"/>
                    <a:pt x="163" y="264"/>
                    <a:pt x="164" y="267"/>
                  </a:cubicBezTo>
                  <a:cubicBezTo>
                    <a:pt x="164" y="267"/>
                    <a:pt x="164" y="268"/>
                    <a:pt x="164" y="268"/>
                  </a:cubicBezTo>
                  <a:cubicBezTo>
                    <a:pt x="164" y="268"/>
                    <a:pt x="164" y="268"/>
                    <a:pt x="164" y="268"/>
                  </a:cubicBezTo>
                  <a:cubicBezTo>
                    <a:pt x="165" y="268"/>
                    <a:pt x="165" y="269"/>
                    <a:pt x="165" y="269"/>
                  </a:cubicBezTo>
                  <a:cubicBezTo>
                    <a:pt x="165" y="269"/>
                    <a:pt x="165" y="269"/>
                    <a:pt x="165" y="269"/>
                  </a:cubicBezTo>
                  <a:cubicBezTo>
                    <a:pt x="165" y="269"/>
                    <a:pt x="165" y="269"/>
                    <a:pt x="165" y="269"/>
                  </a:cubicBezTo>
                  <a:cubicBezTo>
                    <a:pt x="165" y="269"/>
                    <a:pt x="165" y="270"/>
                    <a:pt x="165" y="270"/>
                  </a:cubicBezTo>
                  <a:cubicBezTo>
                    <a:pt x="165" y="270"/>
                    <a:pt x="165" y="270"/>
                    <a:pt x="165" y="270"/>
                  </a:cubicBezTo>
                  <a:cubicBezTo>
                    <a:pt x="165" y="270"/>
                    <a:pt x="165" y="270"/>
                    <a:pt x="165" y="270"/>
                  </a:cubicBezTo>
                  <a:cubicBezTo>
                    <a:pt x="165" y="270"/>
                    <a:pt x="165" y="270"/>
                    <a:pt x="165" y="270"/>
                  </a:cubicBezTo>
                  <a:cubicBezTo>
                    <a:pt x="166" y="270"/>
                    <a:pt x="166" y="271"/>
                    <a:pt x="166" y="271"/>
                  </a:cubicBezTo>
                  <a:cubicBezTo>
                    <a:pt x="166" y="273"/>
                    <a:pt x="167" y="271"/>
                    <a:pt x="168" y="271"/>
                  </a:cubicBezTo>
                  <a:cubicBezTo>
                    <a:pt x="168" y="272"/>
                    <a:pt x="169" y="271"/>
                    <a:pt x="170" y="273"/>
                  </a:cubicBezTo>
                  <a:cubicBezTo>
                    <a:pt x="171" y="274"/>
                    <a:pt x="169" y="274"/>
                    <a:pt x="170" y="275"/>
                  </a:cubicBezTo>
                  <a:cubicBezTo>
                    <a:pt x="172" y="275"/>
                    <a:pt x="177" y="275"/>
                    <a:pt x="178" y="275"/>
                  </a:cubicBezTo>
                  <a:cubicBezTo>
                    <a:pt x="179" y="275"/>
                    <a:pt x="179" y="276"/>
                    <a:pt x="178" y="277"/>
                  </a:cubicBezTo>
                  <a:cubicBezTo>
                    <a:pt x="177" y="278"/>
                    <a:pt x="174" y="276"/>
                    <a:pt x="173" y="276"/>
                  </a:cubicBezTo>
                  <a:cubicBezTo>
                    <a:pt x="172" y="276"/>
                    <a:pt x="172" y="276"/>
                    <a:pt x="171" y="277"/>
                  </a:cubicBezTo>
                  <a:cubicBezTo>
                    <a:pt x="170" y="278"/>
                    <a:pt x="173" y="279"/>
                    <a:pt x="173" y="281"/>
                  </a:cubicBezTo>
                  <a:cubicBezTo>
                    <a:pt x="173" y="282"/>
                    <a:pt x="173" y="282"/>
                    <a:pt x="174" y="282"/>
                  </a:cubicBezTo>
                  <a:cubicBezTo>
                    <a:pt x="175" y="282"/>
                    <a:pt x="175" y="283"/>
                    <a:pt x="176" y="284"/>
                  </a:cubicBezTo>
                  <a:cubicBezTo>
                    <a:pt x="176" y="285"/>
                    <a:pt x="177" y="283"/>
                    <a:pt x="178" y="283"/>
                  </a:cubicBezTo>
                  <a:cubicBezTo>
                    <a:pt x="178" y="283"/>
                    <a:pt x="179" y="282"/>
                    <a:pt x="179" y="280"/>
                  </a:cubicBezTo>
                  <a:cubicBezTo>
                    <a:pt x="179" y="279"/>
                    <a:pt x="179" y="279"/>
                    <a:pt x="180" y="279"/>
                  </a:cubicBezTo>
                  <a:cubicBezTo>
                    <a:pt x="180" y="279"/>
                    <a:pt x="180" y="278"/>
                    <a:pt x="180" y="277"/>
                  </a:cubicBezTo>
                  <a:cubicBezTo>
                    <a:pt x="180" y="276"/>
                    <a:pt x="181" y="277"/>
                    <a:pt x="181" y="277"/>
                  </a:cubicBezTo>
                  <a:cubicBezTo>
                    <a:pt x="182" y="278"/>
                    <a:pt x="182" y="277"/>
                    <a:pt x="182" y="276"/>
                  </a:cubicBezTo>
                  <a:cubicBezTo>
                    <a:pt x="182" y="276"/>
                    <a:pt x="184" y="277"/>
                    <a:pt x="185" y="277"/>
                  </a:cubicBezTo>
                  <a:cubicBezTo>
                    <a:pt x="185" y="277"/>
                    <a:pt x="185" y="277"/>
                    <a:pt x="185" y="276"/>
                  </a:cubicBezTo>
                  <a:cubicBezTo>
                    <a:pt x="184" y="275"/>
                    <a:pt x="184" y="274"/>
                    <a:pt x="183" y="274"/>
                  </a:cubicBezTo>
                  <a:cubicBezTo>
                    <a:pt x="181" y="274"/>
                    <a:pt x="180" y="271"/>
                    <a:pt x="179" y="270"/>
                  </a:cubicBezTo>
                  <a:cubicBezTo>
                    <a:pt x="178" y="268"/>
                    <a:pt x="177" y="266"/>
                    <a:pt x="178" y="265"/>
                  </a:cubicBezTo>
                  <a:cubicBezTo>
                    <a:pt x="178" y="265"/>
                    <a:pt x="179" y="266"/>
                    <a:pt x="181" y="266"/>
                  </a:cubicBezTo>
                  <a:cubicBezTo>
                    <a:pt x="182" y="267"/>
                    <a:pt x="182" y="265"/>
                    <a:pt x="182" y="264"/>
                  </a:cubicBezTo>
                  <a:cubicBezTo>
                    <a:pt x="181" y="263"/>
                    <a:pt x="184" y="264"/>
                    <a:pt x="185" y="264"/>
                  </a:cubicBezTo>
                  <a:cubicBezTo>
                    <a:pt x="187" y="264"/>
                    <a:pt x="187" y="263"/>
                    <a:pt x="189" y="263"/>
                  </a:cubicBezTo>
                  <a:cubicBezTo>
                    <a:pt x="189" y="263"/>
                    <a:pt x="189" y="263"/>
                    <a:pt x="189" y="263"/>
                  </a:cubicBezTo>
                  <a:cubicBezTo>
                    <a:pt x="189" y="263"/>
                    <a:pt x="189" y="263"/>
                    <a:pt x="190" y="263"/>
                  </a:cubicBezTo>
                  <a:cubicBezTo>
                    <a:pt x="190" y="263"/>
                    <a:pt x="190" y="263"/>
                    <a:pt x="190" y="263"/>
                  </a:cubicBezTo>
                  <a:cubicBezTo>
                    <a:pt x="190" y="263"/>
                    <a:pt x="191" y="263"/>
                    <a:pt x="191" y="263"/>
                  </a:cubicBezTo>
                  <a:cubicBezTo>
                    <a:pt x="191" y="263"/>
                    <a:pt x="191" y="263"/>
                    <a:pt x="191" y="263"/>
                  </a:cubicBezTo>
                  <a:cubicBezTo>
                    <a:pt x="191" y="264"/>
                    <a:pt x="192" y="264"/>
                    <a:pt x="192" y="264"/>
                  </a:cubicBezTo>
                  <a:cubicBezTo>
                    <a:pt x="192" y="264"/>
                    <a:pt x="192" y="264"/>
                    <a:pt x="192" y="264"/>
                  </a:cubicBezTo>
                  <a:cubicBezTo>
                    <a:pt x="192" y="264"/>
                    <a:pt x="192" y="264"/>
                    <a:pt x="192" y="264"/>
                  </a:cubicBezTo>
                  <a:cubicBezTo>
                    <a:pt x="193" y="264"/>
                    <a:pt x="193" y="264"/>
                    <a:pt x="193" y="264"/>
                  </a:cubicBezTo>
                  <a:cubicBezTo>
                    <a:pt x="195" y="264"/>
                    <a:pt x="195" y="264"/>
                    <a:pt x="196" y="263"/>
                  </a:cubicBezTo>
                  <a:cubicBezTo>
                    <a:pt x="198" y="263"/>
                    <a:pt x="197" y="264"/>
                    <a:pt x="200" y="262"/>
                  </a:cubicBezTo>
                  <a:cubicBezTo>
                    <a:pt x="202" y="261"/>
                    <a:pt x="201" y="261"/>
                    <a:pt x="200" y="261"/>
                  </a:cubicBezTo>
                  <a:cubicBezTo>
                    <a:pt x="200" y="260"/>
                    <a:pt x="200" y="260"/>
                    <a:pt x="200" y="260"/>
                  </a:cubicBezTo>
                  <a:cubicBezTo>
                    <a:pt x="200" y="260"/>
                    <a:pt x="200" y="260"/>
                    <a:pt x="200" y="260"/>
                  </a:cubicBezTo>
                  <a:cubicBezTo>
                    <a:pt x="200" y="260"/>
                    <a:pt x="200" y="260"/>
                    <a:pt x="200" y="260"/>
                  </a:cubicBezTo>
                  <a:cubicBezTo>
                    <a:pt x="200" y="260"/>
                    <a:pt x="200" y="260"/>
                    <a:pt x="200" y="260"/>
                  </a:cubicBezTo>
                  <a:cubicBezTo>
                    <a:pt x="200" y="260"/>
                    <a:pt x="200" y="260"/>
                    <a:pt x="200" y="259"/>
                  </a:cubicBezTo>
                  <a:cubicBezTo>
                    <a:pt x="200" y="259"/>
                    <a:pt x="200" y="259"/>
                    <a:pt x="200" y="259"/>
                  </a:cubicBezTo>
                  <a:cubicBezTo>
                    <a:pt x="200" y="259"/>
                    <a:pt x="200" y="258"/>
                    <a:pt x="200" y="257"/>
                  </a:cubicBezTo>
                  <a:cubicBezTo>
                    <a:pt x="199" y="255"/>
                    <a:pt x="197" y="255"/>
                    <a:pt x="198" y="254"/>
                  </a:cubicBezTo>
                  <a:cubicBezTo>
                    <a:pt x="198" y="253"/>
                    <a:pt x="199" y="252"/>
                    <a:pt x="199" y="252"/>
                  </a:cubicBezTo>
                  <a:cubicBezTo>
                    <a:pt x="199" y="251"/>
                    <a:pt x="199" y="251"/>
                    <a:pt x="199" y="251"/>
                  </a:cubicBezTo>
                  <a:cubicBezTo>
                    <a:pt x="199" y="251"/>
                    <a:pt x="199" y="251"/>
                    <a:pt x="199" y="251"/>
                  </a:cubicBezTo>
                  <a:cubicBezTo>
                    <a:pt x="199" y="251"/>
                    <a:pt x="199" y="251"/>
                    <a:pt x="200" y="250"/>
                  </a:cubicBezTo>
                  <a:cubicBezTo>
                    <a:pt x="200" y="250"/>
                    <a:pt x="200" y="250"/>
                    <a:pt x="200" y="250"/>
                  </a:cubicBezTo>
                  <a:cubicBezTo>
                    <a:pt x="200" y="250"/>
                    <a:pt x="200" y="250"/>
                    <a:pt x="200" y="250"/>
                  </a:cubicBezTo>
                  <a:cubicBezTo>
                    <a:pt x="201" y="249"/>
                    <a:pt x="202" y="247"/>
                    <a:pt x="202" y="246"/>
                  </a:cubicBezTo>
                  <a:cubicBezTo>
                    <a:pt x="202" y="244"/>
                    <a:pt x="203" y="243"/>
                    <a:pt x="205" y="242"/>
                  </a:cubicBezTo>
                  <a:cubicBezTo>
                    <a:pt x="207" y="242"/>
                    <a:pt x="206" y="240"/>
                    <a:pt x="206" y="239"/>
                  </a:cubicBezTo>
                  <a:cubicBezTo>
                    <a:pt x="206" y="239"/>
                    <a:pt x="206" y="239"/>
                    <a:pt x="206" y="239"/>
                  </a:cubicBezTo>
                  <a:cubicBezTo>
                    <a:pt x="206" y="239"/>
                    <a:pt x="206" y="239"/>
                    <a:pt x="206" y="239"/>
                  </a:cubicBezTo>
                  <a:cubicBezTo>
                    <a:pt x="206" y="239"/>
                    <a:pt x="207" y="239"/>
                    <a:pt x="207" y="239"/>
                  </a:cubicBezTo>
                  <a:cubicBezTo>
                    <a:pt x="207" y="238"/>
                    <a:pt x="208" y="237"/>
                    <a:pt x="208" y="237"/>
                  </a:cubicBezTo>
                  <a:cubicBezTo>
                    <a:pt x="209" y="236"/>
                    <a:pt x="210" y="235"/>
                    <a:pt x="210" y="233"/>
                  </a:cubicBezTo>
                  <a:cubicBezTo>
                    <a:pt x="211" y="232"/>
                    <a:pt x="214" y="233"/>
                    <a:pt x="215" y="233"/>
                  </a:cubicBezTo>
                  <a:cubicBezTo>
                    <a:pt x="216" y="233"/>
                    <a:pt x="216" y="234"/>
                    <a:pt x="216" y="235"/>
                  </a:cubicBezTo>
                  <a:cubicBezTo>
                    <a:pt x="217" y="236"/>
                    <a:pt x="221" y="235"/>
                    <a:pt x="222" y="235"/>
                  </a:cubicBezTo>
                  <a:cubicBezTo>
                    <a:pt x="223" y="235"/>
                    <a:pt x="221" y="237"/>
                    <a:pt x="219" y="237"/>
                  </a:cubicBezTo>
                  <a:cubicBezTo>
                    <a:pt x="217" y="238"/>
                    <a:pt x="217" y="239"/>
                    <a:pt x="218" y="239"/>
                  </a:cubicBezTo>
                  <a:cubicBezTo>
                    <a:pt x="218" y="240"/>
                    <a:pt x="220" y="242"/>
                    <a:pt x="221" y="243"/>
                  </a:cubicBezTo>
                  <a:cubicBezTo>
                    <a:pt x="222" y="244"/>
                    <a:pt x="222" y="245"/>
                    <a:pt x="224" y="245"/>
                  </a:cubicBezTo>
                  <a:cubicBezTo>
                    <a:pt x="225" y="245"/>
                    <a:pt x="225" y="243"/>
                    <a:pt x="226" y="243"/>
                  </a:cubicBezTo>
                  <a:cubicBezTo>
                    <a:pt x="227" y="242"/>
                    <a:pt x="228" y="242"/>
                    <a:pt x="229" y="242"/>
                  </a:cubicBezTo>
                  <a:cubicBezTo>
                    <a:pt x="229" y="241"/>
                    <a:pt x="230" y="243"/>
                    <a:pt x="231" y="243"/>
                  </a:cubicBezTo>
                  <a:cubicBezTo>
                    <a:pt x="232" y="243"/>
                    <a:pt x="232" y="242"/>
                    <a:pt x="233" y="243"/>
                  </a:cubicBezTo>
                  <a:cubicBezTo>
                    <a:pt x="234" y="243"/>
                    <a:pt x="233" y="242"/>
                    <a:pt x="233" y="241"/>
                  </a:cubicBezTo>
                  <a:cubicBezTo>
                    <a:pt x="233" y="240"/>
                    <a:pt x="233" y="240"/>
                    <a:pt x="232" y="239"/>
                  </a:cubicBezTo>
                  <a:cubicBezTo>
                    <a:pt x="231" y="238"/>
                    <a:pt x="230" y="239"/>
                    <a:pt x="229" y="239"/>
                  </a:cubicBezTo>
                  <a:cubicBezTo>
                    <a:pt x="227" y="239"/>
                    <a:pt x="227" y="237"/>
                    <a:pt x="227" y="236"/>
                  </a:cubicBezTo>
                  <a:cubicBezTo>
                    <a:pt x="226" y="236"/>
                    <a:pt x="227" y="235"/>
                    <a:pt x="228" y="235"/>
                  </a:cubicBezTo>
                  <a:cubicBezTo>
                    <a:pt x="229" y="234"/>
                    <a:pt x="230" y="233"/>
                    <a:pt x="231" y="233"/>
                  </a:cubicBezTo>
                  <a:cubicBezTo>
                    <a:pt x="232" y="232"/>
                    <a:pt x="233" y="233"/>
                    <a:pt x="234" y="233"/>
                  </a:cubicBezTo>
                  <a:cubicBezTo>
                    <a:pt x="235" y="232"/>
                    <a:pt x="237" y="231"/>
                    <a:pt x="238" y="231"/>
                  </a:cubicBezTo>
                  <a:cubicBezTo>
                    <a:pt x="238" y="231"/>
                    <a:pt x="239" y="231"/>
                    <a:pt x="239" y="231"/>
                  </a:cubicBezTo>
                  <a:cubicBezTo>
                    <a:pt x="239" y="231"/>
                    <a:pt x="239" y="231"/>
                    <a:pt x="239" y="231"/>
                  </a:cubicBezTo>
                  <a:cubicBezTo>
                    <a:pt x="240" y="231"/>
                    <a:pt x="240" y="231"/>
                    <a:pt x="240" y="231"/>
                  </a:cubicBezTo>
                  <a:cubicBezTo>
                    <a:pt x="240" y="231"/>
                    <a:pt x="240" y="231"/>
                    <a:pt x="241" y="231"/>
                  </a:cubicBezTo>
                  <a:cubicBezTo>
                    <a:pt x="241" y="230"/>
                    <a:pt x="241" y="230"/>
                    <a:pt x="241" y="230"/>
                  </a:cubicBezTo>
                  <a:cubicBezTo>
                    <a:pt x="241" y="230"/>
                    <a:pt x="242" y="230"/>
                    <a:pt x="242" y="230"/>
                  </a:cubicBezTo>
                  <a:cubicBezTo>
                    <a:pt x="242" y="230"/>
                    <a:pt x="242" y="230"/>
                    <a:pt x="242" y="230"/>
                  </a:cubicBezTo>
                  <a:cubicBezTo>
                    <a:pt x="242" y="230"/>
                    <a:pt x="242" y="230"/>
                    <a:pt x="243" y="230"/>
                  </a:cubicBezTo>
                  <a:cubicBezTo>
                    <a:pt x="243" y="230"/>
                    <a:pt x="245" y="230"/>
                    <a:pt x="244" y="230"/>
                  </a:cubicBezTo>
                  <a:cubicBezTo>
                    <a:pt x="244" y="231"/>
                    <a:pt x="242" y="232"/>
                    <a:pt x="241" y="233"/>
                  </a:cubicBezTo>
                  <a:cubicBezTo>
                    <a:pt x="240" y="234"/>
                    <a:pt x="238" y="233"/>
                    <a:pt x="239" y="235"/>
                  </a:cubicBezTo>
                  <a:cubicBezTo>
                    <a:pt x="239" y="236"/>
                    <a:pt x="239" y="239"/>
                    <a:pt x="237" y="240"/>
                  </a:cubicBezTo>
                  <a:cubicBezTo>
                    <a:pt x="236" y="241"/>
                    <a:pt x="236" y="240"/>
                    <a:pt x="235" y="241"/>
                  </a:cubicBezTo>
                  <a:cubicBezTo>
                    <a:pt x="234" y="241"/>
                    <a:pt x="236" y="242"/>
                    <a:pt x="238" y="243"/>
                  </a:cubicBezTo>
                  <a:cubicBezTo>
                    <a:pt x="239" y="244"/>
                    <a:pt x="240" y="244"/>
                    <a:pt x="242" y="244"/>
                  </a:cubicBezTo>
                  <a:cubicBezTo>
                    <a:pt x="243" y="245"/>
                    <a:pt x="246" y="249"/>
                    <a:pt x="247" y="250"/>
                  </a:cubicBezTo>
                  <a:cubicBezTo>
                    <a:pt x="248" y="250"/>
                    <a:pt x="248" y="250"/>
                    <a:pt x="248" y="250"/>
                  </a:cubicBezTo>
                  <a:cubicBezTo>
                    <a:pt x="248" y="251"/>
                    <a:pt x="248" y="251"/>
                    <a:pt x="248" y="251"/>
                  </a:cubicBezTo>
                  <a:cubicBezTo>
                    <a:pt x="248" y="251"/>
                    <a:pt x="248" y="251"/>
                    <a:pt x="248" y="251"/>
                  </a:cubicBezTo>
                  <a:cubicBezTo>
                    <a:pt x="249" y="251"/>
                    <a:pt x="249" y="251"/>
                    <a:pt x="250" y="251"/>
                  </a:cubicBezTo>
                  <a:cubicBezTo>
                    <a:pt x="250" y="251"/>
                    <a:pt x="251" y="251"/>
                    <a:pt x="251" y="251"/>
                  </a:cubicBezTo>
                  <a:cubicBezTo>
                    <a:pt x="253" y="252"/>
                    <a:pt x="253" y="252"/>
                    <a:pt x="254" y="254"/>
                  </a:cubicBezTo>
                  <a:cubicBezTo>
                    <a:pt x="254" y="256"/>
                    <a:pt x="255" y="257"/>
                    <a:pt x="255" y="258"/>
                  </a:cubicBezTo>
                  <a:cubicBezTo>
                    <a:pt x="255" y="259"/>
                    <a:pt x="255" y="259"/>
                    <a:pt x="255" y="259"/>
                  </a:cubicBezTo>
                  <a:cubicBezTo>
                    <a:pt x="255" y="259"/>
                    <a:pt x="255" y="259"/>
                    <a:pt x="255" y="259"/>
                  </a:cubicBezTo>
                  <a:cubicBezTo>
                    <a:pt x="255" y="259"/>
                    <a:pt x="255" y="259"/>
                    <a:pt x="255" y="259"/>
                  </a:cubicBezTo>
                  <a:cubicBezTo>
                    <a:pt x="255" y="260"/>
                    <a:pt x="254" y="260"/>
                    <a:pt x="254" y="260"/>
                  </a:cubicBezTo>
                  <a:cubicBezTo>
                    <a:pt x="254" y="260"/>
                    <a:pt x="254" y="260"/>
                    <a:pt x="254" y="260"/>
                  </a:cubicBezTo>
                  <a:cubicBezTo>
                    <a:pt x="253" y="261"/>
                    <a:pt x="252" y="261"/>
                    <a:pt x="251" y="262"/>
                  </a:cubicBezTo>
                  <a:cubicBezTo>
                    <a:pt x="251" y="262"/>
                    <a:pt x="251" y="262"/>
                    <a:pt x="251" y="262"/>
                  </a:cubicBezTo>
                  <a:cubicBezTo>
                    <a:pt x="251" y="262"/>
                    <a:pt x="250" y="262"/>
                    <a:pt x="250" y="262"/>
                  </a:cubicBezTo>
                  <a:cubicBezTo>
                    <a:pt x="247" y="263"/>
                    <a:pt x="247" y="262"/>
                    <a:pt x="246" y="262"/>
                  </a:cubicBezTo>
                  <a:cubicBezTo>
                    <a:pt x="245" y="262"/>
                    <a:pt x="244" y="263"/>
                    <a:pt x="241" y="263"/>
                  </a:cubicBezTo>
                  <a:cubicBezTo>
                    <a:pt x="239" y="263"/>
                    <a:pt x="235" y="261"/>
                    <a:pt x="234" y="260"/>
                  </a:cubicBezTo>
                  <a:cubicBezTo>
                    <a:pt x="232" y="260"/>
                    <a:pt x="232" y="259"/>
                    <a:pt x="230" y="258"/>
                  </a:cubicBezTo>
                  <a:cubicBezTo>
                    <a:pt x="227" y="258"/>
                    <a:pt x="226" y="257"/>
                    <a:pt x="222" y="257"/>
                  </a:cubicBezTo>
                  <a:cubicBezTo>
                    <a:pt x="217" y="257"/>
                    <a:pt x="217" y="258"/>
                    <a:pt x="214" y="260"/>
                  </a:cubicBezTo>
                  <a:cubicBezTo>
                    <a:pt x="211" y="262"/>
                    <a:pt x="207" y="261"/>
                    <a:pt x="205" y="261"/>
                  </a:cubicBezTo>
                  <a:cubicBezTo>
                    <a:pt x="203" y="261"/>
                    <a:pt x="204" y="262"/>
                    <a:pt x="205" y="263"/>
                  </a:cubicBezTo>
                  <a:cubicBezTo>
                    <a:pt x="206" y="264"/>
                    <a:pt x="205" y="263"/>
                    <a:pt x="203" y="264"/>
                  </a:cubicBezTo>
                  <a:cubicBezTo>
                    <a:pt x="202" y="264"/>
                    <a:pt x="203" y="264"/>
                    <a:pt x="202" y="265"/>
                  </a:cubicBezTo>
                  <a:cubicBezTo>
                    <a:pt x="202" y="265"/>
                    <a:pt x="197" y="265"/>
                    <a:pt x="196" y="265"/>
                  </a:cubicBezTo>
                  <a:cubicBezTo>
                    <a:pt x="194" y="265"/>
                    <a:pt x="194" y="267"/>
                    <a:pt x="193" y="268"/>
                  </a:cubicBezTo>
                  <a:cubicBezTo>
                    <a:pt x="192" y="269"/>
                    <a:pt x="193" y="270"/>
                    <a:pt x="194" y="271"/>
                  </a:cubicBezTo>
                  <a:cubicBezTo>
                    <a:pt x="195" y="272"/>
                    <a:pt x="195" y="273"/>
                    <a:pt x="194" y="274"/>
                  </a:cubicBezTo>
                  <a:cubicBezTo>
                    <a:pt x="193" y="274"/>
                    <a:pt x="191" y="274"/>
                    <a:pt x="190" y="274"/>
                  </a:cubicBezTo>
                  <a:cubicBezTo>
                    <a:pt x="189" y="274"/>
                    <a:pt x="190" y="275"/>
                    <a:pt x="192" y="276"/>
                  </a:cubicBezTo>
                  <a:cubicBezTo>
                    <a:pt x="193" y="277"/>
                    <a:pt x="194" y="276"/>
                    <a:pt x="195" y="276"/>
                  </a:cubicBezTo>
                  <a:cubicBezTo>
                    <a:pt x="196" y="276"/>
                    <a:pt x="196" y="277"/>
                    <a:pt x="195" y="277"/>
                  </a:cubicBezTo>
                  <a:cubicBezTo>
                    <a:pt x="195" y="278"/>
                    <a:pt x="195" y="279"/>
                    <a:pt x="196" y="280"/>
                  </a:cubicBezTo>
                  <a:cubicBezTo>
                    <a:pt x="197" y="280"/>
                    <a:pt x="196" y="281"/>
                    <a:pt x="198" y="281"/>
                  </a:cubicBezTo>
                  <a:cubicBezTo>
                    <a:pt x="199" y="282"/>
                    <a:pt x="200" y="282"/>
                    <a:pt x="201" y="283"/>
                  </a:cubicBezTo>
                  <a:cubicBezTo>
                    <a:pt x="202" y="283"/>
                    <a:pt x="203" y="283"/>
                    <a:pt x="204" y="284"/>
                  </a:cubicBezTo>
                  <a:cubicBezTo>
                    <a:pt x="205" y="285"/>
                    <a:pt x="207" y="286"/>
                    <a:pt x="209" y="286"/>
                  </a:cubicBezTo>
                  <a:cubicBezTo>
                    <a:pt x="210" y="286"/>
                    <a:pt x="210" y="284"/>
                    <a:pt x="210" y="283"/>
                  </a:cubicBezTo>
                  <a:cubicBezTo>
                    <a:pt x="210" y="283"/>
                    <a:pt x="215" y="284"/>
                    <a:pt x="216" y="285"/>
                  </a:cubicBezTo>
                  <a:cubicBezTo>
                    <a:pt x="218" y="286"/>
                    <a:pt x="221" y="286"/>
                    <a:pt x="223" y="285"/>
                  </a:cubicBezTo>
                  <a:cubicBezTo>
                    <a:pt x="225" y="285"/>
                    <a:pt x="226" y="283"/>
                    <a:pt x="227" y="282"/>
                  </a:cubicBezTo>
                  <a:cubicBezTo>
                    <a:pt x="227" y="282"/>
                    <a:pt x="228" y="283"/>
                    <a:pt x="229" y="282"/>
                  </a:cubicBezTo>
                  <a:cubicBezTo>
                    <a:pt x="230" y="282"/>
                    <a:pt x="230" y="283"/>
                    <a:pt x="231" y="283"/>
                  </a:cubicBezTo>
                  <a:cubicBezTo>
                    <a:pt x="232" y="284"/>
                    <a:pt x="232" y="283"/>
                    <a:pt x="232" y="283"/>
                  </a:cubicBezTo>
                  <a:cubicBezTo>
                    <a:pt x="232" y="283"/>
                    <a:pt x="232" y="283"/>
                    <a:pt x="232" y="283"/>
                  </a:cubicBezTo>
                  <a:cubicBezTo>
                    <a:pt x="232" y="283"/>
                    <a:pt x="232" y="283"/>
                    <a:pt x="232" y="283"/>
                  </a:cubicBezTo>
                  <a:cubicBezTo>
                    <a:pt x="232" y="283"/>
                    <a:pt x="232" y="283"/>
                    <a:pt x="232" y="284"/>
                  </a:cubicBezTo>
                  <a:cubicBezTo>
                    <a:pt x="232" y="284"/>
                    <a:pt x="232" y="284"/>
                    <a:pt x="232" y="284"/>
                  </a:cubicBezTo>
                  <a:cubicBezTo>
                    <a:pt x="232" y="284"/>
                    <a:pt x="232" y="284"/>
                    <a:pt x="232" y="284"/>
                  </a:cubicBezTo>
                  <a:cubicBezTo>
                    <a:pt x="232" y="284"/>
                    <a:pt x="232" y="285"/>
                    <a:pt x="232" y="285"/>
                  </a:cubicBezTo>
                  <a:cubicBezTo>
                    <a:pt x="232" y="286"/>
                    <a:pt x="232" y="286"/>
                    <a:pt x="232" y="286"/>
                  </a:cubicBezTo>
                  <a:cubicBezTo>
                    <a:pt x="232" y="286"/>
                    <a:pt x="232" y="286"/>
                    <a:pt x="232" y="286"/>
                  </a:cubicBezTo>
                  <a:cubicBezTo>
                    <a:pt x="232" y="287"/>
                    <a:pt x="232" y="291"/>
                    <a:pt x="232" y="292"/>
                  </a:cubicBezTo>
                  <a:cubicBezTo>
                    <a:pt x="232" y="292"/>
                    <a:pt x="232" y="293"/>
                    <a:pt x="232" y="293"/>
                  </a:cubicBezTo>
                  <a:cubicBezTo>
                    <a:pt x="232" y="293"/>
                    <a:pt x="232" y="293"/>
                    <a:pt x="232" y="293"/>
                  </a:cubicBezTo>
                  <a:cubicBezTo>
                    <a:pt x="231" y="293"/>
                    <a:pt x="231" y="293"/>
                    <a:pt x="231" y="294"/>
                  </a:cubicBezTo>
                  <a:cubicBezTo>
                    <a:pt x="231" y="294"/>
                    <a:pt x="231" y="294"/>
                    <a:pt x="230" y="294"/>
                  </a:cubicBezTo>
                  <a:cubicBezTo>
                    <a:pt x="230" y="294"/>
                    <a:pt x="230" y="294"/>
                    <a:pt x="230" y="294"/>
                  </a:cubicBezTo>
                  <a:cubicBezTo>
                    <a:pt x="230" y="295"/>
                    <a:pt x="230" y="295"/>
                    <a:pt x="230" y="295"/>
                  </a:cubicBezTo>
                  <a:cubicBezTo>
                    <a:pt x="230" y="295"/>
                    <a:pt x="230" y="296"/>
                    <a:pt x="230" y="296"/>
                  </a:cubicBezTo>
                  <a:cubicBezTo>
                    <a:pt x="230" y="296"/>
                    <a:pt x="230" y="296"/>
                    <a:pt x="230" y="296"/>
                  </a:cubicBezTo>
                  <a:cubicBezTo>
                    <a:pt x="230" y="297"/>
                    <a:pt x="230" y="298"/>
                    <a:pt x="229" y="299"/>
                  </a:cubicBezTo>
                  <a:cubicBezTo>
                    <a:pt x="229" y="299"/>
                    <a:pt x="229" y="299"/>
                    <a:pt x="229" y="299"/>
                  </a:cubicBezTo>
                  <a:cubicBezTo>
                    <a:pt x="229" y="299"/>
                    <a:pt x="229" y="300"/>
                    <a:pt x="229" y="300"/>
                  </a:cubicBezTo>
                  <a:cubicBezTo>
                    <a:pt x="228" y="301"/>
                    <a:pt x="228" y="302"/>
                    <a:pt x="227" y="303"/>
                  </a:cubicBezTo>
                  <a:cubicBezTo>
                    <a:pt x="227" y="304"/>
                    <a:pt x="227" y="304"/>
                    <a:pt x="226" y="305"/>
                  </a:cubicBezTo>
                  <a:cubicBezTo>
                    <a:pt x="226" y="305"/>
                    <a:pt x="226" y="305"/>
                    <a:pt x="226" y="305"/>
                  </a:cubicBezTo>
                  <a:cubicBezTo>
                    <a:pt x="226" y="306"/>
                    <a:pt x="226" y="306"/>
                    <a:pt x="226" y="307"/>
                  </a:cubicBezTo>
                  <a:cubicBezTo>
                    <a:pt x="226" y="307"/>
                    <a:pt x="226" y="307"/>
                    <a:pt x="225" y="307"/>
                  </a:cubicBezTo>
                  <a:cubicBezTo>
                    <a:pt x="225" y="307"/>
                    <a:pt x="225" y="308"/>
                    <a:pt x="225" y="308"/>
                  </a:cubicBezTo>
                  <a:cubicBezTo>
                    <a:pt x="225" y="308"/>
                    <a:pt x="225" y="308"/>
                    <a:pt x="225" y="309"/>
                  </a:cubicBezTo>
                  <a:cubicBezTo>
                    <a:pt x="223" y="310"/>
                    <a:pt x="218" y="309"/>
                    <a:pt x="217" y="309"/>
                  </a:cubicBezTo>
                  <a:cubicBezTo>
                    <a:pt x="215" y="309"/>
                    <a:pt x="215" y="308"/>
                    <a:pt x="214" y="307"/>
                  </a:cubicBezTo>
                  <a:cubicBezTo>
                    <a:pt x="213" y="306"/>
                    <a:pt x="212" y="308"/>
                    <a:pt x="211" y="307"/>
                  </a:cubicBezTo>
                  <a:cubicBezTo>
                    <a:pt x="210" y="306"/>
                    <a:pt x="211" y="307"/>
                    <a:pt x="209" y="307"/>
                  </a:cubicBezTo>
                  <a:cubicBezTo>
                    <a:pt x="208" y="308"/>
                    <a:pt x="206" y="310"/>
                    <a:pt x="205" y="311"/>
                  </a:cubicBezTo>
                  <a:cubicBezTo>
                    <a:pt x="203" y="311"/>
                    <a:pt x="198" y="310"/>
                    <a:pt x="196" y="309"/>
                  </a:cubicBezTo>
                  <a:cubicBezTo>
                    <a:pt x="195" y="309"/>
                    <a:pt x="190" y="307"/>
                    <a:pt x="189" y="307"/>
                  </a:cubicBezTo>
                  <a:cubicBezTo>
                    <a:pt x="189" y="307"/>
                    <a:pt x="188" y="307"/>
                    <a:pt x="188" y="307"/>
                  </a:cubicBezTo>
                  <a:cubicBezTo>
                    <a:pt x="187" y="307"/>
                    <a:pt x="186" y="307"/>
                    <a:pt x="184" y="306"/>
                  </a:cubicBezTo>
                  <a:cubicBezTo>
                    <a:pt x="184" y="306"/>
                    <a:pt x="184" y="306"/>
                    <a:pt x="184" y="306"/>
                  </a:cubicBezTo>
                  <a:cubicBezTo>
                    <a:pt x="183" y="306"/>
                    <a:pt x="182" y="306"/>
                    <a:pt x="182" y="306"/>
                  </a:cubicBezTo>
                  <a:cubicBezTo>
                    <a:pt x="178" y="305"/>
                    <a:pt x="179" y="305"/>
                    <a:pt x="178" y="304"/>
                  </a:cubicBezTo>
                  <a:cubicBezTo>
                    <a:pt x="178" y="303"/>
                    <a:pt x="177" y="302"/>
                    <a:pt x="175" y="302"/>
                  </a:cubicBezTo>
                  <a:cubicBezTo>
                    <a:pt x="173" y="301"/>
                    <a:pt x="168" y="303"/>
                    <a:pt x="167" y="304"/>
                  </a:cubicBezTo>
                  <a:cubicBezTo>
                    <a:pt x="166" y="305"/>
                    <a:pt x="165" y="305"/>
                    <a:pt x="165" y="307"/>
                  </a:cubicBezTo>
                  <a:cubicBezTo>
                    <a:pt x="166" y="310"/>
                    <a:pt x="166" y="312"/>
                    <a:pt x="163" y="313"/>
                  </a:cubicBezTo>
                  <a:cubicBezTo>
                    <a:pt x="161" y="314"/>
                    <a:pt x="160" y="314"/>
                    <a:pt x="157" y="312"/>
                  </a:cubicBezTo>
                  <a:cubicBezTo>
                    <a:pt x="154" y="310"/>
                    <a:pt x="153" y="310"/>
                    <a:pt x="151" y="310"/>
                  </a:cubicBezTo>
                  <a:cubicBezTo>
                    <a:pt x="148" y="310"/>
                    <a:pt x="146" y="307"/>
                    <a:pt x="146" y="306"/>
                  </a:cubicBezTo>
                  <a:cubicBezTo>
                    <a:pt x="146" y="305"/>
                    <a:pt x="146" y="303"/>
                    <a:pt x="144" y="303"/>
                  </a:cubicBezTo>
                  <a:cubicBezTo>
                    <a:pt x="142" y="303"/>
                    <a:pt x="141" y="302"/>
                    <a:pt x="139" y="302"/>
                  </a:cubicBezTo>
                  <a:cubicBezTo>
                    <a:pt x="136" y="302"/>
                    <a:pt x="134" y="302"/>
                    <a:pt x="133" y="301"/>
                  </a:cubicBezTo>
                  <a:cubicBezTo>
                    <a:pt x="132" y="301"/>
                    <a:pt x="132" y="301"/>
                    <a:pt x="132" y="301"/>
                  </a:cubicBezTo>
                  <a:cubicBezTo>
                    <a:pt x="132" y="301"/>
                    <a:pt x="131" y="301"/>
                    <a:pt x="131" y="300"/>
                  </a:cubicBezTo>
                  <a:cubicBezTo>
                    <a:pt x="131" y="300"/>
                    <a:pt x="131" y="300"/>
                    <a:pt x="131" y="300"/>
                  </a:cubicBezTo>
                  <a:cubicBezTo>
                    <a:pt x="131" y="300"/>
                    <a:pt x="131" y="300"/>
                    <a:pt x="131" y="300"/>
                  </a:cubicBezTo>
                  <a:cubicBezTo>
                    <a:pt x="131" y="300"/>
                    <a:pt x="130" y="300"/>
                    <a:pt x="130" y="300"/>
                  </a:cubicBezTo>
                  <a:cubicBezTo>
                    <a:pt x="130" y="300"/>
                    <a:pt x="130" y="300"/>
                    <a:pt x="129" y="301"/>
                  </a:cubicBezTo>
                  <a:cubicBezTo>
                    <a:pt x="128" y="301"/>
                    <a:pt x="129" y="300"/>
                    <a:pt x="129" y="299"/>
                  </a:cubicBezTo>
                  <a:cubicBezTo>
                    <a:pt x="129" y="298"/>
                    <a:pt x="127" y="299"/>
                    <a:pt x="126" y="298"/>
                  </a:cubicBezTo>
                  <a:cubicBezTo>
                    <a:pt x="124" y="297"/>
                    <a:pt x="126" y="295"/>
                    <a:pt x="127" y="294"/>
                  </a:cubicBezTo>
                  <a:cubicBezTo>
                    <a:pt x="128" y="293"/>
                    <a:pt x="129" y="290"/>
                    <a:pt x="128" y="289"/>
                  </a:cubicBezTo>
                  <a:cubicBezTo>
                    <a:pt x="127" y="288"/>
                    <a:pt x="128" y="286"/>
                    <a:pt x="128" y="285"/>
                  </a:cubicBezTo>
                  <a:cubicBezTo>
                    <a:pt x="128" y="284"/>
                    <a:pt x="129" y="283"/>
                    <a:pt x="128" y="283"/>
                  </a:cubicBezTo>
                  <a:cubicBezTo>
                    <a:pt x="127" y="283"/>
                    <a:pt x="127" y="282"/>
                    <a:pt x="125" y="281"/>
                  </a:cubicBezTo>
                  <a:cubicBezTo>
                    <a:pt x="124" y="280"/>
                    <a:pt x="121" y="282"/>
                    <a:pt x="120" y="282"/>
                  </a:cubicBezTo>
                  <a:cubicBezTo>
                    <a:pt x="119" y="282"/>
                    <a:pt x="119" y="282"/>
                    <a:pt x="119" y="282"/>
                  </a:cubicBezTo>
                  <a:cubicBezTo>
                    <a:pt x="118" y="282"/>
                    <a:pt x="118" y="282"/>
                    <a:pt x="117" y="282"/>
                  </a:cubicBezTo>
                  <a:cubicBezTo>
                    <a:pt x="116" y="282"/>
                    <a:pt x="115" y="282"/>
                    <a:pt x="115" y="282"/>
                  </a:cubicBezTo>
                  <a:cubicBezTo>
                    <a:pt x="112" y="282"/>
                    <a:pt x="108" y="283"/>
                    <a:pt x="107" y="284"/>
                  </a:cubicBezTo>
                  <a:cubicBezTo>
                    <a:pt x="105" y="284"/>
                    <a:pt x="104" y="283"/>
                    <a:pt x="103" y="283"/>
                  </a:cubicBezTo>
                  <a:cubicBezTo>
                    <a:pt x="102" y="282"/>
                    <a:pt x="99" y="283"/>
                    <a:pt x="97" y="283"/>
                  </a:cubicBezTo>
                  <a:cubicBezTo>
                    <a:pt x="95" y="283"/>
                    <a:pt x="95" y="282"/>
                    <a:pt x="94" y="282"/>
                  </a:cubicBezTo>
                  <a:cubicBezTo>
                    <a:pt x="93" y="281"/>
                    <a:pt x="92" y="283"/>
                    <a:pt x="92" y="284"/>
                  </a:cubicBezTo>
                  <a:cubicBezTo>
                    <a:pt x="91" y="285"/>
                    <a:pt x="88" y="285"/>
                    <a:pt x="86" y="285"/>
                  </a:cubicBezTo>
                  <a:cubicBezTo>
                    <a:pt x="85" y="286"/>
                    <a:pt x="83" y="287"/>
                    <a:pt x="83" y="288"/>
                  </a:cubicBezTo>
                  <a:cubicBezTo>
                    <a:pt x="82" y="288"/>
                    <a:pt x="80" y="288"/>
                    <a:pt x="78" y="289"/>
                  </a:cubicBezTo>
                  <a:cubicBezTo>
                    <a:pt x="78" y="289"/>
                    <a:pt x="77" y="289"/>
                    <a:pt x="77" y="289"/>
                  </a:cubicBezTo>
                  <a:cubicBezTo>
                    <a:pt x="77" y="289"/>
                    <a:pt x="77" y="290"/>
                    <a:pt x="77" y="290"/>
                  </a:cubicBezTo>
                  <a:cubicBezTo>
                    <a:pt x="77" y="290"/>
                    <a:pt x="76" y="290"/>
                    <a:pt x="76" y="290"/>
                  </a:cubicBezTo>
                  <a:cubicBezTo>
                    <a:pt x="76" y="290"/>
                    <a:pt x="76" y="290"/>
                    <a:pt x="76" y="290"/>
                  </a:cubicBezTo>
                  <a:cubicBezTo>
                    <a:pt x="76" y="291"/>
                    <a:pt x="75" y="291"/>
                    <a:pt x="75" y="291"/>
                  </a:cubicBezTo>
                  <a:cubicBezTo>
                    <a:pt x="75" y="291"/>
                    <a:pt x="75" y="291"/>
                    <a:pt x="74" y="291"/>
                  </a:cubicBezTo>
                  <a:cubicBezTo>
                    <a:pt x="73" y="292"/>
                    <a:pt x="73" y="291"/>
                    <a:pt x="72" y="291"/>
                  </a:cubicBezTo>
                  <a:cubicBezTo>
                    <a:pt x="70" y="290"/>
                    <a:pt x="66" y="291"/>
                    <a:pt x="64" y="291"/>
                  </a:cubicBezTo>
                  <a:cubicBezTo>
                    <a:pt x="62" y="291"/>
                    <a:pt x="61" y="288"/>
                    <a:pt x="60" y="288"/>
                  </a:cubicBezTo>
                  <a:cubicBezTo>
                    <a:pt x="59" y="288"/>
                    <a:pt x="57" y="290"/>
                    <a:pt x="56" y="292"/>
                  </a:cubicBezTo>
                  <a:cubicBezTo>
                    <a:pt x="56" y="293"/>
                    <a:pt x="54" y="297"/>
                    <a:pt x="52" y="298"/>
                  </a:cubicBezTo>
                  <a:cubicBezTo>
                    <a:pt x="49" y="300"/>
                    <a:pt x="47" y="299"/>
                    <a:pt x="46" y="300"/>
                  </a:cubicBezTo>
                  <a:cubicBezTo>
                    <a:pt x="45" y="301"/>
                    <a:pt x="43" y="303"/>
                    <a:pt x="43" y="304"/>
                  </a:cubicBezTo>
                  <a:cubicBezTo>
                    <a:pt x="42" y="306"/>
                    <a:pt x="41" y="306"/>
                    <a:pt x="40" y="307"/>
                  </a:cubicBezTo>
                  <a:cubicBezTo>
                    <a:pt x="39" y="309"/>
                    <a:pt x="40" y="311"/>
                    <a:pt x="39" y="315"/>
                  </a:cubicBezTo>
                  <a:cubicBezTo>
                    <a:pt x="39" y="319"/>
                    <a:pt x="33" y="322"/>
                    <a:pt x="30" y="323"/>
                  </a:cubicBezTo>
                  <a:cubicBezTo>
                    <a:pt x="30" y="323"/>
                    <a:pt x="29" y="323"/>
                    <a:pt x="28" y="323"/>
                  </a:cubicBezTo>
                  <a:cubicBezTo>
                    <a:pt x="28" y="323"/>
                    <a:pt x="28" y="324"/>
                    <a:pt x="28" y="324"/>
                  </a:cubicBezTo>
                  <a:cubicBezTo>
                    <a:pt x="27" y="324"/>
                    <a:pt x="27" y="324"/>
                    <a:pt x="27" y="324"/>
                  </a:cubicBezTo>
                  <a:cubicBezTo>
                    <a:pt x="26" y="324"/>
                    <a:pt x="26" y="325"/>
                    <a:pt x="26" y="325"/>
                  </a:cubicBezTo>
                  <a:cubicBezTo>
                    <a:pt x="26" y="325"/>
                    <a:pt x="25" y="325"/>
                    <a:pt x="25" y="325"/>
                  </a:cubicBezTo>
                  <a:cubicBezTo>
                    <a:pt x="25" y="325"/>
                    <a:pt x="25" y="326"/>
                    <a:pt x="25" y="326"/>
                  </a:cubicBezTo>
                  <a:cubicBezTo>
                    <a:pt x="24" y="326"/>
                    <a:pt x="24" y="326"/>
                    <a:pt x="24" y="326"/>
                  </a:cubicBezTo>
                  <a:cubicBezTo>
                    <a:pt x="24" y="326"/>
                    <a:pt x="24" y="326"/>
                    <a:pt x="24" y="327"/>
                  </a:cubicBezTo>
                  <a:cubicBezTo>
                    <a:pt x="22" y="328"/>
                    <a:pt x="22" y="330"/>
                    <a:pt x="20" y="331"/>
                  </a:cubicBezTo>
                  <a:cubicBezTo>
                    <a:pt x="18" y="332"/>
                    <a:pt x="16" y="337"/>
                    <a:pt x="16" y="338"/>
                  </a:cubicBezTo>
                  <a:cubicBezTo>
                    <a:pt x="16" y="339"/>
                    <a:pt x="10" y="343"/>
                    <a:pt x="10" y="345"/>
                  </a:cubicBezTo>
                  <a:cubicBezTo>
                    <a:pt x="9" y="347"/>
                    <a:pt x="7" y="350"/>
                    <a:pt x="6" y="350"/>
                  </a:cubicBezTo>
                  <a:cubicBezTo>
                    <a:pt x="6" y="350"/>
                    <a:pt x="6" y="351"/>
                    <a:pt x="6" y="351"/>
                  </a:cubicBezTo>
                  <a:cubicBezTo>
                    <a:pt x="5" y="351"/>
                    <a:pt x="5" y="351"/>
                    <a:pt x="5" y="351"/>
                  </a:cubicBezTo>
                  <a:cubicBezTo>
                    <a:pt x="5" y="351"/>
                    <a:pt x="5" y="352"/>
                    <a:pt x="5" y="352"/>
                  </a:cubicBezTo>
                  <a:cubicBezTo>
                    <a:pt x="5" y="352"/>
                    <a:pt x="5" y="352"/>
                    <a:pt x="5" y="352"/>
                  </a:cubicBezTo>
                  <a:cubicBezTo>
                    <a:pt x="5" y="352"/>
                    <a:pt x="5" y="353"/>
                    <a:pt x="5" y="353"/>
                  </a:cubicBezTo>
                  <a:cubicBezTo>
                    <a:pt x="5" y="353"/>
                    <a:pt x="5" y="353"/>
                    <a:pt x="5" y="353"/>
                  </a:cubicBezTo>
                  <a:cubicBezTo>
                    <a:pt x="5" y="354"/>
                    <a:pt x="4" y="354"/>
                    <a:pt x="4" y="355"/>
                  </a:cubicBezTo>
                  <a:cubicBezTo>
                    <a:pt x="4" y="355"/>
                    <a:pt x="4" y="355"/>
                    <a:pt x="4" y="355"/>
                  </a:cubicBezTo>
                  <a:cubicBezTo>
                    <a:pt x="5" y="357"/>
                    <a:pt x="7" y="358"/>
                    <a:pt x="8" y="359"/>
                  </a:cubicBezTo>
                  <a:cubicBezTo>
                    <a:pt x="8" y="360"/>
                    <a:pt x="7" y="361"/>
                    <a:pt x="7" y="362"/>
                  </a:cubicBezTo>
                  <a:cubicBezTo>
                    <a:pt x="6" y="364"/>
                    <a:pt x="8" y="365"/>
                    <a:pt x="8" y="367"/>
                  </a:cubicBezTo>
                  <a:cubicBezTo>
                    <a:pt x="9" y="369"/>
                    <a:pt x="6" y="372"/>
                    <a:pt x="6" y="374"/>
                  </a:cubicBezTo>
                  <a:cubicBezTo>
                    <a:pt x="6" y="374"/>
                    <a:pt x="6" y="375"/>
                    <a:pt x="6" y="376"/>
                  </a:cubicBezTo>
                  <a:cubicBezTo>
                    <a:pt x="6" y="376"/>
                    <a:pt x="5" y="377"/>
                    <a:pt x="5" y="377"/>
                  </a:cubicBezTo>
                  <a:cubicBezTo>
                    <a:pt x="5" y="377"/>
                    <a:pt x="5" y="377"/>
                    <a:pt x="5" y="378"/>
                  </a:cubicBezTo>
                  <a:cubicBezTo>
                    <a:pt x="5" y="378"/>
                    <a:pt x="5" y="378"/>
                    <a:pt x="5" y="378"/>
                  </a:cubicBezTo>
                  <a:cubicBezTo>
                    <a:pt x="4" y="379"/>
                    <a:pt x="4" y="379"/>
                    <a:pt x="4" y="379"/>
                  </a:cubicBezTo>
                  <a:cubicBezTo>
                    <a:pt x="4" y="379"/>
                    <a:pt x="4" y="379"/>
                    <a:pt x="4" y="380"/>
                  </a:cubicBezTo>
                  <a:cubicBezTo>
                    <a:pt x="2" y="381"/>
                    <a:pt x="0" y="383"/>
                    <a:pt x="1" y="384"/>
                  </a:cubicBezTo>
                  <a:cubicBezTo>
                    <a:pt x="3" y="385"/>
                    <a:pt x="2" y="385"/>
                    <a:pt x="3" y="388"/>
                  </a:cubicBezTo>
                  <a:cubicBezTo>
                    <a:pt x="3" y="388"/>
                    <a:pt x="3" y="388"/>
                    <a:pt x="3" y="388"/>
                  </a:cubicBezTo>
                  <a:cubicBezTo>
                    <a:pt x="3" y="389"/>
                    <a:pt x="3" y="390"/>
                    <a:pt x="3" y="390"/>
                  </a:cubicBezTo>
                  <a:cubicBezTo>
                    <a:pt x="3" y="390"/>
                    <a:pt x="3" y="390"/>
                    <a:pt x="3" y="390"/>
                  </a:cubicBezTo>
                  <a:cubicBezTo>
                    <a:pt x="3" y="390"/>
                    <a:pt x="3" y="391"/>
                    <a:pt x="2" y="391"/>
                  </a:cubicBezTo>
                  <a:cubicBezTo>
                    <a:pt x="2" y="391"/>
                    <a:pt x="2" y="392"/>
                    <a:pt x="2" y="392"/>
                  </a:cubicBezTo>
                  <a:cubicBezTo>
                    <a:pt x="2" y="392"/>
                    <a:pt x="2" y="393"/>
                    <a:pt x="2" y="393"/>
                  </a:cubicBezTo>
                  <a:cubicBezTo>
                    <a:pt x="2" y="393"/>
                    <a:pt x="2" y="393"/>
                    <a:pt x="2" y="393"/>
                  </a:cubicBezTo>
                  <a:cubicBezTo>
                    <a:pt x="2" y="393"/>
                    <a:pt x="3" y="393"/>
                    <a:pt x="3" y="394"/>
                  </a:cubicBezTo>
                  <a:cubicBezTo>
                    <a:pt x="3" y="394"/>
                    <a:pt x="3" y="394"/>
                    <a:pt x="3" y="394"/>
                  </a:cubicBezTo>
                  <a:cubicBezTo>
                    <a:pt x="3" y="394"/>
                    <a:pt x="3" y="394"/>
                    <a:pt x="3" y="394"/>
                  </a:cubicBezTo>
                  <a:cubicBezTo>
                    <a:pt x="3" y="394"/>
                    <a:pt x="4" y="394"/>
                    <a:pt x="4" y="395"/>
                  </a:cubicBezTo>
                  <a:cubicBezTo>
                    <a:pt x="5" y="395"/>
                    <a:pt x="5" y="395"/>
                    <a:pt x="6" y="396"/>
                  </a:cubicBezTo>
                  <a:cubicBezTo>
                    <a:pt x="8" y="397"/>
                    <a:pt x="7" y="398"/>
                    <a:pt x="7" y="398"/>
                  </a:cubicBezTo>
                  <a:cubicBezTo>
                    <a:pt x="8" y="399"/>
                    <a:pt x="8" y="399"/>
                    <a:pt x="8" y="399"/>
                  </a:cubicBezTo>
                  <a:cubicBezTo>
                    <a:pt x="8" y="399"/>
                    <a:pt x="8" y="399"/>
                    <a:pt x="8" y="400"/>
                  </a:cubicBezTo>
                  <a:cubicBezTo>
                    <a:pt x="8" y="400"/>
                    <a:pt x="8" y="400"/>
                    <a:pt x="8" y="400"/>
                  </a:cubicBezTo>
                  <a:cubicBezTo>
                    <a:pt x="9" y="400"/>
                    <a:pt x="9" y="400"/>
                    <a:pt x="9" y="400"/>
                  </a:cubicBezTo>
                  <a:cubicBezTo>
                    <a:pt x="9" y="400"/>
                    <a:pt x="9" y="400"/>
                    <a:pt x="9" y="400"/>
                  </a:cubicBezTo>
                  <a:cubicBezTo>
                    <a:pt x="10" y="401"/>
                    <a:pt x="10" y="401"/>
                    <a:pt x="11" y="401"/>
                  </a:cubicBezTo>
                  <a:cubicBezTo>
                    <a:pt x="13" y="403"/>
                    <a:pt x="12" y="403"/>
                    <a:pt x="13" y="404"/>
                  </a:cubicBezTo>
                  <a:cubicBezTo>
                    <a:pt x="14" y="405"/>
                    <a:pt x="15" y="407"/>
                    <a:pt x="15" y="407"/>
                  </a:cubicBezTo>
                  <a:cubicBezTo>
                    <a:pt x="15" y="407"/>
                    <a:pt x="15" y="407"/>
                    <a:pt x="16" y="407"/>
                  </a:cubicBezTo>
                  <a:cubicBezTo>
                    <a:pt x="16" y="407"/>
                    <a:pt x="16" y="407"/>
                    <a:pt x="16" y="407"/>
                  </a:cubicBezTo>
                  <a:cubicBezTo>
                    <a:pt x="16" y="408"/>
                    <a:pt x="16" y="408"/>
                    <a:pt x="16" y="408"/>
                  </a:cubicBezTo>
                  <a:cubicBezTo>
                    <a:pt x="16" y="408"/>
                    <a:pt x="16" y="408"/>
                    <a:pt x="16" y="408"/>
                  </a:cubicBezTo>
                  <a:cubicBezTo>
                    <a:pt x="16" y="408"/>
                    <a:pt x="16" y="409"/>
                    <a:pt x="16" y="409"/>
                  </a:cubicBezTo>
                  <a:cubicBezTo>
                    <a:pt x="16" y="409"/>
                    <a:pt x="16" y="410"/>
                    <a:pt x="17" y="411"/>
                  </a:cubicBezTo>
                  <a:cubicBezTo>
                    <a:pt x="17" y="411"/>
                    <a:pt x="17" y="411"/>
                    <a:pt x="17" y="411"/>
                  </a:cubicBezTo>
                  <a:cubicBezTo>
                    <a:pt x="17" y="411"/>
                    <a:pt x="17" y="411"/>
                    <a:pt x="17" y="411"/>
                  </a:cubicBezTo>
                  <a:cubicBezTo>
                    <a:pt x="17" y="412"/>
                    <a:pt x="18" y="413"/>
                    <a:pt x="19" y="415"/>
                  </a:cubicBezTo>
                  <a:cubicBezTo>
                    <a:pt x="19" y="415"/>
                    <a:pt x="19" y="415"/>
                    <a:pt x="19" y="415"/>
                  </a:cubicBezTo>
                  <a:cubicBezTo>
                    <a:pt x="20" y="416"/>
                    <a:pt x="20" y="416"/>
                    <a:pt x="20" y="416"/>
                  </a:cubicBezTo>
                  <a:cubicBezTo>
                    <a:pt x="20" y="416"/>
                    <a:pt x="21" y="416"/>
                    <a:pt x="21" y="416"/>
                  </a:cubicBezTo>
                  <a:cubicBezTo>
                    <a:pt x="21" y="416"/>
                    <a:pt x="21" y="416"/>
                    <a:pt x="21" y="417"/>
                  </a:cubicBezTo>
                  <a:cubicBezTo>
                    <a:pt x="22" y="417"/>
                    <a:pt x="22" y="417"/>
                    <a:pt x="23" y="418"/>
                  </a:cubicBezTo>
                  <a:cubicBezTo>
                    <a:pt x="23" y="418"/>
                    <a:pt x="24" y="418"/>
                    <a:pt x="24" y="418"/>
                  </a:cubicBezTo>
                  <a:cubicBezTo>
                    <a:pt x="26" y="420"/>
                    <a:pt x="31" y="424"/>
                    <a:pt x="33" y="425"/>
                  </a:cubicBezTo>
                  <a:cubicBezTo>
                    <a:pt x="33" y="425"/>
                    <a:pt x="34" y="425"/>
                    <a:pt x="34" y="426"/>
                  </a:cubicBezTo>
                  <a:cubicBezTo>
                    <a:pt x="34" y="426"/>
                    <a:pt x="35" y="426"/>
                    <a:pt x="35" y="426"/>
                  </a:cubicBezTo>
                  <a:cubicBezTo>
                    <a:pt x="35" y="426"/>
                    <a:pt x="36" y="426"/>
                    <a:pt x="36" y="427"/>
                  </a:cubicBezTo>
                  <a:cubicBezTo>
                    <a:pt x="37" y="427"/>
                    <a:pt x="37" y="427"/>
                    <a:pt x="37" y="427"/>
                  </a:cubicBezTo>
                  <a:cubicBezTo>
                    <a:pt x="38" y="427"/>
                    <a:pt x="38" y="427"/>
                    <a:pt x="38" y="427"/>
                  </a:cubicBezTo>
                  <a:cubicBezTo>
                    <a:pt x="39" y="427"/>
                    <a:pt x="39" y="428"/>
                    <a:pt x="39" y="428"/>
                  </a:cubicBezTo>
                  <a:cubicBezTo>
                    <a:pt x="40" y="428"/>
                    <a:pt x="40" y="428"/>
                    <a:pt x="40" y="428"/>
                  </a:cubicBezTo>
                  <a:cubicBezTo>
                    <a:pt x="40" y="428"/>
                    <a:pt x="40" y="428"/>
                    <a:pt x="40" y="428"/>
                  </a:cubicBezTo>
                  <a:cubicBezTo>
                    <a:pt x="42" y="428"/>
                    <a:pt x="51" y="424"/>
                    <a:pt x="54" y="424"/>
                  </a:cubicBezTo>
                  <a:cubicBezTo>
                    <a:pt x="54" y="424"/>
                    <a:pt x="55" y="424"/>
                    <a:pt x="55" y="424"/>
                  </a:cubicBezTo>
                  <a:cubicBezTo>
                    <a:pt x="55" y="424"/>
                    <a:pt x="56" y="424"/>
                    <a:pt x="56" y="424"/>
                  </a:cubicBezTo>
                  <a:cubicBezTo>
                    <a:pt x="56" y="424"/>
                    <a:pt x="56" y="424"/>
                    <a:pt x="57" y="424"/>
                  </a:cubicBezTo>
                  <a:cubicBezTo>
                    <a:pt x="57" y="424"/>
                    <a:pt x="57" y="424"/>
                    <a:pt x="57" y="424"/>
                  </a:cubicBezTo>
                  <a:cubicBezTo>
                    <a:pt x="58" y="425"/>
                    <a:pt x="58" y="425"/>
                    <a:pt x="58" y="425"/>
                  </a:cubicBezTo>
                  <a:cubicBezTo>
                    <a:pt x="59" y="425"/>
                    <a:pt x="59" y="425"/>
                    <a:pt x="59" y="425"/>
                  </a:cubicBezTo>
                  <a:cubicBezTo>
                    <a:pt x="59" y="425"/>
                    <a:pt x="60" y="425"/>
                    <a:pt x="60" y="425"/>
                  </a:cubicBezTo>
                  <a:cubicBezTo>
                    <a:pt x="60" y="425"/>
                    <a:pt x="60" y="425"/>
                    <a:pt x="61" y="425"/>
                  </a:cubicBezTo>
                  <a:cubicBezTo>
                    <a:pt x="62" y="426"/>
                    <a:pt x="63" y="426"/>
                    <a:pt x="64" y="426"/>
                  </a:cubicBezTo>
                  <a:cubicBezTo>
                    <a:pt x="64" y="426"/>
                    <a:pt x="64" y="426"/>
                    <a:pt x="64" y="426"/>
                  </a:cubicBezTo>
                  <a:cubicBezTo>
                    <a:pt x="64" y="426"/>
                    <a:pt x="65" y="426"/>
                    <a:pt x="65" y="426"/>
                  </a:cubicBezTo>
                  <a:cubicBezTo>
                    <a:pt x="65" y="427"/>
                    <a:pt x="66" y="426"/>
                    <a:pt x="66" y="426"/>
                  </a:cubicBezTo>
                  <a:cubicBezTo>
                    <a:pt x="66" y="426"/>
                    <a:pt x="66" y="426"/>
                    <a:pt x="66" y="426"/>
                  </a:cubicBezTo>
                  <a:cubicBezTo>
                    <a:pt x="67" y="426"/>
                    <a:pt x="67" y="426"/>
                    <a:pt x="67" y="426"/>
                  </a:cubicBezTo>
                  <a:cubicBezTo>
                    <a:pt x="67" y="426"/>
                    <a:pt x="67" y="426"/>
                    <a:pt x="67" y="426"/>
                  </a:cubicBezTo>
                  <a:cubicBezTo>
                    <a:pt x="68" y="426"/>
                    <a:pt x="68" y="426"/>
                    <a:pt x="69" y="426"/>
                  </a:cubicBezTo>
                  <a:cubicBezTo>
                    <a:pt x="69" y="426"/>
                    <a:pt x="69" y="426"/>
                    <a:pt x="69" y="426"/>
                  </a:cubicBezTo>
                  <a:cubicBezTo>
                    <a:pt x="69" y="426"/>
                    <a:pt x="70" y="425"/>
                    <a:pt x="70" y="425"/>
                  </a:cubicBezTo>
                  <a:cubicBezTo>
                    <a:pt x="70" y="425"/>
                    <a:pt x="71" y="425"/>
                    <a:pt x="71" y="425"/>
                  </a:cubicBezTo>
                  <a:cubicBezTo>
                    <a:pt x="71" y="425"/>
                    <a:pt x="71" y="425"/>
                    <a:pt x="72" y="425"/>
                  </a:cubicBezTo>
                  <a:cubicBezTo>
                    <a:pt x="72" y="425"/>
                    <a:pt x="72" y="424"/>
                    <a:pt x="72" y="424"/>
                  </a:cubicBezTo>
                  <a:cubicBezTo>
                    <a:pt x="74" y="424"/>
                    <a:pt x="75" y="423"/>
                    <a:pt x="76" y="423"/>
                  </a:cubicBezTo>
                  <a:cubicBezTo>
                    <a:pt x="76" y="423"/>
                    <a:pt x="76" y="423"/>
                    <a:pt x="76" y="423"/>
                  </a:cubicBezTo>
                  <a:cubicBezTo>
                    <a:pt x="77" y="422"/>
                    <a:pt x="78" y="422"/>
                    <a:pt x="79" y="422"/>
                  </a:cubicBezTo>
                  <a:cubicBezTo>
                    <a:pt x="79" y="422"/>
                    <a:pt x="79" y="422"/>
                    <a:pt x="79" y="422"/>
                  </a:cubicBezTo>
                  <a:cubicBezTo>
                    <a:pt x="79" y="421"/>
                    <a:pt x="79" y="421"/>
                    <a:pt x="80" y="421"/>
                  </a:cubicBezTo>
                  <a:cubicBezTo>
                    <a:pt x="80" y="421"/>
                    <a:pt x="80" y="421"/>
                    <a:pt x="80" y="421"/>
                  </a:cubicBezTo>
                  <a:cubicBezTo>
                    <a:pt x="80" y="421"/>
                    <a:pt x="80" y="421"/>
                    <a:pt x="81" y="421"/>
                  </a:cubicBezTo>
                  <a:cubicBezTo>
                    <a:pt x="81" y="421"/>
                    <a:pt x="81" y="421"/>
                    <a:pt x="81" y="421"/>
                  </a:cubicBezTo>
                  <a:cubicBezTo>
                    <a:pt x="81" y="421"/>
                    <a:pt x="81" y="420"/>
                    <a:pt x="81" y="420"/>
                  </a:cubicBezTo>
                  <a:cubicBezTo>
                    <a:pt x="81" y="420"/>
                    <a:pt x="81" y="420"/>
                    <a:pt x="81" y="420"/>
                  </a:cubicBezTo>
                  <a:cubicBezTo>
                    <a:pt x="81" y="420"/>
                    <a:pt x="81" y="420"/>
                    <a:pt x="81" y="420"/>
                  </a:cubicBezTo>
                  <a:cubicBezTo>
                    <a:pt x="82" y="420"/>
                    <a:pt x="82" y="420"/>
                    <a:pt x="82" y="420"/>
                  </a:cubicBezTo>
                  <a:cubicBezTo>
                    <a:pt x="82" y="420"/>
                    <a:pt x="82" y="420"/>
                    <a:pt x="82" y="420"/>
                  </a:cubicBezTo>
                  <a:cubicBezTo>
                    <a:pt x="82" y="420"/>
                    <a:pt x="83" y="420"/>
                    <a:pt x="83" y="420"/>
                  </a:cubicBezTo>
                  <a:cubicBezTo>
                    <a:pt x="83" y="420"/>
                    <a:pt x="83" y="420"/>
                    <a:pt x="83" y="420"/>
                  </a:cubicBezTo>
                  <a:cubicBezTo>
                    <a:pt x="84" y="420"/>
                    <a:pt x="85" y="420"/>
                    <a:pt x="86" y="420"/>
                  </a:cubicBezTo>
                  <a:cubicBezTo>
                    <a:pt x="87" y="420"/>
                    <a:pt x="88" y="420"/>
                    <a:pt x="88" y="420"/>
                  </a:cubicBezTo>
                  <a:cubicBezTo>
                    <a:pt x="88" y="420"/>
                    <a:pt x="88" y="420"/>
                    <a:pt x="88" y="420"/>
                  </a:cubicBezTo>
                  <a:cubicBezTo>
                    <a:pt x="89" y="420"/>
                    <a:pt x="89" y="420"/>
                    <a:pt x="89" y="420"/>
                  </a:cubicBezTo>
                  <a:cubicBezTo>
                    <a:pt x="90" y="420"/>
                    <a:pt x="90" y="420"/>
                    <a:pt x="90" y="420"/>
                  </a:cubicBezTo>
                  <a:cubicBezTo>
                    <a:pt x="90" y="420"/>
                    <a:pt x="90" y="419"/>
                    <a:pt x="90" y="419"/>
                  </a:cubicBezTo>
                  <a:cubicBezTo>
                    <a:pt x="91" y="419"/>
                    <a:pt x="91" y="419"/>
                    <a:pt x="91" y="419"/>
                  </a:cubicBezTo>
                  <a:cubicBezTo>
                    <a:pt x="91" y="419"/>
                    <a:pt x="91" y="419"/>
                    <a:pt x="91" y="419"/>
                  </a:cubicBezTo>
                  <a:cubicBezTo>
                    <a:pt x="91" y="419"/>
                    <a:pt x="92" y="419"/>
                    <a:pt x="92" y="419"/>
                  </a:cubicBezTo>
                  <a:cubicBezTo>
                    <a:pt x="92" y="419"/>
                    <a:pt x="92" y="419"/>
                    <a:pt x="92" y="419"/>
                  </a:cubicBezTo>
                  <a:cubicBezTo>
                    <a:pt x="92" y="419"/>
                    <a:pt x="92" y="419"/>
                    <a:pt x="92" y="419"/>
                  </a:cubicBezTo>
                  <a:cubicBezTo>
                    <a:pt x="92" y="419"/>
                    <a:pt x="93" y="419"/>
                    <a:pt x="93" y="419"/>
                  </a:cubicBezTo>
                  <a:cubicBezTo>
                    <a:pt x="93" y="419"/>
                    <a:pt x="93" y="419"/>
                    <a:pt x="93" y="419"/>
                  </a:cubicBezTo>
                  <a:cubicBezTo>
                    <a:pt x="94" y="419"/>
                    <a:pt x="96" y="423"/>
                    <a:pt x="97" y="423"/>
                  </a:cubicBezTo>
                  <a:cubicBezTo>
                    <a:pt x="98" y="424"/>
                    <a:pt x="98" y="428"/>
                    <a:pt x="100" y="429"/>
                  </a:cubicBezTo>
                  <a:cubicBezTo>
                    <a:pt x="100" y="429"/>
                    <a:pt x="100" y="429"/>
                    <a:pt x="101" y="429"/>
                  </a:cubicBezTo>
                  <a:cubicBezTo>
                    <a:pt x="101" y="429"/>
                    <a:pt x="101" y="429"/>
                    <a:pt x="101" y="429"/>
                  </a:cubicBezTo>
                  <a:cubicBezTo>
                    <a:pt x="101" y="429"/>
                    <a:pt x="102" y="429"/>
                    <a:pt x="102" y="429"/>
                  </a:cubicBezTo>
                  <a:cubicBezTo>
                    <a:pt x="102" y="429"/>
                    <a:pt x="102" y="429"/>
                    <a:pt x="102" y="429"/>
                  </a:cubicBezTo>
                  <a:cubicBezTo>
                    <a:pt x="103" y="429"/>
                    <a:pt x="103" y="429"/>
                    <a:pt x="104" y="429"/>
                  </a:cubicBezTo>
                  <a:cubicBezTo>
                    <a:pt x="104" y="429"/>
                    <a:pt x="104" y="429"/>
                    <a:pt x="104" y="429"/>
                  </a:cubicBezTo>
                  <a:cubicBezTo>
                    <a:pt x="106" y="429"/>
                    <a:pt x="108" y="429"/>
                    <a:pt x="110" y="429"/>
                  </a:cubicBezTo>
                  <a:cubicBezTo>
                    <a:pt x="110" y="429"/>
                    <a:pt x="111" y="429"/>
                    <a:pt x="111" y="429"/>
                  </a:cubicBezTo>
                  <a:cubicBezTo>
                    <a:pt x="111" y="429"/>
                    <a:pt x="111" y="429"/>
                    <a:pt x="111" y="429"/>
                  </a:cubicBezTo>
                  <a:cubicBezTo>
                    <a:pt x="112" y="429"/>
                    <a:pt x="112" y="429"/>
                    <a:pt x="112" y="429"/>
                  </a:cubicBezTo>
                  <a:cubicBezTo>
                    <a:pt x="115" y="429"/>
                    <a:pt x="115" y="430"/>
                    <a:pt x="116" y="431"/>
                  </a:cubicBezTo>
                  <a:cubicBezTo>
                    <a:pt x="116" y="431"/>
                    <a:pt x="118" y="434"/>
                    <a:pt x="117" y="436"/>
                  </a:cubicBezTo>
                  <a:cubicBezTo>
                    <a:pt x="117" y="437"/>
                    <a:pt x="117" y="437"/>
                    <a:pt x="117" y="438"/>
                  </a:cubicBezTo>
                  <a:cubicBezTo>
                    <a:pt x="117" y="438"/>
                    <a:pt x="117" y="438"/>
                    <a:pt x="117" y="438"/>
                  </a:cubicBezTo>
                  <a:cubicBezTo>
                    <a:pt x="117" y="439"/>
                    <a:pt x="116" y="439"/>
                    <a:pt x="116" y="439"/>
                  </a:cubicBezTo>
                  <a:cubicBezTo>
                    <a:pt x="116" y="440"/>
                    <a:pt x="116" y="440"/>
                    <a:pt x="116" y="441"/>
                  </a:cubicBezTo>
                  <a:cubicBezTo>
                    <a:pt x="116" y="441"/>
                    <a:pt x="116" y="441"/>
                    <a:pt x="116" y="441"/>
                  </a:cubicBezTo>
                  <a:cubicBezTo>
                    <a:pt x="115" y="442"/>
                    <a:pt x="115" y="442"/>
                    <a:pt x="115" y="442"/>
                  </a:cubicBezTo>
                  <a:cubicBezTo>
                    <a:pt x="115" y="442"/>
                    <a:pt x="115" y="443"/>
                    <a:pt x="115" y="443"/>
                  </a:cubicBezTo>
                  <a:cubicBezTo>
                    <a:pt x="115" y="443"/>
                    <a:pt x="115" y="443"/>
                    <a:pt x="115" y="443"/>
                  </a:cubicBezTo>
                  <a:cubicBezTo>
                    <a:pt x="115" y="444"/>
                    <a:pt x="115" y="444"/>
                    <a:pt x="115" y="444"/>
                  </a:cubicBezTo>
                  <a:cubicBezTo>
                    <a:pt x="115" y="444"/>
                    <a:pt x="115" y="444"/>
                    <a:pt x="115" y="444"/>
                  </a:cubicBezTo>
                  <a:cubicBezTo>
                    <a:pt x="115" y="445"/>
                    <a:pt x="115" y="446"/>
                    <a:pt x="115" y="447"/>
                  </a:cubicBezTo>
                  <a:cubicBezTo>
                    <a:pt x="115" y="447"/>
                    <a:pt x="115" y="447"/>
                    <a:pt x="115" y="447"/>
                  </a:cubicBezTo>
                  <a:cubicBezTo>
                    <a:pt x="115" y="448"/>
                    <a:pt x="114" y="448"/>
                    <a:pt x="114" y="448"/>
                  </a:cubicBezTo>
                  <a:cubicBezTo>
                    <a:pt x="114" y="448"/>
                    <a:pt x="114" y="448"/>
                    <a:pt x="114" y="449"/>
                  </a:cubicBezTo>
                  <a:cubicBezTo>
                    <a:pt x="114" y="449"/>
                    <a:pt x="114" y="449"/>
                    <a:pt x="114" y="449"/>
                  </a:cubicBezTo>
                  <a:cubicBezTo>
                    <a:pt x="114" y="451"/>
                    <a:pt x="114" y="451"/>
                    <a:pt x="112" y="452"/>
                  </a:cubicBezTo>
                  <a:cubicBezTo>
                    <a:pt x="111" y="453"/>
                    <a:pt x="112" y="453"/>
                    <a:pt x="114" y="455"/>
                  </a:cubicBezTo>
                  <a:cubicBezTo>
                    <a:pt x="115" y="457"/>
                    <a:pt x="114" y="456"/>
                    <a:pt x="115" y="458"/>
                  </a:cubicBezTo>
                  <a:cubicBezTo>
                    <a:pt x="115" y="458"/>
                    <a:pt x="115" y="458"/>
                    <a:pt x="115" y="459"/>
                  </a:cubicBezTo>
                  <a:cubicBezTo>
                    <a:pt x="115" y="459"/>
                    <a:pt x="115" y="459"/>
                    <a:pt x="115" y="459"/>
                  </a:cubicBezTo>
                  <a:cubicBezTo>
                    <a:pt x="115" y="459"/>
                    <a:pt x="115" y="459"/>
                    <a:pt x="116" y="460"/>
                  </a:cubicBezTo>
                  <a:cubicBezTo>
                    <a:pt x="116" y="460"/>
                    <a:pt x="116" y="460"/>
                    <a:pt x="116" y="460"/>
                  </a:cubicBezTo>
                  <a:cubicBezTo>
                    <a:pt x="116" y="460"/>
                    <a:pt x="117" y="461"/>
                    <a:pt x="117" y="461"/>
                  </a:cubicBezTo>
                  <a:cubicBezTo>
                    <a:pt x="117" y="461"/>
                    <a:pt x="117" y="461"/>
                    <a:pt x="117" y="462"/>
                  </a:cubicBezTo>
                  <a:cubicBezTo>
                    <a:pt x="119" y="463"/>
                    <a:pt x="121" y="466"/>
                    <a:pt x="123" y="468"/>
                  </a:cubicBezTo>
                  <a:cubicBezTo>
                    <a:pt x="123" y="468"/>
                    <a:pt x="123" y="468"/>
                    <a:pt x="123" y="468"/>
                  </a:cubicBezTo>
                  <a:cubicBezTo>
                    <a:pt x="123" y="468"/>
                    <a:pt x="123" y="468"/>
                    <a:pt x="123" y="468"/>
                  </a:cubicBezTo>
                  <a:cubicBezTo>
                    <a:pt x="123" y="468"/>
                    <a:pt x="124" y="469"/>
                    <a:pt x="124" y="469"/>
                  </a:cubicBezTo>
                  <a:cubicBezTo>
                    <a:pt x="124" y="469"/>
                    <a:pt x="124" y="469"/>
                    <a:pt x="124" y="469"/>
                  </a:cubicBezTo>
                  <a:cubicBezTo>
                    <a:pt x="124" y="469"/>
                    <a:pt x="124" y="469"/>
                    <a:pt x="124" y="469"/>
                  </a:cubicBezTo>
                  <a:cubicBezTo>
                    <a:pt x="124" y="469"/>
                    <a:pt x="124" y="469"/>
                    <a:pt x="124" y="470"/>
                  </a:cubicBezTo>
                  <a:cubicBezTo>
                    <a:pt x="124" y="470"/>
                    <a:pt x="124" y="470"/>
                    <a:pt x="125" y="470"/>
                  </a:cubicBezTo>
                  <a:cubicBezTo>
                    <a:pt x="125" y="470"/>
                    <a:pt x="125" y="470"/>
                    <a:pt x="125" y="471"/>
                  </a:cubicBezTo>
                  <a:cubicBezTo>
                    <a:pt x="125" y="472"/>
                    <a:pt x="125" y="473"/>
                    <a:pt x="125" y="474"/>
                  </a:cubicBezTo>
                  <a:cubicBezTo>
                    <a:pt x="125" y="474"/>
                    <a:pt x="126" y="474"/>
                    <a:pt x="126" y="475"/>
                  </a:cubicBezTo>
                  <a:cubicBezTo>
                    <a:pt x="125" y="475"/>
                    <a:pt x="126" y="475"/>
                    <a:pt x="126" y="476"/>
                  </a:cubicBezTo>
                  <a:cubicBezTo>
                    <a:pt x="126" y="476"/>
                    <a:pt x="126" y="476"/>
                    <a:pt x="126" y="476"/>
                  </a:cubicBezTo>
                  <a:cubicBezTo>
                    <a:pt x="126" y="477"/>
                    <a:pt x="127" y="478"/>
                    <a:pt x="128" y="479"/>
                  </a:cubicBezTo>
                  <a:cubicBezTo>
                    <a:pt x="128" y="479"/>
                    <a:pt x="128" y="479"/>
                    <a:pt x="128" y="479"/>
                  </a:cubicBezTo>
                  <a:cubicBezTo>
                    <a:pt x="128" y="479"/>
                    <a:pt x="129" y="483"/>
                    <a:pt x="130" y="485"/>
                  </a:cubicBezTo>
                  <a:cubicBezTo>
                    <a:pt x="131" y="487"/>
                    <a:pt x="130" y="493"/>
                    <a:pt x="131" y="495"/>
                  </a:cubicBezTo>
                  <a:cubicBezTo>
                    <a:pt x="132" y="496"/>
                    <a:pt x="132" y="501"/>
                    <a:pt x="132" y="503"/>
                  </a:cubicBezTo>
                  <a:cubicBezTo>
                    <a:pt x="132" y="505"/>
                    <a:pt x="132" y="505"/>
                    <a:pt x="131" y="506"/>
                  </a:cubicBezTo>
                  <a:cubicBezTo>
                    <a:pt x="130" y="508"/>
                    <a:pt x="128" y="508"/>
                    <a:pt x="127" y="509"/>
                  </a:cubicBezTo>
                  <a:cubicBezTo>
                    <a:pt x="127" y="511"/>
                    <a:pt x="124" y="522"/>
                    <a:pt x="124" y="523"/>
                  </a:cubicBezTo>
                  <a:cubicBezTo>
                    <a:pt x="124" y="523"/>
                    <a:pt x="124" y="524"/>
                    <a:pt x="124" y="524"/>
                  </a:cubicBezTo>
                  <a:cubicBezTo>
                    <a:pt x="124" y="524"/>
                    <a:pt x="124" y="524"/>
                    <a:pt x="124" y="524"/>
                  </a:cubicBezTo>
                  <a:cubicBezTo>
                    <a:pt x="124" y="525"/>
                    <a:pt x="124" y="525"/>
                    <a:pt x="123" y="526"/>
                  </a:cubicBezTo>
                  <a:cubicBezTo>
                    <a:pt x="123" y="526"/>
                    <a:pt x="123" y="526"/>
                    <a:pt x="123" y="526"/>
                  </a:cubicBezTo>
                  <a:cubicBezTo>
                    <a:pt x="123" y="527"/>
                    <a:pt x="123" y="527"/>
                    <a:pt x="123" y="527"/>
                  </a:cubicBezTo>
                  <a:cubicBezTo>
                    <a:pt x="123" y="528"/>
                    <a:pt x="123" y="528"/>
                    <a:pt x="123" y="528"/>
                  </a:cubicBezTo>
                  <a:cubicBezTo>
                    <a:pt x="123" y="529"/>
                    <a:pt x="123" y="529"/>
                    <a:pt x="123" y="530"/>
                  </a:cubicBezTo>
                  <a:cubicBezTo>
                    <a:pt x="123" y="530"/>
                    <a:pt x="123" y="530"/>
                    <a:pt x="123" y="530"/>
                  </a:cubicBezTo>
                  <a:cubicBezTo>
                    <a:pt x="123" y="530"/>
                    <a:pt x="123" y="530"/>
                    <a:pt x="123" y="530"/>
                  </a:cubicBezTo>
                  <a:cubicBezTo>
                    <a:pt x="123" y="531"/>
                    <a:pt x="123" y="531"/>
                    <a:pt x="123" y="531"/>
                  </a:cubicBezTo>
                  <a:cubicBezTo>
                    <a:pt x="123" y="531"/>
                    <a:pt x="123" y="532"/>
                    <a:pt x="123" y="532"/>
                  </a:cubicBezTo>
                  <a:cubicBezTo>
                    <a:pt x="123" y="532"/>
                    <a:pt x="123" y="532"/>
                    <a:pt x="123" y="533"/>
                  </a:cubicBezTo>
                  <a:cubicBezTo>
                    <a:pt x="124" y="533"/>
                    <a:pt x="124" y="533"/>
                    <a:pt x="124" y="534"/>
                  </a:cubicBezTo>
                  <a:cubicBezTo>
                    <a:pt x="124" y="534"/>
                    <a:pt x="124" y="534"/>
                    <a:pt x="124" y="534"/>
                  </a:cubicBezTo>
                  <a:cubicBezTo>
                    <a:pt x="124" y="535"/>
                    <a:pt x="124" y="535"/>
                    <a:pt x="124" y="535"/>
                  </a:cubicBezTo>
                  <a:cubicBezTo>
                    <a:pt x="126" y="538"/>
                    <a:pt x="129" y="543"/>
                    <a:pt x="129" y="546"/>
                  </a:cubicBezTo>
                  <a:cubicBezTo>
                    <a:pt x="130" y="550"/>
                    <a:pt x="132" y="552"/>
                    <a:pt x="134" y="556"/>
                  </a:cubicBezTo>
                  <a:cubicBezTo>
                    <a:pt x="136" y="559"/>
                    <a:pt x="134" y="566"/>
                    <a:pt x="135" y="569"/>
                  </a:cubicBezTo>
                  <a:cubicBezTo>
                    <a:pt x="136" y="573"/>
                    <a:pt x="137" y="576"/>
                    <a:pt x="137" y="580"/>
                  </a:cubicBezTo>
                  <a:cubicBezTo>
                    <a:pt x="137" y="581"/>
                    <a:pt x="137" y="582"/>
                    <a:pt x="137" y="582"/>
                  </a:cubicBezTo>
                  <a:cubicBezTo>
                    <a:pt x="137" y="582"/>
                    <a:pt x="137" y="582"/>
                    <a:pt x="137" y="583"/>
                  </a:cubicBezTo>
                  <a:cubicBezTo>
                    <a:pt x="137" y="583"/>
                    <a:pt x="137" y="583"/>
                    <a:pt x="137" y="584"/>
                  </a:cubicBezTo>
                  <a:cubicBezTo>
                    <a:pt x="137" y="584"/>
                    <a:pt x="137" y="584"/>
                    <a:pt x="137" y="584"/>
                  </a:cubicBezTo>
                  <a:cubicBezTo>
                    <a:pt x="138" y="585"/>
                    <a:pt x="138" y="585"/>
                    <a:pt x="138" y="585"/>
                  </a:cubicBezTo>
                  <a:cubicBezTo>
                    <a:pt x="138" y="585"/>
                    <a:pt x="138" y="586"/>
                    <a:pt x="138" y="586"/>
                  </a:cubicBezTo>
                  <a:cubicBezTo>
                    <a:pt x="139" y="586"/>
                    <a:pt x="139" y="587"/>
                    <a:pt x="139" y="587"/>
                  </a:cubicBezTo>
                  <a:cubicBezTo>
                    <a:pt x="139" y="587"/>
                    <a:pt x="139" y="587"/>
                    <a:pt x="139" y="588"/>
                  </a:cubicBezTo>
                  <a:cubicBezTo>
                    <a:pt x="140" y="588"/>
                    <a:pt x="140" y="588"/>
                    <a:pt x="140" y="588"/>
                  </a:cubicBezTo>
                  <a:cubicBezTo>
                    <a:pt x="140" y="589"/>
                    <a:pt x="140" y="589"/>
                    <a:pt x="140" y="589"/>
                  </a:cubicBezTo>
                  <a:cubicBezTo>
                    <a:pt x="141" y="589"/>
                    <a:pt x="141" y="590"/>
                    <a:pt x="141" y="590"/>
                  </a:cubicBezTo>
                  <a:cubicBezTo>
                    <a:pt x="141" y="590"/>
                    <a:pt x="141" y="590"/>
                    <a:pt x="142" y="590"/>
                  </a:cubicBezTo>
                  <a:cubicBezTo>
                    <a:pt x="142" y="591"/>
                    <a:pt x="142" y="591"/>
                    <a:pt x="142" y="591"/>
                  </a:cubicBezTo>
                  <a:cubicBezTo>
                    <a:pt x="143" y="591"/>
                    <a:pt x="143" y="592"/>
                    <a:pt x="143" y="592"/>
                  </a:cubicBezTo>
                  <a:cubicBezTo>
                    <a:pt x="145" y="595"/>
                    <a:pt x="146" y="596"/>
                    <a:pt x="147" y="599"/>
                  </a:cubicBezTo>
                  <a:cubicBezTo>
                    <a:pt x="148" y="602"/>
                    <a:pt x="146" y="600"/>
                    <a:pt x="145" y="602"/>
                  </a:cubicBezTo>
                  <a:cubicBezTo>
                    <a:pt x="144" y="603"/>
                    <a:pt x="146" y="606"/>
                    <a:pt x="147" y="609"/>
                  </a:cubicBezTo>
                  <a:cubicBezTo>
                    <a:pt x="148" y="612"/>
                    <a:pt x="148" y="615"/>
                    <a:pt x="147" y="617"/>
                  </a:cubicBezTo>
                  <a:cubicBezTo>
                    <a:pt x="146" y="619"/>
                    <a:pt x="147" y="619"/>
                    <a:pt x="147" y="621"/>
                  </a:cubicBezTo>
                  <a:cubicBezTo>
                    <a:pt x="148" y="624"/>
                    <a:pt x="148" y="624"/>
                    <a:pt x="149" y="626"/>
                  </a:cubicBezTo>
                  <a:cubicBezTo>
                    <a:pt x="149" y="628"/>
                    <a:pt x="150" y="627"/>
                    <a:pt x="152" y="628"/>
                  </a:cubicBezTo>
                  <a:cubicBezTo>
                    <a:pt x="153" y="628"/>
                    <a:pt x="153" y="630"/>
                    <a:pt x="155" y="630"/>
                  </a:cubicBezTo>
                  <a:cubicBezTo>
                    <a:pt x="158" y="631"/>
                    <a:pt x="158" y="630"/>
                    <a:pt x="158" y="628"/>
                  </a:cubicBezTo>
                  <a:cubicBezTo>
                    <a:pt x="159" y="627"/>
                    <a:pt x="161" y="628"/>
                    <a:pt x="163" y="628"/>
                  </a:cubicBezTo>
                  <a:cubicBezTo>
                    <a:pt x="164" y="628"/>
                    <a:pt x="164" y="627"/>
                    <a:pt x="165" y="626"/>
                  </a:cubicBezTo>
                  <a:cubicBezTo>
                    <a:pt x="167" y="625"/>
                    <a:pt x="168" y="625"/>
                    <a:pt x="170" y="625"/>
                  </a:cubicBezTo>
                  <a:cubicBezTo>
                    <a:pt x="173" y="625"/>
                    <a:pt x="175" y="625"/>
                    <a:pt x="176" y="625"/>
                  </a:cubicBezTo>
                  <a:cubicBezTo>
                    <a:pt x="178" y="625"/>
                    <a:pt x="180" y="626"/>
                    <a:pt x="181" y="625"/>
                  </a:cubicBezTo>
                  <a:cubicBezTo>
                    <a:pt x="182" y="625"/>
                    <a:pt x="185" y="625"/>
                    <a:pt x="186" y="624"/>
                  </a:cubicBezTo>
                  <a:cubicBezTo>
                    <a:pt x="188" y="624"/>
                    <a:pt x="190" y="623"/>
                    <a:pt x="191" y="622"/>
                  </a:cubicBezTo>
                  <a:cubicBezTo>
                    <a:pt x="193" y="620"/>
                    <a:pt x="199" y="614"/>
                    <a:pt x="200" y="614"/>
                  </a:cubicBezTo>
                  <a:cubicBezTo>
                    <a:pt x="201" y="613"/>
                    <a:pt x="206" y="606"/>
                    <a:pt x="207" y="605"/>
                  </a:cubicBezTo>
                  <a:cubicBezTo>
                    <a:pt x="208" y="603"/>
                    <a:pt x="209" y="603"/>
                    <a:pt x="210" y="603"/>
                  </a:cubicBezTo>
                  <a:cubicBezTo>
                    <a:pt x="211" y="603"/>
                    <a:pt x="214" y="598"/>
                    <a:pt x="215" y="597"/>
                  </a:cubicBezTo>
                  <a:cubicBezTo>
                    <a:pt x="216" y="595"/>
                    <a:pt x="218" y="593"/>
                    <a:pt x="219" y="592"/>
                  </a:cubicBezTo>
                  <a:cubicBezTo>
                    <a:pt x="220" y="590"/>
                    <a:pt x="221" y="587"/>
                    <a:pt x="222" y="585"/>
                  </a:cubicBezTo>
                  <a:cubicBezTo>
                    <a:pt x="222" y="585"/>
                    <a:pt x="222" y="584"/>
                    <a:pt x="222" y="584"/>
                  </a:cubicBezTo>
                  <a:cubicBezTo>
                    <a:pt x="222" y="584"/>
                    <a:pt x="222" y="584"/>
                    <a:pt x="222" y="584"/>
                  </a:cubicBezTo>
                  <a:cubicBezTo>
                    <a:pt x="222" y="583"/>
                    <a:pt x="222" y="582"/>
                    <a:pt x="222" y="582"/>
                  </a:cubicBezTo>
                  <a:cubicBezTo>
                    <a:pt x="222" y="582"/>
                    <a:pt x="222" y="582"/>
                    <a:pt x="222" y="582"/>
                  </a:cubicBezTo>
                  <a:cubicBezTo>
                    <a:pt x="222" y="582"/>
                    <a:pt x="222" y="582"/>
                    <a:pt x="222" y="582"/>
                  </a:cubicBezTo>
                  <a:cubicBezTo>
                    <a:pt x="222" y="581"/>
                    <a:pt x="222" y="581"/>
                    <a:pt x="222" y="580"/>
                  </a:cubicBezTo>
                  <a:cubicBezTo>
                    <a:pt x="222" y="580"/>
                    <a:pt x="222" y="580"/>
                    <a:pt x="222" y="580"/>
                  </a:cubicBezTo>
                  <a:cubicBezTo>
                    <a:pt x="223" y="580"/>
                    <a:pt x="223" y="579"/>
                    <a:pt x="223" y="578"/>
                  </a:cubicBezTo>
                  <a:cubicBezTo>
                    <a:pt x="223" y="578"/>
                    <a:pt x="223" y="578"/>
                    <a:pt x="223" y="578"/>
                  </a:cubicBezTo>
                  <a:cubicBezTo>
                    <a:pt x="223" y="578"/>
                    <a:pt x="223" y="578"/>
                    <a:pt x="223" y="578"/>
                  </a:cubicBezTo>
                  <a:cubicBezTo>
                    <a:pt x="222" y="577"/>
                    <a:pt x="223" y="574"/>
                    <a:pt x="226" y="572"/>
                  </a:cubicBezTo>
                  <a:cubicBezTo>
                    <a:pt x="228" y="571"/>
                    <a:pt x="234" y="568"/>
                    <a:pt x="235" y="565"/>
                  </a:cubicBezTo>
                  <a:cubicBezTo>
                    <a:pt x="236" y="562"/>
                    <a:pt x="234" y="554"/>
                    <a:pt x="234" y="553"/>
                  </a:cubicBezTo>
                  <a:cubicBezTo>
                    <a:pt x="234" y="552"/>
                    <a:pt x="233" y="546"/>
                    <a:pt x="232" y="546"/>
                  </a:cubicBezTo>
                  <a:cubicBezTo>
                    <a:pt x="231" y="546"/>
                    <a:pt x="231" y="545"/>
                    <a:pt x="232" y="542"/>
                  </a:cubicBezTo>
                  <a:cubicBezTo>
                    <a:pt x="233" y="540"/>
                    <a:pt x="243" y="532"/>
                    <a:pt x="246" y="530"/>
                  </a:cubicBezTo>
                  <a:cubicBezTo>
                    <a:pt x="248" y="528"/>
                    <a:pt x="252" y="527"/>
                    <a:pt x="253" y="526"/>
                  </a:cubicBezTo>
                  <a:cubicBezTo>
                    <a:pt x="254" y="525"/>
                    <a:pt x="259" y="519"/>
                    <a:pt x="260" y="519"/>
                  </a:cubicBezTo>
                  <a:cubicBezTo>
                    <a:pt x="260" y="518"/>
                    <a:pt x="259" y="515"/>
                    <a:pt x="258" y="513"/>
                  </a:cubicBezTo>
                  <a:cubicBezTo>
                    <a:pt x="257" y="511"/>
                    <a:pt x="257" y="503"/>
                    <a:pt x="257" y="501"/>
                  </a:cubicBezTo>
                  <a:cubicBezTo>
                    <a:pt x="257" y="501"/>
                    <a:pt x="257" y="500"/>
                    <a:pt x="257" y="500"/>
                  </a:cubicBezTo>
                  <a:cubicBezTo>
                    <a:pt x="257" y="500"/>
                    <a:pt x="257" y="500"/>
                    <a:pt x="257" y="499"/>
                  </a:cubicBezTo>
                  <a:cubicBezTo>
                    <a:pt x="257" y="499"/>
                    <a:pt x="257" y="499"/>
                    <a:pt x="257" y="498"/>
                  </a:cubicBezTo>
                  <a:cubicBezTo>
                    <a:pt x="257" y="498"/>
                    <a:pt x="257" y="498"/>
                    <a:pt x="257" y="498"/>
                  </a:cubicBezTo>
                  <a:cubicBezTo>
                    <a:pt x="257" y="497"/>
                    <a:pt x="257" y="497"/>
                    <a:pt x="257" y="497"/>
                  </a:cubicBezTo>
                  <a:cubicBezTo>
                    <a:pt x="257" y="496"/>
                    <a:pt x="257" y="496"/>
                    <a:pt x="257" y="496"/>
                  </a:cubicBezTo>
                  <a:cubicBezTo>
                    <a:pt x="257" y="496"/>
                    <a:pt x="257" y="496"/>
                    <a:pt x="257" y="496"/>
                  </a:cubicBezTo>
                  <a:cubicBezTo>
                    <a:pt x="257" y="495"/>
                    <a:pt x="257" y="495"/>
                    <a:pt x="257" y="495"/>
                  </a:cubicBezTo>
                  <a:cubicBezTo>
                    <a:pt x="256" y="493"/>
                    <a:pt x="253" y="491"/>
                    <a:pt x="252" y="489"/>
                  </a:cubicBezTo>
                  <a:cubicBezTo>
                    <a:pt x="251" y="488"/>
                    <a:pt x="252" y="480"/>
                    <a:pt x="252" y="479"/>
                  </a:cubicBezTo>
                  <a:cubicBezTo>
                    <a:pt x="252" y="478"/>
                    <a:pt x="250" y="474"/>
                    <a:pt x="250" y="473"/>
                  </a:cubicBezTo>
                  <a:cubicBezTo>
                    <a:pt x="250" y="472"/>
                    <a:pt x="250" y="470"/>
                    <a:pt x="250" y="469"/>
                  </a:cubicBezTo>
                  <a:cubicBezTo>
                    <a:pt x="250" y="469"/>
                    <a:pt x="250" y="469"/>
                    <a:pt x="250" y="469"/>
                  </a:cubicBezTo>
                  <a:cubicBezTo>
                    <a:pt x="250" y="469"/>
                    <a:pt x="250" y="469"/>
                    <a:pt x="250" y="469"/>
                  </a:cubicBezTo>
                  <a:cubicBezTo>
                    <a:pt x="251" y="469"/>
                    <a:pt x="251" y="469"/>
                    <a:pt x="251" y="469"/>
                  </a:cubicBezTo>
                  <a:cubicBezTo>
                    <a:pt x="251" y="469"/>
                    <a:pt x="251" y="469"/>
                    <a:pt x="251" y="469"/>
                  </a:cubicBezTo>
                  <a:cubicBezTo>
                    <a:pt x="251" y="468"/>
                    <a:pt x="252" y="467"/>
                    <a:pt x="252" y="466"/>
                  </a:cubicBezTo>
                  <a:cubicBezTo>
                    <a:pt x="252" y="466"/>
                    <a:pt x="252" y="466"/>
                    <a:pt x="252" y="466"/>
                  </a:cubicBezTo>
                  <a:cubicBezTo>
                    <a:pt x="253" y="465"/>
                    <a:pt x="253" y="465"/>
                    <a:pt x="253" y="464"/>
                  </a:cubicBezTo>
                  <a:cubicBezTo>
                    <a:pt x="254" y="462"/>
                    <a:pt x="257" y="457"/>
                    <a:pt x="258" y="456"/>
                  </a:cubicBezTo>
                  <a:cubicBezTo>
                    <a:pt x="258" y="456"/>
                    <a:pt x="258" y="456"/>
                    <a:pt x="258" y="456"/>
                  </a:cubicBezTo>
                  <a:cubicBezTo>
                    <a:pt x="258" y="456"/>
                    <a:pt x="258" y="456"/>
                    <a:pt x="259" y="456"/>
                  </a:cubicBezTo>
                  <a:cubicBezTo>
                    <a:pt x="259" y="456"/>
                    <a:pt x="259" y="456"/>
                    <a:pt x="259" y="455"/>
                  </a:cubicBezTo>
                  <a:cubicBezTo>
                    <a:pt x="259" y="455"/>
                    <a:pt x="259" y="455"/>
                    <a:pt x="259" y="455"/>
                  </a:cubicBezTo>
                  <a:cubicBezTo>
                    <a:pt x="260" y="455"/>
                    <a:pt x="261" y="455"/>
                    <a:pt x="261" y="455"/>
                  </a:cubicBezTo>
                  <a:cubicBezTo>
                    <a:pt x="262" y="455"/>
                    <a:pt x="268" y="447"/>
                    <a:pt x="270" y="443"/>
                  </a:cubicBezTo>
                  <a:cubicBezTo>
                    <a:pt x="272" y="440"/>
                    <a:pt x="278" y="437"/>
                    <a:pt x="280" y="436"/>
                  </a:cubicBezTo>
                  <a:cubicBezTo>
                    <a:pt x="282" y="435"/>
                    <a:pt x="281" y="435"/>
                    <a:pt x="281" y="434"/>
                  </a:cubicBezTo>
                  <a:cubicBezTo>
                    <a:pt x="282" y="433"/>
                    <a:pt x="283" y="432"/>
                    <a:pt x="285" y="431"/>
                  </a:cubicBezTo>
                  <a:cubicBezTo>
                    <a:pt x="287" y="430"/>
                    <a:pt x="292" y="420"/>
                    <a:pt x="293" y="417"/>
                  </a:cubicBezTo>
                  <a:cubicBezTo>
                    <a:pt x="294" y="415"/>
                    <a:pt x="298" y="408"/>
                    <a:pt x="299" y="406"/>
                  </a:cubicBezTo>
                  <a:cubicBezTo>
                    <a:pt x="300" y="405"/>
                    <a:pt x="300" y="398"/>
                    <a:pt x="300" y="396"/>
                  </a:cubicBezTo>
                  <a:cubicBezTo>
                    <a:pt x="300" y="394"/>
                    <a:pt x="300" y="393"/>
                    <a:pt x="299" y="394"/>
                  </a:cubicBezTo>
                  <a:cubicBezTo>
                    <a:pt x="298" y="394"/>
                    <a:pt x="294" y="396"/>
                    <a:pt x="293" y="397"/>
                  </a:cubicBezTo>
                  <a:cubicBezTo>
                    <a:pt x="291" y="398"/>
                    <a:pt x="287" y="397"/>
                    <a:pt x="285" y="397"/>
                  </a:cubicBezTo>
                  <a:cubicBezTo>
                    <a:pt x="283" y="398"/>
                    <a:pt x="283" y="399"/>
                    <a:pt x="282" y="399"/>
                  </a:cubicBezTo>
                  <a:cubicBezTo>
                    <a:pt x="280" y="400"/>
                    <a:pt x="281" y="399"/>
                    <a:pt x="279" y="398"/>
                  </a:cubicBezTo>
                  <a:cubicBezTo>
                    <a:pt x="277" y="398"/>
                    <a:pt x="273" y="400"/>
                    <a:pt x="272" y="401"/>
                  </a:cubicBezTo>
                  <a:cubicBezTo>
                    <a:pt x="271" y="401"/>
                    <a:pt x="268" y="397"/>
                    <a:pt x="268" y="396"/>
                  </a:cubicBezTo>
                  <a:cubicBezTo>
                    <a:pt x="268" y="396"/>
                    <a:pt x="267" y="395"/>
                    <a:pt x="267" y="395"/>
                  </a:cubicBezTo>
                  <a:cubicBezTo>
                    <a:pt x="267" y="395"/>
                    <a:pt x="267" y="395"/>
                    <a:pt x="267" y="395"/>
                  </a:cubicBezTo>
                  <a:cubicBezTo>
                    <a:pt x="267" y="395"/>
                    <a:pt x="267" y="395"/>
                    <a:pt x="267" y="395"/>
                  </a:cubicBezTo>
                  <a:cubicBezTo>
                    <a:pt x="267" y="395"/>
                    <a:pt x="266" y="394"/>
                    <a:pt x="266" y="394"/>
                  </a:cubicBezTo>
                  <a:cubicBezTo>
                    <a:pt x="266" y="394"/>
                    <a:pt x="266" y="394"/>
                    <a:pt x="266" y="394"/>
                  </a:cubicBezTo>
                  <a:cubicBezTo>
                    <a:pt x="266" y="394"/>
                    <a:pt x="266" y="394"/>
                    <a:pt x="266" y="394"/>
                  </a:cubicBezTo>
                  <a:cubicBezTo>
                    <a:pt x="266" y="394"/>
                    <a:pt x="266" y="393"/>
                    <a:pt x="266" y="393"/>
                  </a:cubicBezTo>
                  <a:cubicBezTo>
                    <a:pt x="266" y="392"/>
                    <a:pt x="266" y="392"/>
                    <a:pt x="266" y="391"/>
                  </a:cubicBezTo>
                  <a:cubicBezTo>
                    <a:pt x="265" y="391"/>
                    <a:pt x="265" y="390"/>
                    <a:pt x="265" y="389"/>
                  </a:cubicBezTo>
                  <a:cubicBezTo>
                    <a:pt x="265" y="389"/>
                    <a:pt x="265" y="389"/>
                    <a:pt x="265" y="389"/>
                  </a:cubicBezTo>
                  <a:cubicBezTo>
                    <a:pt x="264" y="389"/>
                    <a:pt x="264" y="389"/>
                    <a:pt x="264" y="389"/>
                  </a:cubicBezTo>
                  <a:cubicBezTo>
                    <a:pt x="264" y="388"/>
                    <a:pt x="264" y="388"/>
                    <a:pt x="264" y="388"/>
                  </a:cubicBezTo>
                  <a:cubicBezTo>
                    <a:pt x="262" y="387"/>
                    <a:pt x="261" y="386"/>
                    <a:pt x="259" y="385"/>
                  </a:cubicBezTo>
                  <a:cubicBezTo>
                    <a:pt x="258" y="384"/>
                    <a:pt x="257" y="382"/>
                    <a:pt x="256" y="382"/>
                  </a:cubicBezTo>
                  <a:cubicBezTo>
                    <a:pt x="255" y="382"/>
                    <a:pt x="252" y="378"/>
                    <a:pt x="250" y="378"/>
                  </a:cubicBezTo>
                  <a:cubicBezTo>
                    <a:pt x="249" y="378"/>
                    <a:pt x="248" y="373"/>
                    <a:pt x="247" y="371"/>
                  </a:cubicBezTo>
                  <a:cubicBezTo>
                    <a:pt x="247" y="370"/>
                    <a:pt x="247" y="370"/>
                    <a:pt x="246" y="369"/>
                  </a:cubicBezTo>
                  <a:cubicBezTo>
                    <a:pt x="246" y="369"/>
                    <a:pt x="246" y="369"/>
                    <a:pt x="246" y="369"/>
                  </a:cubicBezTo>
                  <a:cubicBezTo>
                    <a:pt x="246" y="368"/>
                    <a:pt x="245" y="368"/>
                    <a:pt x="244" y="367"/>
                  </a:cubicBezTo>
                  <a:cubicBezTo>
                    <a:pt x="244" y="367"/>
                    <a:pt x="244" y="367"/>
                    <a:pt x="244" y="367"/>
                  </a:cubicBezTo>
                  <a:cubicBezTo>
                    <a:pt x="244" y="366"/>
                    <a:pt x="244" y="366"/>
                    <a:pt x="244" y="366"/>
                  </a:cubicBezTo>
                  <a:cubicBezTo>
                    <a:pt x="244" y="366"/>
                    <a:pt x="243" y="366"/>
                    <a:pt x="243" y="366"/>
                  </a:cubicBezTo>
                  <a:cubicBezTo>
                    <a:pt x="243" y="366"/>
                    <a:pt x="243" y="365"/>
                    <a:pt x="243" y="365"/>
                  </a:cubicBezTo>
                  <a:cubicBezTo>
                    <a:pt x="243" y="365"/>
                    <a:pt x="243" y="365"/>
                    <a:pt x="243" y="365"/>
                  </a:cubicBezTo>
                  <a:cubicBezTo>
                    <a:pt x="243" y="365"/>
                    <a:pt x="242" y="365"/>
                    <a:pt x="242" y="365"/>
                  </a:cubicBezTo>
                  <a:cubicBezTo>
                    <a:pt x="241" y="364"/>
                    <a:pt x="238" y="360"/>
                    <a:pt x="238" y="357"/>
                  </a:cubicBezTo>
                  <a:cubicBezTo>
                    <a:pt x="238" y="355"/>
                    <a:pt x="237" y="352"/>
                    <a:pt x="237" y="351"/>
                  </a:cubicBezTo>
                  <a:cubicBezTo>
                    <a:pt x="237" y="349"/>
                    <a:pt x="237" y="348"/>
                    <a:pt x="235" y="348"/>
                  </a:cubicBezTo>
                  <a:cubicBezTo>
                    <a:pt x="233" y="347"/>
                    <a:pt x="231" y="344"/>
                    <a:pt x="231" y="344"/>
                  </a:cubicBezTo>
                  <a:cubicBezTo>
                    <a:pt x="230" y="343"/>
                    <a:pt x="232" y="342"/>
                    <a:pt x="231" y="341"/>
                  </a:cubicBezTo>
                  <a:cubicBezTo>
                    <a:pt x="231" y="340"/>
                    <a:pt x="225" y="329"/>
                    <a:pt x="224" y="327"/>
                  </a:cubicBezTo>
                  <a:cubicBezTo>
                    <a:pt x="222" y="324"/>
                    <a:pt x="223" y="324"/>
                    <a:pt x="223" y="323"/>
                  </a:cubicBezTo>
                  <a:cubicBezTo>
                    <a:pt x="223" y="323"/>
                    <a:pt x="221" y="321"/>
                    <a:pt x="220" y="320"/>
                  </a:cubicBezTo>
                  <a:cubicBezTo>
                    <a:pt x="219" y="319"/>
                    <a:pt x="224" y="323"/>
                    <a:pt x="225" y="324"/>
                  </a:cubicBezTo>
                  <a:cubicBezTo>
                    <a:pt x="225" y="324"/>
                    <a:pt x="225" y="324"/>
                    <a:pt x="226" y="324"/>
                  </a:cubicBezTo>
                  <a:cubicBezTo>
                    <a:pt x="226" y="324"/>
                    <a:pt x="226" y="324"/>
                    <a:pt x="226" y="324"/>
                  </a:cubicBezTo>
                  <a:cubicBezTo>
                    <a:pt x="226" y="324"/>
                    <a:pt x="226" y="323"/>
                    <a:pt x="226" y="323"/>
                  </a:cubicBezTo>
                  <a:cubicBezTo>
                    <a:pt x="227" y="323"/>
                    <a:pt x="227" y="323"/>
                    <a:pt x="228" y="323"/>
                  </a:cubicBezTo>
                  <a:cubicBezTo>
                    <a:pt x="228" y="323"/>
                    <a:pt x="228" y="323"/>
                    <a:pt x="228" y="323"/>
                  </a:cubicBezTo>
                  <a:cubicBezTo>
                    <a:pt x="230" y="323"/>
                    <a:pt x="232" y="328"/>
                    <a:pt x="233" y="330"/>
                  </a:cubicBezTo>
                  <a:cubicBezTo>
                    <a:pt x="235" y="332"/>
                    <a:pt x="237" y="334"/>
                    <a:pt x="238" y="335"/>
                  </a:cubicBezTo>
                  <a:cubicBezTo>
                    <a:pt x="239" y="335"/>
                    <a:pt x="237" y="336"/>
                    <a:pt x="238" y="337"/>
                  </a:cubicBezTo>
                  <a:cubicBezTo>
                    <a:pt x="238" y="338"/>
                    <a:pt x="240" y="339"/>
                    <a:pt x="241" y="340"/>
                  </a:cubicBezTo>
                  <a:cubicBezTo>
                    <a:pt x="242" y="340"/>
                    <a:pt x="247" y="347"/>
                    <a:pt x="247" y="348"/>
                  </a:cubicBezTo>
                  <a:cubicBezTo>
                    <a:pt x="248" y="349"/>
                    <a:pt x="247" y="349"/>
                    <a:pt x="246" y="350"/>
                  </a:cubicBezTo>
                  <a:cubicBezTo>
                    <a:pt x="246" y="351"/>
                    <a:pt x="248" y="355"/>
                    <a:pt x="249" y="357"/>
                  </a:cubicBezTo>
                  <a:cubicBezTo>
                    <a:pt x="250" y="358"/>
                    <a:pt x="252" y="359"/>
                    <a:pt x="253" y="360"/>
                  </a:cubicBezTo>
                  <a:cubicBezTo>
                    <a:pt x="254" y="361"/>
                    <a:pt x="256" y="363"/>
                    <a:pt x="257" y="365"/>
                  </a:cubicBezTo>
                  <a:cubicBezTo>
                    <a:pt x="258" y="367"/>
                    <a:pt x="261" y="370"/>
                    <a:pt x="262" y="372"/>
                  </a:cubicBezTo>
                  <a:cubicBezTo>
                    <a:pt x="262" y="373"/>
                    <a:pt x="262" y="373"/>
                    <a:pt x="262" y="373"/>
                  </a:cubicBezTo>
                  <a:cubicBezTo>
                    <a:pt x="262" y="373"/>
                    <a:pt x="262" y="374"/>
                    <a:pt x="262" y="374"/>
                  </a:cubicBezTo>
                  <a:cubicBezTo>
                    <a:pt x="262" y="374"/>
                    <a:pt x="262" y="374"/>
                    <a:pt x="262" y="374"/>
                  </a:cubicBezTo>
                  <a:cubicBezTo>
                    <a:pt x="262" y="374"/>
                    <a:pt x="262" y="374"/>
                    <a:pt x="262" y="374"/>
                  </a:cubicBezTo>
                  <a:cubicBezTo>
                    <a:pt x="262" y="374"/>
                    <a:pt x="262" y="374"/>
                    <a:pt x="262" y="375"/>
                  </a:cubicBezTo>
                  <a:cubicBezTo>
                    <a:pt x="262" y="375"/>
                    <a:pt x="262" y="375"/>
                    <a:pt x="262" y="375"/>
                  </a:cubicBezTo>
                  <a:cubicBezTo>
                    <a:pt x="262" y="376"/>
                    <a:pt x="262" y="376"/>
                    <a:pt x="262" y="376"/>
                  </a:cubicBezTo>
                  <a:cubicBezTo>
                    <a:pt x="262" y="376"/>
                    <a:pt x="262" y="376"/>
                    <a:pt x="262" y="376"/>
                  </a:cubicBezTo>
                  <a:cubicBezTo>
                    <a:pt x="262" y="378"/>
                    <a:pt x="266" y="385"/>
                    <a:pt x="266" y="387"/>
                  </a:cubicBezTo>
                  <a:cubicBezTo>
                    <a:pt x="266" y="388"/>
                    <a:pt x="267" y="390"/>
                    <a:pt x="268" y="390"/>
                  </a:cubicBezTo>
                  <a:cubicBezTo>
                    <a:pt x="270" y="390"/>
                    <a:pt x="273" y="389"/>
                    <a:pt x="274" y="388"/>
                  </a:cubicBezTo>
                  <a:cubicBezTo>
                    <a:pt x="275" y="387"/>
                    <a:pt x="279" y="387"/>
                    <a:pt x="282" y="387"/>
                  </a:cubicBezTo>
                  <a:cubicBezTo>
                    <a:pt x="285" y="387"/>
                    <a:pt x="292" y="383"/>
                    <a:pt x="294" y="382"/>
                  </a:cubicBezTo>
                  <a:cubicBezTo>
                    <a:pt x="296" y="380"/>
                    <a:pt x="303" y="379"/>
                    <a:pt x="304" y="378"/>
                  </a:cubicBezTo>
                  <a:cubicBezTo>
                    <a:pt x="304" y="378"/>
                    <a:pt x="305" y="375"/>
                    <a:pt x="305" y="374"/>
                  </a:cubicBezTo>
                  <a:cubicBezTo>
                    <a:pt x="305" y="374"/>
                    <a:pt x="306" y="374"/>
                    <a:pt x="306" y="374"/>
                  </a:cubicBezTo>
                  <a:cubicBezTo>
                    <a:pt x="306" y="374"/>
                    <a:pt x="306" y="374"/>
                    <a:pt x="306" y="374"/>
                  </a:cubicBezTo>
                  <a:cubicBezTo>
                    <a:pt x="306" y="374"/>
                    <a:pt x="306" y="374"/>
                    <a:pt x="307" y="374"/>
                  </a:cubicBezTo>
                  <a:cubicBezTo>
                    <a:pt x="307" y="374"/>
                    <a:pt x="307" y="373"/>
                    <a:pt x="307" y="373"/>
                  </a:cubicBezTo>
                  <a:cubicBezTo>
                    <a:pt x="307" y="373"/>
                    <a:pt x="307" y="373"/>
                    <a:pt x="308" y="373"/>
                  </a:cubicBezTo>
                  <a:cubicBezTo>
                    <a:pt x="308" y="373"/>
                    <a:pt x="308" y="373"/>
                    <a:pt x="308" y="373"/>
                  </a:cubicBezTo>
                  <a:cubicBezTo>
                    <a:pt x="308" y="373"/>
                    <a:pt x="309" y="373"/>
                    <a:pt x="309" y="373"/>
                  </a:cubicBezTo>
                  <a:cubicBezTo>
                    <a:pt x="309" y="373"/>
                    <a:pt x="309" y="373"/>
                    <a:pt x="309" y="372"/>
                  </a:cubicBezTo>
                  <a:cubicBezTo>
                    <a:pt x="310" y="372"/>
                    <a:pt x="310" y="372"/>
                    <a:pt x="310" y="372"/>
                  </a:cubicBezTo>
                  <a:cubicBezTo>
                    <a:pt x="310" y="372"/>
                    <a:pt x="311" y="372"/>
                    <a:pt x="311" y="372"/>
                  </a:cubicBezTo>
                  <a:cubicBezTo>
                    <a:pt x="311" y="372"/>
                    <a:pt x="311" y="372"/>
                    <a:pt x="311" y="372"/>
                  </a:cubicBezTo>
                  <a:cubicBezTo>
                    <a:pt x="312" y="372"/>
                    <a:pt x="312" y="372"/>
                    <a:pt x="312" y="372"/>
                  </a:cubicBezTo>
                  <a:cubicBezTo>
                    <a:pt x="312" y="372"/>
                    <a:pt x="312" y="372"/>
                    <a:pt x="312" y="372"/>
                  </a:cubicBezTo>
                  <a:cubicBezTo>
                    <a:pt x="313" y="372"/>
                    <a:pt x="313" y="371"/>
                    <a:pt x="313" y="371"/>
                  </a:cubicBezTo>
                  <a:cubicBezTo>
                    <a:pt x="313" y="371"/>
                    <a:pt x="313" y="371"/>
                    <a:pt x="313" y="371"/>
                  </a:cubicBezTo>
                  <a:cubicBezTo>
                    <a:pt x="315" y="371"/>
                    <a:pt x="318" y="371"/>
                    <a:pt x="318" y="370"/>
                  </a:cubicBezTo>
                  <a:cubicBezTo>
                    <a:pt x="318" y="368"/>
                    <a:pt x="319" y="368"/>
                    <a:pt x="320" y="367"/>
                  </a:cubicBezTo>
                  <a:cubicBezTo>
                    <a:pt x="322" y="367"/>
                    <a:pt x="322" y="366"/>
                    <a:pt x="322" y="365"/>
                  </a:cubicBezTo>
                  <a:cubicBezTo>
                    <a:pt x="323" y="364"/>
                    <a:pt x="325" y="363"/>
                    <a:pt x="327" y="363"/>
                  </a:cubicBezTo>
                  <a:cubicBezTo>
                    <a:pt x="328" y="363"/>
                    <a:pt x="327" y="362"/>
                    <a:pt x="327" y="360"/>
                  </a:cubicBezTo>
                  <a:cubicBezTo>
                    <a:pt x="327" y="359"/>
                    <a:pt x="327" y="358"/>
                    <a:pt x="328" y="356"/>
                  </a:cubicBezTo>
                  <a:cubicBezTo>
                    <a:pt x="328" y="354"/>
                    <a:pt x="328" y="356"/>
                    <a:pt x="329" y="357"/>
                  </a:cubicBezTo>
                  <a:cubicBezTo>
                    <a:pt x="330" y="357"/>
                    <a:pt x="331" y="354"/>
                    <a:pt x="332" y="353"/>
                  </a:cubicBezTo>
                  <a:cubicBezTo>
                    <a:pt x="333" y="353"/>
                    <a:pt x="334" y="351"/>
                    <a:pt x="334" y="349"/>
                  </a:cubicBezTo>
                  <a:cubicBezTo>
                    <a:pt x="335" y="348"/>
                    <a:pt x="335" y="347"/>
                    <a:pt x="334" y="347"/>
                  </a:cubicBezTo>
                  <a:cubicBezTo>
                    <a:pt x="332" y="346"/>
                    <a:pt x="332" y="345"/>
                    <a:pt x="330" y="343"/>
                  </a:cubicBezTo>
                  <a:cubicBezTo>
                    <a:pt x="329" y="342"/>
                    <a:pt x="326" y="342"/>
                    <a:pt x="324" y="342"/>
                  </a:cubicBezTo>
                  <a:cubicBezTo>
                    <a:pt x="324" y="342"/>
                    <a:pt x="324" y="342"/>
                    <a:pt x="324" y="342"/>
                  </a:cubicBezTo>
                  <a:cubicBezTo>
                    <a:pt x="323" y="342"/>
                    <a:pt x="323" y="342"/>
                    <a:pt x="323" y="341"/>
                  </a:cubicBezTo>
                  <a:cubicBezTo>
                    <a:pt x="323" y="341"/>
                    <a:pt x="323" y="341"/>
                    <a:pt x="323" y="341"/>
                  </a:cubicBezTo>
                  <a:cubicBezTo>
                    <a:pt x="323" y="341"/>
                    <a:pt x="323" y="341"/>
                    <a:pt x="323" y="341"/>
                  </a:cubicBezTo>
                  <a:cubicBezTo>
                    <a:pt x="322" y="341"/>
                    <a:pt x="322" y="341"/>
                    <a:pt x="322" y="340"/>
                  </a:cubicBezTo>
                  <a:cubicBezTo>
                    <a:pt x="322" y="340"/>
                    <a:pt x="322" y="340"/>
                    <a:pt x="322" y="340"/>
                  </a:cubicBezTo>
                  <a:cubicBezTo>
                    <a:pt x="322" y="340"/>
                    <a:pt x="322" y="340"/>
                    <a:pt x="321" y="339"/>
                  </a:cubicBezTo>
                  <a:cubicBezTo>
                    <a:pt x="321" y="339"/>
                    <a:pt x="321" y="339"/>
                    <a:pt x="321" y="339"/>
                  </a:cubicBezTo>
                  <a:cubicBezTo>
                    <a:pt x="321" y="339"/>
                    <a:pt x="321" y="339"/>
                    <a:pt x="321" y="338"/>
                  </a:cubicBezTo>
                  <a:cubicBezTo>
                    <a:pt x="321" y="338"/>
                    <a:pt x="321" y="338"/>
                    <a:pt x="321" y="338"/>
                  </a:cubicBezTo>
                  <a:cubicBezTo>
                    <a:pt x="320" y="337"/>
                    <a:pt x="320" y="336"/>
                    <a:pt x="320" y="335"/>
                  </a:cubicBezTo>
                  <a:cubicBezTo>
                    <a:pt x="319" y="333"/>
                    <a:pt x="321" y="332"/>
                    <a:pt x="320" y="332"/>
                  </a:cubicBezTo>
                  <a:cubicBezTo>
                    <a:pt x="319" y="332"/>
                    <a:pt x="313" y="338"/>
                    <a:pt x="312" y="340"/>
                  </a:cubicBezTo>
                  <a:cubicBezTo>
                    <a:pt x="311" y="341"/>
                    <a:pt x="307" y="340"/>
                    <a:pt x="305" y="340"/>
                  </a:cubicBezTo>
                  <a:cubicBezTo>
                    <a:pt x="303" y="340"/>
                    <a:pt x="303" y="341"/>
                    <a:pt x="301" y="340"/>
                  </a:cubicBezTo>
                  <a:cubicBezTo>
                    <a:pt x="301" y="340"/>
                    <a:pt x="301" y="340"/>
                    <a:pt x="300" y="340"/>
                  </a:cubicBezTo>
                  <a:cubicBezTo>
                    <a:pt x="300" y="340"/>
                    <a:pt x="300" y="340"/>
                    <a:pt x="300" y="340"/>
                  </a:cubicBezTo>
                  <a:cubicBezTo>
                    <a:pt x="300" y="340"/>
                    <a:pt x="300" y="339"/>
                    <a:pt x="300" y="339"/>
                  </a:cubicBezTo>
                  <a:cubicBezTo>
                    <a:pt x="299" y="339"/>
                    <a:pt x="299" y="339"/>
                    <a:pt x="299" y="339"/>
                  </a:cubicBezTo>
                  <a:cubicBezTo>
                    <a:pt x="299" y="339"/>
                    <a:pt x="299" y="339"/>
                    <a:pt x="299" y="339"/>
                  </a:cubicBezTo>
                  <a:cubicBezTo>
                    <a:pt x="299" y="339"/>
                    <a:pt x="299" y="338"/>
                    <a:pt x="299" y="338"/>
                  </a:cubicBezTo>
                  <a:cubicBezTo>
                    <a:pt x="299" y="338"/>
                    <a:pt x="299" y="338"/>
                    <a:pt x="298" y="338"/>
                  </a:cubicBezTo>
                  <a:cubicBezTo>
                    <a:pt x="298" y="337"/>
                    <a:pt x="301" y="336"/>
                    <a:pt x="301" y="335"/>
                  </a:cubicBezTo>
                  <a:cubicBezTo>
                    <a:pt x="301" y="334"/>
                    <a:pt x="299" y="332"/>
                    <a:pt x="298" y="331"/>
                  </a:cubicBezTo>
                  <a:cubicBezTo>
                    <a:pt x="298" y="331"/>
                    <a:pt x="297" y="333"/>
                    <a:pt x="297" y="334"/>
                  </a:cubicBezTo>
                  <a:cubicBezTo>
                    <a:pt x="296" y="334"/>
                    <a:pt x="296" y="334"/>
                    <a:pt x="296" y="334"/>
                  </a:cubicBezTo>
                  <a:cubicBezTo>
                    <a:pt x="296" y="334"/>
                    <a:pt x="296" y="334"/>
                    <a:pt x="296" y="334"/>
                  </a:cubicBezTo>
                  <a:cubicBezTo>
                    <a:pt x="296" y="334"/>
                    <a:pt x="296" y="334"/>
                    <a:pt x="295" y="334"/>
                  </a:cubicBezTo>
                  <a:cubicBezTo>
                    <a:pt x="295" y="334"/>
                    <a:pt x="295" y="334"/>
                    <a:pt x="295" y="334"/>
                  </a:cubicBezTo>
                  <a:cubicBezTo>
                    <a:pt x="295" y="333"/>
                    <a:pt x="295" y="333"/>
                    <a:pt x="295" y="333"/>
                  </a:cubicBezTo>
                  <a:cubicBezTo>
                    <a:pt x="295" y="333"/>
                    <a:pt x="294" y="333"/>
                    <a:pt x="294" y="333"/>
                  </a:cubicBezTo>
                  <a:cubicBezTo>
                    <a:pt x="294" y="332"/>
                    <a:pt x="293" y="330"/>
                    <a:pt x="293" y="329"/>
                  </a:cubicBezTo>
                  <a:cubicBezTo>
                    <a:pt x="293" y="328"/>
                    <a:pt x="291" y="326"/>
                    <a:pt x="290" y="325"/>
                  </a:cubicBezTo>
                  <a:cubicBezTo>
                    <a:pt x="289" y="325"/>
                    <a:pt x="287" y="323"/>
                    <a:pt x="287" y="322"/>
                  </a:cubicBezTo>
                  <a:cubicBezTo>
                    <a:pt x="287" y="322"/>
                    <a:pt x="287" y="321"/>
                    <a:pt x="286" y="321"/>
                  </a:cubicBezTo>
                  <a:cubicBezTo>
                    <a:pt x="286" y="321"/>
                    <a:pt x="286" y="321"/>
                    <a:pt x="286" y="321"/>
                  </a:cubicBezTo>
                  <a:cubicBezTo>
                    <a:pt x="286" y="320"/>
                    <a:pt x="286" y="320"/>
                    <a:pt x="285" y="319"/>
                  </a:cubicBezTo>
                  <a:cubicBezTo>
                    <a:pt x="285" y="319"/>
                    <a:pt x="284" y="318"/>
                    <a:pt x="284" y="318"/>
                  </a:cubicBezTo>
                  <a:cubicBezTo>
                    <a:pt x="284" y="318"/>
                    <a:pt x="283" y="317"/>
                    <a:pt x="283" y="317"/>
                  </a:cubicBezTo>
                  <a:cubicBezTo>
                    <a:pt x="283" y="317"/>
                    <a:pt x="283" y="317"/>
                    <a:pt x="283" y="317"/>
                  </a:cubicBezTo>
                  <a:cubicBezTo>
                    <a:pt x="283" y="317"/>
                    <a:pt x="283" y="317"/>
                    <a:pt x="283" y="317"/>
                  </a:cubicBezTo>
                  <a:cubicBezTo>
                    <a:pt x="283" y="317"/>
                    <a:pt x="283" y="317"/>
                    <a:pt x="283" y="317"/>
                  </a:cubicBezTo>
                  <a:cubicBezTo>
                    <a:pt x="283" y="316"/>
                    <a:pt x="284" y="316"/>
                    <a:pt x="284" y="316"/>
                  </a:cubicBezTo>
                  <a:cubicBezTo>
                    <a:pt x="284" y="316"/>
                    <a:pt x="284" y="316"/>
                    <a:pt x="284" y="316"/>
                  </a:cubicBezTo>
                  <a:cubicBezTo>
                    <a:pt x="284" y="316"/>
                    <a:pt x="284" y="316"/>
                    <a:pt x="284" y="316"/>
                  </a:cubicBezTo>
                  <a:cubicBezTo>
                    <a:pt x="284" y="316"/>
                    <a:pt x="284" y="316"/>
                    <a:pt x="284" y="316"/>
                  </a:cubicBezTo>
                  <a:cubicBezTo>
                    <a:pt x="284" y="316"/>
                    <a:pt x="284" y="316"/>
                    <a:pt x="284" y="315"/>
                  </a:cubicBezTo>
                  <a:cubicBezTo>
                    <a:pt x="284" y="315"/>
                    <a:pt x="286" y="315"/>
                    <a:pt x="287" y="315"/>
                  </a:cubicBezTo>
                  <a:cubicBezTo>
                    <a:pt x="287" y="315"/>
                    <a:pt x="287" y="315"/>
                    <a:pt x="287" y="315"/>
                  </a:cubicBezTo>
                  <a:cubicBezTo>
                    <a:pt x="287" y="315"/>
                    <a:pt x="287" y="315"/>
                    <a:pt x="288" y="315"/>
                  </a:cubicBezTo>
                  <a:cubicBezTo>
                    <a:pt x="288" y="315"/>
                    <a:pt x="288" y="314"/>
                    <a:pt x="288" y="314"/>
                  </a:cubicBezTo>
                  <a:cubicBezTo>
                    <a:pt x="288" y="314"/>
                    <a:pt x="288" y="314"/>
                    <a:pt x="288" y="314"/>
                  </a:cubicBezTo>
                  <a:cubicBezTo>
                    <a:pt x="288" y="314"/>
                    <a:pt x="288" y="314"/>
                    <a:pt x="288" y="314"/>
                  </a:cubicBezTo>
                  <a:cubicBezTo>
                    <a:pt x="288" y="314"/>
                    <a:pt x="288" y="314"/>
                    <a:pt x="288" y="314"/>
                  </a:cubicBezTo>
                  <a:cubicBezTo>
                    <a:pt x="288" y="314"/>
                    <a:pt x="288" y="314"/>
                    <a:pt x="288" y="314"/>
                  </a:cubicBezTo>
                  <a:cubicBezTo>
                    <a:pt x="288" y="313"/>
                    <a:pt x="289" y="314"/>
                    <a:pt x="290" y="315"/>
                  </a:cubicBezTo>
                  <a:cubicBezTo>
                    <a:pt x="290" y="315"/>
                    <a:pt x="292" y="316"/>
                    <a:pt x="293" y="316"/>
                  </a:cubicBezTo>
                  <a:cubicBezTo>
                    <a:pt x="293" y="316"/>
                    <a:pt x="295" y="319"/>
                    <a:pt x="296" y="321"/>
                  </a:cubicBezTo>
                  <a:cubicBezTo>
                    <a:pt x="297" y="323"/>
                    <a:pt x="298" y="323"/>
                    <a:pt x="300" y="323"/>
                  </a:cubicBezTo>
                  <a:cubicBezTo>
                    <a:pt x="303" y="324"/>
                    <a:pt x="303" y="325"/>
                    <a:pt x="304" y="326"/>
                  </a:cubicBezTo>
                  <a:cubicBezTo>
                    <a:pt x="305" y="327"/>
                    <a:pt x="308" y="328"/>
                    <a:pt x="309" y="329"/>
                  </a:cubicBezTo>
                  <a:cubicBezTo>
                    <a:pt x="311" y="329"/>
                    <a:pt x="313" y="330"/>
                    <a:pt x="314" y="330"/>
                  </a:cubicBezTo>
                  <a:cubicBezTo>
                    <a:pt x="315" y="330"/>
                    <a:pt x="318" y="327"/>
                    <a:pt x="319" y="327"/>
                  </a:cubicBezTo>
                  <a:cubicBezTo>
                    <a:pt x="319" y="326"/>
                    <a:pt x="321" y="328"/>
                    <a:pt x="321" y="330"/>
                  </a:cubicBezTo>
                  <a:cubicBezTo>
                    <a:pt x="322" y="332"/>
                    <a:pt x="322" y="333"/>
                    <a:pt x="325" y="334"/>
                  </a:cubicBezTo>
                  <a:cubicBezTo>
                    <a:pt x="328" y="334"/>
                    <a:pt x="337" y="335"/>
                    <a:pt x="338" y="335"/>
                  </a:cubicBezTo>
                  <a:cubicBezTo>
                    <a:pt x="338" y="335"/>
                    <a:pt x="338" y="335"/>
                    <a:pt x="339" y="335"/>
                  </a:cubicBezTo>
                  <a:cubicBezTo>
                    <a:pt x="339" y="335"/>
                    <a:pt x="339" y="335"/>
                    <a:pt x="339" y="335"/>
                  </a:cubicBezTo>
                  <a:cubicBezTo>
                    <a:pt x="340" y="336"/>
                    <a:pt x="342" y="336"/>
                    <a:pt x="344" y="336"/>
                  </a:cubicBezTo>
                  <a:cubicBezTo>
                    <a:pt x="344" y="336"/>
                    <a:pt x="344" y="336"/>
                    <a:pt x="344" y="336"/>
                  </a:cubicBezTo>
                  <a:cubicBezTo>
                    <a:pt x="345" y="336"/>
                    <a:pt x="345" y="336"/>
                    <a:pt x="346" y="336"/>
                  </a:cubicBezTo>
                  <a:cubicBezTo>
                    <a:pt x="349" y="335"/>
                    <a:pt x="349" y="335"/>
                    <a:pt x="351" y="335"/>
                  </a:cubicBezTo>
                  <a:cubicBezTo>
                    <a:pt x="352" y="335"/>
                    <a:pt x="352" y="336"/>
                    <a:pt x="354" y="336"/>
                  </a:cubicBezTo>
                  <a:cubicBezTo>
                    <a:pt x="356" y="336"/>
                    <a:pt x="362" y="335"/>
                    <a:pt x="363" y="335"/>
                  </a:cubicBezTo>
                  <a:cubicBezTo>
                    <a:pt x="364" y="335"/>
                    <a:pt x="365" y="338"/>
                    <a:pt x="366" y="339"/>
                  </a:cubicBezTo>
                  <a:cubicBezTo>
                    <a:pt x="367" y="339"/>
                    <a:pt x="366" y="341"/>
                    <a:pt x="368" y="342"/>
                  </a:cubicBezTo>
                  <a:cubicBezTo>
                    <a:pt x="368" y="342"/>
                    <a:pt x="369" y="342"/>
                    <a:pt x="369" y="342"/>
                  </a:cubicBezTo>
                  <a:cubicBezTo>
                    <a:pt x="369" y="342"/>
                    <a:pt x="369" y="342"/>
                    <a:pt x="369" y="342"/>
                  </a:cubicBezTo>
                  <a:cubicBezTo>
                    <a:pt x="370" y="342"/>
                    <a:pt x="370" y="342"/>
                    <a:pt x="370" y="342"/>
                  </a:cubicBezTo>
                  <a:cubicBezTo>
                    <a:pt x="370" y="342"/>
                    <a:pt x="370" y="342"/>
                    <a:pt x="370" y="342"/>
                  </a:cubicBezTo>
                  <a:cubicBezTo>
                    <a:pt x="371" y="342"/>
                    <a:pt x="371" y="342"/>
                    <a:pt x="371" y="342"/>
                  </a:cubicBezTo>
                  <a:cubicBezTo>
                    <a:pt x="371" y="342"/>
                    <a:pt x="372" y="342"/>
                    <a:pt x="372" y="342"/>
                  </a:cubicBezTo>
                  <a:cubicBezTo>
                    <a:pt x="373" y="342"/>
                    <a:pt x="372" y="342"/>
                    <a:pt x="373" y="344"/>
                  </a:cubicBezTo>
                  <a:cubicBezTo>
                    <a:pt x="373" y="347"/>
                    <a:pt x="379" y="346"/>
                    <a:pt x="380" y="347"/>
                  </a:cubicBezTo>
                  <a:cubicBezTo>
                    <a:pt x="381" y="347"/>
                    <a:pt x="379" y="348"/>
                    <a:pt x="378" y="348"/>
                  </a:cubicBezTo>
                  <a:cubicBezTo>
                    <a:pt x="376" y="349"/>
                    <a:pt x="374" y="347"/>
                    <a:pt x="374" y="348"/>
                  </a:cubicBezTo>
                  <a:cubicBezTo>
                    <a:pt x="374" y="348"/>
                    <a:pt x="381" y="356"/>
                    <a:pt x="382" y="357"/>
                  </a:cubicBezTo>
                  <a:cubicBezTo>
                    <a:pt x="384" y="357"/>
                    <a:pt x="387" y="356"/>
                    <a:pt x="388" y="355"/>
                  </a:cubicBezTo>
                  <a:cubicBezTo>
                    <a:pt x="389" y="354"/>
                    <a:pt x="388" y="349"/>
                    <a:pt x="389" y="350"/>
                  </a:cubicBezTo>
                  <a:cubicBezTo>
                    <a:pt x="389" y="350"/>
                    <a:pt x="390" y="353"/>
                    <a:pt x="390" y="354"/>
                  </a:cubicBezTo>
                  <a:cubicBezTo>
                    <a:pt x="391" y="354"/>
                    <a:pt x="392" y="360"/>
                    <a:pt x="392" y="361"/>
                  </a:cubicBezTo>
                  <a:cubicBezTo>
                    <a:pt x="392" y="362"/>
                    <a:pt x="393" y="366"/>
                    <a:pt x="394" y="369"/>
                  </a:cubicBezTo>
                  <a:cubicBezTo>
                    <a:pt x="395" y="372"/>
                    <a:pt x="399" y="380"/>
                    <a:pt x="400" y="382"/>
                  </a:cubicBezTo>
                  <a:cubicBezTo>
                    <a:pt x="401" y="384"/>
                    <a:pt x="403" y="386"/>
                    <a:pt x="403" y="388"/>
                  </a:cubicBezTo>
                  <a:cubicBezTo>
                    <a:pt x="403" y="390"/>
                    <a:pt x="407" y="395"/>
                    <a:pt x="407" y="396"/>
                  </a:cubicBezTo>
                  <a:cubicBezTo>
                    <a:pt x="408" y="397"/>
                    <a:pt x="413" y="406"/>
                    <a:pt x="414" y="408"/>
                  </a:cubicBezTo>
                  <a:cubicBezTo>
                    <a:pt x="415" y="409"/>
                    <a:pt x="417" y="411"/>
                    <a:pt x="418" y="411"/>
                  </a:cubicBezTo>
                  <a:cubicBezTo>
                    <a:pt x="419" y="412"/>
                    <a:pt x="421" y="409"/>
                    <a:pt x="421" y="408"/>
                  </a:cubicBezTo>
                  <a:cubicBezTo>
                    <a:pt x="421" y="407"/>
                    <a:pt x="423" y="407"/>
                    <a:pt x="423" y="407"/>
                  </a:cubicBezTo>
                  <a:cubicBezTo>
                    <a:pt x="424" y="407"/>
                    <a:pt x="425" y="404"/>
                    <a:pt x="425" y="404"/>
                  </a:cubicBezTo>
                  <a:cubicBezTo>
                    <a:pt x="426" y="403"/>
                    <a:pt x="427" y="402"/>
                    <a:pt x="428" y="400"/>
                  </a:cubicBezTo>
                  <a:cubicBezTo>
                    <a:pt x="428" y="399"/>
                    <a:pt x="427" y="397"/>
                    <a:pt x="426" y="396"/>
                  </a:cubicBezTo>
                  <a:cubicBezTo>
                    <a:pt x="426" y="395"/>
                    <a:pt x="427" y="393"/>
                    <a:pt x="428" y="392"/>
                  </a:cubicBezTo>
                  <a:cubicBezTo>
                    <a:pt x="428" y="391"/>
                    <a:pt x="429" y="387"/>
                    <a:pt x="428" y="385"/>
                  </a:cubicBezTo>
                  <a:cubicBezTo>
                    <a:pt x="428" y="382"/>
                    <a:pt x="428" y="380"/>
                    <a:pt x="428" y="378"/>
                  </a:cubicBezTo>
                  <a:cubicBezTo>
                    <a:pt x="429" y="377"/>
                    <a:pt x="430" y="377"/>
                    <a:pt x="431" y="377"/>
                  </a:cubicBezTo>
                  <a:cubicBezTo>
                    <a:pt x="432" y="376"/>
                    <a:pt x="432" y="375"/>
                    <a:pt x="433" y="375"/>
                  </a:cubicBezTo>
                  <a:cubicBezTo>
                    <a:pt x="434" y="374"/>
                    <a:pt x="434" y="371"/>
                    <a:pt x="436" y="370"/>
                  </a:cubicBezTo>
                  <a:cubicBezTo>
                    <a:pt x="438" y="369"/>
                    <a:pt x="444" y="364"/>
                    <a:pt x="447" y="362"/>
                  </a:cubicBezTo>
                  <a:cubicBezTo>
                    <a:pt x="449" y="359"/>
                    <a:pt x="451" y="359"/>
                    <a:pt x="452" y="359"/>
                  </a:cubicBezTo>
                  <a:cubicBezTo>
                    <a:pt x="453" y="359"/>
                    <a:pt x="453" y="358"/>
                    <a:pt x="453" y="356"/>
                  </a:cubicBezTo>
                  <a:cubicBezTo>
                    <a:pt x="453" y="355"/>
                    <a:pt x="452" y="353"/>
                    <a:pt x="453" y="353"/>
                  </a:cubicBezTo>
                  <a:cubicBezTo>
                    <a:pt x="454" y="353"/>
                    <a:pt x="456" y="352"/>
                    <a:pt x="457" y="351"/>
                  </a:cubicBezTo>
                  <a:cubicBezTo>
                    <a:pt x="458" y="351"/>
                    <a:pt x="460" y="352"/>
                    <a:pt x="460" y="352"/>
                  </a:cubicBezTo>
                  <a:cubicBezTo>
                    <a:pt x="460" y="352"/>
                    <a:pt x="460" y="352"/>
                    <a:pt x="461" y="352"/>
                  </a:cubicBezTo>
                  <a:cubicBezTo>
                    <a:pt x="461" y="352"/>
                    <a:pt x="461" y="352"/>
                    <a:pt x="461" y="352"/>
                  </a:cubicBezTo>
                  <a:cubicBezTo>
                    <a:pt x="461" y="352"/>
                    <a:pt x="461" y="352"/>
                    <a:pt x="461" y="352"/>
                  </a:cubicBezTo>
                  <a:cubicBezTo>
                    <a:pt x="461" y="352"/>
                    <a:pt x="462" y="352"/>
                    <a:pt x="462" y="352"/>
                  </a:cubicBezTo>
                  <a:cubicBezTo>
                    <a:pt x="462" y="352"/>
                    <a:pt x="462" y="352"/>
                    <a:pt x="462" y="352"/>
                  </a:cubicBezTo>
                  <a:cubicBezTo>
                    <a:pt x="462" y="351"/>
                    <a:pt x="462" y="351"/>
                    <a:pt x="462" y="351"/>
                  </a:cubicBezTo>
                  <a:cubicBezTo>
                    <a:pt x="463" y="351"/>
                    <a:pt x="463" y="351"/>
                    <a:pt x="463" y="351"/>
                  </a:cubicBezTo>
                  <a:cubicBezTo>
                    <a:pt x="463" y="351"/>
                    <a:pt x="463" y="351"/>
                    <a:pt x="463" y="351"/>
                  </a:cubicBezTo>
                  <a:cubicBezTo>
                    <a:pt x="463" y="351"/>
                    <a:pt x="463" y="351"/>
                    <a:pt x="464" y="351"/>
                  </a:cubicBezTo>
                  <a:cubicBezTo>
                    <a:pt x="464" y="351"/>
                    <a:pt x="464" y="351"/>
                    <a:pt x="464" y="351"/>
                  </a:cubicBezTo>
                  <a:cubicBezTo>
                    <a:pt x="464" y="351"/>
                    <a:pt x="464" y="351"/>
                    <a:pt x="464" y="351"/>
                  </a:cubicBezTo>
                  <a:cubicBezTo>
                    <a:pt x="464" y="351"/>
                    <a:pt x="464" y="351"/>
                    <a:pt x="464" y="351"/>
                  </a:cubicBezTo>
                  <a:cubicBezTo>
                    <a:pt x="464" y="350"/>
                    <a:pt x="465" y="350"/>
                    <a:pt x="465" y="350"/>
                  </a:cubicBezTo>
                  <a:cubicBezTo>
                    <a:pt x="465" y="350"/>
                    <a:pt x="466" y="350"/>
                    <a:pt x="467" y="351"/>
                  </a:cubicBezTo>
                  <a:cubicBezTo>
                    <a:pt x="469" y="351"/>
                    <a:pt x="468" y="350"/>
                    <a:pt x="468" y="349"/>
                  </a:cubicBezTo>
                  <a:cubicBezTo>
                    <a:pt x="468" y="348"/>
                    <a:pt x="469" y="348"/>
                    <a:pt x="469" y="348"/>
                  </a:cubicBezTo>
                  <a:cubicBezTo>
                    <a:pt x="470" y="349"/>
                    <a:pt x="471" y="348"/>
                    <a:pt x="471" y="347"/>
                  </a:cubicBezTo>
                  <a:cubicBezTo>
                    <a:pt x="471" y="346"/>
                    <a:pt x="472" y="349"/>
                    <a:pt x="473" y="350"/>
                  </a:cubicBezTo>
                  <a:cubicBezTo>
                    <a:pt x="473" y="351"/>
                    <a:pt x="474" y="353"/>
                    <a:pt x="475" y="354"/>
                  </a:cubicBezTo>
                  <a:cubicBezTo>
                    <a:pt x="475" y="354"/>
                    <a:pt x="475" y="354"/>
                    <a:pt x="475" y="354"/>
                  </a:cubicBezTo>
                  <a:cubicBezTo>
                    <a:pt x="475" y="354"/>
                    <a:pt x="475" y="354"/>
                    <a:pt x="475" y="354"/>
                  </a:cubicBezTo>
                  <a:cubicBezTo>
                    <a:pt x="475" y="355"/>
                    <a:pt x="475" y="355"/>
                    <a:pt x="476" y="355"/>
                  </a:cubicBezTo>
                  <a:cubicBezTo>
                    <a:pt x="476" y="355"/>
                    <a:pt x="476" y="355"/>
                    <a:pt x="476" y="355"/>
                  </a:cubicBezTo>
                  <a:cubicBezTo>
                    <a:pt x="476" y="356"/>
                    <a:pt x="476" y="356"/>
                    <a:pt x="476" y="356"/>
                  </a:cubicBezTo>
                  <a:cubicBezTo>
                    <a:pt x="476" y="356"/>
                    <a:pt x="476" y="357"/>
                    <a:pt x="476" y="357"/>
                  </a:cubicBezTo>
                  <a:cubicBezTo>
                    <a:pt x="477" y="357"/>
                    <a:pt x="477" y="357"/>
                    <a:pt x="477" y="357"/>
                  </a:cubicBezTo>
                  <a:cubicBezTo>
                    <a:pt x="477" y="358"/>
                    <a:pt x="477" y="358"/>
                    <a:pt x="478" y="358"/>
                  </a:cubicBezTo>
                  <a:cubicBezTo>
                    <a:pt x="480" y="360"/>
                    <a:pt x="482" y="361"/>
                    <a:pt x="484" y="363"/>
                  </a:cubicBezTo>
                  <a:cubicBezTo>
                    <a:pt x="486" y="365"/>
                    <a:pt x="487" y="368"/>
                    <a:pt x="488" y="369"/>
                  </a:cubicBezTo>
                  <a:cubicBezTo>
                    <a:pt x="488" y="370"/>
                    <a:pt x="487" y="374"/>
                    <a:pt x="487" y="375"/>
                  </a:cubicBezTo>
                  <a:cubicBezTo>
                    <a:pt x="486" y="376"/>
                    <a:pt x="488" y="377"/>
                    <a:pt x="490" y="378"/>
                  </a:cubicBezTo>
                  <a:cubicBezTo>
                    <a:pt x="491" y="378"/>
                    <a:pt x="493" y="377"/>
                    <a:pt x="495" y="376"/>
                  </a:cubicBezTo>
                  <a:cubicBezTo>
                    <a:pt x="497" y="375"/>
                    <a:pt x="498" y="372"/>
                    <a:pt x="499" y="373"/>
                  </a:cubicBezTo>
                  <a:cubicBezTo>
                    <a:pt x="499" y="374"/>
                    <a:pt x="499" y="373"/>
                    <a:pt x="500" y="3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9" name="Freeform 17"/>
            <p:cNvSpPr>
              <a:spLocks/>
            </p:cNvSpPr>
            <p:nvPr/>
          </p:nvSpPr>
          <p:spPr bwMode="auto">
            <a:xfrm>
              <a:off x="5077706" y="4607745"/>
              <a:ext cx="168401" cy="353643"/>
            </a:xfrm>
            <a:custGeom>
              <a:avLst/>
              <a:gdLst>
                <a:gd name="T0" fmla="*/ 26 w 34"/>
                <a:gd name="T1" fmla="*/ 0 h 71"/>
                <a:gd name="T2" fmla="*/ 25 w 34"/>
                <a:gd name="T3" fmla="*/ 4 h 71"/>
                <a:gd name="T4" fmla="*/ 24 w 34"/>
                <a:gd name="T5" fmla="*/ 7 h 71"/>
                <a:gd name="T6" fmla="*/ 22 w 34"/>
                <a:gd name="T7" fmla="*/ 9 h 71"/>
                <a:gd name="T8" fmla="*/ 19 w 34"/>
                <a:gd name="T9" fmla="*/ 10 h 71"/>
                <a:gd name="T10" fmla="*/ 20 w 34"/>
                <a:gd name="T11" fmla="*/ 13 h 71"/>
                <a:gd name="T12" fmla="*/ 17 w 34"/>
                <a:gd name="T13" fmla="*/ 15 h 71"/>
                <a:gd name="T14" fmla="*/ 14 w 34"/>
                <a:gd name="T15" fmla="*/ 18 h 71"/>
                <a:gd name="T16" fmla="*/ 12 w 34"/>
                <a:gd name="T17" fmla="*/ 17 h 71"/>
                <a:gd name="T18" fmla="*/ 8 w 34"/>
                <a:gd name="T19" fmla="*/ 19 h 71"/>
                <a:gd name="T20" fmla="*/ 6 w 34"/>
                <a:gd name="T21" fmla="*/ 20 h 71"/>
                <a:gd name="T22" fmla="*/ 3 w 34"/>
                <a:gd name="T23" fmla="*/ 26 h 71"/>
                <a:gd name="T24" fmla="*/ 7 w 34"/>
                <a:gd name="T25" fmla="*/ 39 h 71"/>
                <a:gd name="T26" fmla="*/ 3 w 34"/>
                <a:gd name="T27" fmla="*/ 45 h 71"/>
                <a:gd name="T28" fmla="*/ 0 w 34"/>
                <a:gd name="T29" fmla="*/ 51 h 71"/>
                <a:gd name="T30" fmla="*/ 2 w 34"/>
                <a:gd name="T31" fmla="*/ 54 h 71"/>
                <a:gd name="T32" fmla="*/ 2 w 34"/>
                <a:gd name="T33" fmla="*/ 56 h 71"/>
                <a:gd name="T34" fmla="*/ 3 w 34"/>
                <a:gd name="T35" fmla="*/ 65 h 71"/>
                <a:gd name="T36" fmla="*/ 7 w 34"/>
                <a:gd name="T37" fmla="*/ 68 h 71"/>
                <a:gd name="T38" fmla="*/ 10 w 34"/>
                <a:gd name="T39" fmla="*/ 71 h 71"/>
                <a:gd name="T40" fmla="*/ 17 w 34"/>
                <a:gd name="T41" fmla="*/ 67 h 71"/>
                <a:gd name="T42" fmla="*/ 20 w 34"/>
                <a:gd name="T43" fmla="*/ 65 h 71"/>
                <a:gd name="T44" fmla="*/ 23 w 34"/>
                <a:gd name="T45" fmla="*/ 53 h 71"/>
                <a:gd name="T46" fmla="*/ 27 w 34"/>
                <a:gd name="T47" fmla="*/ 34 h 71"/>
                <a:gd name="T48" fmla="*/ 30 w 34"/>
                <a:gd name="T49" fmla="*/ 22 h 71"/>
                <a:gd name="T50" fmla="*/ 31 w 34"/>
                <a:gd name="T51" fmla="*/ 17 h 71"/>
                <a:gd name="T52" fmla="*/ 33 w 34"/>
                <a:gd name="T53" fmla="*/ 18 h 71"/>
                <a:gd name="T54" fmla="*/ 31 w 34"/>
                <a:gd name="T55" fmla="*/ 5 h 71"/>
                <a:gd name="T56" fmla="*/ 26 w 34"/>
                <a:gd name="T57" fmla="*/ 0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4" h="71">
                  <a:moveTo>
                    <a:pt x="26" y="0"/>
                  </a:moveTo>
                  <a:cubicBezTo>
                    <a:pt x="24" y="0"/>
                    <a:pt x="25" y="3"/>
                    <a:pt x="25" y="4"/>
                  </a:cubicBezTo>
                  <a:cubicBezTo>
                    <a:pt x="25" y="4"/>
                    <a:pt x="24" y="6"/>
                    <a:pt x="24" y="7"/>
                  </a:cubicBezTo>
                  <a:cubicBezTo>
                    <a:pt x="23" y="7"/>
                    <a:pt x="22" y="8"/>
                    <a:pt x="22" y="9"/>
                  </a:cubicBezTo>
                  <a:cubicBezTo>
                    <a:pt x="22" y="10"/>
                    <a:pt x="21" y="9"/>
                    <a:pt x="19" y="10"/>
                  </a:cubicBezTo>
                  <a:cubicBezTo>
                    <a:pt x="18" y="12"/>
                    <a:pt x="19" y="12"/>
                    <a:pt x="20" y="13"/>
                  </a:cubicBezTo>
                  <a:cubicBezTo>
                    <a:pt x="21" y="14"/>
                    <a:pt x="19" y="14"/>
                    <a:pt x="17" y="15"/>
                  </a:cubicBezTo>
                  <a:cubicBezTo>
                    <a:pt x="16" y="16"/>
                    <a:pt x="16" y="16"/>
                    <a:pt x="14" y="18"/>
                  </a:cubicBezTo>
                  <a:cubicBezTo>
                    <a:pt x="13" y="19"/>
                    <a:pt x="13" y="18"/>
                    <a:pt x="12" y="17"/>
                  </a:cubicBezTo>
                  <a:cubicBezTo>
                    <a:pt x="10" y="17"/>
                    <a:pt x="10" y="18"/>
                    <a:pt x="8" y="19"/>
                  </a:cubicBezTo>
                  <a:cubicBezTo>
                    <a:pt x="7" y="20"/>
                    <a:pt x="6" y="19"/>
                    <a:pt x="6" y="20"/>
                  </a:cubicBezTo>
                  <a:cubicBezTo>
                    <a:pt x="7" y="21"/>
                    <a:pt x="4" y="24"/>
                    <a:pt x="3" y="26"/>
                  </a:cubicBezTo>
                  <a:cubicBezTo>
                    <a:pt x="3" y="28"/>
                    <a:pt x="6" y="37"/>
                    <a:pt x="7" y="39"/>
                  </a:cubicBezTo>
                  <a:cubicBezTo>
                    <a:pt x="7" y="41"/>
                    <a:pt x="5" y="42"/>
                    <a:pt x="3" y="45"/>
                  </a:cubicBezTo>
                  <a:cubicBezTo>
                    <a:pt x="1" y="47"/>
                    <a:pt x="0" y="50"/>
                    <a:pt x="0" y="51"/>
                  </a:cubicBezTo>
                  <a:cubicBezTo>
                    <a:pt x="0" y="53"/>
                    <a:pt x="0" y="53"/>
                    <a:pt x="2" y="54"/>
                  </a:cubicBezTo>
                  <a:cubicBezTo>
                    <a:pt x="3" y="56"/>
                    <a:pt x="1" y="55"/>
                    <a:pt x="2" y="56"/>
                  </a:cubicBezTo>
                  <a:cubicBezTo>
                    <a:pt x="3" y="57"/>
                    <a:pt x="3" y="62"/>
                    <a:pt x="3" y="65"/>
                  </a:cubicBezTo>
                  <a:cubicBezTo>
                    <a:pt x="4" y="67"/>
                    <a:pt x="5" y="68"/>
                    <a:pt x="7" y="68"/>
                  </a:cubicBezTo>
                  <a:cubicBezTo>
                    <a:pt x="8" y="68"/>
                    <a:pt x="8" y="70"/>
                    <a:pt x="10" y="71"/>
                  </a:cubicBezTo>
                  <a:cubicBezTo>
                    <a:pt x="11" y="71"/>
                    <a:pt x="16" y="68"/>
                    <a:pt x="17" y="67"/>
                  </a:cubicBezTo>
                  <a:cubicBezTo>
                    <a:pt x="18" y="67"/>
                    <a:pt x="19" y="66"/>
                    <a:pt x="20" y="65"/>
                  </a:cubicBezTo>
                  <a:cubicBezTo>
                    <a:pt x="21" y="64"/>
                    <a:pt x="22" y="56"/>
                    <a:pt x="23" y="53"/>
                  </a:cubicBezTo>
                  <a:cubicBezTo>
                    <a:pt x="25" y="49"/>
                    <a:pt x="27" y="37"/>
                    <a:pt x="27" y="34"/>
                  </a:cubicBezTo>
                  <a:cubicBezTo>
                    <a:pt x="28" y="31"/>
                    <a:pt x="30" y="23"/>
                    <a:pt x="30" y="22"/>
                  </a:cubicBezTo>
                  <a:cubicBezTo>
                    <a:pt x="31" y="21"/>
                    <a:pt x="30" y="18"/>
                    <a:pt x="31" y="17"/>
                  </a:cubicBezTo>
                  <a:cubicBezTo>
                    <a:pt x="31" y="16"/>
                    <a:pt x="31" y="18"/>
                    <a:pt x="33" y="18"/>
                  </a:cubicBezTo>
                  <a:cubicBezTo>
                    <a:pt x="34" y="18"/>
                    <a:pt x="32" y="7"/>
                    <a:pt x="31" y="5"/>
                  </a:cubicBezTo>
                  <a:cubicBezTo>
                    <a:pt x="31" y="4"/>
                    <a:pt x="27" y="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20" name="Freeform 18"/>
            <p:cNvSpPr>
              <a:spLocks/>
            </p:cNvSpPr>
            <p:nvPr/>
          </p:nvSpPr>
          <p:spPr bwMode="auto">
            <a:xfrm>
              <a:off x="5854457" y="4113065"/>
              <a:ext cx="54731" cy="86307"/>
            </a:xfrm>
            <a:custGeom>
              <a:avLst/>
              <a:gdLst>
                <a:gd name="T0" fmla="*/ 5 w 11"/>
                <a:gd name="T1" fmla="*/ 1 h 17"/>
                <a:gd name="T2" fmla="*/ 2 w 11"/>
                <a:gd name="T3" fmla="*/ 2 h 17"/>
                <a:gd name="T4" fmla="*/ 1 w 11"/>
                <a:gd name="T5" fmla="*/ 4 h 17"/>
                <a:gd name="T6" fmla="*/ 1 w 11"/>
                <a:gd name="T7" fmla="*/ 7 h 17"/>
                <a:gd name="T8" fmla="*/ 5 w 11"/>
                <a:gd name="T9" fmla="*/ 16 h 17"/>
                <a:gd name="T10" fmla="*/ 9 w 11"/>
                <a:gd name="T11" fmla="*/ 14 h 17"/>
                <a:gd name="T12" fmla="*/ 10 w 11"/>
                <a:gd name="T13" fmla="*/ 9 h 17"/>
                <a:gd name="T14" fmla="*/ 5 w 11"/>
                <a:gd name="T15" fmla="*/ 1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" h="17">
                  <a:moveTo>
                    <a:pt x="5" y="1"/>
                  </a:moveTo>
                  <a:cubicBezTo>
                    <a:pt x="2" y="0"/>
                    <a:pt x="4" y="1"/>
                    <a:pt x="2" y="2"/>
                  </a:cubicBezTo>
                  <a:cubicBezTo>
                    <a:pt x="1" y="3"/>
                    <a:pt x="0" y="2"/>
                    <a:pt x="1" y="4"/>
                  </a:cubicBezTo>
                  <a:cubicBezTo>
                    <a:pt x="2" y="5"/>
                    <a:pt x="2" y="4"/>
                    <a:pt x="1" y="7"/>
                  </a:cubicBezTo>
                  <a:cubicBezTo>
                    <a:pt x="0" y="9"/>
                    <a:pt x="2" y="17"/>
                    <a:pt x="5" y="16"/>
                  </a:cubicBezTo>
                  <a:cubicBezTo>
                    <a:pt x="7" y="16"/>
                    <a:pt x="8" y="14"/>
                    <a:pt x="9" y="14"/>
                  </a:cubicBezTo>
                  <a:cubicBezTo>
                    <a:pt x="10" y="14"/>
                    <a:pt x="11" y="11"/>
                    <a:pt x="10" y="9"/>
                  </a:cubicBezTo>
                  <a:cubicBezTo>
                    <a:pt x="10" y="7"/>
                    <a:pt x="7" y="3"/>
                    <a:pt x="5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21" name="Freeform 19"/>
            <p:cNvSpPr>
              <a:spLocks/>
            </p:cNvSpPr>
            <p:nvPr/>
          </p:nvSpPr>
          <p:spPr bwMode="auto">
            <a:xfrm>
              <a:off x="6203890" y="4188846"/>
              <a:ext cx="277863" cy="284177"/>
            </a:xfrm>
            <a:custGeom>
              <a:avLst/>
              <a:gdLst>
                <a:gd name="T0" fmla="*/ 54 w 56"/>
                <a:gd name="T1" fmla="*/ 55 h 57"/>
                <a:gd name="T2" fmla="*/ 56 w 56"/>
                <a:gd name="T3" fmla="*/ 52 h 57"/>
                <a:gd name="T4" fmla="*/ 54 w 56"/>
                <a:gd name="T5" fmla="*/ 46 h 57"/>
                <a:gd name="T6" fmla="*/ 54 w 56"/>
                <a:gd name="T7" fmla="*/ 45 h 57"/>
                <a:gd name="T8" fmla="*/ 54 w 56"/>
                <a:gd name="T9" fmla="*/ 42 h 57"/>
                <a:gd name="T10" fmla="*/ 54 w 56"/>
                <a:gd name="T11" fmla="*/ 39 h 57"/>
                <a:gd name="T12" fmla="*/ 49 w 56"/>
                <a:gd name="T13" fmla="*/ 38 h 57"/>
                <a:gd name="T14" fmla="*/ 46 w 56"/>
                <a:gd name="T15" fmla="*/ 34 h 57"/>
                <a:gd name="T16" fmla="*/ 43 w 56"/>
                <a:gd name="T17" fmla="*/ 30 h 57"/>
                <a:gd name="T18" fmla="*/ 43 w 56"/>
                <a:gd name="T19" fmla="*/ 28 h 57"/>
                <a:gd name="T20" fmla="*/ 39 w 56"/>
                <a:gd name="T21" fmla="*/ 25 h 57"/>
                <a:gd name="T22" fmla="*/ 39 w 56"/>
                <a:gd name="T23" fmla="*/ 23 h 57"/>
                <a:gd name="T24" fmla="*/ 36 w 56"/>
                <a:gd name="T25" fmla="*/ 22 h 57"/>
                <a:gd name="T26" fmla="*/ 35 w 56"/>
                <a:gd name="T27" fmla="*/ 20 h 57"/>
                <a:gd name="T28" fmla="*/ 33 w 56"/>
                <a:gd name="T29" fmla="*/ 20 h 57"/>
                <a:gd name="T30" fmla="*/ 31 w 56"/>
                <a:gd name="T31" fmla="*/ 18 h 57"/>
                <a:gd name="T32" fmla="*/ 26 w 56"/>
                <a:gd name="T33" fmla="*/ 18 h 57"/>
                <a:gd name="T34" fmla="*/ 23 w 56"/>
                <a:gd name="T35" fmla="*/ 14 h 57"/>
                <a:gd name="T36" fmla="*/ 21 w 56"/>
                <a:gd name="T37" fmla="*/ 13 h 57"/>
                <a:gd name="T38" fmla="*/ 14 w 56"/>
                <a:gd name="T39" fmla="*/ 8 h 57"/>
                <a:gd name="T40" fmla="*/ 10 w 56"/>
                <a:gd name="T41" fmla="*/ 4 h 57"/>
                <a:gd name="T42" fmla="*/ 5 w 56"/>
                <a:gd name="T43" fmla="*/ 3 h 57"/>
                <a:gd name="T44" fmla="*/ 1 w 56"/>
                <a:gd name="T45" fmla="*/ 1 h 57"/>
                <a:gd name="T46" fmla="*/ 3 w 56"/>
                <a:gd name="T47" fmla="*/ 7 h 57"/>
                <a:gd name="T48" fmla="*/ 7 w 56"/>
                <a:gd name="T49" fmla="*/ 10 h 57"/>
                <a:gd name="T50" fmla="*/ 8 w 56"/>
                <a:gd name="T51" fmla="*/ 12 h 57"/>
                <a:gd name="T52" fmla="*/ 13 w 56"/>
                <a:gd name="T53" fmla="*/ 16 h 57"/>
                <a:gd name="T54" fmla="*/ 15 w 56"/>
                <a:gd name="T55" fmla="*/ 18 h 57"/>
                <a:gd name="T56" fmla="*/ 19 w 56"/>
                <a:gd name="T57" fmla="*/ 20 h 57"/>
                <a:gd name="T58" fmla="*/ 22 w 56"/>
                <a:gd name="T59" fmla="*/ 26 h 57"/>
                <a:gd name="T60" fmla="*/ 25 w 56"/>
                <a:gd name="T61" fmla="*/ 29 h 57"/>
                <a:gd name="T62" fmla="*/ 28 w 56"/>
                <a:gd name="T63" fmla="*/ 32 h 57"/>
                <a:gd name="T64" fmla="*/ 32 w 56"/>
                <a:gd name="T65" fmla="*/ 39 h 57"/>
                <a:gd name="T66" fmla="*/ 40 w 56"/>
                <a:gd name="T67" fmla="*/ 46 h 57"/>
                <a:gd name="T68" fmla="*/ 47 w 56"/>
                <a:gd name="T69" fmla="*/ 52 h 57"/>
                <a:gd name="T70" fmla="*/ 52 w 56"/>
                <a:gd name="T71" fmla="*/ 56 h 57"/>
                <a:gd name="T72" fmla="*/ 51 w 56"/>
                <a:gd name="T73" fmla="*/ 53 h 57"/>
                <a:gd name="T74" fmla="*/ 54 w 56"/>
                <a:gd name="T75" fmla="*/ 55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56" h="57">
                  <a:moveTo>
                    <a:pt x="54" y="55"/>
                  </a:moveTo>
                  <a:cubicBezTo>
                    <a:pt x="55" y="55"/>
                    <a:pt x="56" y="54"/>
                    <a:pt x="56" y="52"/>
                  </a:cubicBezTo>
                  <a:cubicBezTo>
                    <a:pt x="55" y="51"/>
                    <a:pt x="55" y="47"/>
                    <a:pt x="54" y="46"/>
                  </a:cubicBezTo>
                  <a:cubicBezTo>
                    <a:pt x="53" y="45"/>
                    <a:pt x="52" y="45"/>
                    <a:pt x="54" y="45"/>
                  </a:cubicBezTo>
                  <a:cubicBezTo>
                    <a:pt x="55" y="44"/>
                    <a:pt x="54" y="43"/>
                    <a:pt x="54" y="42"/>
                  </a:cubicBezTo>
                  <a:cubicBezTo>
                    <a:pt x="54" y="41"/>
                    <a:pt x="55" y="40"/>
                    <a:pt x="54" y="39"/>
                  </a:cubicBezTo>
                  <a:cubicBezTo>
                    <a:pt x="52" y="39"/>
                    <a:pt x="49" y="39"/>
                    <a:pt x="49" y="38"/>
                  </a:cubicBezTo>
                  <a:cubicBezTo>
                    <a:pt x="49" y="38"/>
                    <a:pt x="47" y="35"/>
                    <a:pt x="46" y="34"/>
                  </a:cubicBezTo>
                  <a:cubicBezTo>
                    <a:pt x="44" y="32"/>
                    <a:pt x="42" y="31"/>
                    <a:pt x="43" y="30"/>
                  </a:cubicBezTo>
                  <a:cubicBezTo>
                    <a:pt x="43" y="30"/>
                    <a:pt x="43" y="29"/>
                    <a:pt x="43" y="28"/>
                  </a:cubicBezTo>
                  <a:cubicBezTo>
                    <a:pt x="43" y="28"/>
                    <a:pt x="40" y="26"/>
                    <a:pt x="39" y="25"/>
                  </a:cubicBezTo>
                  <a:cubicBezTo>
                    <a:pt x="39" y="24"/>
                    <a:pt x="40" y="23"/>
                    <a:pt x="39" y="23"/>
                  </a:cubicBezTo>
                  <a:cubicBezTo>
                    <a:pt x="38" y="23"/>
                    <a:pt x="38" y="23"/>
                    <a:pt x="36" y="22"/>
                  </a:cubicBezTo>
                  <a:cubicBezTo>
                    <a:pt x="35" y="21"/>
                    <a:pt x="36" y="20"/>
                    <a:pt x="35" y="20"/>
                  </a:cubicBezTo>
                  <a:cubicBezTo>
                    <a:pt x="34" y="20"/>
                    <a:pt x="34" y="20"/>
                    <a:pt x="33" y="20"/>
                  </a:cubicBezTo>
                  <a:cubicBezTo>
                    <a:pt x="32" y="19"/>
                    <a:pt x="32" y="18"/>
                    <a:pt x="31" y="18"/>
                  </a:cubicBezTo>
                  <a:cubicBezTo>
                    <a:pt x="31" y="18"/>
                    <a:pt x="27" y="18"/>
                    <a:pt x="26" y="18"/>
                  </a:cubicBezTo>
                  <a:cubicBezTo>
                    <a:pt x="25" y="16"/>
                    <a:pt x="24" y="15"/>
                    <a:pt x="23" y="14"/>
                  </a:cubicBezTo>
                  <a:cubicBezTo>
                    <a:pt x="23" y="14"/>
                    <a:pt x="22" y="14"/>
                    <a:pt x="21" y="13"/>
                  </a:cubicBezTo>
                  <a:cubicBezTo>
                    <a:pt x="20" y="12"/>
                    <a:pt x="16" y="10"/>
                    <a:pt x="14" y="8"/>
                  </a:cubicBezTo>
                  <a:cubicBezTo>
                    <a:pt x="13" y="6"/>
                    <a:pt x="11" y="4"/>
                    <a:pt x="10" y="4"/>
                  </a:cubicBezTo>
                  <a:cubicBezTo>
                    <a:pt x="9" y="4"/>
                    <a:pt x="6" y="4"/>
                    <a:pt x="5" y="3"/>
                  </a:cubicBezTo>
                  <a:cubicBezTo>
                    <a:pt x="3" y="2"/>
                    <a:pt x="1" y="0"/>
                    <a:pt x="1" y="1"/>
                  </a:cubicBezTo>
                  <a:cubicBezTo>
                    <a:pt x="0" y="2"/>
                    <a:pt x="2" y="6"/>
                    <a:pt x="3" y="7"/>
                  </a:cubicBezTo>
                  <a:cubicBezTo>
                    <a:pt x="4" y="9"/>
                    <a:pt x="7" y="10"/>
                    <a:pt x="7" y="10"/>
                  </a:cubicBezTo>
                  <a:cubicBezTo>
                    <a:pt x="7" y="11"/>
                    <a:pt x="6" y="11"/>
                    <a:pt x="8" y="12"/>
                  </a:cubicBezTo>
                  <a:cubicBezTo>
                    <a:pt x="11" y="14"/>
                    <a:pt x="12" y="15"/>
                    <a:pt x="13" y="16"/>
                  </a:cubicBezTo>
                  <a:cubicBezTo>
                    <a:pt x="14" y="17"/>
                    <a:pt x="13" y="18"/>
                    <a:pt x="15" y="18"/>
                  </a:cubicBezTo>
                  <a:cubicBezTo>
                    <a:pt x="17" y="18"/>
                    <a:pt x="18" y="19"/>
                    <a:pt x="19" y="20"/>
                  </a:cubicBezTo>
                  <a:cubicBezTo>
                    <a:pt x="19" y="21"/>
                    <a:pt x="19" y="25"/>
                    <a:pt x="22" y="26"/>
                  </a:cubicBezTo>
                  <a:cubicBezTo>
                    <a:pt x="24" y="28"/>
                    <a:pt x="24" y="28"/>
                    <a:pt x="25" y="29"/>
                  </a:cubicBezTo>
                  <a:cubicBezTo>
                    <a:pt x="26" y="31"/>
                    <a:pt x="26" y="31"/>
                    <a:pt x="28" y="32"/>
                  </a:cubicBezTo>
                  <a:cubicBezTo>
                    <a:pt x="30" y="33"/>
                    <a:pt x="30" y="37"/>
                    <a:pt x="32" y="39"/>
                  </a:cubicBezTo>
                  <a:cubicBezTo>
                    <a:pt x="34" y="42"/>
                    <a:pt x="39" y="46"/>
                    <a:pt x="40" y="46"/>
                  </a:cubicBezTo>
                  <a:cubicBezTo>
                    <a:pt x="42" y="47"/>
                    <a:pt x="46" y="51"/>
                    <a:pt x="47" y="52"/>
                  </a:cubicBezTo>
                  <a:cubicBezTo>
                    <a:pt x="47" y="52"/>
                    <a:pt x="53" y="57"/>
                    <a:pt x="52" y="56"/>
                  </a:cubicBezTo>
                  <a:cubicBezTo>
                    <a:pt x="51" y="55"/>
                    <a:pt x="50" y="53"/>
                    <a:pt x="51" y="53"/>
                  </a:cubicBezTo>
                  <a:cubicBezTo>
                    <a:pt x="51" y="54"/>
                    <a:pt x="53" y="55"/>
                    <a:pt x="54" y="5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22" name="Freeform 20"/>
            <p:cNvSpPr>
              <a:spLocks/>
            </p:cNvSpPr>
            <p:nvPr/>
          </p:nvSpPr>
          <p:spPr bwMode="auto">
            <a:xfrm>
              <a:off x="6471227" y="4458288"/>
              <a:ext cx="218923" cy="69467"/>
            </a:xfrm>
            <a:custGeom>
              <a:avLst/>
              <a:gdLst>
                <a:gd name="T0" fmla="*/ 40 w 44"/>
                <a:gd name="T1" fmla="*/ 8 h 14"/>
                <a:gd name="T2" fmla="*/ 39 w 44"/>
                <a:gd name="T3" fmla="*/ 7 h 14"/>
                <a:gd name="T4" fmla="*/ 39 w 44"/>
                <a:gd name="T5" fmla="*/ 6 h 14"/>
                <a:gd name="T6" fmla="*/ 39 w 44"/>
                <a:gd name="T7" fmla="*/ 5 h 14"/>
                <a:gd name="T8" fmla="*/ 30 w 44"/>
                <a:gd name="T9" fmla="*/ 4 h 14"/>
                <a:gd name="T10" fmla="*/ 25 w 44"/>
                <a:gd name="T11" fmla="*/ 3 h 14"/>
                <a:gd name="T12" fmla="*/ 21 w 44"/>
                <a:gd name="T13" fmla="*/ 4 h 14"/>
                <a:gd name="T14" fmla="*/ 16 w 44"/>
                <a:gd name="T15" fmla="*/ 4 h 14"/>
                <a:gd name="T16" fmla="*/ 10 w 44"/>
                <a:gd name="T17" fmla="*/ 1 h 14"/>
                <a:gd name="T18" fmla="*/ 7 w 44"/>
                <a:gd name="T19" fmla="*/ 1 h 14"/>
                <a:gd name="T20" fmla="*/ 3 w 44"/>
                <a:gd name="T21" fmla="*/ 2 h 14"/>
                <a:gd name="T22" fmla="*/ 1 w 44"/>
                <a:gd name="T23" fmla="*/ 4 h 14"/>
                <a:gd name="T24" fmla="*/ 6 w 44"/>
                <a:gd name="T25" fmla="*/ 6 h 14"/>
                <a:gd name="T26" fmla="*/ 5 w 44"/>
                <a:gd name="T27" fmla="*/ 7 h 14"/>
                <a:gd name="T28" fmla="*/ 11 w 44"/>
                <a:gd name="T29" fmla="*/ 8 h 14"/>
                <a:gd name="T30" fmla="*/ 20 w 44"/>
                <a:gd name="T31" fmla="*/ 9 h 14"/>
                <a:gd name="T32" fmla="*/ 26 w 44"/>
                <a:gd name="T33" fmla="*/ 11 h 14"/>
                <a:gd name="T34" fmla="*/ 37 w 44"/>
                <a:gd name="T35" fmla="*/ 12 h 14"/>
                <a:gd name="T36" fmla="*/ 43 w 44"/>
                <a:gd name="T37" fmla="*/ 14 h 14"/>
                <a:gd name="T38" fmla="*/ 43 w 44"/>
                <a:gd name="T39" fmla="*/ 9 h 14"/>
                <a:gd name="T40" fmla="*/ 40 w 44"/>
                <a:gd name="T41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4" h="14">
                  <a:moveTo>
                    <a:pt x="40" y="8"/>
                  </a:moveTo>
                  <a:cubicBezTo>
                    <a:pt x="40" y="8"/>
                    <a:pt x="39" y="7"/>
                    <a:pt x="39" y="7"/>
                  </a:cubicBezTo>
                  <a:cubicBezTo>
                    <a:pt x="38" y="6"/>
                    <a:pt x="38" y="6"/>
                    <a:pt x="39" y="6"/>
                  </a:cubicBezTo>
                  <a:cubicBezTo>
                    <a:pt x="39" y="6"/>
                    <a:pt x="40" y="5"/>
                    <a:pt x="39" y="5"/>
                  </a:cubicBezTo>
                  <a:cubicBezTo>
                    <a:pt x="37" y="4"/>
                    <a:pt x="32" y="5"/>
                    <a:pt x="30" y="4"/>
                  </a:cubicBezTo>
                  <a:cubicBezTo>
                    <a:pt x="28" y="3"/>
                    <a:pt x="27" y="3"/>
                    <a:pt x="25" y="3"/>
                  </a:cubicBezTo>
                  <a:cubicBezTo>
                    <a:pt x="23" y="3"/>
                    <a:pt x="23" y="4"/>
                    <a:pt x="21" y="4"/>
                  </a:cubicBezTo>
                  <a:cubicBezTo>
                    <a:pt x="19" y="4"/>
                    <a:pt x="17" y="4"/>
                    <a:pt x="16" y="4"/>
                  </a:cubicBezTo>
                  <a:cubicBezTo>
                    <a:pt x="15" y="4"/>
                    <a:pt x="12" y="1"/>
                    <a:pt x="10" y="1"/>
                  </a:cubicBezTo>
                  <a:cubicBezTo>
                    <a:pt x="9" y="0"/>
                    <a:pt x="9" y="1"/>
                    <a:pt x="7" y="1"/>
                  </a:cubicBezTo>
                  <a:cubicBezTo>
                    <a:pt x="6" y="1"/>
                    <a:pt x="4" y="2"/>
                    <a:pt x="3" y="2"/>
                  </a:cubicBezTo>
                  <a:cubicBezTo>
                    <a:pt x="3" y="3"/>
                    <a:pt x="2" y="4"/>
                    <a:pt x="1" y="4"/>
                  </a:cubicBezTo>
                  <a:cubicBezTo>
                    <a:pt x="0" y="5"/>
                    <a:pt x="4" y="5"/>
                    <a:pt x="6" y="6"/>
                  </a:cubicBezTo>
                  <a:cubicBezTo>
                    <a:pt x="7" y="6"/>
                    <a:pt x="6" y="6"/>
                    <a:pt x="5" y="7"/>
                  </a:cubicBezTo>
                  <a:cubicBezTo>
                    <a:pt x="4" y="8"/>
                    <a:pt x="10" y="8"/>
                    <a:pt x="11" y="8"/>
                  </a:cubicBezTo>
                  <a:cubicBezTo>
                    <a:pt x="13" y="8"/>
                    <a:pt x="18" y="8"/>
                    <a:pt x="20" y="9"/>
                  </a:cubicBezTo>
                  <a:cubicBezTo>
                    <a:pt x="23" y="10"/>
                    <a:pt x="23" y="10"/>
                    <a:pt x="26" y="11"/>
                  </a:cubicBezTo>
                  <a:cubicBezTo>
                    <a:pt x="30" y="13"/>
                    <a:pt x="34" y="12"/>
                    <a:pt x="37" y="12"/>
                  </a:cubicBezTo>
                  <a:cubicBezTo>
                    <a:pt x="40" y="12"/>
                    <a:pt x="39" y="12"/>
                    <a:pt x="43" y="14"/>
                  </a:cubicBezTo>
                  <a:cubicBezTo>
                    <a:pt x="44" y="14"/>
                    <a:pt x="43" y="10"/>
                    <a:pt x="43" y="9"/>
                  </a:cubicBezTo>
                  <a:cubicBezTo>
                    <a:pt x="43" y="8"/>
                    <a:pt x="41" y="8"/>
                    <a:pt x="40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23" name="Freeform 21"/>
            <p:cNvSpPr>
              <a:spLocks/>
            </p:cNvSpPr>
            <p:nvPr/>
          </p:nvSpPr>
          <p:spPr bwMode="auto">
            <a:xfrm>
              <a:off x="6690149" y="4508809"/>
              <a:ext cx="21051" cy="8420"/>
            </a:xfrm>
            <a:custGeom>
              <a:avLst/>
              <a:gdLst>
                <a:gd name="T0" fmla="*/ 1 w 4"/>
                <a:gd name="T1" fmla="*/ 1 h 2"/>
                <a:gd name="T2" fmla="*/ 3 w 4"/>
                <a:gd name="T3" fmla="*/ 2 h 2"/>
                <a:gd name="T4" fmla="*/ 4 w 4"/>
                <a:gd name="T5" fmla="*/ 1 h 2"/>
                <a:gd name="T6" fmla="*/ 1 w 4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2">
                  <a:moveTo>
                    <a:pt x="1" y="1"/>
                  </a:moveTo>
                  <a:cubicBezTo>
                    <a:pt x="0" y="1"/>
                    <a:pt x="1" y="2"/>
                    <a:pt x="3" y="2"/>
                  </a:cubicBezTo>
                  <a:cubicBezTo>
                    <a:pt x="4" y="2"/>
                    <a:pt x="4" y="1"/>
                    <a:pt x="4" y="1"/>
                  </a:cubicBezTo>
                  <a:cubicBezTo>
                    <a:pt x="4" y="0"/>
                    <a:pt x="2" y="0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24" name="Freeform 22"/>
            <p:cNvSpPr>
              <a:spLocks/>
            </p:cNvSpPr>
            <p:nvPr/>
          </p:nvSpPr>
          <p:spPr bwMode="auto">
            <a:xfrm>
              <a:off x="6721725" y="4517228"/>
              <a:ext cx="18945" cy="10525"/>
            </a:xfrm>
            <a:custGeom>
              <a:avLst/>
              <a:gdLst>
                <a:gd name="T0" fmla="*/ 2 w 4"/>
                <a:gd name="T1" fmla="*/ 0 h 2"/>
                <a:gd name="T2" fmla="*/ 2 w 4"/>
                <a:gd name="T3" fmla="*/ 2 h 2"/>
                <a:gd name="T4" fmla="*/ 2 w 4"/>
                <a:gd name="T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" h="2">
                  <a:moveTo>
                    <a:pt x="2" y="0"/>
                  </a:moveTo>
                  <a:cubicBezTo>
                    <a:pt x="1" y="0"/>
                    <a:pt x="0" y="2"/>
                    <a:pt x="2" y="2"/>
                  </a:cubicBezTo>
                  <a:cubicBezTo>
                    <a:pt x="3" y="2"/>
                    <a:pt x="4" y="0"/>
                    <a:pt x="2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25" name="Freeform 23"/>
            <p:cNvSpPr>
              <a:spLocks/>
            </p:cNvSpPr>
            <p:nvPr/>
          </p:nvSpPr>
          <p:spPr bwMode="auto">
            <a:xfrm>
              <a:off x="6744879" y="4517228"/>
              <a:ext cx="25260" cy="10525"/>
            </a:xfrm>
            <a:custGeom>
              <a:avLst/>
              <a:gdLst>
                <a:gd name="T0" fmla="*/ 4 w 5"/>
                <a:gd name="T1" fmla="*/ 2 h 2"/>
                <a:gd name="T2" fmla="*/ 3 w 5"/>
                <a:gd name="T3" fmla="*/ 0 h 2"/>
                <a:gd name="T4" fmla="*/ 0 w 5"/>
                <a:gd name="T5" fmla="*/ 1 h 2"/>
                <a:gd name="T6" fmla="*/ 4 w 5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2">
                  <a:moveTo>
                    <a:pt x="4" y="2"/>
                  </a:moveTo>
                  <a:cubicBezTo>
                    <a:pt x="5" y="2"/>
                    <a:pt x="4" y="1"/>
                    <a:pt x="3" y="0"/>
                  </a:cubicBezTo>
                  <a:cubicBezTo>
                    <a:pt x="1" y="0"/>
                    <a:pt x="1" y="0"/>
                    <a:pt x="0" y="1"/>
                  </a:cubicBezTo>
                  <a:cubicBezTo>
                    <a:pt x="0" y="2"/>
                    <a:pt x="3" y="2"/>
                    <a:pt x="4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26" name="Freeform 24"/>
            <p:cNvSpPr>
              <a:spLocks/>
            </p:cNvSpPr>
            <p:nvPr/>
          </p:nvSpPr>
          <p:spPr bwMode="auto">
            <a:xfrm>
              <a:off x="6755405" y="4513019"/>
              <a:ext cx="39995" cy="14735"/>
            </a:xfrm>
            <a:custGeom>
              <a:avLst/>
              <a:gdLst>
                <a:gd name="T0" fmla="*/ 8 w 8"/>
                <a:gd name="T1" fmla="*/ 1 h 3"/>
                <a:gd name="T2" fmla="*/ 3 w 8"/>
                <a:gd name="T3" fmla="*/ 0 h 3"/>
                <a:gd name="T4" fmla="*/ 6 w 8"/>
                <a:gd name="T5" fmla="*/ 3 h 3"/>
                <a:gd name="T6" fmla="*/ 8 w 8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1"/>
                  </a:moveTo>
                  <a:cubicBezTo>
                    <a:pt x="8" y="1"/>
                    <a:pt x="6" y="0"/>
                    <a:pt x="3" y="0"/>
                  </a:cubicBezTo>
                  <a:cubicBezTo>
                    <a:pt x="0" y="0"/>
                    <a:pt x="5" y="3"/>
                    <a:pt x="6" y="3"/>
                  </a:cubicBezTo>
                  <a:cubicBezTo>
                    <a:pt x="7" y="3"/>
                    <a:pt x="8" y="2"/>
                    <a:pt x="8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27" name="Freeform 25"/>
            <p:cNvSpPr>
              <a:spLocks/>
            </p:cNvSpPr>
            <p:nvPr/>
          </p:nvSpPr>
          <p:spPr bwMode="auto">
            <a:xfrm>
              <a:off x="6795400" y="4531965"/>
              <a:ext cx="54731" cy="35785"/>
            </a:xfrm>
            <a:custGeom>
              <a:avLst/>
              <a:gdLst>
                <a:gd name="T0" fmla="*/ 4 w 11"/>
                <a:gd name="T1" fmla="*/ 1 h 7"/>
                <a:gd name="T2" fmla="*/ 3 w 11"/>
                <a:gd name="T3" fmla="*/ 2 h 7"/>
                <a:gd name="T4" fmla="*/ 9 w 11"/>
                <a:gd name="T5" fmla="*/ 6 h 7"/>
                <a:gd name="T6" fmla="*/ 10 w 11"/>
                <a:gd name="T7" fmla="*/ 5 h 7"/>
                <a:gd name="T8" fmla="*/ 4 w 11"/>
                <a:gd name="T9" fmla="*/ 1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7">
                  <a:moveTo>
                    <a:pt x="4" y="1"/>
                  </a:moveTo>
                  <a:cubicBezTo>
                    <a:pt x="2" y="0"/>
                    <a:pt x="0" y="1"/>
                    <a:pt x="3" y="2"/>
                  </a:cubicBezTo>
                  <a:cubicBezTo>
                    <a:pt x="5" y="3"/>
                    <a:pt x="6" y="5"/>
                    <a:pt x="9" y="6"/>
                  </a:cubicBezTo>
                  <a:cubicBezTo>
                    <a:pt x="11" y="7"/>
                    <a:pt x="10" y="5"/>
                    <a:pt x="10" y="5"/>
                  </a:cubicBezTo>
                  <a:cubicBezTo>
                    <a:pt x="10" y="4"/>
                    <a:pt x="6" y="1"/>
                    <a:pt x="4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auto">
            <a:xfrm>
              <a:off x="6810137" y="4513019"/>
              <a:ext cx="79991" cy="14735"/>
            </a:xfrm>
            <a:custGeom>
              <a:avLst/>
              <a:gdLst>
                <a:gd name="T0" fmla="*/ 12 w 16"/>
                <a:gd name="T1" fmla="*/ 3 h 3"/>
                <a:gd name="T2" fmla="*/ 15 w 16"/>
                <a:gd name="T3" fmla="*/ 1 h 3"/>
                <a:gd name="T4" fmla="*/ 11 w 16"/>
                <a:gd name="T5" fmla="*/ 1 h 3"/>
                <a:gd name="T6" fmla="*/ 4 w 16"/>
                <a:gd name="T7" fmla="*/ 1 h 3"/>
                <a:gd name="T8" fmla="*/ 1 w 16"/>
                <a:gd name="T9" fmla="*/ 2 h 3"/>
                <a:gd name="T10" fmla="*/ 7 w 16"/>
                <a:gd name="T11" fmla="*/ 3 h 3"/>
                <a:gd name="T12" fmla="*/ 12 w 16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" h="3">
                  <a:moveTo>
                    <a:pt x="12" y="3"/>
                  </a:moveTo>
                  <a:cubicBezTo>
                    <a:pt x="13" y="3"/>
                    <a:pt x="14" y="2"/>
                    <a:pt x="15" y="1"/>
                  </a:cubicBezTo>
                  <a:cubicBezTo>
                    <a:pt x="16" y="0"/>
                    <a:pt x="13" y="1"/>
                    <a:pt x="11" y="1"/>
                  </a:cubicBezTo>
                  <a:cubicBezTo>
                    <a:pt x="9" y="2"/>
                    <a:pt x="7" y="1"/>
                    <a:pt x="4" y="1"/>
                  </a:cubicBezTo>
                  <a:cubicBezTo>
                    <a:pt x="2" y="0"/>
                    <a:pt x="2" y="1"/>
                    <a:pt x="1" y="2"/>
                  </a:cubicBezTo>
                  <a:cubicBezTo>
                    <a:pt x="0" y="3"/>
                    <a:pt x="5" y="3"/>
                    <a:pt x="7" y="3"/>
                  </a:cubicBezTo>
                  <a:cubicBezTo>
                    <a:pt x="8" y="3"/>
                    <a:pt x="11" y="3"/>
                    <a:pt x="12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29" name="Freeform 27"/>
            <p:cNvSpPr>
              <a:spLocks/>
            </p:cNvSpPr>
            <p:nvPr/>
          </p:nvSpPr>
          <p:spPr bwMode="auto">
            <a:xfrm>
              <a:off x="6904862" y="4517229"/>
              <a:ext cx="75781" cy="35785"/>
            </a:xfrm>
            <a:custGeom>
              <a:avLst/>
              <a:gdLst>
                <a:gd name="T0" fmla="*/ 3 w 15"/>
                <a:gd name="T1" fmla="*/ 7 h 7"/>
                <a:gd name="T2" fmla="*/ 4 w 15"/>
                <a:gd name="T3" fmla="*/ 7 h 7"/>
                <a:gd name="T4" fmla="*/ 5 w 15"/>
                <a:gd name="T5" fmla="*/ 7 h 7"/>
                <a:gd name="T6" fmla="*/ 5 w 15"/>
                <a:gd name="T7" fmla="*/ 7 h 7"/>
                <a:gd name="T8" fmla="*/ 6 w 15"/>
                <a:gd name="T9" fmla="*/ 7 h 7"/>
                <a:gd name="T10" fmla="*/ 6 w 15"/>
                <a:gd name="T11" fmla="*/ 6 h 7"/>
                <a:gd name="T12" fmla="*/ 7 w 15"/>
                <a:gd name="T13" fmla="*/ 6 h 7"/>
                <a:gd name="T14" fmla="*/ 8 w 15"/>
                <a:gd name="T15" fmla="*/ 5 h 7"/>
                <a:gd name="T16" fmla="*/ 8 w 15"/>
                <a:gd name="T17" fmla="*/ 5 h 7"/>
                <a:gd name="T18" fmla="*/ 8 w 15"/>
                <a:gd name="T19" fmla="*/ 5 h 7"/>
                <a:gd name="T20" fmla="*/ 8 w 15"/>
                <a:gd name="T21" fmla="*/ 4 h 7"/>
                <a:gd name="T22" fmla="*/ 9 w 15"/>
                <a:gd name="T23" fmla="*/ 4 h 7"/>
                <a:gd name="T24" fmla="*/ 9 w 15"/>
                <a:gd name="T25" fmla="*/ 3 h 7"/>
                <a:gd name="T26" fmla="*/ 10 w 15"/>
                <a:gd name="T27" fmla="*/ 3 h 7"/>
                <a:gd name="T28" fmla="*/ 10 w 15"/>
                <a:gd name="T29" fmla="*/ 3 h 7"/>
                <a:gd name="T30" fmla="*/ 13 w 15"/>
                <a:gd name="T31" fmla="*/ 1 h 7"/>
                <a:gd name="T32" fmla="*/ 6 w 15"/>
                <a:gd name="T33" fmla="*/ 2 h 7"/>
                <a:gd name="T34" fmla="*/ 5 w 15"/>
                <a:gd name="T35" fmla="*/ 2 h 7"/>
                <a:gd name="T36" fmla="*/ 5 w 15"/>
                <a:gd name="T37" fmla="*/ 3 h 7"/>
                <a:gd name="T38" fmla="*/ 4 w 15"/>
                <a:gd name="T39" fmla="*/ 3 h 7"/>
                <a:gd name="T40" fmla="*/ 3 w 15"/>
                <a:gd name="T41" fmla="*/ 4 h 7"/>
                <a:gd name="T42" fmla="*/ 3 w 15"/>
                <a:gd name="T43" fmla="*/ 4 h 7"/>
                <a:gd name="T44" fmla="*/ 1 w 15"/>
                <a:gd name="T45" fmla="*/ 5 h 7"/>
                <a:gd name="T46" fmla="*/ 3 w 15"/>
                <a:gd name="T47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5" h="7">
                  <a:moveTo>
                    <a:pt x="3" y="7"/>
                  </a:moveTo>
                  <a:cubicBezTo>
                    <a:pt x="4" y="7"/>
                    <a:pt x="4" y="7"/>
                    <a:pt x="4" y="7"/>
                  </a:cubicBezTo>
                  <a:cubicBezTo>
                    <a:pt x="4" y="7"/>
                    <a:pt x="5" y="7"/>
                    <a:pt x="5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6" y="7"/>
                    <a:pt x="6" y="7"/>
                    <a:pt x="6" y="7"/>
                  </a:cubicBezTo>
                  <a:cubicBezTo>
                    <a:pt x="6" y="6"/>
                    <a:pt x="6" y="6"/>
                    <a:pt x="6" y="6"/>
                  </a:cubicBezTo>
                  <a:cubicBezTo>
                    <a:pt x="7" y="6"/>
                    <a:pt x="7" y="6"/>
                    <a:pt x="7" y="6"/>
                  </a:cubicBezTo>
                  <a:cubicBezTo>
                    <a:pt x="7" y="6"/>
                    <a:pt x="7" y="5"/>
                    <a:pt x="8" y="5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9" y="3"/>
                    <a:pt x="10" y="3"/>
                    <a:pt x="10" y="3"/>
                  </a:cubicBezTo>
                  <a:cubicBezTo>
                    <a:pt x="10" y="3"/>
                    <a:pt x="10" y="3"/>
                    <a:pt x="10" y="3"/>
                  </a:cubicBezTo>
                  <a:cubicBezTo>
                    <a:pt x="11" y="3"/>
                    <a:pt x="15" y="2"/>
                    <a:pt x="13" y="1"/>
                  </a:cubicBezTo>
                  <a:cubicBezTo>
                    <a:pt x="11" y="0"/>
                    <a:pt x="6" y="1"/>
                    <a:pt x="6" y="2"/>
                  </a:cubicBezTo>
                  <a:cubicBezTo>
                    <a:pt x="6" y="2"/>
                    <a:pt x="6" y="2"/>
                    <a:pt x="5" y="2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5" y="3"/>
                    <a:pt x="5" y="3"/>
                    <a:pt x="4" y="3"/>
                  </a:cubicBezTo>
                  <a:cubicBezTo>
                    <a:pt x="4" y="3"/>
                    <a:pt x="4" y="4"/>
                    <a:pt x="3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2" y="4"/>
                    <a:pt x="2" y="5"/>
                    <a:pt x="1" y="5"/>
                  </a:cubicBezTo>
                  <a:cubicBezTo>
                    <a:pt x="0" y="7"/>
                    <a:pt x="1" y="7"/>
                    <a:pt x="3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30" name="Freeform 28"/>
            <p:cNvSpPr>
              <a:spLocks/>
            </p:cNvSpPr>
            <p:nvPr/>
          </p:nvSpPr>
          <p:spPr bwMode="auto">
            <a:xfrm>
              <a:off x="6765930" y="4294096"/>
              <a:ext cx="124196" cy="153667"/>
            </a:xfrm>
            <a:custGeom>
              <a:avLst/>
              <a:gdLst>
                <a:gd name="T0" fmla="*/ 24 w 25"/>
                <a:gd name="T1" fmla="*/ 0 h 31"/>
                <a:gd name="T2" fmla="*/ 21 w 25"/>
                <a:gd name="T3" fmla="*/ 3 h 31"/>
                <a:gd name="T4" fmla="*/ 16 w 25"/>
                <a:gd name="T5" fmla="*/ 3 h 31"/>
                <a:gd name="T6" fmla="*/ 9 w 25"/>
                <a:gd name="T7" fmla="*/ 2 h 31"/>
                <a:gd name="T8" fmla="*/ 6 w 25"/>
                <a:gd name="T9" fmla="*/ 2 h 31"/>
                <a:gd name="T10" fmla="*/ 4 w 25"/>
                <a:gd name="T11" fmla="*/ 4 h 31"/>
                <a:gd name="T12" fmla="*/ 2 w 25"/>
                <a:gd name="T13" fmla="*/ 9 h 31"/>
                <a:gd name="T14" fmla="*/ 1 w 25"/>
                <a:gd name="T15" fmla="*/ 12 h 31"/>
                <a:gd name="T16" fmla="*/ 1 w 25"/>
                <a:gd name="T17" fmla="*/ 17 h 31"/>
                <a:gd name="T18" fmla="*/ 0 w 25"/>
                <a:gd name="T19" fmla="*/ 21 h 31"/>
                <a:gd name="T20" fmla="*/ 4 w 25"/>
                <a:gd name="T21" fmla="*/ 23 h 31"/>
                <a:gd name="T22" fmla="*/ 5 w 25"/>
                <a:gd name="T23" fmla="*/ 28 h 31"/>
                <a:gd name="T24" fmla="*/ 5 w 25"/>
                <a:gd name="T25" fmla="*/ 30 h 31"/>
                <a:gd name="T26" fmla="*/ 9 w 25"/>
                <a:gd name="T27" fmla="*/ 30 h 31"/>
                <a:gd name="T28" fmla="*/ 8 w 25"/>
                <a:gd name="T29" fmla="*/ 23 h 31"/>
                <a:gd name="T30" fmla="*/ 8 w 25"/>
                <a:gd name="T31" fmla="*/ 19 h 31"/>
                <a:gd name="T32" fmla="*/ 11 w 25"/>
                <a:gd name="T33" fmla="*/ 19 h 31"/>
                <a:gd name="T34" fmla="*/ 11 w 25"/>
                <a:gd name="T35" fmla="*/ 22 h 31"/>
                <a:gd name="T36" fmla="*/ 13 w 25"/>
                <a:gd name="T37" fmla="*/ 26 h 31"/>
                <a:gd name="T38" fmla="*/ 15 w 25"/>
                <a:gd name="T39" fmla="*/ 28 h 31"/>
                <a:gd name="T40" fmla="*/ 16 w 25"/>
                <a:gd name="T41" fmla="*/ 27 h 31"/>
                <a:gd name="T42" fmla="*/ 18 w 25"/>
                <a:gd name="T43" fmla="*/ 26 h 31"/>
                <a:gd name="T44" fmla="*/ 16 w 25"/>
                <a:gd name="T45" fmla="*/ 23 h 31"/>
                <a:gd name="T46" fmla="*/ 16 w 25"/>
                <a:gd name="T47" fmla="*/ 20 h 31"/>
                <a:gd name="T48" fmla="*/ 15 w 25"/>
                <a:gd name="T49" fmla="*/ 17 h 31"/>
                <a:gd name="T50" fmla="*/ 12 w 25"/>
                <a:gd name="T51" fmla="*/ 15 h 31"/>
                <a:gd name="T52" fmla="*/ 14 w 25"/>
                <a:gd name="T53" fmla="*/ 12 h 31"/>
                <a:gd name="T54" fmla="*/ 17 w 25"/>
                <a:gd name="T55" fmla="*/ 10 h 31"/>
                <a:gd name="T56" fmla="*/ 16 w 25"/>
                <a:gd name="T57" fmla="*/ 9 h 31"/>
                <a:gd name="T58" fmla="*/ 10 w 25"/>
                <a:gd name="T59" fmla="*/ 11 h 31"/>
                <a:gd name="T60" fmla="*/ 7 w 25"/>
                <a:gd name="T61" fmla="*/ 12 h 31"/>
                <a:gd name="T62" fmla="*/ 4 w 25"/>
                <a:gd name="T63" fmla="*/ 9 h 31"/>
                <a:gd name="T64" fmla="*/ 5 w 25"/>
                <a:gd name="T65" fmla="*/ 6 h 31"/>
                <a:gd name="T66" fmla="*/ 8 w 25"/>
                <a:gd name="T67" fmla="*/ 6 h 31"/>
                <a:gd name="T68" fmla="*/ 13 w 25"/>
                <a:gd name="T69" fmla="*/ 5 h 31"/>
                <a:gd name="T70" fmla="*/ 17 w 25"/>
                <a:gd name="T71" fmla="*/ 6 h 31"/>
                <a:gd name="T72" fmla="*/ 21 w 25"/>
                <a:gd name="T73" fmla="*/ 5 h 31"/>
                <a:gd name="T74" fmla="*/ 24 w 25"/>
                <a:gd name="T75" fmla="*/ 3 h 31"/>
                <a:gd name="T76" fmla="*/ 24 w 25"/>
                <a:gd name="T77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5" h="31">
                  <a:moveTo>
                    <a:pt x="24" y="0"/>
                  </a:moveTo>
                  <a:cubicBezTo>
                    <a:pt x="23" y="0"/>
                    <a:pt x="22" y="2"/>
                    <a:pt x="21" y="3"/>
                  </a:cubicBezTo>
                  <a:cubicBezTo>
                    <a:pt x="20" y="4"/>
                    <a:pt x="17" y="3"/>
                    <a:pt x="16" y="3"/>
                  </a:cubicBezTo>
                  <a:cubicBezTo>
                    <a:pt x="14" y="3"/>
                    <a:pt x="12" y="3"/>
                    <a:pt x="9" y="2"/>
                  </a:cubicBezTo>
                  <a:cubicBezTo>
                    <a:pt x="7" y="1"/>
                    <a:pt x="7" y="1"/>
                    <a:pt x="6" y="2"/>
                  </a:cubicBezTo>
                  <a:cubicBezTo>
                    <a:pt x="6" y="3"/>
                    <a:pt x="5" y="3"/>
                    <a:pt x="4" y="4"/>
                  </a:cubicBezTo>
                  <a:cubicBezTo>
                    <a:pt x="3" y="5"/>
                    <a:pt x="3" y="8"/>
                    <a:pt x="2" y="9"/>
                  </a:cubicBezTo>
                  <a:cubicBezTo>
                    <a:pt x="1" y="10"/>
                    <a:pt x="1" y="11"/>
                    <a:pt x="1" y="12"/>
                  </a:cubicBezTo>
                  <a:cubicBezTo>
                    <a:pt x="0" y="13"/>
                    <a:pt x="1" y="15"/>
                    <a:pt x="1" y="17"/>
                  </a:cubicBezTo>
                  <a:cubicBezTo>
                    <a:pt x="0" y="19"/>
                    <a:pt x="0" y="18"/>
                    <a:pt x="0" y="21"/>
                  </a:cubicBezTo>
                  <a:cubicBezTo>
                    <a:pt x="1" y="23"/>
                    <a:pt x="2" y="22"/>
                    <a:pt x="4" y="23"/>
                  </a:cubicBezTo>
                  <a:cubicBezTo>
                    <a:pt x="5" y="24"/>
                    <a:pt x="6" y="26"/>
                    <a:pt x="5" y="28"/>
                  </a:cubicBezTo>
                  <a:cubicBezTo>
                    <a:pt x="4" y="30"/>
                    <a:pt x="4" y="30"/>
                    <a:pt x="5" y="30"/>
                  </a:cubicBezTo>
                  <a:cubicBezTo>
                    <a:pt x="6" y="31"/>
                    <a:pt x="8" y="30"/>
                    <a:pt x="9" y="30"/>
                  </a:cubicBezTo>
                  <a:cubicBezTo>
                    <a:pt x="9" y="30"/>
                    <a:pt x="8" y="24"/>
                    <a:pt x="8" y="23"/>
                  </a:cubicBezTo>
                  <a:cubicBezTo>
                    <a:pt x="7" y="22"/>
                    <a:pt x="8" y="19"/>
                    <a:pt x="8" y="19"/>
                  </a:cubicBezTo>
                  <a:cubicBezTo>
                    <a:pt x="8" y="19"/>
                    <a:pt x="12" y="18"/>
                    <a:pt x="11" y="19"/>
                  </a:cubicBezTo>
                  <a:cubicBezTo>
                    <a:pt x="10" y="20"/>
                    <a:pt x="10" y="21"/>
                    <a:pt x="11" y="22"/>
                  </a:cubicBezTo>
                  <a:cubicBezTo>
                    <a:pt x="13" y="24"/>
                    <a:pt x="12" y="25"/>
                    <a:pt x="13" y="26"/>
                  </a:cubicBezTo>
                  <a:cubicBezTo>
                    <a:pt x="13" y="26"/>
                    <a:pt x="14" y="27"/>
                    <a:pt x="15" y="28"/>
                  </a:cubicBezTo>
                  <a:cubicBezTo>
                    <a:pt x="16" y="28"/>
                    <a:pt x="16" y="27"/>
                    <a:pt x="16" y="27"/>
                  </a:cubicBezTo>
                  <a:cubicBezTo>
                    <a:pt x="16" y="26"/>
                    <a:pt x="17" y="26"/>
                    <a:pt x="18" y="26"/>
                  </a:cubicBezTo>
                  <a:cubicBezTo>
                    <a:pt x="19" y="25"/>
                    <a:pt x="17" y="24"/>
                    <a:pt x="16" y="23"/>
                  </a:cubicBezTo>
                  <a:cubicBezTo>
                    <a:pt x="15" y="21"/>
                    <a:pt x="16" y="21"/>
                    <a:pt x="16" y="20"/>
                  </a:cubicBezTo>
                  <a:cubicBezTo>
                    <a:pt x="17" y="20"/>
                    <a:pt x="17" y="18"/>
                    <a:pt x="15" y="17"/>
                  </a:cubicBezTo>
                  <a:cubicBezTo>
                    <a:pt x="12" y="17"/>
                    <a:pt x="13" y="16"/>
                    <a:pt x="12" y="15"/>
                  </a:cubicBezTo>
                  <a:cubicBezTo>
                    <a:pt x="12" y="15"/>
                    <a:pt x="13" y="12"/>
                    <a:pt x="14" y="12"/>
                  </a:cubicBezTo>
                  <a:cubicBezTo>
                    <a:pt x="14" y="11"/>
                    <a:pt x="16" y="11"/>
                    <a:pt x="17" y="10"/>
                  </a:cubicBezTo>
                  <a:cubicBezTo>
                    <a:pt x="18" y="9"/>
                    <a:pt x="18" y="9"/>
                    <a:pt x="16" y="9"/>
                  </a:cubicBezTo>
                  <a:cubicBezTo>
                    <a:pt x="13" y="9"/>
                    <a:pt x="10" y="10"/>
                    <a:pt x="10" y="11"/>
                  </a:cubicBezTo>
                  <a:cubicBezTo>
                    <a:pt x="10" y="12"/>
                    <a:pt x="8" y="12"/>
                    <a:pt x="7" y="12"/>
                  </a:cubicBezTo>
                  <a:cubicBezTo>
                    <a:pt x="5" y="12"/>
                    <a:pt x="4" y="10"/>
                    <a:pt x="4" y="9"/>
                  </a:cubicBezTo>
                  <a:cubicBezTo>
                    <a:pt x="5" y="8"/>
                    <a:pt x="6" y="7"/>
                    <a:pt x="5" y="6"/>
                  </a:cubicBezTo>
                  <a:cubicBezTo>
                    <a:pt x="5" y="5"/>
                    <a:pt x="7" y="5"/>
                    <a:pt x="8" y="6"/>
                  </a:cubicBezTo>
                  <a:cubicBezTo>
                    <a:pt x="9" y="6"/>
                    <a:pt x="12" y="6"/>
                    <a:pt x="13" y="5"/>
                  </a:cubicBezTo>
                  <a:cubicBezTo>
                    <a:pt x="13" y="5"/>
                    <a:pt x="15" y="5"/>
                    <a:pt x="17" y="6"/>
                  </a:cubicBezTo>
                  <a:cubicBezTo>
                    <a:pt x="19" y="6"/>
                    <a:pt x="20" y="6"/>
                    <a:pt x="21" y="5"/>
                  </a:cubicBezTo>
                  <a:cubicBezTo>
                    <a:pt x="22" y="5"/>
                    <a:pt x="24" y="3"/>
                    <a:pt x="24" y="3"/>
                  </a:cubicBezTo>
                  <a:cubicBezTo>
                    <a:pt x="25" y="2"/>
                    <a:pt x="25" y="0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31" name="Freeform 29"/>
            <p:cNvSpPr>
              <a:spLocks/>
            </p:cNvSpPr>
            <p:nvPr/>
          </p:nvSpPr>
          <p:spPr bwMode="auto">
            <a:xfrm>
              <a:off x="6536481" y="4167797"/>
              <a:ext cx="218923" cy="250497"/>
            </a:xfrm>
            <a:custGeom>
              <a:avLst/>
              <a:gdLst>
                <a:gd name="T0" fmla="*/ 41 w 44"/>
                <a:gd name="T1" fmla="*/ 28 h 50"/>
                <a:gd name="T2" fmla="*/ 38 w 44"/>
                <a:gd name="T3" fmla="*/ 23 h 50"/>
                <a:gd name="T4" fmla="*/ 34 w 44"/>
                <a:gd name="T5" fmla="*/ 16 h 50"/>
                <a:gd name="T6" fmla="*/ 36 w 44"/>
                <a:gd name="T7" fmla="*/ 15 h 50"/>
                <a:gd name="T8" fmla="*/ 35 w 44"/>
                <a:gd name="T9" fmla="*/ 14 h 50"/>
                <a:gd name="T10" fmla="*/ 35 w 44"/>
                <a:gd name="T11" fmla="*/ 14 h 50"/>
                <a:gd name="T12" fmla="*/ 39 w 44"/>
                <a:gd name="T13" fmla="*/ 12 h 50"/>
                <a:gd name="T14" fmla="*/ 35 w 44"/>
                <a:gd name="T15" fmla="*/ 6 h 50"/>
                <a:gd name="T16" fmla="*/ 31 w 44"/>
                <a:gd name="T17" fmla="*/ 2 h 50"/>
                <a:gd name="T18" fmla="*/ 25 w 44"/>
                <a:gd name="T19" fmla="*/ 6 h 50"/>
                <a:gd name="T20" fmla="*/ 23 w 44"/>
                <a:gd name="T21" fmla="*/ 10 h 50"/>
                <a:gd name="T22" fmla="*/ 22 w 44"/>
                <a:gd name="T23" fmla="*/ 10 h 50"/>
                <a:gd name="T24" fmla="*/ 22 w 44"/>
                <a:gd name="T25" fmla="*/ 10 h 50"/>
                <a:gd name="T26" fmla="*/ 21 w 44"/>
                <a:gd name="T27" fmla="*/ 10 h 50"/>
                <a:gd name="T28" fmla="*/ 19 w 44"/>
                <a:gd name="T29" fmla="*/ 14 h 50"/>
                <a:gd name="T30" fmla="*/ 19 w 44"/>
                <a:gd name="T31" fmla="*/ 14 h 50"/>
                <a:gd name="T32" fmla="*/ 17 w 44"/>
                <a:gd name="T33" fmla="*/ 15 h 50"/>
                <a:gd name="T34" fmla="*/ 16 w 44"/>
                <a:gd name="T35" fmla="*/ 16 h 50"/>
                <a:gd name="T36" fmla="*/ 16 w 44"/>
                <a:gd name="T37" fmla="*/ 16 h 50"/>
                <a:gd name="T38" fmla="*/ 15 w 44"/>
                <a:gd name="T39" fmla="*/ 17 h 50"/>
                <a:gd name="T40" fmla="*/ 15 w 44"/>
                <a:gd name="T41" fmla="*/ 19 h 50"/>
                <a:gd name="T42" fmla="*/ 7 w 44"/>
                <a:gd name="T43" fmla="*/ 25 h 50"/>
                <a:gd name="T44" fmla="*/ 4 w 44"/>
                <a:gd name="T45" fmla="*/ 25 h 50"/>
                <a:gd name="T46" fmla="*/ 2 w 44"/>
                <a:gd name="T47" fmla="*/ 24 h 50"/>
                <a:gd name="T48" fmla="*/ 1 w 44"/>
                <a:gd name="T49" fmla="*/ 23 h 50"/>
                <a:gd name="T50" fmla="*/ 0 w 44"/>
                <a:gd name="T51" fmla="*/ 29 h 50"/>
                <a:gd name="T52" fmla="*/ 4 w 44"/>
                <a:gd name="T53" fmla="*/ 37 h 50"/>
                <a:gd name="T54" fmla="*/ 13 w 44"/>
                <a:gd name="T55" fmla="*/ 45 h 50"/>
                <a:gd name="T56" fmla="*/ 19 w 44"/>
                <a:gd name="T57" fmla="*/ 46 h 50"/>
                <a:gd name="T58" fmla="*/ 27 w 44"/>
                <a:gd name="T59" fmla="*/ 48 h 50"/>
                <a:gd name="T60" fmla="*/ 34 w 44"/>
                <a:gd name="T61" fmla="*/ 44 h 50"/>
                <a:gd name="T62" fmla="*/ 39 w 44"/>
                <a:gd name="T63" fmla="*/ 32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4" h="50">
                  <a:moveTo>
                    <a:pt x="39" y="32"/>
                  </a:moveTo>
                  <a:cubicBezTo>
                    <a:pt x="40" y="29"/>
                    <a:pt x="39" y="28"/>
                    <a:pt x="41" y="28"/>
                  </a:cubicBezTo>
                  <a:cubicBezTo>
                    <a:pt x="43" y="28"/>
                    <a:pt x="44" y="27"/>
                    <a:pt x="43" y="26"/>
                  </a:cubicBezTo>
                  <a:cubicBezTo>
                    <a:pt x="41" y="25"/>
                    <a:pt x="37" y="24"/>
                    <a:pt x="38" y="23"/>
                  </a:cubicBezTo>
                  <a:cubicBezTo>
                    <a:pt x="39" y="22"/>
                    <a:pt x="39" y="21"/>
                    <a:pt x="38" y="21"/>
                  </a:cubicBezTo>
                  <a:cubicBezTo>
                    <a:pt x="38" y="20"/>
                    <a:pt x="33" y="16"/>
                    <a:pt x="34" y="16"/>
                  </a:cubicBezTo>
                  <a:cubicBezTo>
                    <a:pt x="34" y="16"/>
                    <a:pt x="37" y="16"/>
                    <a:pt x="36" y="15"/>
                  </a:cubicBezTo>
                  <a:cubicBezTo>
                    <a:pt x="36" y="15"/>
                    <a:pt x="36" y="15"/>
                    <a:pt x="36" y="15"/>
                  </a:cubicBezTo>
                  <a:cubicBezTo>
                    <a:pt x="36" y="15"/>
                    <a:pt x="36" y="15"/>
                    <a:pt x="35" y="15"/>
                  </a:cubicBezTo>
                  <a:cubicBezTo>
                    <a:pt x="35" y="15"/>
                    <a:pt x="35" y="15"/>
                    <a:pt x="35" y="14"/>
                  </a:cubicBezTo>
                  <a:cubicBezTo>
                    <a:pt x="35" y="14"/>
                    <a:pt x="35" y="14"/>
                    <a:pt x="35" y="14"/>
                  </a:cubicBezTo>
                  <a:cubicBezTo>
                    <a:pt x="35" y="14"/>
                    <a:pt x="35" y="14"/>
                    <a:pt x="35" y="14"/>
                  </a:cubicBezTo>
                  <a:cubicBezTo>
                    <a:pt x="35" y="14"/>
                    <a:pt x="35" y="14"/>
                    <a:pt x="35" y="14"/>
                  </a:cubicBezTo>
                  <a:cubicBezTo>
                    <a:pt x="36" y="14"/>
                    <a:pt x="40" y="13"/>
                    <a:pt x="39" y="12"/>
                  </a:cubicBezTo>
                  <a:cubicBezTo>
                    <a:pt x="37" y="11"/>
                    <a:pt x="42" y="9"/>
                    <a:pt x="41" y="8"/>
                  </a:cubicBezTo>
                  <a:cubicBezTo>
                    <a:pt x="39" y="8"/>
                    <a:pt x="37" y="6"/>
                    <a:pt x="35" y="6"/>
                  </a:cubicBezTo>
                  <a:cubicBezTo>
                    <a:pt x="33" y="5"/>
                    <a:pt x="32" y="5"/>
                    <a:pt x="32" y="4"/>
                  </a:cubicBezTo>
                  <a:cubicBezTo>
                    <a:pt x="32" y="4"/>
                    <a:pt x="32" y="3"/>
                    <a:pt x="31" y="2"/>
                  </a:cubicBezTo>
                  <a:cubicBezTo>
                    <a:pt x="30" y="1"/>
                    <a:pt x="29" y="0"/>
                    <a:pt x="28" y="1"/>
                  </a:cubicBezTo>
                  <a:cubicBezTo>
                    <a:pt x="27" y="1"/>
                    <a:pt x="25" y="6"/>
                    <a:pt x="25" y="6"/>
                  </a:cubicBezTo>
                  <a:cubicBezTo>
                    <a:pt x="25" y="6"/>
                    <a:pt x="24" y="8"/>
                    <a:pt x="24" y="8"/>
                  </a:cubicBezTo>
                  <a:cubicBezTo>
                    <a:pt x="24" y="9"/>
                    <a:pt x="23" y="10"/>
                    <a:pt x="23" y="10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23" y="10"/>
                    <a:pt x="22" y="10"/>
                    <a:pt x="22" y="10"/>
                  </a:cubicBezTo>
                  <a:cubicBezTo>
                    <a:pt x="22" y="10"/>
                    <a:pt x="22" y="10"/>
                    <a:pt x="22" y="10"/>
                  </a:cubicBezTo>
                  <a:cubicBezTo>
                    <a:pt x="22" y="10"/>
                    <a:pt x="22" y="10"/>
                    <a:pt x="22" y="10"/>
                  </a:cubicBezTo>
                  <a:cubicBezTo>
                    <a:pt x="22" y="10"/>
                    <a:pt x="22" y="10"/>
                    <a:pt x="22" y="10"/>
                  </a:cubicBezTo>
                  <a:cubicBezTo>
                    <a:pt x="21" y="10"/>
                    <a:pt x="21" y="10"/>
                    <a:pt x="21" y="10"/>
                  </a:cubicBezTo>
                  <a:cubicBezTo>
                    <a:pt x="21" y="10"/>
                    <a:pt x="20" y="12"/>
                    <a:pt x="19" y="12"/>
                  </a:cubicBezTo>
                  <a:cubicBezTo>
                    <a:pt x="18" y="12"/>
                    <a:pt x="19" y="13"/>
                    <a:pt x="19" y="14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18" y="14"/>
                    <a:pt x="18" y="15"/>
                    <a:pt x="17" y="15"/>
                  </a:cubicBezTo>
                  <a:cubicBezTo>
                    <a:pt x="17" y="15"/>
                    <a:pt x="17" y="15"/>
                    <a:pt x="17" y="15"/>
                  </a:cubicBezTo>
                  <a:cubicBezTo>
                    <a:pt x="17" y="15"/>
                    <a:pt x="17" y="16"/>
                    <a:pt x="17" y="16"/>
                  </a:cubicBezTo>
                  <a:cubicBezTo>
                    <a:pt x="17" y="16"/>
                    <a:pt x="17" y="16"/>
                    <a:pt x="16" y="16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6" y="16"/>
                    <a:pt x="16" y="17"/>
                    <a:pt x="16" y="17"/>
                  </a:cubicBezTo>
                  <a:cubicBezTo>
                    <a:pt x="16" y="17"/>
                    <a:pt x="16" y="17"/>
                    <a:pt x="15" y="17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14" y="17"/>
                    <a:pt x="15" y="18"/>
                    <a:pt x="15" y="19"/>
                  </a:cubicBezTo>
                  <a:cubicBezTo>
                    <a:pt x="14" y="19"/>
                    <a:pt x="10" y="19"/>
                    <a:pt x="9" y="19"/>
                  </a:cubicBezTo>
                  <a:cubicBezTo>
                    <a:pt x="8" y="19"/>
                    <a:pt x="8" y="25"/>
                    <a:pt x="7" y="25"/>
                  </a:cubicBezTo>
                  <a:cubicBezTo>
                    <a:pt x="7" y="25"/>
                    <a:pt x="5" y="25"/>
                    <a:pt x="4" y="25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3" y="25"/>
                    <a:pt x="3" y="24"/>
                    <a:pt x="2" y="24"/>
                  </a:cubicBezTo>
                  <a:cubicBezTo>
                    <a:pt x="2" y="24"/>
                    <a:pt x="2" y="24"/>
                    <a:pt x="2" y="24"/>
                  </a:cubicBezTo>
                  <a:cubicBezTo>
                    <a:pt x="2" y="24"/>
                    <a:pt x="2" y="24"/>
                    <a:pt x="2" y="24"/>
                  </a:cubicBezTo>
                  <a:cubicBezTo>
                    <a:pt x="2" y="23"/>
                    <a:pt x="1" y="23"/>
                    <a:pt x="1" y="23"/>
                  </a:cubicBezTo>
                  <a:cubicBezTo>
                    <a:pt x="1" y="23"/>
                    <a:pt x="1" y="23"/>
                    <a:pt x="1" y="23"/>
                  </a:cubicBezTo>
                  <a:cubicBezTo>
                    <a:pt x="0" y="23"/>
                    <a:pt x="0" y="28"/>
                    <a:pt x="0" y="29"/>
                  </a:cubicBezTo>
                  <a:cubicBezTo>
                    <a:pt x="0" y="30"/>
                    <a:pt x="2" y="36"/>
                    <a:pt x="3" y="36"/>
                  </a:cubicBezTo>
                  <a:cubicBezTo>
                    <a:pt x="4" y="36"/>
                    <a:pt x="4" y="35"/>
                    <a:pt x="4" y="37"/>
                  </a:cubicBezTo>
                  <a:cubicBezTo>
                    <a:pt x="4" y="38"/>
                    <a:pt x="7" y="44"/>
                    <a:pt x="7" y="44"/>
                  </a:cubicBezTo>
                  <a:cubicBezTo>
                    <a:pt x="8" y="44"/>
                    <a:pt x="13" y="45"/>
                    <a:pt x="13" y="45"/>
                  </a:cubicBezTo>
                  <a:cubicBezTo>
                    <a:pt x="14" y="45"/>
                    <a:pt x="13" y="46"/>
                    <a:pt x="14" y="46"/>
                  </a:cubicBezTo>
                  <a:cubicBezTo>
                    <a:pt x="16" y="46"/>
                    <a:pt x="19" y="46"/>
                    <a:pt x="19" y="46"/>
                  </a:cubicBezTo>
                  <a:cubicBezTo>
                    <a:pt x="20" y="45"/>
                    <a:pt x="19" y="45"/>
                    <a:pt x="21" y="46"/>
                  </a:cubicBezTo>
                  <a:cubicBezTo>
                    <a:pt x="24" y="47"/>
                    <a:pt x="27" y="48"/>
                    <a:pt x="27" y="48"/>
                  </a:cubicBezTo>
                  <a:cubicBezTo>
                    <a:pt x="28" y="49"/>
                    <a:pt x="28" y="50"/>
                    <a:pt x="30" y="49"/>
                  </a:cubicBezTo>
                  <a:cubicBezTo>
                    <a:pt x="32" y="48"/>
                    <a:pt x="34" y="46"/>
                    <a:pt x="34" y="44"/>
                  </a:cubicBezTo>
                  <a:cubicBezTo>
                    <a:pt x="34" y="42"/>
                    <a:pt x="34" y="40"/>
                    <a:pt x="35" y="39"/>
                  </a:cubicBezTo>
                  <a:cubicBezTo>
                    <a:pt x="36" y="37"/>
                    <a:pt x="38" y="34"/>
                    <a:pt x="39" y="3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32" name="Freeform 30"/>
            <p:cNvSpPr>
              <a:spLocks/>
            </p:cNvSpPr>
            <p:nvPr/>
          </p:nvSpPr>
          <p:spPr bwMode="auto">
            <a:xfrm>
              <a:off x="6452283" y="3879408"/>
              <a:ext cx="48415" cy="44205"/>
            </a:xfrm>
            <a:custGeom>
              <a:avLst/>
              <a:gdLst>
                <a:gd name="T0" fmla="*/ 5 w 10"/>
                <a:gd name="T1" fmla="*/ 1 h 9"/>
                <a:gd name="T2" fmla="*/ 1 w 10"/>
                <a:gd name="T3" fmla="*/ 3 h 9"/>
                <a:gd name="T4" fmla="*/ 1 w 10"/>
                <a:gd name="T5" fmla="*/ 8 h 9"/>
                <a:gd name="T6" fmla="*/ 8 w 10"/>
                <a:gd name="T7" fmla="*/ 7 h 9"/>
                <a:gd name="T8" fmla="*/ 9 w 10"/>
                <a:gd name="T9" fmla="*/ 4 h 9"/>
                <a:gd name="T10" fmla="*/ 8 w 10"/>
                <a:gd name="T11" fmla="*/ 1 h 9"/>
                <a:gd name="T12" fmla="*/ 5 w 10"/>
                <a:gd name="T13" fmla="*/ 1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" h="9">
                  <a:moveTo>
                    <a:pt x="5" y="1"/>
                  </a:moveTo>
                  <a:cubicBezTo>
                    <a:pt x="3" y="1"/>
                    <a:pt x="2" y="3"/>
                    <a:pt x="1" y="3"/>
                  </a:cubicBezTo>
                  <a:cubicBezTo>
                    <a:pt x="0" y="4"/>
                    <a:pt x="0" y="8"/>
                    <a:pt x="1" y="8"/>
                  </a:cubicBezTo>
                  <a:cubicBezTo>
                    <a:pt x="5" y="9"/>
                    <a:pt x="8" y="7"/>
                    <a:pt x="8" y="7"/>
                  </a:cubicBezTo>
                  <a:cubicBezTo>
                    <a:pt x="8" y="6"/>
                    <a:pt x="8" y="4"/>
                    <a:pt x="9" y="4"/>
                  </a:cubicBezTo>
                  <a:cubicBezTo>
                    <a:pt x="9" y="4"/>
                    <a:pt x="10" y="2"/>
                    <a:pt x="8" y="1"/>
                  </a:cubicBezTo>
                  <a:cubicBezTo>
                    <a:pt x="7" y="0"/>
                    <a:pt x="7" y="0"/>
                    <a:pt x="5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33" name="Freeform 31"/>
            <p:cNvSpPr>
              <a:spLocks/>
            </p:cNvSpPr>
            <p:nvPr/>
          </p:nvSpPr>
          <p:spPr bwMode="auto">
            <a:xfrm>
              <a:off x="6675415" y="3759424"/>
              <a:ext cx="39995" cy="84201"/>
            </a:xfrm>
            <a:custGeom>
              <a:avLst/>
              <a:gdLst>
                <a:gd name="T0" fmla="*/ 5 w 8"/>
                <a:gd name="T1" fmla="*/ 1 h 17"/>
                <a:gd name="T2" fmla="*/ 1 w 8"/>
                <a:gd name="T3" fmla="*/ 5 h 17"/>
                <a:gd name="T4" fmla="*/ 1 w 8"/>
                <a:gd name="T5" fmla="*/ 10 h 17"/>
                <a:gd name="T6" fmla="*/ 4 w 8"/>
                <a:gd name="T7" fmla="*/ 16 h 17"/>
                <a:gd name="T8" fmla="*/ 5 w 8"/>
                <a:gd name="T9" fmla="*/ 15 h 17"/>
                <a:gd name="T10" fmla="*/ 7 w 8"/>
                <a:gd name="T11" fmla="*/ 9 h 17"/>
                <a:gd name="T12" fmla="*/ 7 w 8"/>
                <a:gd name="T13" fmla="*/ 4 h 17"/>
                <a:gd name="T14" fmla="*/ 5 w 8"/>
                <a:gd name="T15" fmla="*/ 1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" h="17">
                  <a:moveTo>
                    <a:pt x="5" y="1"/>
                  </a:moveTo>
                  <a:cubicBezTo>
                    <a:pt x="5" y="0"/>
                    <a:pt x="1" y="4"/>
                    <a:pt x="1" y="5"/>
                  </a:cubicBezTo>
                  <a:cubicBezTo>
                    <a:pt x="1" y="5"/>
                    <a:pt x="0" y="9"/>
                    <a:pt x="1" y="10"/>
                  </a:cubicBezTo>
                  <a:cubicBezTo>
                    <a:pt x="1" y="12"/>
                    <a:pt x="3" y="15"/>
                    <a:pt x="4" y="16"/>
                  </a:cubicBezTo>
                  <a:cubicBezTo>
                    <a:pt x="5" y="17"/>
                    <a:pt x="5" y="17"/>
                    <a:pt x="5" y="15"/>
                  </a:cubicBezTo>
                  <a:cubicBezTo>
                    <a:pt x="6" y="13"/>
                    <a:pt x="6" y="10"/>
                    <a:pt x="7" y="9"/>
                  </a:cubicBezTo>
                  <a:cubicBezTo>
                    <a:pt x="7" y="9"/>
                    <a:pt x="8" y="5"/>
                    <a:pt x="7" y="4"/>
                  </a:cubicBezTo>
                  <a:cubicBezTo>
                    <a:pt x="6" y="3"/>
                    <a:pt x="6" y="2"/>
                    <a:pt x="5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34" name="Freeform 32"/>
            <p:cNvSpPr>
              <a:spLocks/>
            </p:cNvSpPr>
            <p:nvPr/>
          </p:nvSpPr>
          <p:spPr bwMode="auto">
            <a:xfrm>
              <a:off x="6831185" y="3569969"/>
              <a:ext cx="54731" cy="69467"/>
            </a:xfrm>
            <a:custGeom>
              <a:avLst/>
              <a:gdLst>
                <a:gd name="T0" fmla="*/ 8 w 11"/>
                <a:gd name="T1" fmla="*/ 3 h 14"/>
                <a:gd name="T2" fmla="*/ 7 w 11"/>
                <a:gd name="T3" fmla="*/ 1 h 14"/>
                <a:gd name="T4" fmla="*/ 5 w 11"/>
                <a:gd name="T5" fmla="*/ 1 h 14"/>
                <a:gd name="T6" fmla="*/ 2 w 11"/>
                <a:gd name="T7" fmla="*/ 1 h 14"/>
                <a:gd name="T8" fmla="*/ 0 w 11"/>
                <a:gd name="T9" fmla="*/ 3 h 14"/>
                <a:gd name="T10" fmla="*/ 0 w 11"/>
                <a:gd name="T11" fmla="*/ 5 h 14"/>
                <a:gd name="T12" fmla="*/ 3 w 11"/>
                <a:gd name="T13" fmla="*/ 7 h 14"/>
                <a:gd name="T14" fmla="*/ 2 w 11"/>
                <a:gd name="T15" fmla="*/ 5 h 14"/>
                <a:gd name="T16" fmla="*/ 4 w 11"/>
                <a:gd name="T17" fmla="*/ 6 h 14"/>
                <a:gd name="T18" fmla="*/ 4 w 11"/>
                <a:gd name="T19" fmla="*/ 9 h 14"/>
                <a:gd name="T20" fmla="*/ 4 w 11"/>
                <a:gd name="T21" fmla="*/ 11 h 14"/>
                <a:gd name="T22" fmla="*/ 6 w 11"/>
                <a:gd name="T23" fmla="*/ 14 h 14"/>
                <a:gd name="T24" fmla="*/ 6 w 11"/>
                <a:gd name="T25" fmla="*/ 12 h 14"/>
                <a:gd name="T26" fmla="*/ 8 w 11"/>
                <a:gd name="T27" fmla="*/ 14 h 14"/>
                <a:gd name="T28" fmla="*/ 9 w 11"/>
                <a:gd name="T29" fmla="*/ 13 h 14"/>
                <a:gd name="T30" fmla="*/ 9 w 11"/>
                <a:gd name="T31" fmla="*/ 9 h 14"/>
                <a:gd name="T32" fmla="*/ 10 w 11"/>
                <a:gd name="T33" fmla="*/ 5 h 14"/>
                <a:gd name="T34" fmla="*/ 8 w 11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1" h="14">
                  <a:moveTo>
                    <a:pt x="8" y="3"/>
                  </a:moveTo>
                  <a:cubicBezTo>
                    <a:pt x="8" y="2"/>
                    <a:pt x="8" y="1"/>
                    <a:pt x="7" y="1"/>
                  </a:cubicBezTo>
                  <a:cubicBezTo>
                    <a:pt x="6" y="2"/>
                    <a:pt x="6" y="2"/>
                    <a:pt x="5" y="1"/>
                  </a:cubicBezTo>
                  <a:cubicBezTo>
                    <a:pt x="4" y="0"/>
                    <a:pt x="3" y="0"/>
                    <a:pt x="2" y="1"/>
                  </a:cubicBezTo>
                  <a:cubicBezTo>
                    <a:pt x="2" y="2"/>
                    <a:pt x="1" y="3"/>
                    <a:pt x="0" y="3"/>
                  </a:cubicBezTo>
                  <a:cubicBezTo>
                    <a:pt x="0" y="3"/>
                    <a:pt x="0" y="5"/>
                    <a:pt x="0" y="5"/>
                  </a:cubicBezTo>
                  <a:cubicBezTo>
                    <a:pt x="0" y="5"/>
                    <a:pt x="2" y="7"/>
                    <a:pt x="3" y="7"/>
                  </a:cubicBezTo>
                  <a:cubicBezTo>
                    <a:pt x="3" y="7"/>
                    <a:pt x="2" y="5"/>
                    <a:pt x="2" y="5"/>
                  </a:cubicBezTo>
                  <a:cubicBezTo>
                    <a:pt x="3" y="4"/>
                    <a:pt x="4" y="5"/>
                    <a:pt x="4" y="6"/>
                  </a:cubicBezTo>
                  <a:cubicBezTo>
                    <a:pt x="5" y="7"/>
                    <a:pt x="4" y="9"/>
                    <a:pt x="4" y="9"/>
                  </a:cubicBezTo>
                  <a:cubicBezTo>
                    <a:pt x="3" y="9"/>
                    <a:pt x="4" y="11"/>
                    <a:pt x="4" y="11"/>
                  </a:cubicBezTo>
                  <a:cubicBezTo>
                    <a:pt x="4" y="12"/>
                    <a:pt x="5" y="14"/>
                    <a:pt x="6" y="14"/>
                  </a:cubicBezTo>
                  <a:cubicBezTo>
                    <a:pt x="6" y="14"/>
                    <a:pt x="6" y="12"/>
                    <a:pt x="6" y="12"/>
                  </a:cubicBezTo>
                  <a:cubicBezTo>
                    <a:pt x="6" y="12"/>
                    <a:pt x="7" y="14"/>
                    <a:pt x="8" y="14"/>
                  </a:cubicBezTo>
                  <a:cubicBezTo>
                    <a:pt x="8" y="14"/>
                    <a:pt x="9" y="13"/>
                    <a:pt x="9" y="13"/>
                  </a:cubicBezTo>
                  <a:cubicBezTo>
                    <a:pt x="10" y="12"/>
                    <a:pt x="9" y="11"/>
                    <a:pt x="9" y="9"/>
                  </a:cubicBezTo>
                  <a:cubicBezTo>
                    <a:pt x="9" y="8"/>
                    <a:pt x="10" y="6"/>
                    <a:pt x="10" y="5"/>
                  </a:cubicBezTo>
                  <a:cubicBezTo>
                    <a:pt x="11" y="5"/>
                    <a:pt x="9" y="4"/>
                    <a:pt x="8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35" name="Freeform 33"/>
            <p:cNvSpPr>
              <a:spLocks/>
            </p:cNvSpPr>
            <p:nvPr/>
          </p:nvSpPr>
          <p:spPr bwMode="auto">
            <a:xfrm>
              <a:off x="6885917" y="3559446"/>
              <a:ext cx="48415" cy="44205"/>
            </a:xfrm>
            <a:custGeom>
              <a:avLst/>
              <a:gdLst>
                <a:gd name="T0" fmla="*/ 3 w 10"/>
                <a:gd name="T1" fmla="*/ 9 h 9"/>
                <a:gd name="T2" fmla="*/ 5 w 10"/>
                <a:gd name="T3" fmla="*/ 5 h 9"/>
                <a:gd name="T4" fmla="*/ 8 w 10"/>
                <a:gd name="T5" fmla="*/ 5 h 9"/>
                <a:gd name="T6" fmla="*/ 9 w 10"/>
                <a:gd name="T7" fmla="*/ 2 h 9"/>
                <a:gd name="T8" fmla="*/ 6 w 10"/>
                <a:gd name="T9" fmla="*/ 1 h 9"/>
                <a:gd name="T10" fmla="*/ 4 w 10"/>
                <a:gd name="T11" fmla="*/ 3 h 9"/>
                <a:gd name="T12" fmla="*/ 2 w 10"/>
                <a:gd name="T13" fmla="*/ 3 h 9"/>
                <a:gd name="T14" fmla="*/ 0 w 10"/>
                <a:gd name="T15" fmla="*/ 5 h 9"/>
                <a:gd name="T16" fmla="*/ 1 w 10"/>
                <a:gd name="T17" fmla="*/ 6 h 9"/>
                <a:gd name="T18" fmla="*/ 3 w 10"/>
                <a:gd name="T1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" h="9">
                  <a:moveTo>
                    <a:pt x="3" y="9"/>
                  </a:moveTo>
                  <a:cubicBezTo>
                    <a:pt x="4" y="9"/>
                    <a:pt x="5" y="6"/>
                    <a:pt x="5" y="5"/>
                  </a:cubicBezTo>
                  <a:cubicBezTo>
                    <a:pt x="6" y="4"/>
                    <a:pt x="8" y="5"/>
                    <a:pt x="8" y="5"/>
                  </a:cubicBezTo>
                  <a:cubicBezTo>
                    <a:pt x="9" y="5"/>
                    <a:pt x="10" y="2"/>
                    <a:pt x="9" y="2"/>
                  </a:cubicBezTo>
                  <a:cubicBezTo>
                    <a:pt x="9" y="1"/>
                    <a:pt x="7" y="0"/>
                    <a:pt x="6" y="1"/>
                  </a:cubicBezTo>
                  <a:cubicBezTo>
                    <a:pt x="5" y="1"/>
                    <a:pt x="6" y="3"/>
                    <a:pt x="4" y="3"/>
                  </a:cubicBezTo>
                  <a:cubicBezTo>
                    <a:pt x="3" y="3"/>
                    <a:pt x="2" y="2"/>
                    <a:pt x="2" y="3"/>
                  </a:cubicBezTo>
                  <a:cubicBezTo>
                    <a:pt x="1" y="3"/>
                    <a:pt x="0" y="5"/>
                    <a:pt x="0" y="5"/>
                  </a:cubicBezTo>
                  <a:cubicBezTo>
                    <a:pt x="0" y="6"/>
                    <a:pt x="0" y="6"/>
                    <a:pt x="1" y="6"/>
                  </a:cubicBezTo>
                  <a:cubicBezTo>
                    <a:pt x="2" y="6"/>
                    <a:pt x="2" y="8"/>
                    <a:pt x="3" y="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36" name="Freeform 34"/>
            <p:cNvSpPr>
              <a:spLocks/>
            </p:cNvSpPr>
            <p:nvPr/>
          </p:nvSpPr>
          <p:spPr bwMode="auto">
            <a:xfrm>
              <a:off x="6850131" y="3395255"/>
              <a:ext cx="204187" cy="189452"/>
            </a:xfrm>
            <a:custGeom>
              <a:avLst/>
              <a:gdLst>
                <a:gd name="T0" fmla="*/ 37 w 41"/>
                <a:gd name="T1" fmla="*/ 27 h 38"/>
                <a:gd name="T2" fmla="*/ 36 w 41"/>
                <a:gd name="T3" fmla="*/ 30 h 38"/>
                <a:gd name="T4" fmla="*/ 39 w 41"/>
                <a:gd name="T5" fmla="*/ 28 h 38"/>
                <a:gd name="T6" fmla="*/ 39 w 41"/>
                <a:gd name="T7" fmla="*/ 24 h 38"/>
                <a:gd name="T8" fmla="*/ 38 w 41"/>
                <a:gd name="T9" fmla="*/ 16 h 38"/>
                <a:gd name="T10" fmla="*/ 39 w 41"/>
                <a:gd name="T11" fmla="*/ 14 h 38"/>
                <a:gd name="T12" fmla="*/ 40 w 41"/>
                <a:gd name="T13" fmla="*/ 9 h 38"/>
                <a:gd name="T14" fmla="*/ 35 w 41"/>
                <a:gd name="T15" fmla="*/ 1 h 38"/>
                <a:gd name="T16" fmla="*/ 33 w 41"/>
                <a:gd name="T17" fmla="*/ 1 h 38"/>
                <a:gd name="T18" fmla="*/ 35 w 41"/>
                <a:gd name="T19" fmla="*/ 2 h 38"/>
                <a:gd name="T20" fmla="*/ 32 w 41"/>
                <a:gd name="T21" fmla="*/ 1 h 38"/>
                <a:gd name="T22" fmla="*/ 31 w 41"/>
                <a:gd name="T23" fmla="*/ 2 h 38"/>
                <a:gd name="T24" fmla="*/ 31 w 41"/>
                <a:gd name="T25" fmla="*/ 5 h 38"/>
                <a:gd name="T26" fmla="*/ 32 w 41"/>
                <a:gd name="T27" fmla="*/ 8 h 38"/>
                <a:gd name="T28" fmla="*/ 31 w 41"/>
                <a:gd name="T29" fmla="*/ 16 h 38"/>
                <a:gd name="T30" fmla="*/ 25 w 41"/>
                <a:gd name="T31" fmla="*/ 21 h 38"/>
                <a:gd name="T32" fmla="*/ 22 w 41"/>
                <a:gd name="T33" fmla="*/ 20 h 38"/>
                <a:gd name="T34" fmla="*/ 21 w 41"/>
                <a:gd name="T35" fmla="*/ 20 h 38"/>
                <a:gd name="T36" fmla="*/ 20 w 41"/>
                <a:gd name="T37" fmla="*/ 25 h 38"/>
                <a:gd name="T38" fmla="*/ 19 w 41"/>
                <a:gd name="T39" fmla="*/ 28 h 38"/>
                <a:gd name="T40" fmla="*/ 15 w 41"/>
                <a:gd name="T41" fmla="*/ 27 h 38"/>
                <a:gd name="T42" fmla="*/ 7 w 41"/>
                <a:gd name="T43" fmla="*/ 28 h 38"/>
                <a:gd name="T44" fmla="*/ 2 w 41"/>
                <a:gd name="T45" fmla="*/ 33 h 38"/>
                <a:gd name="T46" fmla="*/ 3 w 41"/>
                <a:gd name="T47" fmla="*/ 35 h 38"/>
                <a:gd name="T48" fmla="*/ 7 w 41"/>
                <a:gd name="T49" fmla="*/ 34 h 38"/>
                <a:gd name="T50" fmla="*/ 11 w 41"/>
                <a:gd name="T51" fmla="*/ 33 h 38"/>
                <a:gd name="T52" fmla="*/ 15 w 41"/>
                <a:gd name="T53" fmla="*/ 32 h 38"/>
                <a:gd name="T54" fmla="*/ 18 w 41"/>
                <a:gd name="T55" fmla="*/ 34 h 38"/>
                <a:gd name="T56" fmla="*/ 21 w 41"/>
                <a:gd name="T57" fmla="*/ 38 h 38"/>
                <a:gd name="T58" fmla="*/ 25 w 41"/>
                <a:gd name="T59" fmla="*/ 34 h 38"/>
                <a:gd name="T60" fmla="*/ 27 w 41"/>
                <a:gd name="T61" fmla="*/ 33 h 38"/>
                <a:gd name="T62" fmla="*/ 32 w 41"/>
                <a:gd name="T63" fmla="*/ 32 h 38"/>
                <a:gd name="T64" fmla="*/ 34 w 41"/>
                <a:gd name="T65" fmla="*/ 32 h 38"/>
                <a:gd name="T66" fmla="*/ 35 w 41"/>
                <a:gd name="T67" fmla="*/ 2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1" h="38">
                  <a:moveTo>
                    <a:pt x="35" y="28"/>
                  </a:moveTo>
                  <a:cubicBezTo>
                    <a:pt x="36" y="28"/>
                    <a:pt x="36" y="27"/>
                    <a:pt x="37" y="27"/>
                  </a:cubicBezTo>
                  <a:cubicBezTo>
                    <a:pt x="37" y="27"/>
                    <a:pt x="37" y="28"/>
                    <a:pt x="37" y="28"/>
                  </a:cubicBezTo>
                  <a:cubicBezTo>
                    <a:pt x="37" y="28"/>
                    <a:pt x="36" y="29"/>
                    <a:pt x="36" y="30"/>
                  </a:cubicBezTo>
                  <a:cubicBezTo>
                    <a:pt x="37" y="31"/>
                    <a:pt x="38" y="31"/>
                    <a:pt x="39" y="31"/>
                  </a:cubicBezTo>
                  <a:cubicBezTo>
                    <a:pt x="39" y="31"/>
                    <a:pt x="39" y="30"/>
                    <a:pt x="39" y="28"/>
                  </a:cubicBezTo>
                  <a:cubicBezTo>
                    <a:pt x="39" y="27"/>
                    <a:pt x="41" y="28"/>
                    <a:pt x="40" y="27"/>
                  </a:cubicBezTo>
                  <a:cubicBezTo>
                    <a:pt x="39" y="26"/>
                    <a:pt x="39" y="24"/>
                    <a:pt x="39" y="24"/>
                  </a:cubicBezTo>
                  <a:cubicBezTo>
                    <a:pt x="39" y="23"/>
                    <a:pt x="39" y="21"/>
                    <a:pt x="39" y="20"/>
                  </a:cubicBezTo>
                  <a:cubicBezTo>
                    <a:pt x="39" y="19"/>
                    <a:pt x="38" y="16"/>
                    <a:pt x="38" y="16"/>
                  </a:cubicBezTo>
                  <a:cubicBezTo>
                    <a:pt x="38" y="15"/>
                    <a:pt x="38" y="14"/>
                    <a:pt x="38" y="14"/>
                  </a:cubicBezTo>
                  <a:cubicBezTo>
                    <a:pt x="39" y="14"/>
                    <a:pt x="39" y="14"/>
                    <a:pt x="39" y="14"/>
                  </a:cubicBezTo>
                  <a:cubicBezTo>
                    <a:pt x="40" y="14"/>
                    <a:pt x="39" y="13"/>
                    <a:pt x="39" y="12"/>
                  </a:cubicBezTo>
                  <a:cubicBezTo>
                    <a:pt x="39" y="11"/>
                    <a:pt x="40" y="10"/>
                    <a:pt x="40" y="9"/>
                  </a:cubicBezTo>
                  <a:cubicBezTo>
                    <a:pt x="40" y="9"/>
                    <a:pt x="38" y="4"/>
                    <a:pt x="37" y="4"/>
                  </a:cubicBezTo>
                  <a:cubicBezTo>
                    <a:pt x="37" y="4"/>
                    <a:pt x="36" y="1"/>
                    <a:pt x="35" y="1"/>
                  </a:cubicBezTo>
                  <a:cubicBezTo>
                    <a:pt x="35" y="0"/>
                    <a:pt x="34" y="0"/>
                    <a:pt x="34" y="0"/>
                  </a:cubicBezTo>
                  <a:cubicBezTo>
                    <a:pt x="33" y="0"/>
                    <a:pt x="33" y="1"/>
                    <a:pt x="33" y="1"/>
                  </a:cubicBezTo>
                  <a:cubicBezTo>
                    <a:pt x="33" y="1"/>
                    <a:pt x="34" y="1"/>
                    <a:pt x="34" y="1"/>
                  </a:cubicBezTo>
                  <a:cubicBezTo>
                    <a:pt x="35" y="1"/>
                    <a:pt x="35" y="2"/>
                    <a:pt x="35" y="2"/>
                  </a:cubicBezTo>
                  <a:cubicBezTo>
                    <a:pt x="35" y="3"/>
                    <a:pt x="34" y="2"/>
                    <a:pt x="33" y="2"/>
                  </a:cubicBezTo>
                  <a:cubicBezTo>
                    <a:pt x="33" y="2"/>
                    <a:pt x="33" y="2"/>
                    <a:pt x="32" y="1"/>
                  </a:cubicBezTo>
                  <a:cubicBezTo>
                    <a:pt x="32" y="1"/>
                    <a:pt x="32" y="0"/>
                    <a:pt x="31" y="0"/>
                  </a:cubicBezTo>
                  <a:cubicBezTo>
                    <a:pt x="31" y="1"/>
                    <a:pt x="31" y="1"/>
                    <a:pt x="31" y="2"/>
                  </a:cubicBezTo>
                  <a:cubicBezTo>
                    <a:pt x="31" y="2"/>
                    <a:pt x="31" y="3"/>
                    <a:pt x="30" y="3"/>
                  </a:cubicBezTo>
                  <a:cubicBezTo>
                    <a:pt x="30" y="4"/>
                    <a:pt x="31" y="4"/>
                    <a:pt x="31" y="5"/>
                  </a:cubicBezTo>
                  <a:cubicBezTo>
                    <a:pt x="32" y="6"/>
                    <a:pt x="32" y="6"/>
                    <a:pt x="31" y="7"/>
                  </a:cubicBezTo>
                  <a:cubicBezTo>
                    <a:pt x="31" y="7"/>
                    <a:pt x="32" y="7"/>
                    <a:pt x="32" y="8"/>
                  </a:cubicBezTo>
                  <a:cubicBezTo>
                    <a:pt x="33" y="8"/>
                    <a:pt x="32" y="11"/>
                    <a:pt x="32" y="12"/>
                  </a:cubicBezTo>
                  <a:cubicBezTo>
                    <a:pt x="32" y="13"/>
                    <a:pt x="32" y="15"/>
                    <a:pt x="31" y="16"/>
                  </a:cubicBezTo>
                  <a:cubicBezTo>
                    <a:pt x="30" y="17"/>
                    <a:pt x="29" y="19"/>
                    <a:pt x="28" y="19"/>
                  </a:cubicBezTo>
                  <a:cubicBezTo>
                    <a:pt x="27" y="19"/>
                    <a:pt x="25" y="21"/>
                    <a:pt x="25" y="21"/>
                  </a:cubicBezTo>
                  <a:cubicBezTo>
                    <a:pt x="25" y="22"/>
                    <a:pt x="24" y="22"/>
                    <a:pt x="23" y="22"/>
                  </a:cubicBezTo>
                  <a:cubicBezTo>
                    <a:pt x="23" y="22"/>
                    <a:pt x="22" y="21"/>
                    <a:pt x="22" y="20"/>
                  </a:cubicBezTo>
                  <a:cubicBezTo>
                    <a:pt x="23" y="20"/>
                    <a:pt x="23" y="19"/>
                    <a:pt x="23" y="19"/>
                  </a:cubicBezTo>
                  <a:cubicBezTo>
                    <a:pt x="22" y="19"/>
                    <a:pt x="21" y="19"/>
                    <a:pt x="21" y="20"/>
                  </a:cubicBezTo>
                  <a:cubicBezTo>
                    <a:pt x="21" y="20"/>
                    <a:pt x="21" y="21"/>
                    <a:pt x="21" y="22"/>
                  </a:cubicBezTo>
                  <a:cubicBezTo>
                    <a:pt x="21" y="23"/>
                    <a:pt x="20" y="24"/>
                    <a:pt x="20" y="25"/>
                  </a:cubicBezTo>
                  <a:cubicBezTo>
                    <a:pt x="19" y="26"/>
                    <a:pt x="20" y="26"/>
                    <a:pt x="20" y="27"/>
                  </a:cubicBezTo>
                  <a:cubicBezTo>
                    <a:pt x="20" y="28"/>
                    <a:pt x="19" y="28"/>
                    <a:pt x="19" y="28"/>
                  </a:cubicBezTo>
                  <a:cubicBezTo>
                    <a:pt x="18" y="28"/>
                    <a:pt x="18" y="27"/>
                    <a:pt x="17" y="27"/>
                  </a:cubicBezTo>
                  <a:cubicBezTo>
                    <a:pt x="17" y="27"/>
                    <a:pt x="17" y="27"/>
                    <a:pt x="15" y="27"/>
                  </a:cubicBezTo>
                  <a:cubicBezTo>
                    <a:pt x="13" y="27"/>
                    <a:pt x="13" y="27"/>
                    <a:pt x="12" y="28"/>
                  </a:cubicBezTo>
                  <a:cubicBezTo>
                    <a:pt x="11" y="28"/>
                    <a:pt x="8" y="28"/>
                    <a:pt x="7" y="28"/>
                  </a:cubicBezTo>
                  <a:cubicBezTo>
                    <a:pt x="6" y="28"/>
                    <a:pt x="5" y="30"/>
                    <a:pt x="4" y="31"/>
                  </a:cubicBezTo>
                  <a:cubicBezTo>
                    <a:pt x="3" y="31"/>
                    <a:pt x="3" y="32"/>
                    <a:pt x="2" y="33"/>
                  </a:cubicBezTo>
                  <a:cubicBezTo>
                    <a:pt x="2" y="33"/>
                    <a:pt x="0" y="33"/>
                    <a:pt x="0" y="34"/>
                  </a:cubicBezTo>
                  <a:cubicBezTo>
                    <a:pt x="0" y="35"/>
                    <a:pt x="2" y="35"/>
                    <a:pt x="3" y="35"/>
                  </a:cubicBezTo>
                  <a:cubicBezTo>
                    <a:pt x="4" y="35"/>
                    <a:pt x="5" y="35"/>
                    <a:pt x="5" y="34"/>
                  </a:cubicBezTo>
                  <a:cubicBezTo>
                    <a:pt x="5" y="34"/>
                    <a:pt x="6" y="34"/>
                    <a:pt x="7" y="34"/>
                  </a:cubicBezTo>
                  <a:cubicBezTo>
                    <a:pt x="7" y="35"/>
                    <a:pt x="9" y="34"/>
                    <a:pt x="9" y="34"/>
                  </a:cubicBezTo>
                  <a:cubicBezTo>
                    <a:pt x="10" y="34"/>
                    <a:pt x="10" y="33"/>
                    <a:pt x="11" y="33"/>
                  </a:cubicBezTo>
                  <a:cubicBezTo>
                    <a:pt x="11" y="33"/>
                    <a:pt x="12" y="33"/>
                    <a:pt x="13" y="32"/>
                  </a:cubicBezTo>
                  <a:cubicBezTo>
                    <a:pt x="13" y="32"/>
                    <a:pt x="15" y="32"/>
                    <a:pt x="15" y="32"/>
                  </a:cubicBezTo>
                  <a:cubicBezTo>
                    <a:pt x="16" y="32"/>
                    <a:pt x="17" y="32"/>
                    <a:pt x="18" y="32"/>
                  </a:cubicBezTo>
                  <a:cubicBezTo>
                    <a:pt x="19" y="33"/>
                    <a:pt x="18" y="34"/>
                    <a:pt x="18" y="34"/>
                  </a:cubicBezTo>
                  <a:cubicBezTo>
                    <a:pt x="17" y="34"/>
                    <a:pt x="18" y="36"/>
                    <a:pt x="19" y="36"/>
                  </a:cubicBezTo>
                  <a:cubicBezTo>
                    <a:pt x="20" y="37"/>
                    <a:pt x="20" y="38"/>
                    <a:pt x="21" y="38"/>
                  </a:cubicBezTo>
                  <a:cubicBezTo>
                    <a:pt x="23" y="38"/>
                    <a:pt x="23" y="35"/>
                    <a:pt x="24" y="35"/>
                  </a:cubicBezTo>
                  <a:cubicBezTo>
                    <a:pt x="24" y="34"/>
                    <a:pt x="25" y="34"/>
                    <a:pt x="25" y="34"/>
                  </a:cubicBezTo>
                  <a:cubicBezTo>
                    <a:pt x="25" y="34"/>
                    <a:pt x="25" y="32"/>
                    <a:pt x="25" y="32"/>
                  </a:cubicBezTo>
                  <a:cubicBezTo>
                    <a:pt x="26" y="32"/>
                    <a:pt x="26" y="33"/>
                    <a:pt x="27" y="33"/>
                  </a:cubicBezTo>
                  <a:cubicBezTo>
                    <a:pt x="27" y="33"/>
                    <a:pt x="28" y="33"/>
                    <a:pt x="29" y="33"/>
                  </a:cubicBezTo>
                  <a:cubicBezTo>
                    <a:pt x="30" y="33"/>
                    <a:pt x="31" y="32"/>
                    <a:pt x="32" y="32"/>
                  </a:cubicBezTo>
                  <a:cubicBezTo>
                    <a:pt x="32" y="31"/>
                    <a:pt x="32" y="30"/>
                    <a:pt x="33" y="30"/>
                  </a:cubicBezTo>
                  <a:cubicBezTo>
                    <a:pt x="33" y="30"/>
                    <a:pt x="33" y="32"/>
                    <a:pt x="34" y="32"/>
                  </a:cubicBezTo>
                  <a:cubicBezTo>
                    <a:pt x="34" y="32"/>
                    <a:pt x="34" y="29"/>
                    <a:pt x="34" y="29"/>
                  </a:cubicBezTo>
                  <a:cubicBezTo>
                    <a:pt x="34" y="28"/>
                    <a:pt x="35" y="28"/>
                    <a:pt x="35" y="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37" name="Freeform 35"/>
            <p:cNvSpPr>
              <a:spLocks/>
            </p:cNvSpPr>
            <p:nvPr/>
          </p:nvSpPr>
          <p:spPr bwMode="auto">
            <a:xfrm>
              <a:off x="6984853" y="3290004"/>
              <a:ext cx="113671" cy="105251"/>
            </a:xfrm>
            <a:custGeom>
              <a:avLst/>
              <a:gdLst>
                <a:gd name="T0" fmla="*/ 20 w 23"/>
                <a:gd name="T1" fmla="*/ 9 h 21"/>
                <a:gd name="T2" fmla="*/ 20 w 23"/>
                <a:gd name="T3" fmla="*/ 7 h 21"/>
                <a:gd name="T4" fmla="*/ 17 w 23"/>
                <a:gd name="T5" fmla="*/ 8 h 21"/>
                <a:gd name="T6" fmla="*/ 16 w 23"/>
                <a:gd name="T7" fmla="*/ 6 h 21"/>
                <a:gd name="T8" fmla="*/ 14 w 23"/>
                <a:gd name="T9" fmla="*/ 7 h 21"/>
                <a:gd name="T10" fmla="*/ 10 w 23"/>
                <a:gd name="T11" fmla="*/ 4 h 21"/>
                <a:gd name="T12" fmla="*/ 6 w 23"/>
                <a:gd name="T13" fmla="*/ 1 h 21"/>
                <a:gd name="T14" fmla="*/ 5 w 23"/>
                <a:gd name="T15" fmla="*/ 1 h 21"/>
                <a:gd name="T16" fmla="*/ 5 w 23"/>
                <a:gd name="T17" fmla="*/ 3 h 21"/>
                <a:gd name="T18" fmla="*/ 6 w 23"/>
                <a:gd name="T19" fmla="*/ 8 h 21"/>
                <a:gd name="T20" fmla="*/ 6 w 23"/>
                <a:gd name="T21" fmla="*/ 10 h 21"/>
                <a:gd name="T22" fmla="*/ 5 w 23"/>
                <a:gd name="T23" fmla="*/ 13 h 21"/>
                <a:gd name="T24" fmla="*/ 3 w 23"/>
                <a:gd name="T25" fmla="*/ 12 h 21"/>
                <a:gd name="T26" fmla="*/ 2 w 23"/>
                <a:gd name="T27" fmla="*/ 14 h 21"/>
                <a:gd name="T28" fmla="*/ 1 w 23"/>
                <a:gd name="T29" fmla="*/ 15 h 21"/>
                <a:gd name="T30" fmla="*/ 2 w 23"/>
                <a:gd name="T31" fmla="*/ 18 h 21"/>
                <a:gd name="T32" fmla="*/ 2 w 23"/>
                <a:gd name="T33" fmla="*/ 19 h 21"/>
                <a:gd name="T34" fmla="*/ 3 w 23"/>
                <a:gd name="T35" fmla="*/ 20 h 21"/>
                <a:gd name="T36" fmla="*/ 5 w 23"/>
                <a:gd name="T37" fmla="*/ 19 h 21"/>
                <a:gd name="T38" fmla="*/ 6 w 23"/>
                <a:gd name="T39" fmla="*/ 19 h 21"/>
                <a:gd name="T40" fmla="*/ 5 w 23"/>
                <a:gd name="T41" fmla="*/ 17 h 21"/>
                <a:gd name="T42" fmla="*/ 3 w 23"/>
                <a:gd name="T43" fmla="*/ 17 h 21"/>
                <a:gd name="T44" fmla="*/ 3 w 23"/>
                <a:gd name="T45" fmla="*/ 15 h 21"/>
                <a:gd name="T46" fmla="*/ 5 w 23"/>
                <a:gd name="T47" fmla="*/ 16 h 21"/>
                <a:gd name="T48" fmla="*/ 7 w 23"/>
                <a:gd name="T49" fmla="*/ 15 h 21"/>
                <a:gd name="T50" fmla="*/ 10 w 23"/>
                <a:gd name="T51" fmla="*/ 16 h 21"/>
                <a:gd name="T52" fmla="*/ 14 w 23"/>
                <a:gd name="T53" fmla="*/ 18 h 21"/>
                <a:gd name="T54" fmla="*/ 15 w 23"/>
                <a:gd name="T55" fmla="*/ 16 h 21"/>
                <a:gd name="T56" fmla="*/ 18 w 23"/>
                <a:gd name="T57" fmla="*/ 12 h 21"/>
                <a:gd name="T58" fmla="*/ 23 w 23"/>
                <a:gd name="T59" fmla="*/ 11 h 21"/>
                <a:gd name="T60" fmla="*/ 21 w 23"/>
                <a:gd name="T61" fmla="*/ 11 h 21"/>
                <a:gd name="T62" fmla="*/ 20 w 23"/>
                <a:gd name="T63" fmla="*/ 9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" h="21">
                  <a:moveTo>
                    <a:pt x="20" y="9"/>
                  </a:moveTo>
                  <a:cubicBezTo>
                    <a:pt x="20" y="8"/>
                    <a:pt x="20" y="7"/>
                    <a:pt x="20" y="7"/>
                  </a:cubicBezTo>
                  <a:cubicBezTo>
                    <a:pt x="19" y="6"/>
                    <a:pt x="18" y="8"/>
                    <a:pt x="17" y="8"/>
                  </a:cubicBezTo>
                  <a:cubicBezTo>
                    <a:pt x="16" y="8"/>
                    <a:pt x="16" y="7"/>
                    <a:pt x="16" y="6"/>
                  </a:cubicBezTo>
                  <a:cubicBezTo>
                    <a:pt x="16" y="6"/>
                    <a:pt x="15" y="6"/>
                    <a:pt x="14" y="7"/>
                  </a:cubicBezTo>
                  <a:cubicBezTo>
                    <a:pt x="13" y="7"/>
                    <a:pt x="11" y="5"/>
                    <a:pt x="10" y="4"/>
                  </a:cubicBezTo>
                  <a:cubicBezTo>
                    <a:pt x="8" y="3"/>
                    <a:pt x="6" y="1"/>
                    <a:pt x="6" y="1"/>
                  </a:cubicBezTo>
                  <a:cubicBezTo>
                    <a:pt x="6" y="0"/>
                    <a:pt x="5" y="1"/>
                    <a:pt x="5" y="1"/>
                  </a:cubicBezTo>
                  <a:cubicBezTo>
                    <a:pt x="4" y="2"/>
                    <a:pt x="5" y="2"/>
                    <a:pt x="5" y="3"/>
                  </a:cubicBezTo>
                  <a:cubicBezTo>
                    <a:pt x="6" y="3"/>
                    <a:pt x="6" y="7"/>
                    <a:pt x="6" y="8"/>
                  </a:cubicBezTo>
                  <a:cubicBezTo>
                    <a:pt x="6" y="8"/>
                    <a:pt x="6" y="10"/>
                    <a:pt x="6" y="10"/>
                  </a:cubicBezTo>
                  <a:cubicBezTo>
                    <a:pt x="7" y="11"/>
                    <a:pt x="6" y="12"/>
                    <a:pt x="5" y="13"/>
                  </a:cubicBezTo>
                  <a:cubicBezTo>
                    <a:pt x="5" y="13"/>
                    <a:pt x="4" y="12"/>
                    <a:pt x="3" y="12"/>
                  </a:cubicBezTo>
                  <a:cubicBezTo>
                    <a:pt x="2" y="12"/>
                    <a:pt x="3" y="13"/>
                    <a:pt x="2" y="14"/>
                  </a:cubicBezTo>
                  <a:cubicBezTo>
                    <a:pt x="2" y="14"/>
                    <a:pt x="1" y="15"/>
                    <a:pt x="1" y="15"/>
                  </a:cubicBezTo>
                  <a:cubicBezTo>
                    <a:pt x="0" y="16"/>
                    <a:pt x="1" y="17"/>
                    <a:pt x="2" y="18"/>
                  </a:cubicBezTo>
                  <a:cubicBezTo>
                    <a:pt x="3" y="19"/>
                    <a:pt x="2" y="19"/>
                    <a:pt x="2" y="19"/>
                  </a:cubicBezTo>
                  <a:cubicBezTo>
                    <a:pt x="2" y="20"/>
                    <a:pt x="2" y="20"/>
                    <a:pt x="3" y="20"/>
                  </a:cubicBezTo>
                  <a:cubicBezTo>
                    <a:pt x="4" y="21"/>
                    <a:pt x="4" y="20"/>
                    <a:pt x="5" y="19"/>
                  </a:cubicBezTo>
                  <a:cubicBezTo>
                    <a:pt x="5" y="19"/>
                    <a:pt x="6" y="19"/>
                    <a:pt x="6" y="19"/>
                  </a:cubicBezTo>
                  <a:cubicBezTo>
                    <a:pt x="7" y="19"/>
                    <a:pt x="6" y="17"/>
                    <a:pt x="5" y="17"/>
                  </a:cubicBezTo>
                  <a:cubicBezTo>
                    <a:pt x="4" y="17"/>
                    <a:pt x="4" y="17"/>
                    <a:pt x="3" y="17"/>
                  </a:cubicBezTo>
                  <a:cubicBezTo>
                    <a:pt x="2" y="16"/>
                    <a:pt x="3" y="15"/>
                    <a:pt x="3" y="15"/>
                  </a:cubicBezTo>
                  <a:cubicBezTo>
                    <a:pt x="4" y="15"/>
                    <a:pt x="5" y="16"/>
                    <a:pt x="5" y="16"/>
                  </a:cubicBezTo>
                  <a:cubicBezTo>
                    <a:pt x="5" y="17"/>
                    <a:pt x="7" y="15"/>
                    <a:pt x="7" y="15"/>
                  </a:cubicBezTo>
                  <a:cubicBezTo>
                    <a:pt x="8" y="15"/>
                    <a:pt x="9" y="16"/>
                    <a:pt x="10" y="16"/>
                  </a:cubicBezTo>
                  <a:cubicBezTo>
                    <a:pt x="11" y="16"/>
                    <a:pt x="14" y="17"/>
                    <a:pt x="14" y="18"/>
                  </a:cubicBezTo>
                  <a:cubicBezTo>
                    <a:pt x="15" y="19"/>
                    <a:pt x="15" y="17"/>
                    <a:pt x="15" y="16"/>
                  </a:cubicBezTo>
                  <a:cubicBezTo>
                    <a:pt x="16" y="14"/>
                    <a:pt x="17" y="13"/>
                    <a:pt x="18" y="12"/>
                  </a:cubicBezTo>
                  <a:cubicBezTo>
                    <a:pt x="19" y="12"/>
                    <a:pt x="23" y="11"/>
                    <a:pt x="23" y="11"/>
                  </a:cubicBezTo>
                  <a:cubicBezTo>
                    <a:pt x="23" y="11"/>
                    <a:pt x="22" y="11"/>
                    <a:pt x="21" y="11"/>
                  </a:cubicBezTo>
                  <a:cubicBezTo>
                    <a:pt x="21" y="11"/>
                    <a:pt x="20" y="9"/>
                    <a:pt x="20" y="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38" name="Freeform 36"/>
            <p:cNvSpPr>
              <a:spLocks/>
            </p:cNvSpPr>
            <p:nvPr/>
          </p:nvSpPr>
          <p:spPr bwMode="auto">
            <a:xfrm>
              <a:off x="6934332" y="3039505"/>
              <a:ext cx="109461" cy="235763"/>
            </a:xfrm>
            <a:custGeom>
              <a:avLst/>
              <a:gdLst>
                <a:gd name="T0" fmla="*/ 2 w 22"/>
                <a:gd name="T1" fmla="*/ 9 h 47"/>
                <a:gd name="T2" fmla="*/ 5 w 22"/>
                <a:gd name="T3" fmla="*/ 13 h 47"/>
                <a:gd name="T4" fmla="*/ 7 w 22"/>
                <a:gd name="T5" fmla="*/ 18 h 47"/>
                <a:gd name="T6" fmla="*/ 8 w 22"/>
                <a:gd name="T7" fmla="*/ 22 h 47"/>
                <a:gd name="T8" fmla="*/ 9 w 22"/>
                <a:gd name="T9" fmla="*/ 25 h 47"/>
                <a:gd name="T10" fmla="*/ 9 w 22"/>
                <a:gd name="T11" fmla="*/ 26 h 47"/>
                <a:gd name="T12" fmla="*/ 9 w 22"/>
                <a:gd name="T13" fmla="*/ 30 h 47"/>
                <a:gd name="T14" fmla="*/ 12 w 22"/>
                <a:gd name="T15" fmla="*/ 37 h 47"/>
                <a:gd name="T16" fmla="*/ 14 w 22"/>
                <a:gd name="T17" fmla="*/ 47 h 47"/>
                <a:gd name="T18" fmla="*/ 16 w 22"/>
                <a:gd name="T19" fmla="*/ 44 h 47"/>
                <a:gd name="T20" fmla="*/ 20 w 22"/>
                <a:gd name="T21" fmla="*/ 46 h 47"/>
                <a:gd name="T22" fmla="*/ 18 w 22"/>
                <a:gd name="T23" fmla="*/ 42 h 47"/>
                <a:gd name="T24" fmla="*/ 15 w 22"/>
                <a:gd name="T25" fmla="*/ 38 h 47"/>
                <a:gd name="T26" fmla="*/ 15 w 22"/>
                <a:gd name="T27" fmla="*/ 34 h 47"/>
                <a:gd name="T28" fmla="*/ 15 w 22"/>
                <a:gd name="T29" fmla="*/ 30 h 47"/>
                <a:gd name="T30" fmla="*/ 21 w 22"/>
                <a:gd name="T31" fmla="*/ 33 h 47"/>
                <a:gd name="T32" fmla="*/ 19 w 22"/>
                <a:gd name="T33" fmla="*/ 30 h 47"/>
                <a:gd name="T34" fmla="*/ 19 w 22"/>
                <a:gd name="T35" fmla="*/ 29 h 47"/>
                <a:gd name="T36" fmla="*/ 19 w 22"/>
                <a:gd name="T37" fmla="*/ 29 h 47"/>
                <a:gd name="T38" fmla="*/ 18 w 22"/>
                <a:gd name="T39" fmla="*/ 28 h 47"/>
                <a:gd name="T40" fmla="*/ 18 w 22"/>
                <a:gd name="T41" fmla="*/ 28 h 47"/>
                <a:gd name="T42" fmla="*/ 18 w 22"/>
                <a:gd name="T43" fmla="*/ 27 h 47"/>
                <a:gd name="T44" fmla="*/ 18 w 22"/>
                <a:gd name="T45" fmla="*/ 27 h 47"/>
                <a:gd name="T46" fmla="*/ 17 w 22"/>
                <a:gd name="T47" fmla="*/ 26 h 47"/>
                <a:gd name="T48" fmla="*/ 17 w 22"/>
                <a:gd name="T49" fmla="*/ 24 h 47"/>
                <a:gd name="T50" fmla="*/ 14 w 22"/>
                <a:gd name="T51" fmla="*/ 21 h 47"/>
                <a:gd name="T52" fmla="*/ 10 w 22"/>
                <a:gd name="T53" fmla="*/ 13 h 47"/>
                <a:gd name="T54" fmla="*/ 8 w 22"/>
                <a:gd name="T55" fmla="*/ 10 h 47"/>
                <a:gd name="T56" fmla="*/ 6 w 22"/>
                <a:gd name="T57" fmla="*/ 4 h 47"/>
                <a:gd name="T58" fmla="*/ 5 w 22"/>
                <a:gd name="T59" fmla="*/ 2 h 47"/>
                <a:gd name="T60" fmla="*/ 1 w 22"/>
                <a:gd name="T61" fmla="*/ 1 h 47"/>
                <a:gd name="T62" fmla="*/ 4 w 22"/>
                <a:gd name="T63" fmla="*/ 4 h 47"/>
                <a:gd name="T64" fmla="*/ 2 w 22"/>
                <a:gd name="T65" fmla="*/ 5 h 47"/>
                <a:gd name="T66" fmla="*/ 2 w 22"/>
                <a:gd name="T67" fmla="*/ 9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22" h="47">
                  <a:moveTo>
                    <a:pt x="2" y="9"/>
                  </a:moveTo>
                  <a:cubicBezTo>
                    <a:pt x="3" y="10"/>
                    <a:pt x="4" y="11"/>
                    <a:pt x="5" y="13"/>
                  </a:cubicBezTo>
                  <a:cubicBezTo>
                    <a:pt x="6" y="14"/>
                    <a:pt x="6" y="18"/>
                    <a:pt x="7" y="18"/>
                  </a:cubicBezTo>
                  <a:cubicBezTo>
                    <a:pt x="8" y="19"/>
                    <a:pt x="8" y="21"/>
                    <a:pt x="8" y="22"/>
                  </a:cubicBezTo>
                  <a:cubicBezTo>
                    <a:pt x="8" y="22"/>
                    <a:pt x="9" y="24"/>
                    <a:pt x="9" y="25"/>
                  </a:cubicBezTo>
                  <a:cubicBezTo>
                    <a:pt x="9" y="25"/>
                    <a:pt x="9" y="26"/>
                    <a:pt x="9" y="26"/>
                  </a:cubicBezTo>
                  <a:cubicBezTo>
                    <a:pt x="9" y="27"/>
                    <a:pt x="9" y="29"/>
                    <a:pt x="9" y="30"/>
                  </a:cubicBezTo>
                  <a:cubicBezTo>
                    <a:pt x="9" y="31"/>
                    <a:pt x="12" y="36"/>
                    <a:pt x="12" y="37"/>
                  </a:cubicBezTo>
                  <a:cubicBezTo>
                    <a:pt x="12" y="38"/>
                    <a:pt x="13" y="46"/>
                    <a:pt x="14" y="47"/>
                  </a:cubicBezTo>
                  <a:cubicBezTo>
                    <a:pt x="16" y="47"/>
                    <a:pt x="15" y="45"/>
                    <a:pt x="16" y="44"/>
                  </a:cubicBezTo>
                  <a:cubicBezTo>
                    <a:pt x="16" y="44"/>
                    <a:pt x="18" y="46"/>
                    <a:pt x="20" y="46"/>
                  </a:cubicBezTo>
                  <a:cubicBezTo>
                    <a:pt x="22" y="47"/>
                    <a:pt x="18" y="42"/>
                    <a:pt x="18" y="42"/>
                  </a:cubicBezTo>
                  <a:cubicBezTo>
                    <a:pt x="18" y="41"/>
                    <a:pt x="16" y="39"/>
                    <a:pt x="15" y="38"/>
                  </a:cubicBezTo>
                  <a:cubicBezTo>
                    <a:pt x="14" y="37"/>
                    <a:pt x="14" y="35"/>
                    <a:pt x="15" y="34"/>
                  </a:cubicBezTo>
                  <a:cubicBezTo>
                    <a:pt x="15" y="33"/>
                    <a:pt x="15" y="31"/>
                    <a:pt x="15" y="30"/>
                  </a:cubicBezTo>
                  <a:cubicBezTo>
                    <a:pt x="16" y="30"/>
                    <a:pt x="20" y="32"/>
                    <a:pt x="21" y="33"/>
                  </a:cubicBezTo>
                  <a:cubicBezTo>
                    <a:pt x="22" y="33"/>
                    <a:pt x="20" y="31"/>
                    <a:pt x="19" y="30"/>
                  </a:cubicBezTo>
                  <a:cubicBezTo>
                    <a:pt x="19" y="30"/>
                    <a:pt x="19" y="30"/>
                    <a:pt x="19" y="29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19" y="29"/>
                    <a:pt x="18" y="28"/>
                    <a:pt x="18" y="28"/>
                  </a:cubicBezTo>
                  <a:cubicBezTo>
                    <a:pt x="18" y="28"/>
                    <a:pt x="18" y="28"/>
                    <a:pt x="18" y="28"/>
                  </a:cubicBezTo>
                  <a:cubicBezTo>
                    <a:pt x="18" y="28"/>
                    <a:pt x="18" y="27"/>
                    <a:pt x="18" y="27"/>
                  </a:cubicBezTo>
                  <a:cubicBezTo>
                    <a:pt x="18" y="27"/>
                    <a:pt x="18" y="27"/>
                    <a:pt x="18" y="27"/>
                  </a:cubicBezTo>
                  <a:cubicBezTo>
                    <a:pt x="18" y="26"/>
                    <a:pt x="18" y="26"/>
                    <a:pt x="17" y="26"/>
                  </a:cubicBezTo>
                  <a:cubicBezTo>
                    <a:pt x="17" y="25"/>
                    <a:pt x="17" y="25"/>
                    <a:pt x="17" y="24"/>
                  </a:cubicBezTo>
                  <a:cubicBezTo>
                    <a:pt x="17" y="23"/>
                    <a:pt x="15" y="22"/>
                    <a:pt x="14" y="21"/>
                  </a:cubicBezTo>
                  <a:cubicBezTo>
                    <a:pt x="13" y="19"/>
                    <a:pt x="11" y="14"/>
                    <a:pt x="10" y="13"/>
                  </a:cubicBezTo>
                  <a:cubicBezTo>
                    <a:pt x="9" y="12"/>
                    <a:pt x="9" y="12"/>
                    <a:pt x="8" y="10"/>
                  </a:cubicBezTo>
                  <a:cubicBezTo>
                    <a:pt x="8" y="9"/>
                    <a:pt x="6" y="5"/>
                    <a:pt x="6" y="4"/>
                  </a:cubicBezTo>
                  <a:cubicBezTo>
                    <a:pt x="5" y="3"/>
                    <a:pt x="5" y="3"/>
                    <a:pt x="5" y="2"/>
                  </a:cubicBezTo>
                  <a:cubicBezTo>
                    <a:pt x="5" y="1"/>
                    <a:pt x="2" y="0"/>
                    <a:pt x="1" y="1"/>
                  </a:cubicBezTo>
                  <a:cubicBezTo>
                    <a:pt x="0" y="1"/>
                    <a:pt x="3" y="3"/>
                    <a:pt x="4" y="4"/>
                  </a:cubicBezTo>
                  <a:cubicBezTo>
                    <a:pt x="4" y="5"/>
                    <a:pt x="3" y="4"/>
                    <a:pt x="2" y="5"/>
                  </a:cubicBezTo>
                  <a:cubicBezTo>
                    <a:pt x="1" y="6"/>
                    <a:pt x="2" y="8"/>
                    <a:pt x="2" y="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39" name="Freeform 37"/>
            <p:cNvSpPr>
              <a:spLocks/>
            </p:cNvSpPr>
            <p:nvPr/>
          </p:nvSpPr>
          <p:spPr bwMode="auto">
            <a:xfrm>
              <a:off x="6696464" y="3908880"/>
              <a:ext cx="119987" cy="134721"/>
            </a:xfrm>
            <a:custGeom>
              <a:avLst/>
              <a:gdLst>
                <a:gd name="T0" fmla="*/ 5 w 24"/>
                <a:gd name="T1" fmla="*/ 1 h 27"/>
                <a:gd name="T2" fmla="*/ 3 w 24"/>
                <a:gd name="T3" fmla="*/ 4 h 27"/>
                <a:gd name="T4" fmla="*/ 4 w 24"/>
                <a:gd name="T5" fmla="*/ 12 h 27"/>
                <a:gd name="T6" fmla="*/ 1 w 24"/>
                <a:gd name="T7" fmla="*/ 11 h 27"/>
                <a:gd name="T8" fmla="*/ 1 w 24"/>
                <a:gd name="T9" fmla="*/ 14 h 27"/>
                <a:gd name="T10" fmla="*/ 3 w 24"/>
                <a:gd name="T11" fmla="*/ 17 h 27"/>
                <a:gd name="T12" fmla="*/ 6 w 24"/>
                <a:gd name="T13" fmla="*/ 19 h 27"/>
                <a:gd name="T14" fmla="*/ 6 w 24"/>
                <a:gd name="T15" fmla="*/ 21 h 27"/>
                <a:gd name="T16" fmla="*/ 9 w 24"/>
                <a:gd name="T17" fmla="*/ 22 h 27"/>
                <a:gd name="T18" fmla="*/ 12 w 24"/>
                <a:gd name="T19" fmla="*/ 21 h 27"/>
                <a:gd name="T20" fmla="*/ 12 w 24"/>
                <a:gd name="T21" fmla="*/ 22 h 27"/>
                <a:gd name="T22" fmla="*/ 14 w 24"/>
                <a:gd name="T23" fmla="*/ 23 h 27"/>
                <a:gd name="T24" fmla="*/ 17 w 24"/>
                <a:gd name="T25" fmla="*/ 24 h 27"/>
                <a:gd name="T26" fmla="*/ 17 w 24"/>
                <a:gd name="T27" fmla="*/ 22 h 27"/>
                <a:gd name="T28" fmla="*/ 19 w 24"/>
                <a:gd name="T29" fmla="*/ 24 h 27"/>
                <a:gd name="T30" fmla="*/ 18 w 24"/>
                <a:gd name="T31" fmla="*/ 26 h 27"/>
                <a:gd name="T32" fmla="*/ 23 w 24"/>
                <a:gd name="T33" fmla="*/ 27 h 27"/>
                <a:gd name="T34" fmla="*/ 23 w 24"/>
                <a:gd name="T35" fmla="*/ 26 h 27"/>
                <a:gd name="T36" fmla="*/ 21 w 24"/>
                <a:gd name="T37" fmla="*/ 24 h 27"/>
                <a:gd name="T38" fmla="*/ 21 w 24"/>
                <a:gd name="T39" fmla="*/ 22 h 27"/>
                <a:gd name="T40" fmla="*/ 19 w 24"/>
                <a:gd name="T41" fmla="*/ 21 h 27"/>
                <a:gd name="T42" fmla="*/ 17 w 24"/>
                <a:gd name="T43" fmla="*/ 20 h 27"/>
                <a:gd name="T44" fmla="*/ 12 w 24"/>
                <a:gd name="T45" fmla="*/ 20 h 27"/>
                <a:gd name="T46" fmla="*/ 11 w 24"/>
                <a:gd name="T47" fmla="*/ 17 h 27"/>
                <a:gd name="T48" fmla="*/ 13 w 24"/>
                <a:gd name="T49" fmla="*/ 18 h 27"/>
                <a:gd name="T50" fmla="*/ 12 w 24"/>
                <a:gd name="T51" fmla="*/ 16 h 27"/>
                <a:gd name="T52" fmla="*/ 10 w 24"/>
                <a:gd name="T53" fmla="*/ 14 h 27"/>
                <a:gd name="T54" fmla="*/ 12 w 24"/>
                <a:gd name="T55" fmla="*/ 12 h 27"/>
                <a:gd name="T56" fmla="*/ 11 w 24"/>
                <a:gd name="T57" fmla="*/ 7 h 27"/>
                <a:gd name="T58" fmla="*/ 10 w 24"/>
                <a:gd name="T59" fmla="*/ 4 h 27"/>
                <a:gd name="T60" fmla="*/ 8 w 24"/>
                <a:gd name="T61" fmla="*/ 2 h 27"/>
                <a:gd name="T62" fmla="*/ 5 w 24"/>
                <a:gd name="T63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4" h="27">
                  <a:moveTo>
                    <a:pt x="5" y="1"/>
                  </a:moveTo>
                  <a:cubicBezTo>
                    <a:pt x="3" y="1"/>
                    <a:pt x="2" y="2"/>
                    <a:pt x="3" y="4"/>
                  </a:cubicBezTo>
                  <a:cubicBezTo>
                    <a:pt x="3" y="5"/>
                    <a:pt x="4" y="11"/>
                    <a:pt x="4" y="12"/>
                  </a:cubicBezTo>
                  <a:cubicBezTo>
                    <a:pt x="3" y="13"/>
                    <a:pt x="2" y="11"/>
                    <a:pt x="1" y="11"/>
                  </a:cubicBezTo>
                  <a:cubicBezTo>
                    <a:pt x="0" y="11"/>
                    <a:pt x="2" y="14"/>
                    <a:pt x="1" y="14"/>
                  </a:cubicBezTo>
                  <a:cubicBezTo>
                    <a:pt x="1" y="15"/>
                    <a:pt x="2" y="16"/>
                    <a:pt x="3" y="17"/>
                  </a:cubicBezTo>
                  <a:cubicBezTo>
                    <a:pt x="4" y="18"/>
                    <a:pt x="7" y="18"/>
                    <a:pt x="6" y="19"/>
                  </a:cubicBezTo>
                  <a:cubicBezTo>
                    <a:pt x="4" y="20"/>
                    <a:pt x="5" y="20"/>
                    <a:pt x="6" y="21"/>
                  </a:cubicBezTo>
                  <a:cubicBezTo>
                    <a:pt x="7" y="21"/>
                    <a:pt x="8" y="22"/>
                    <a:pt x="9" y="22"/>
                  </a:cubicBezTo>
                  <a:cubicBezTo>
                    <a:pt x="11" y="23"/>
                    <a:pt x="11" y="22"/>
                    <a:pt x="12" y="21"/>
                  </a:cubicBezTo>
                  <a:cubicBezTo>
                    <a:pt x="13" y="21"/>
                    <a:pt x="12" y="22"/>
                    <a:pt x="12" y="22"/>
                  </a:cubicBezTo>
                  <a:cubicBezTo>
                    <a:pt x="12" y="23"/>
                    <a:pt x="13" y="23"/>
                    <a:pt x="14" y="23"/>
                  </a:cubicBezTo>
                  <a:cubicBezTo>
                    <a:pt x="16" y="23"/>
                    <a:pt x="16" y="24"/>
                    <a:pt x="17" y="24"/>
                  </a:cubicBezTo>
                  <a:cubicBezTo>
                    <a:pt x="17" y="25"/>
                    <a:pt x="17" y="23"/>
                    <a:pt x="17" y="22"/>
                  </a:cubicBezTo>
                  <a:cubicBezTo>
                    <a:pt x="17" y="22"/>
                    <a:pt x="18" y="23"/>
                    <a:pt x="19" y="24"/>
                  </a:cubicBezTo>
                  <a:cubicBezTo>
                    <a:pt x="19" y="25"/>
                    <a:pt x="18" y="25"/>
                    <a:pt x="18" y="26"/>
                  </a:cubicBezTo>
                  <a:cubicBezTo>
                    <a:pt x="19" y="26"/>
                    <a:pt x="22" y="27"/>
                    <a:pt x="23" y="27"/>
                  </a:cubicBezTo>
                  <a:cubicBezTo>
                    <a:pt x="24" y="27"/>
                    <a:pt x="23" y="26"/>
                    <a:pt x="23" y="26"/>
                  </a:cubicBezTo>
                  <a:cubicBezTo>
                    <a:pt x="23" y="25"/>
                    <a:pt x="22" y="24"/>
                    <a:pt x="21" y="24"/>
                  </a:cubicBezTo>
                  <a:cubicBezTo>
                    <a:pt x="21" y="23"/>
                    <a:pt x="22" y="23"/>
                    <a:pt x="21" y="22"/>
                  </a:cubicBezTo>
                  <a:cubicBezTo>
                    <a:pt x="21" y="21"/>
                    <a:pt x="20" y="21"/>
                    <a:pt x="19" y="21"/>
                  </a:cubicBezTo>
                  <a:cubicBezTo>
                    <a:pt x="18" y="21"/>
                    <a:pt x="18" y="21"/>
                    <a:pt x="17" y="20"/>
                  </a:cubicBezTo>
                  <a:cubicBezTo>
                    <a:pt x="16" y="20"/>
                    <a:pt x="14" y="20"/>
                    <a:pt x="12" y="20"/>
                  </a:cubicBezTo>
                  <a:cubicBezTo>
                    <a:pt x="11" y="20"/>
                    <a:pt x="11" y="18"/>
                    <a:pt x="11" y="17"/>
                  </a:cubicBezTo>
                  <a:cubicBezTo>
                    <a:pt x="11" y="16"/>
                    <a:pt x="12" y="18"/>
                    <a:pt x="13" y="18"/>
                  </a:cubicBezTo>
                  <a:cubicBezTo>
                    <a:pt x="15" y="19"/>
                    <a:pt x="13" y="16"/>
                    <a:pt x="12" y="16"/>
                  </a:cubicBezTo>
                  <a:cubicBezTo>
                    <a:pt x="11" y="15"/>
                    <a:pt x="10" y="14"/>
                    <a:pt x="10" y="14"/>
                  </a:cubicBezTo>
                  <a:cubicBezTo>
                    <a:pt x="10" y="13"/>
                    <a:pt x="12" y="12"/>
                    <a:pt x="12" y="12"/>
                  </a:cubicBezTo>
                  <a:cubicBezTo>
                    <a:pt x="12" y="11"/>
                    <a:pt x="13" y="8"/>
                    <a:pt x="11" y="7"/>
                  </a:cubicBezTo>
                  <a:cubicBezTo>
                    <a:pt x="9" y="5"/>
                    <a:pt x="9" y="4"/>
                    <a:pt x="10" y="4"/>
                  </a:cubicBezTo>
                  <a:cubicBezTo>
                    <a:pt x="10" y="3"/>
                    <a:pt x="10" y="2"/>
                    <a:pt x="8" y="2"/>
                  </a:cubicBezTo>
                  <a:cubicBezTo>
                    <a:pt x="6" y="2"/>
                    <a:pt x="7" y="0"/>
                    <a:pt x="5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40" name="Freeform 38"/>
            <p:cNvSpPr>
              <a:spLocks/>
            </p:cNvSpPr>
            <p:nvPr/>
          </p:nvSpPr>
          <p:spPr bwMode="auto">
            <a:xfrm>
              <a:off x="6816449" y="4043599"/>
              <a:ext cx="37891" cy="54731"/>
            </a:xfrm>
            <a:custGeom>
              <a:avLst/>
              <a:gdLst>
                <a:gd name="T0" fmla="*/ 1 w 8"/>
                <a:gd name="T1" fmla="*/ 1 h 11"/>
                <a:gd name="T2" fmla="*/ 2 w 8"/>
                <a:gd name="T3" fmla="*/ 2 h 11"/>
                <a:gd name="T4" fmla="*/ 4 w 8"/>
                <a:gd name="T5" fmla="*/ 5 h 11"/>
                <a:gd name="T6" fmla="*/ 4 w 8"/>
                <a:gd name="T7" fmla="*/ 7 h 11"/>
                <a:gd name="T8" fmla="*/ 3 w 8"/>
                <a:gd name="T9" fmla="*/ 8 h 11"/>
                <a:gd name="T10" fmla="*/ 5 w 8"/>
                <a:gd name="T11" fmla="*/ 11 h 11"/>
                <a:gd name="T12" fmla="*/ 6 w 8"/>
                <a:gd name="T13" fmla="*/ 8 h 11"/>
                <a:gd name="T14" fmla="*/ 7 w 8"/>
                <a:gd name="T15" fmla="*/ 6 h 11"/>
                <a:gd name="T16" fmla="*/ 6 w 8"/>
                <a:gd name="T17" fmla="*/ 3 h 11"/>
                <a:gd name="T18" fmla="*/ 4 w 8"/>
                <a:gd name="T19" fmla="*/ 1 h 11"/>
                <a:gd name="T20" fmla="*/ 1 w 8"/>
                <a:gd name="T21" fmla="*/ 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" h="11">
                  <a:moveTo>
                    <a:pt x="1" y="1"/>
                  </a:moveTo>
                  <a:cubicBezTo>
                    <a:pt x="1" y="2"/>
                    <a:pt x="0" y="1"/>
                    <a:pt x="2" y="2"/>
                  </a:cubicBezTo>
                  <a:cubicBezTo>
                    <a:pt x="3" y="3"/>
                    <a:pt x="4" y="4"/>
                    <a:pt x="4" y="5"/>
                  </a:cubicBezTo>
                  <a:cubicBezTo>
                    <a:pt x="4" y="6"/>
                    <a:pt x="5" y="7"/>
                    <a:pt x="4" y="7"/>
                  </a:cubicBezTo>
                  <a:cubicBezTo>
                    <a:pt x="4" y="7"/>
                    <a:pt x="3" y="7"/>
                    <a:pt x="3" y="8"/>
                  </a:cubicBezTo>
                  <a:cubicBezTo>
                    <a:pt x="4" y="9"/>
                    <a:pt x="5" y="11"/>
                    <a:pt x="5" y="11"/>
                  </a:cubicBezTo>
                  <a:cubicBezTo>
                    <a:pt x="6" y="10"/>
                    <a:pt x="5" y="8"/>
                    <a:pt x="6" y="8"/>
                  </a:cubicBezTo>
                  <a:cubicBezTo>
                    <a:pt x="7" y="7"/>
                    <a:pt x="8" y="8"/>
                    <a:pt x="7" y="6"/>
                  </a:cubicBezTo>
                  <a:cubicBezTo>
                    <a:pt x="7" y="5"/>
                    <a:pt x="7" y="3"/>
                    <a:pt x="6" y="3"/>
                  </a:cubicBezTo>
                  <a:cubicBezTo>
                    <a:pt x="5" y="2"/>
                    <a:pt x="5" y="1"/>
                    <a:pt x="4" y="1"/>
                  </a:cubicBezTo>
                  <a:cubicBezTo>
                    <a:pt x="2" y="0"/>
                    <a:pt x="2" y="1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41" name="Freeform 39"/>
            <p:cNvSpPr>
              <a:spLocks/>
            </p:cNvSpPr>
            <p:nvPr/>
          </p:nvSpPr>
          <p:spPr bwMode="auto">
            <a:xfrm>
              <a:off x="6791191" y="4102541"/>
              <a:ext cx="109461" cy="90516"/>
            </a:xfrm>
            <a:custGeom>
              <a:avLst/>
              <a:gdLst>
                <a:gd name="T0" fmla="*/ 20 w 22"/>
                <a:gd name="T1" fmla="*/ 9 h 18"/>
                <a:gd name="T2" fmla="*/ 14 w 22"/>
                <a:gd name="T3" fmla="*/ 1 h 18"/>
                <a:gd name="T4" fmla="*/ 14 w 22"/>
                <a:gd name="T5" fmla="*/ 5 h 18"/>
                <a:gd name="T6" fmla="*/ 11 w 22"/>
                <a:gd name="T7" fmla="*/ 6 h 18"/>
                <a:gd name="T8" fmla="*/ 8 w 22"/>
                <a:gd name="T9" fmla="*/ 8 h 18"/>
                <a:gd name="T10" fmla="*/ 6 w 22"/>
                <a:gd name="T11" fmla="*/ 7 h 18"/>
                <a:gd name="T12" fmla="*/ 4 w 22"/>
                <a:gd name="T13" fmla="*/ 8 h 18"/>
                <a:gd name="T14" fmla="*/ 3 w 22"/>
                <a:gd name="T15" fmla="*/ 8 h 18"/>
                <a:gd name="T16" fmla="*/ 0 w 22"/>
                <a:gd name="T17" fmla="*/ 10 h 18"/>
                <a:gd name="T18" fmla="*/ 1 w 22"/>
                <a:gd name="T19" fmla="*/ 12 h 18"/>
                <a:gd name="T20" fmla="*/ 3 w 22"/>
                <a:gd name="T21" fmla="*/ 10 h 18"/>
                <a:gd name="T22" fmla="*/ 5 w 22"/>
                <a:gd name="T23" fmla="*/ 12 h 18"/>
                <a:gd name="T24" fmla="*/ 8 w 22"/>
                <a:gd name="T25" fmla="*/ 10 h 18"/>
                <a:gd name="T26" fmla="*/ 10 w 22"/>
                <a:gd name="T27" fmla="*/ 12 h 18"/>
                <a:gd name="T28" fmla="*/ 11 w 22"/>
                <a:gd name="T29" fmla="*/ 16 h 18"/>
                <a:gd name="T30" fmla="*/ 15 w 22"/>
                <a:gd name="T31" fmla="*/ 18 h 18"/>
                <a:gd name="T32" fmla="*/ 17 w 22"/>
                <a:gd name="T33" fmla="*/ 16 h 18"/>
                <a:gd name="T34" fmla="*/ 16 w 22"/>
                <a:gd name="T35" fmla="*/ 14 h 18"/>
                <a:gd name="T36" fmla="*/ 18 w 22"/>
                <a:gd name="T37" fmla="*/ 13 h 18"/>
                <a:gd name="T38" fmla="*/ 21 w 22"/>
                <a:gd name="T39" fmla="*/ 14 h 18"/>
                <a:gd name="T40" fmla="*/ 20 w 22"/>
                <a:gd name="T41" fmla="*/ 9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2" h="18">
                  <a:moveTo>
                    <a:pt x="20" y="9"/>
                  </a:moveTo>
                  <a:cubicBezTo>
                    <a:pt x="19" y="7"/>
                    <a:pt x="16" y="1"/>
                    <a:pt x="14" y="1"/>
                  </a:cubicBezTo>
                  <a:cubicBezTo>
                    <a:pt x="14" y="0"/>
                    <a:pt x="14" y="5"/>
                    <a:pt x="14" y="5"/>
                  </a:cubicBezTo>
                  <a:cubicBezTo>
                    <a:pt x="13" y="5"/>
                    <a:pt x="11" y="5"/>
                    <a:pt x="11" y="6"/>
                  </a:cubicBezTo>
                  <a:cubicBezTo>
                    <a:pt x="11" y="7"/>
                    <a:pt x="9" y="9"/>
                    <a:pt x="8" y="8"/>
                  </a:cubicBezTo>
                  <a:cubicBezTo>
                    <a:pt x="8" y="8"/>
                    <a:pt x="7" y="7"/>
                    <a:pt x="6" y="7"/>
                  </a:cubicBezTo>
                  <a:cubicBezTo>
                    <a:pt x="6" y="7"/>
                    <a:pt x="4" y="7"/>
                    <a:pt x="4" y="8"/>
                  </a:cubicBezTo>
                  <a:cubicBezTo>
                    <a:pt x="5" y="8"/>
                    <a:pt x="4" y="8"/>
                    <a:pt x="3" y="8"/>
                  </a:cubicBezTo>
                  <a:cubicBezTo>
                    <a:pt x="2" y="9"/>
                    <a:pt x="0" y="9"/>
                    <a:pt x="0" y="10"/>
                  </a:cubicBezTo>
                  <a:cubicBezTo>
                    <a:pt x="1" y="11"/>
                    <a:pt x="0" y="13"/>
                    <a:pt x="1" y="12"/>
                  </a:cubicBezTo>
                  <a:cubicBezTo>
                    <a:pt x="2" y="11"/>
                    <a:pt x="2" y="10"/>
                    <a:pt x="3" y="10"/>
                  </a:cubicBezTo>
                  <a:cubicBezTo>
                    <a:pt x="3" y="11"/>
                    <a:pt x="3" y="12"/>
                    <a:pt x="5" y="12"/>
                  </a:cubicBezTo>
                  <a:cubicBezTo>
                    <a:pt x="6" y="11"/>
                    <a:pt x="8" y="10"/>
                    <a:pt x="8" y="10"/>
                  </a:cubicBezTo>
                  <a:cubicBezTo>
                    <a:pt x="9" y="11"/>
                    <a:pt x="11" y="12"/>
                    <a:pt x="10" y="12"/>
                  </a:cubicBezTo>
                  <a:cubicBezTo>
                    <a:pt x="10" y="13"/>
                    <a:pt x="9" y="15"/>
                    <a:pt x="11" y="16"/>
                  </a:cubicBezTo>
                  <a:cubicBezTo>
                    <a:pt x="13" y="18"/>
                    <a:pt x="14" y="18"/>
                    <a:pt x="15" y="18"/>
                  </a:cubicBezTo>
                  <a:cubicBezTo>
                    <a:pt x="16" y="18"/>
                    <a:pt x="18" y="17"/>
                    <a:pt x="17" y="16"/>
                  </a:cubicBezTo>
                  <a:cubicBezTo>
                    <a:pt x="16" y="15"/>
                    <a:pt x="16" y="14"/>
                    <a:pt x="16" y="14"/>
                  </a:cubicBezTo>
                  <a:cubicBezTo>
                    <a:pt x="16" y="13"/>
                    <a:pt x="17" y="13"/>
                    <a:pt x="18" y="13"/>
                  </a:cubicBezTo>
                  <a:cubicBezTo>
                    <a:pt x="19" y="14"/>
                    <a:pt x="20" y="15"/>
                    <a:pt x="21" y="14"/>
                  </a:cubicBezTo>
                  <a:cubicBezTo>
                    <a:pt x="22" y="13"/>
                    <a:pt x="20" y="11"/>
                    <a:pt x="20" y="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42" name="Freeform 40"/>
            <p:cNvSpPr>
              <a:spLocks/>
            </p:cNvSpPr>
            <p:nvPr/>
          </p:nvSpPr>
          <p:spPr bwMode="auto">
            <a:xfrm>
              <a:off x="6765929" y="4064649"/>
              <a:ext cx="39995" cy="33680"/>
            </a:xfrm>
            <a:custGeom>
              <a:avLst/>
              <a:gdLst>
                <a:gd name="T0" fmla="*/ 5 w 8"/>
                <a:gd name="T1" fmla="*/ 5 h 7"/>
                <a:gd name="T2" fmla="*/ 7 w 8"/>
                <a:gd name="T3" fmla="*/ 3 h 7"/>
                <a:gd name="T4" fmla="*/ 5 w 8"/>
                <a:gd name="T5" fmla="*/ 1 h 7"/>
                <a:gd name="T6" fmla="*/ 2 w 8"/>
                <a:gd name="T7" fmla="*/ 0 h 7"/>
                <a:gd name="T8" fmla="*/ 3 w 8"/>
                <a:gd name="T9" fmla="*/ 3 h 7"/>
                <a:gd name="T10" fmla="*/ 2 w 8"/>
                <a:gd name="T11" fmla="*/ 6 h 7"/>
                <a:gd name="T12" fmla="*/ 5 w 8"/>
                <a:gd name="T13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7">
                  <a:moveTo>
                    <a:pt x="5" y="5"/>
                  </a:moveTo>
                  <a:cubicBezTo>
                    <a:pt x="6" y="4"/>
                    <a:pt x="6" y="4"/>
                    <a:pt x="7" y="3"/>
                  </a:cubicBezTo>
                  <a:cubicBezTo>
                    <a:pt x="8" y="3"/>
                    <a:pt x="7" y="1"/>
                    <a:pt x="5" y="1"/>
                  </a:cubicBezTo>
                  <a:cubicBezTo>
                    <a:pt x="4" y="1"/>
                    <a:pt x="3" y="0"/>
                    <a:pt x="2" y="0"/>
                  </a:cubicBezTo>
                  <a:cubicBezTo>
                    <a:pt x="0" y="0"/>
                    <a:pt x="2" y="2"/>
                    <a:pt x="3" y="3"/>
                  </a:cubicBezTo>
                  <a:cubicBezTo>
                    <a:pt x="4" y="4"/>
                    <a:pt x="2" y="4"/>
                    <a:pt x="2" y="6"/>
                  </a:cubicBezTo>
                  <a:cubicBezTo>
                    <a:pt x="2" y="7"/>
                    <a:pt x="4" y="6"/>
                    <a:pt x="5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43" name="Freeform 41"/>
            <p:cNvSpPr>
              <a:spLocks/>
            </p:cNvSpPr>
            <p:nvPr/>
          </p:nvSpPr>
          <p:spPr bwMode="auto">
            <a:xfrm>
              <a:off x="6791191" y="4083595"/>
              <a:ext cx="25260" cy="50520"/>
            </a:xfrm>
            <a:custGeom>
              <a:avLst/>
              <a:gdLst>
                <a:gd name="T0" fmla="*/ 4 w 5"/>
                <a:gd name="T1" fmla="*/ 0 h 10"/>
                <a:gd name="T2" fmla="*/ 1 w 5"/>
                <a:gd name="T3" fmla="*/ 3 h 10"/>
                <a:gd name="T4" fmla="*/ 1 w 5"/>
                <a:gd name="T5" fmla="*/ 6 h 10"/>
                <a:gd name="T6" fmla="*/ 4 w 5"/>
                <a:gd name="T7" fmla="*/ 9 h 10"/>
                <a:gd name="T8" fmla="*/ 4 w 5"/>
                <a:gd name="T9" fmla="*/ 4 h 10"/>
                <a:gd name="T10" fmla="*/ 4 w 5"/>
                <a:gd name="T11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10">
                  <a:moveTo>
                    <a:pt x="4" y="0"/>
                  </a:moveTo>
                  <a:cubicBezTo>
                    <a:pt x="3" y="0"/>
                    <a:pt x="2" y="2"/>
                    <a:pt x="1" y="3"/>
                  </a:cubicBezTo>
                  <a:cubicBezTo>
                    <a:pt x="1" y="4"/>
                    <a:pt x="0" y="5"/>
                    <a:pt x="1" y="6"/>
                  </a:cubicBezTo>
                  <a:cubicBezTo>
                    <a:pt x="2" y="7"/>
                    <a:pt x="4" y="10"/>
                    <a:pt x="4" y="9"/>
                  </a:cubicBezTo>
                  <a:cubicBezTo>
                    <a:pt x="4" y="8"/>
                    <a:pt x="4" y="6"/>
                    <a:pt x="4" y="4"/>
                  </a:cubicBezTo>
                  <a:cubicBezTo>
                    <a:pt x="4" y="3"/>
                    <a:pt x="5" y="1"/>
                    <a:pt x="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44" name="Freeform 42"/>
            <p:cNvSpPr>
              <a:spLocks/>
            </p:cNvSpPr>
            <p:nvPr/>
          </p:nvSpPr>
          <p:spPr bwMode="auto">
            <a:xfrm>
              <a:off x="6816451" y="4098331"/>
              <a:ext cx="33680" cy="14735"/>
            </a:xfrm>
            <a:custGeom>
              <a:avLst/>
              <a:gdLst>
                <a:gd name="T0" fmla="*/ 1 w 7"/>
                <a:gd name="T1" fmla="*/ 3 h 3"/>
                <a:gd name="T2" fmla="*/ 3 w 7"/>
                <a:gd name="T3" fmla="*/ 1 h 3"/>
                <a:gd name="T4" fmla="*/ 1 w 7"/>
                <a:gd name="T5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" h="3">
                  <a:moveTo>
                    <a:pt x="1" y="3"/>
                  </a:moveTo>
                  <a:cubicBezTo>
                    <a:pt x="2" y="3"/>
                    <a:pt x="7" y="2"/>
                    <a:pt x="3" y="1"/>
                  </a:cubicBezTo>
                  <a:cubicBezTo>
                    <a:pt x="1" y="0"/>
                    <a:pt x="0" y="3"/>
                    <a:pt x="1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45" name="Freeform 43"/>
            <p:cNvSpPr>
              <a:spLocks/>
            </p:cNvSpPr>
            <p:nvPr/>
          </p:nvSpPr>
          <p:spPr bwMode="auto">
            <a:xfrm>
              <a:off x="6725934" y="4028865"/>
              <a:ext cx="29471" cy="25260"/>
            </a:xfrm>
            <a:custGeom>
              <a:avLst/>
              <a:gdLst>
                <a:gd name="T0" fmla="*/ 4 w 6"/>
                <a:gd name="T1" fmla="*/ 0 h 5"/>
                <a:gd name="T2" fmla="*/ 0 w 6"/>
                <a:gd name="T3" fmla="*/ 0 h 5"/>
                <a:gd name="T4" fmla="*/ 2 w 6"/>
                <a:gd name="T5" fmla="*/ 2 h 5"/>
                <a:gd name="T6" fmla="*/ 5 w 6"/>
                <a:gd name="T7" fmla="*/ 5 h 5"/>
                <a:gd name="T8" fmla="*/ 6 w 6"/>
                <a:gd name="T9" fmla="*/ 3 h 5"/>
                <a:gd name="T10" fmla="*/ 4 w 6"/>
                <a:gd name="T1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5">
                  <a:moveTo>
                    <a:pt x="4" y="0"/>
                  </a:moveTo>
                  <a:cubicBezTo>
                    <a:pt x="3" y="0"/>
                    <a:pt x="0" y="0"/>
                    <a:pt x="0" y="0"/>
                  </a:cubicBezTo>
                  <a:cubicBezTo>
                    <a:pt x="1" y="1"/>
                    <a:pt x="1" y="2"/>
                    <a:pt x="2" y="2"/>
                  </a:cubicBezTo>
                  <a:cubicBezTo>
                    <a:pt x="3" y="2"/>
                    <a:pt x="3" y="5"/>
                    <a:pt x="5" y="5"/>
                  </a:cubicBezTo>
                  <a:cubicBezTo>
                    <a:pt x="6" y="5"/>
                    <a:pt x="6" y="4"/>
                    <a:pt x="6" y="3"/>
                  </a:cubicBezTo>
                  <a:cubicBezTo>
                    <a:pt x="6" y="2"/>
                    <a:pt x="6" y="1"/>
                    <a:pt x="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46" name="Freeform 44"/>
            <p:cNvSpPr>
              <a:spLocks/>
            </p:cNvSpPr>
            <p:nvPr/>
          </p:nvSpPr>
          <p:spPr bwMode="auto">
            <a:xfrm>
              <a:off x="6675415" y="4079385"/>
              <a:ext cx="50520" cy="58940"/>
            </a:xfrm>
            <a:custGeom>
              <a:avLst/>
              <a:gdLst>
                <a:gd name="T0" fmla="*/ 4 w 10"/>
                <a:gd name="T1" fmla="*/ 7 h 12"/>
                <a:gd name="T2" fmla="*/ 1 w 10"/>
                <a:gd name="T3" fmla="*/ 12 h 12"/>
                <a:gd name="T4" fmla="*/ 6 w 10"/>
                <a:gd name="T5" fmla="*/ 8 h 12"/>
                <a:gd name="T6" fmla="*/ 10 w 10"/>
                <a:gd name="T7" fmla="*/ 4 h 12"/>
                <a:gd name="T8" fmla="*/ 8 w 10"/>
                <a:gd name="T9" fmla="*/ 1 h 12"/>
                <a:gd name="T10" fmla="*/ 8 w 10"/>
                <a:gd name="T11" fmla="*/ 3 h 12"/>
                <a:gd name="T12" fmla="*/ 4 w 10"/>
                <a:gd name="T13" fmla="*/ 7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" h="12">
                  <a:moveTo>
                    <a:pt x="4" y="7"/>
                  </a:moveTo>
                  <a:cubicBezTo>
                    <a:pt x="4" y="7"/>
                    <a:pt x="0" y="12"/>
                    <a:pt x="1" y="12"/>
                  </a:cubicBezTo>
                  <a:cubicBezTo>
                    <a:pt x="2" y="12"/>
                    <a:pt x="5" y="8"/>
                    <a:pt x="6" y="8"/>
                  </a:cubicBezTo>
                  <a:cubicBezTo>
                    <a:pt x="7" y="7"/>
                    <a:pt x="10" y="5"/>
                    <a:pt x="10" y="4"/>
                  </a:cubicBezTo>
                  <a:cubicBezTo>
                    <a:pt x="10" y="3"/>
                    <a:pt x="9" y="0"/>
                    <a:pt x="8" y="1"/>
                  </a:cubicBezTo>
                  <a:cubicBezTo>
                    <a:pt x="8" y="1"/>
                    <a:pt x="9" y="3"/>
                    <a:pt x="8" y="3"/>
                  </a:cubicBezTo>
                  <a:cubicBezTo>
                    <a:pt x="7" y="4"/>
                    <a:pt x="5" y="6"/>
                    <a:pt x="4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47" name="Freeform 45"/>
            <p:cNvSpPr>
              <a:spLocks/>
            </p:cNvSpPr>
            <p:nvPr/>
          </p:nvSpPr>
          <p:spPr bwMode="auto">
            <a:xfrm>
              <a:off x="7020638" y="4327777"/>
              <a:ext cx="532569" cy="244183"/>
            </a:xfrm>
            <a:custGeom>
              <a:avLst/>
              <a:gdLst>
                <a:gd name="T0" fmla="*/ 80 w 107"/>
                <a:gd name="T1" fmla="*/ 36 h 49"/>
                <a:gd name="T2" fmla="*/ 87 w 107"/>
                <a:gd name="T3" fmla="*/ 44 h 49"/>
                <a:gd name="T4" fmla="*/ 100 w 107"/>
                <a:gd name="T5" fmla="*/ 47 h 49"/>
                <a:gd name="T6" fmla="*/ 105 w 107"/>
                <a:gd name="T7" fmla="*/ 48 h 49"/>
                <a:gd name="T8" fmla="*/ 93 w 107"/>
                <a:gd name="T9" fmla="*/ 40 h 49"/>
                <a:gd name="T10" fmla="*/ 83 w 107"/>
                <a:gd name="T11" fmla="*/ 29 h 49"/>
                <a:gd name="T12" fmla="*/ 82 w 107"/>
                <a:gd name="T13" fmla="*/ 25 h 49"/>
                <a:gd name="T14" fmla="*/ 73 w 107"/>
                <a:gd name="T15" fmla="*/ 20 h 49"/>
                <a:gd name="T16" fmla="*/ 65 w 107"/>
                <a:gd name="T17" fmla="*/ 15 h 49"/>
                <a:gd name="T18" fmla="*/ 51 w 107"/>
                <a:gd name="T19" fmla="*/ 11 h 49"/>
                <a:gd name="T20" fmla="*/ 50 w 107"/>
                <a:gd name="T21" fmla="*/ 10 h 49"/>
                <a:gd name="T22" fmla="*/ 48 w 107"/>
                <a:gd name="T23" fmla="*/ 9 h 49"/>
                <a:gd name="T24" fmla="*/ 48 w 107"/>
                <a:gd name="T25" fmla="*/ 9 h 49"/>
                <a:gd name="T26" fmla="*/ 47 w 107"/>
                <a:gd name="T27" fmla="*/ 9 h 49"/>
                <a:gd name="T28" fmla="*/ 45 w 107"/>
                <a:gd name="T29" fmla="*/ 9 h 49"/>
                <a:gd name="T30" fmla="*/ 33 w 107"/>
                <a:gd name="T31" fmla="*/ 5 h 49"/>
                <a:gd name="T32" fmla="*/ 28 w 107"/>
                <a:gd name="T33" fmla="*/ 7 h 49"/>
                <a:gd name="T34" fmla="*/ 28 w 107"/>
                <a:gd name="T35" fmla="*/ 10 h 49"/>
                <a:gd name="T36" fmla="*/ 25 w 107"/>
                <a:gd name="T37" fmla="*/ 14 h 49"/>
                <a:gd name="T38" fmla="*/ 19 w 107"/>
                <a:gd name="T39" fmla="*/ 9 h 49"/>
                <a:gd name="T40" fmla="*/ 14 w 107"/>
                <a:gd name="T41" fmla="*/ 3 h 49"/>
                <a:gd name="T42" fmla="*/ 5 w 107"/>
                <a:gd name="T43" fmla="*/ 2 h 49"/>
                <a:gd name="T44" fmla="*/ 2 w 107"/>
                <a:gd name="T45" fmla="*/ 3 h 49"/>
                <a:gd name="T46" fmla="*/ 9 w 107"/>
                <a:gd name="T47" fmla="*/ 7 h 49"/>
                <a:gd name="T48" fmla="*/ 13 w 107"/>
                <a:gd name="T49" fmla="*/ 11 h 49"/>
                <a:gd name="T50" fmla="*/ 15 w 107"/>
                <a:gd name="T51" fmla="*/ 15 h 49"/>
                <a:gd name="T52" fmla="*/ 18 w 107"/>
                <a:gd name="T53" fmla="*/ 16 h 49"/>
                <a:gd name="T54" fmla="*/ 21 w 107"/>
                <a:gd name="T55" fmla="*/ 17 h 49"/>
                <a:gd name="T56" fmla="*/ 36 w 107"/>
                <a:gd name="T57" fmla="*/ 23 h 49"/>
                <a:gd name="T58" fmla="*/ 48 w 107"/>
                <a:gd name="T59" fmla="*/ 34 h 49"/>
                <a:gd name="T60" fmla="*/ 42 w 107"/>
                <a:gd name="T61" fmla="*/ 38 h 49"/>
                <a:gd name="T62" fmla="*/ 49 w 107"/>
                <a:gd name="T63" fmla="*/ 37 h 49"/>
                <a:gd name="T64" fmla="*/ 54 w 107"/>
                <a:gd name="T65" fmla="*/ 37 h 49"/>
                <a:gd name="T66" fmla="*/ 54 w 107"/>
                <a:gd name="T67" fmla="*/ 38 h 49"/>
                <a:gd name="T68" fmla="*/ 55 w 107"/>
                <a:gd name="T69" fmla="*/ 39 h 49"/>
                <a:gd name="T70" fmla="*/ 56 w 107"/>
                <a:gd name="T71" fmla="*/ 40 h 49"/>
                <a:gd name="T72" fmla="*/ 57 w 107"/>
                <a:gd name="T73" fmla="*/ 41 h 49"/>
                <a:gd name="T74" fmla="*/ 58 w 107"/>
                <a:gd name="T75" fmla="*/ 41 h 49"/>
                <a:gd name="T76" fmla="*/ 59 w 107"/>
                <a:gd name="T77" fmla="*/ 42 h 49"/>
                <a:gd name="T78" fmla="*/ 59 w 107"/>
                <a:gd name="T79" fmla="*/ 42 h 49"/>
                <a:gd name="T80" fmla="*/ 66 w 107"/>
                <a:gd name="T81" fmla="*/ 42 h 49"/>
                <a:gd name="T82" fmla="*/ 66 w 107"/>
                <a:gd name="T83" fmla="*/ 37 h 49"/>
                <a:gd name="T84" fmla="*/ 70 w 107"/>
                <a:gd name="T85" fmla="*/ 35 h 49"/>
                <a:gd name="T86" fmla="*/ 76 w 107"/>
                <a:gd name="T87" fmla="*/ 35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7" h="49">
                  <a:moveTo>
                    <a:pt x="76" y="35"/>
                  </a:moveTo>
                  <a:cubicBezTo>
                    <a:pt x="78" y="36"/>
                    <a:pt x="79" y="36"/>
                    <a:pt x="80" y="36"/>
                  </a:cubicBezTo>
                  <a:cubicBezTo>
                    <a:pt x="80" y="36"/>
                    <a:pt x="83" y="39"/>
                    <a:pt x="83" y="39"/>
                  </a:cubicBezTo>
                  <a:cubicBezTo>
                    <a:pt x="83" y="39"/>
                    <a:pt x="86" y="43"/>
                    <a:pt x="87" y="44"/>
                  </a:cubicBezTo>
                  <a:cubicBezTo>
                    <a:pt x="88" y="45"/>
                    <a:pt x="91" y="45"/>
                    <a:pt x="92" y="45"/>
                  </a:cubicBezTo>
                  <a:cubicBezTo>
                    <a:pt x="94" y="45"/>
                    <a:pt x="98" y="47"/>
                    <a:pt x="100" y="47"/>
                  </a:cubicBezTo>
                  <a:cubicBezTo>
                    <a:pt x="101" y="48"/>
                    <a:pt x="101" y="49"/>
                    <a:pt x="103" y="49"/>
                  </a:cubicBezTo>
                  <a:cubicBezTo>
                    <a:pt x="105" y="49"/>
                    <a:pt x="107" y="49"/>
                    <a:pt x="105" y="48"/>
                  </a:cubicBezTo>
                  <a:cubicBezTo>
                    <a:pt x="103" y="47"/>
                    <a:pt x="103" y="46"/>
                    <a:pt x="100" y="44"/>
                  </a:cubicBezTo>
                  <a:cubicBezTo>
                    <a:pt x="98" y="43"/>
                    <a:pt x="95" y="41"/>
                    <a:pt x="93" y="40"/>
                  </a:cubicBezTo>
                  <a:cubicBezTo>
                    <a:pt x="92" y="40"/>
                    <a:pt x="91" y="38"/>
                    <a:pt x="89" y="36"/>
                  </a:cubicBezTo>
                  <a:cubicBezTo>
                    <a:pt x="87" y="34"/>
                    <a:pt x="81" y="29"/>
                    <a:pt x="83" y="29"/>
                  </a:cubicBezTo>
                  <a:cubicBezTo>
                    <a:pt x="84" y="29"/>
                    <a:pt x="88" y="30"/>
                    <a:pt x="87" y="29"/>
                  </a:cubicBezTo>
                  <a:cubicBezTo>
                    <a:pt x="86" y="28"/>
                    <a:pt x="84" y="26"/>
                    <a:pt x="82" y="25"/>
                  </a:cubicBezTo>
                  <a:cubicBezTo>
                    <a:pt x="80" y="25"/>
                    <a:pt x="76" y="24"/>
                    <a:pt x="75" y="23"/>
                  </a:cubicBezTo>
                  <a:cubicBezTo>
                    <a:pt x="75" y="22"/>
                    <a:pt x="76" y="22"/>
                    <a:pt x="73" y="20"/>
                  </a:cubicBezTo>
                  <a:cubicBezTo>
                    <a:pt x="70" y="19"/>
                    <a:pt x="69" y="18"/>
                    <a:pt x="68" y="17"/>
                  </a:cubicBezTo>
                  <a:cubicBezTo>
                    <a:pt x="67" y="16"/>
                    <a:pt x="68" y="16"/>
                    <a:pt x="65" y="15"/>
                  </a:cubicBezTo>
                  <a:cubicBezTo>
                    <a:pt x="63" y="15"/>
                    <a:pt x="62" y="14"/>
                    <a:pt x="59" y="13"/>
                  </a:cubicBezTo>
                  <a:cubicBezTo>
                    <a:pt x="57" y="12"/>
                    <a:pt x="53" y="12"/>
                    <a:pt x="51" y="11"/>
                  </a:cubicBezTo>
                  <a:cubicBezTo>
                    <a:pt x="51" y="11"/>
                    <a:pt x="51" y="10"/>
                    <a:pt x="50" y="10"/>
                  </a:cubicBezTo>
                  <a:cubicBezTo>
                    <a:pt x="50" y="10"/>
                    <a:pt x="50" y="10"/>
                    <a:pt x="50" y="10"/>
                  </a:cubicBezTo>
                  <a:cubicBezTo>
                    <a:pt x="49" y="10"/>
                    <a:pt x="49" y="10"/>
                    <a:pt x="48" y="10"/>
                  </a:cubicBezTo>
                  <a:cubicBezTo>
                    <a:pt x="48" y="10"/>
                    <a:pt x="48" y="10"/>
                    <a:pt x="48" y="9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8" y="9"/>
                    <a:pt x="47" y="9"/>
                    <a:pt x="47" y="9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48" y="8"/>
                    <a:pt x="46" y="7"/>
                    <a:pt x="46" y="7"/>
                  </a:cubicBezTo>
                  <a:cubicBezTo>
                    <a:pt x="46" y="8"/>
                    <a:pt x="46" y="9"/>
                    <a:pt x="45" y="9"/>
                  </a:cubicBezTo>
                  <a:cubicBezTo>
                    <a:pt x="44" y="9"/>
                    <a:pt x="42" y="8"/>
                    <a:pt x="40" y="8"/>
                  </a:cubicBezTo>
                  <a:cubicBezTo>
                    <a:pt x="38" y="8"/>
                    <a:pt x="34" y="5"/>
                    <a:pt x="33" y="5"/>
                  </a:cubicBezTo>
                  <a:cubicBezTo>
                    <a:pt x="33" y="5"/>
                    <a:pt x="32" y="8"/>
                    <a:pt x="31" y="8"/>
                  </a:cubicBezTo>
                  <a:cubicBezTo>
                    <a:pt x="31" y="8"/>
                    <a:pt x="30" y="7"/>
                    <a:pt x="28" y="7"/>
                  </a:cubicBezTo>
                  <a:cubicBezTo>
                    <a:pt x="27" y="7"/>
                    <a:pt x="25" y="8"/>
                    <a:pt x="25" y="8"/>
                  </a:cubicBezTo>
                  <a:cubicBezTo>
                    <a:pt x="26" y="8"/>
                    <a:pt x="28" y="9"/>
                    <a:pt x="28" y="10"/>
                  </a:cubicBezTo>
                  <a:cubicBezTo>
                    <a:pt x="27" y="10"/>
                    <a:pt x="28" y="12"/>
                    <a:pt x="27" y="12"/>
                  </a:cubicBezTo>
                  <a:cubicBezTo>
                    <a:pt x="27" y="12"/>
                    <a:pt x="26" y="14"/>
                    <a:pt x="25" y="14"/>
                  </a:cubicBezTo>
                  <a:cubicBezTo>
                    <a:pt x="23" y="13"/>
                    <a:pt x="24" y="12"/>
                    <a:pt x="24" y="11"/>
                  </a:cubicBezTo>
                  <a:cubicBezTo>
                    <a:pt x="23" y="11"/>
                    <a:pt x="20" y="9"/>
                    <a:pt x="19" y="9"/>
                  </a:cubicBezTo>
                  <a:cubicBezTo>
                    <a:pt x="17" y="9"/>
                    <a:pt x="20" y="8"/>
                    <a:pt x="18" y="6"/>
                  </a:cubicBezTo>
                  <a:cubicBezTo>
                    <a:pt x="17" y="4"/>
                    <a:pt x="15" y="3"/>
                    <a:pt x="14" y="3"/>
                  </a:cubicBezTo>
                  <a:cubicBezTo>
                    <a:pt x="14" y="3"/>
                    <a:pt x="9" y="2"/>
                    <a:pt x="8" y="1"/>
                  </a:cubicBezTo>
                  <a:cubicBezTo>
                    <a:pt x="7" y="1"/>
                    <a:pt x="5" y="2"/>
                    <a:pt x="5" y="2"/>
                  </a:cubicBezTo>
                  <a:cubicBezTo>
                    <a:pt x="4" y="2"/>
                    <a:pt x="0" y="0"/>
                    <a:pt x="1" y="1"/>
                  </a:cubicBezTo>
                  <a:cubicBezTo>
                    <a:pt x="1" y="2"/>
                    <a:pt x="1" y="3"/>
                    <a:pt x="2" y="3"/>
                  </a:cubicBezTo>
                  <a:cubicBezTo>
                    <a:pt x="3" y="3"/>
                    <a:pt x="3" y="2"/>
                    <a:pt x="4" y="3"/>
                  </a:cubicBezTo>
                  <a:cubicBezTo>
                    <a:pt x="5" y="5"/>
                    <a:pt x="5" y="6"/>
                    <a:pt x="9" y="7"/>
                  </a:cubicBezTo>
                  <a:cubicBezTo>
                    <a:pt x="12" y="9"/>
                    <a:pt x="16" y="8"/>
                    <a:pt x="15" y="9"/>
                  </a:cubicBezTo>
                  <a:cubicBezTo>
                    <a:pt x="15" y="9"/>
                    <a:pt x="14" y="11"/>
                    <a:pt x="13" y="11"/>
                  </a:cubicBezTo>
                  <a:cubicBezTo>
                    <a:pt x="12" y="11"/>
                    <a:pt x="9" y="11"/>
                    <a:pt x="11" y="12"/>
                  </a:cubicBezTo>
                  <a:cubicBezTo>
                    <a:pt x="13" y="13"/>
                    <a:pt x="16" y="15"/>
                    <a:pt x="15" y="15"/>
                  </a:cubicBezTo>
                  <a:cubicBezTo>
                    <a:pt x="14" y="15"/>
                    <a:pt x="13" y="16"/>
                    <a:pt x="15" y="17"/>
                  </a:cubicBezTo>
                  <a:cubicBezTo>
                    <a:pt x="17" y="18"/>
                    <a:pt x="18" y="17"/>
                    <a:pt x="18" y="16"/>
                  </a:cubicBezTo>
                  <a:cubicBezTo>
                    <a:pt x="17" y="15"/>
                    <a:pt x="16" y="13"/>
                    <a:pt x="18" y="14"/>
                  </a:cubicBezTo>
                  <a:cubicBezTo>
                    <a:pt x="19" y="15"/>
                    <a:pt x="19" y="16"/>
                    <a:pt x="21" y="17"/>
                  </a:cubicBezTo>
                  <a:cubicBezTo>
                    <a:pt x="24" y="18"/>
                    <a:pt x="29" y="19"/>
                    <a:pt x="31" y="20"/>
                  </a:cubicBezTo>
                  <a:cubicBezTo>
                    <a:pt x="32" y="21"/>
                    <a:pt x="35" y="23"/>
                    <a:pt x="36" y="23"/>
                  </a:cubicBezTo>
                  <a:cubicBezTo>
                    <a:pt x="37" y="23"/>
                    <a:pt x="40" y="24"/>
                    <a:pt x="42" y="26"/>
                  </a:cubicBezTo>
                  <a:cubicBezTo>
                    <a:pt x="44" y="29"/>
                    <a:pt x="49" y="34"/>
                    <a:pt x="48" y="34"/>
                  </a:cubicBezTo>
                  <a:cubicBezTo>
                    <a:pt x="47" y="34"/>
                    <a:pt x="45" y="33"/>
                    <a:pt x="44" y="34"/>
                  </a:cubicBezTo>
                  <a:cubicBezTo>
                    <a:pt x="44" y="35"/>
                    <a:pt x="41" y="38"/>
                    <a:pt x="42" y="38"/>
                  </a:cubicBezTo>
                  <a:cubicBezTo>
                    <a:pt x="43" y="38"/>
                    <a:pt x="47" y="35"/>
                    <a:pt x="47" y="36"/>
                  </a:cubicBezTo>
                  <a:cubicBezTo>
                    <a:pt x="47" y="36"/>
                    <a:pt x="48" y="38"/>
                    <a:pt x="49" y="37"/>
                  </a:cubicBezTo>
                  <a:cubicBezTo>
                    <a:pt x="50" y="36"/>
                    <a:pt x="51" y="35"/>
                    <a:pt x="51" y="36"/>
                  </a:cubicBezTo>
                  <a:cubicBezTo>
                    <a:pt x="52" y="36"/>
                    <a:pt x="53" y="36"/>
                    <a:pt x="54" y="37"/>
                  </a:cubicBezTo>
                  <a:cubicBezTo>
                    <a:pt x="54" y="38"/>
                    <a:pt x="54" y="38"/>
                    <a:pt x="54" y="38"/>
                  </a:cubicBezTo>
                  <a:cubicBezTo>
                    <a:pt x="54" y="38"/>
                    <a:pt x="54" y="38"/>
                    <a:pt x="54" y="38"/>
                  </a:cubicBezTo>
                  <a:cubicBezTo>
                    <a:pt x="55" y="38"/>
                    <a:pt x="55" y="39"/>
                    <a:pt x="55" y="39"/>
                  </a:cubicBezTo>
                  <a:cubicBezTo>
                    <a:pt x="55" y="39"/>
                    <a:pt x="55" y="39"/>
                    <a:pt x="55" y="39"/>
                  </a:cubicBezTo>
                  <a:cubicBezTo>
                    <a:pt x="55" y="39"/>
                    <a:pt x="56" y="40"/>
                    <a:pt x="56" y="40"/>
                  </a:cubicBezTo>
                  <a:cubicBezTo>
                    <a:pt x="56" y="40"/>
                    <a:pt x="56" y="40"/>
                    <a:pt x="56" y="40"/>
                  </a:cubicBezTo>
                  <a:cubicBezTo>
                    <a:pt x="56" y="40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8" y="41"/>
                    <a:pt x="58" y="41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42"/>
                    <a:pt x="58" y="42"/>
                    <a:pt x="59" y="42"/>
                  </a:cubicBezTo>
                  <a:cubicBezTo>
                    <a:pt x="59" y="42"/>
                    <a:pt x="59" y="42"/>
                    <a:pt x="59" y="42"/>
                  </a:cubicBezTo>
                  <a:cubicBezTo>
                    <a:pt x="59" y="42"/>
                    <a:pt x="59" y="42"/>
                    <a:pt x="59" y="42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61" y="42"/>
                    <a:pt x="64" y="42"/>
                    <a:pt x="66" y="42"/>
                  </a:cubicBezTo>
                  <a:cubicBezTo>
                    <a:pt x="67" y="42"/>
                    <a:pt x="69" y="41"/>
                    <a:pt x="68" y="40"/>
                  </a:cubicBezTo>
                  <a:cubicBezTo>
                    <a:pt x="67" y="39"/>
                    <a:pt x="65" y="37"/>
                    <a:pt x="66" y="37"/>
                  </a:cubicBezTo>
                  <a:cubicBezTo>
                    <a:pt x="67" y="36"/>
                    <a:pt x="69" y="37"/>
                    <a:pt x="69" y="36"/>
                  </a:cubicBezTo>
                  <a:cubicBezTo>
                    <a:pt x="69" y="36"/>
                    <a:pt x="69" y="35"/>
                    <a:pt x="70" y="35"/>
                  </a:cubicBezTo>
                  <a:cubicBezTo>
                    <a:pt x="71" y="34"/>
                    <a:pt x="74" y="36"/>
                    <a:pt x="74" y="35"/>
                  </a:cubicBezTo>
                  <a:cubicBezTo>
                    <a:pt x="75" y="35"/>
                    <a:pt x="73" y="34"/>
                    <a:pt x="76" y="3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48" name="Freeform 46"/>
            <p:cNvSpPr>
              <a:spLocks/>
            </p:cNvSpPr>
            <p:nvPr/>
          </p:nvSpPr>
          <p:spPr bwMode="auto">
            <a:xfrm>
              <a:off x="7462691" y="4433027"/>
              <a:ext cx="79991" cy="29471"/>
            </a:xfrm>
            <a:custGeom>
              <a:avLst/>
              <a:gdLst>
                <a:gd name="T0" fmla="*/ 12 w 16"/>
                <a:gd name="T1" fmla="*/ 1 h 6"/>
                <a:gd name="T2" fmla="*/ 8 w 16"/>
                <a:gd name="T3" fmla="*/ 4 h 6"/>
                <a:gd name="T4" fmla="*/ 6 w 16"/>
                <a:gd name="T5" fmla="*/ 3 h 6"/>
                <a:gd name="T6" fmla="*/ 1 w 16"/>
                <a:gd name="T7" fmla="*/ 5 h 6"/>
                <a:gd name="T8" fmla="*/ 11 w 16"/>
                <a:gd name="T9" fmla="*/ 6 h 6"/>
                <a:gd name="T10" fmla="*/ 15 w 16"/>
                <a:gd name="T11" fmla="*/ 2 h 6"/>
                <a:gd name="T12" fmla="*/ 12 w 16"/>
                <a:gd name="T13" fmla="*/ 1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" h="6">
                  <a:moveTo>
                    <a:pt x="12" y="1"/>
                  </a:moveTo>
                  <a:cubicBezTo>
                    <a:pt x="11" y="1"/>
                    <a:pt x="9" y="4"/>
                    <a:pt x="8" y="4"/>
                  </a:cubicBezTo>
                  <a:cubicBezTo>
                    <a:pt x="7" y="4"/>
                    <a:pt x="7" y="2"/>
                    <a:pt x="6" y="3"/>
                  </a:cubicBezTo>
                  <a:cubicBezTo>
                    <a:pt x="6" y="3"/>
                    <a:pt x="0" y="4"/>
                    <a:pt x="1" y="5"/>
                  </a:cubicBezTo>
                  <a:cubicBezTo>
                    <a:pt x="2" y="5"/>
                    <a:pt x="10" y="6"/>
                    <a:pt x="11" y="6"/>
                  </a:cubicBezTo>
                  <a:cubicBezTo>
                    <a:pt x="12" y="5"/>
                    <a:pt x="16" y="3"/>
                    <a:pt x="15" y="2"/>
                  </a:cubicBezTo>
                  <a:cubicBezTo>
                    <a:pt x="15" y="1"/>
                    <a:pt x="12" y="0"/>
                    <a:pt x="12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52" name="Freeform 47"/>
            <p:cNvSpPr>
              <a:spLocks/>
            </p:cNvSpPr>
            <p:nvPr/>
          </p:nvSpPr>
          <p:spPr bwMode="auto">
            <a:xfrm>
              <a:off x="7601621" y="4454078"/>
              <a:ext cx="54731" cy="29471"/>
            </a:xfrm>
            <a:custGeom>
              <a:avLst/>
              <a:gdLst>
                <a:gd name="T0" fmla="*/ 5 w 11"/>
                <a:gd name="T1" fmla="*/ 5 h 6"/>
                <a:gd name="T2" fmla="*/ 2 w 11"/>
                <a:gd name="T3" fmla="*/ 0 h 6"/>
                <a:gd name="T4" fmla="*/ 5 w 11"/>
                <a:gd name="T5" fmla="*/ 5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" h="6">
                  <a:moveTo>
                    <a:pt x="5" y="5"/>
                  </a:moveTo>
                  <a:cubicBezTo>
                    <a:pt x="11" y="6"/>
                    <a:pt x="4" y="1"/>
                    <a:pt x="2" y="0"/>
                  </a:cubicBezTo>
                  <a:cubicBezTo>
                    <a:pt x="0" y="0"/>
                    <a:pt x="4" y="5"/>
                    <a:pt x="5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53" name="Freeform 48"/>
            <p:cNvSpPr>
              <a:spLocks/>
            </p:cNvSpPr>
            <p:nvPr/>
          </p:nvSpPr>
          <p:spPr bwMode="auto">
            <a:xfrm>
              <a:off x="7921585" y="4807720"/>
              <a:ext cx="88411" cy="54731"/>
            </a:xfrm>
            <a:custGeom>
              <a:avLst/>
              <a:gdLst>
                <a:gd name="T0" fmla="*/ 11 w 18"/>
                <a:gd name="T1" fmla="*/ 7 h 11"/>
                <a:gd name="T2" fmla="*/ 1 w 18"/>
                <a:gd name="T3" fmla="*/ 1 h 11"/>
                <a:gd name="T4" fmla="*/ 8 w 18"/>
                <a:gd name="T5" fmla="*/ 7 h 11"/>
                <a:gd name="T6" fmla="*/ 17 w 18"/>
                <a:gd name="T7" fmla="*/ 11 h 11"/>
                <a:gd name="T8" fmla="*/ 11 w 18"/>
                <a:gd name="T9" fmla="*/ 7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1">
                  <a:moveTo>
                    <a:pt x="11" y="7"/>
                  </a:moveTo>
                  <a:cubicBezTo>
                    <a:pt x="10" y="6"/>
                    <a:pt x="2" y="1"/>
                    <a:pt x="1" y="1"/>
                  </a:cubicBezTo>
                  <a:cubicBezTo>
                    <a:pt x="0" y="0"/>
                    <a:pt x="6" y="6"/>
                    <a:pt x="8" y="7"/>
                  </a:cubicBezTo>
                  <a:cubicBezTo>
                    <a:pt x="11" y="9"/>
                    <a:pt x="16" y="11"/>
                    <a:pt x="17" y="11"/>
                  </a:cubicBezTo>
                  <a:cubicBezTo>
                    <a:pt x="18" y="11"/>
                    <a:pt x="13" y="8"/>
                    <a:pt x="11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54" name="Freeform 49"/>
            <p:cNvSpPr>
              <a:spLocks/>
            </p:cNvSpPr>
            <p:nvPr/>
          </p:nvSpPr>
          <p:spPr bwMode="auto">
            <a:xfrm>
              <a:off x="8191027" y="4727730"/>
              <a:ext cx="33680" cy="29471"/>
            </a:xfrm>
            <a:custGeom>
              <a:avLst/>
              <a:gdLst>
                <a:gd name="T0" fmla="*/ 5 w 7"/>
                <a:gd name="T1" fmla="*/ 3 h 6"/>
                <a:gd name="T2" fmla="*/ 2 w 7"/>
                <a:gd name="T3" fmla="*/ 1 h 6"/>
                <a:gd name="T4" fmla="*/ 0 w 7"/>
                <a:gd name="T5" fmla="*/ 4 h 6"/>
                <a:gd name="T6" fmla="*/ 6 w 7"/>
                <a:gd name="T7" fmla="*/ 6 h 6"/>
                <a:gd name="T8" fmla="*/ 5 w 7"/>
                <a:gd name="T9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6">
                  <a:moveTo>
                    <a:pt x="5" y="3"/>
                  </a:moveTo>
                  <a:cubicBezTo>
                    <a:pt x="4" y="2"/>
                    <a:pt x="2" y="0"/>
                    <a:pt x="2" y="1"/>
                  </a:cubicBezTo>
                  <a:cubicBezTo>
                    <a:pt x="3" y="2"/>
                    <a:pt x="1" y="2"/>
                    <a:pt x="0" y="4"/>
                  </a:cubicBezTo>
                  <a:cubicBezTo>
                    <a:pt x="0" y="6"/>
                    <a:pt x="4" y="6"/>
                    <a:pt x="6" y="6"/>
                  </a:cubicBezTo>
                  <a:cubicBezTo>
                    <a:pt x="7" y="6"/>
                    <a:pt x="7" y="4"/>
                    <a:pt x="5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55" name="Freeform 50"/>
            <p:cNvSpPr>
              <a:spLocks/>
            </p:cNvSpPr>
            <p:nvPr/>
          </p:nvSpPr>
          <p:spPr bwMode="auto">
            <a:xfrm>
              <a:off x="8199447" y="4698259"/>
              <a:ext cx="31575" cy="29471"/>
            </a:xfrm>
            <a:custGeom>
              <a:avLst/>
              <a:gdLst>
                <a:gd name="T0" fmla="*/ 2 w 6"/>
                <a:gd name="T1" fmla="*/ 4 h 6"/>
                <a:gd name="T2" fmla="*/ 5 w 6"/>
                <a:gd name="T3" fmla="*/ 1 h 6"/>
                <a:gd name="T4" fmla="*/ 2 w 6"/>
                <a:gd name="T5" fmla="*/ 3 h 6"/>
                <a:gd name="T6" fmla="*/ 2 w 6"/>
                <a:gd name="T7" fmla="*/ 4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6">
                  <a:moveTo>
                    <a:pt x="2" y="4"/>
                  </a:moveTo>
                  <a:cubicBezTo>
                    <a:pt x="4" y="6"/>
                    <a:pt x="6" y="2"/>
                    <a:pt x="5" y="1"/>
                  </a:cubicBezTo>
                  <a:cubicBezTo>
                    <a:pt x="5" y="0"/>
                    <a:pt x="4" y="2"/>
                    <a:pt x="2" y="3"/>
                  </a:cubicBezTo>
                  <a:cubicBezTo>
                    <a:pt x="0" y="3"/>
                    <a:pt x="1" y="4"/>
                    <a:pt x="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56" name="Freeform 51"/>
            <p:cNvSpPr>
              <a:spLocks/>
            </p:cNvSpPr>
            <p:nvPr/>
          </p:nvSpPr>
          <p:spPr bwMode="auto">
            <a:xfrm>
              <a:off x="7932109" y="4668790"/>
              <a:ext cx="33680" cy="29471"/>
            </a:xfrm>
            <a:custGeom>
              <a:avLst/>
              <a:gdLst>
                <a:gd name="T0" fmla="*/ 6 w 7"/>
                <a:gd name="T1" fmla="*/ 3 h 6"/>
                <a:gd name="T2" fmla="*/ 2 w 7"/>
                <a:gd name="T3" fmla="*/ 0 h 6"/>
                <a:gd name="T4" fmla="*/ 5 w 7"/>
                <a:gd name="T5" fmla="*/ 5 h 6"/>
                <a:gd name="T6" fmla="*/ 6 w 7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" h="6">
                  <a:moveTo>
                    <a:pt x="6" y="3"/>
                  </a:moveTo>
                  <a:cubicBezTo>
                    <a:pt x="6" y="2"/>
                    <a:pt x="5" y="1"/>
                    <a:pt x="2" y="0"/>
                  </a:cubicBezTo>
                  <a:cubicBezTo>
                    <a:pt x="0" y="0"/>
                    <a:pt x="4" y="4"/>
                    <a:pt x="5" y="5"/>
                  </a:cubicBezTo>
                  <a:cubicBezTo>
                    <a:pt x="6" y="6"/>
                    <a:pt x="7" y="4"/>
                    <a:pt x="6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57" name="Freeform 52"/>
            <p:cNvSpPr>
              <a:spLocks/>
            </p:cNvSpPr>
            <p:nvPr/>
          </p:nvSpPr>
          <p:spPr bwMode="auto">
            <a:xfrm>
              <a:off x="7527948" y="4418293"/>
              <a:ext cx="18945" cy="18945"/>
            </a:xfrm>
            <a:custGeom>
              <a:avLst/>
              <a:gdLst>
                <a:gd name="T0" fmla="*/ 3 w 4"/>
                <a:gd name="T1" fmla="*/ 1 h 4"/>
                <a:gd name="T2" fmla="*/ 0 w 4"/>
                <a:gd name="T3" fmla="*/ 0 h 4"/>
                <a:gd name="T4" fmla="*/ 2 w 4"/>
                <a:gd name="T5" fmla="*/ 3 h 4"/>
                <a:gd name="T6" fmla="*/ 3 w 4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4">
                  <a:moveTo>
                    <a:pt x="3" y="1"/>
                  </a:moveTo>
                  <a:cubicBezTo>
                    <a:pt x="3" y="0"/>
                    <a:pt x="1" y="0"/>
                    <a:pt x="0" y="0"/>
                  </a:cubicBezTo>
                  <a:cubicBezTo>
                    <a:pt x="0" y="1"/>
                    <a:pt x="1" y="2"/>
                    <a:pt x="2" y="3"/>
                  </a:cubicBezTo>
                  <a:cubicBezTo>
                    <a:pt x="4" y="4"/>
                    <a:pt x="4" y="1"/>
                    <a:pt x="3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58" name="Freeform 53"/>
            <p:cNvSpPr>
              <a:spLocks/>
            </p:cNvSpPr>
            <p:nvPr/>
          </p:nvSpPr>
          <p:spPr bwMode="auto">
            <a:xfrm>
              <a:off x="6736459" y="4571960"/>
              <a:ext cx="1014619" cy="795697"/>
            </a:xfrm>
            <a:custGeom>
              <a:avLst/>
              <a:gdLst>
                <a:gd name="T0" fmla="*/ 195 w 204"/>
                <a:gd name="T1" fmla="*/ 79 h 159"/>
                <a:gd name="T2" fmla="*/ 180 w 204"/>
                <a:gd name="T3" fmla="*/ 62 h 159"/>
                <a:gd name="T4" fmla="*/ 173 w 204"/>
                <a:gd name="T5" fmla="*/ 57 h 159"/>
                <a:gd name="T6" fmla="*/ 159 w 204"/>
                <a:gd name="T7" fmla="*/ 44 h 159"/>
                <a:gd name="T8" fmla="*/ 148 w 204"/>
                <a:gd name="T9" fmla="*/ 31 h 159"/>
                <a:gd name="T10" fmla="*/ 137 w 204"/>
                <a:gd name="T11" fmla="*/ 17 h 159"/>
                <a:gd name="T12" fmla="*/ 129 w 204"/>
                <a:gd name="T13" fmla="*/ 6 h 159"/>
                <a:gd name="T14" fmla="*/ 123 w 204"/>
                <a:gd name="T15" fmla="*/ 6 h 159"/>
                <a:gd name="T16" fmla="*/ 126 w 204"/>
                <a:gd name="T17" fmla="*/ 23 h 159"/>
                <a:gd name="T18" fmla="*/ 119 w 204"/>
                <a:gd name="T19" fmla="*/ 33 h 159"/>
                <a:gd name="T20" fmla="*/ 108 w 204"/>
                <a:gd name="T21" fmla="*/ 26 h 159"/>
                <a:gd name="T22" fmla="*/ 96 w 204"/>
                <a:gd name="T23" fmla="*/ 20 h 159"/>
                <a:gd name="T24" fmla="*/ 97 w 204"/>
                <a:gd name="T25" fmla="*/ 12 h 159"/>
                <a:gd name="T26" fmla="*/ 96 w 204"/>
                <a:gd name="T27" fmla="*/ 6 h 159"/>
                <a:gd name="T28" fmla="*/ 91 w 204"/>
                <a:gd name="T29" fmla="*/ 7 h 159"/>
                <a:gd name="T30" fmla="*/ 79 w 204"/>
                <a:gd name="T31" fmla="*/ 3 h 159"/>
                <a:gd name="T32" fmla="*/ 71 w 204"/>
                <a:gd name="T33" fmla="*/ 7 h 159"/>
                <a:gd name="T34" fmla="*/ 67 w 204"/>
                <a:gd name="T35" fmla="*/ 14 h 159"/>
                <a:gd name="T36" fmla="*/ 69 w 204"/>
                <a:gd name="T37" fmla="*/ 22 h 159"/>
                <a:gd name="T38" fmla="*/ 61 w 204"/>
                <a:gd name="T39" fmla="*/ 21 h 159"/>
                <a:gd name="T40" fmla="*/ 52 w 204"/>
                <a:gd name="T41" fmla="*/ 17 h 159"/>
                <a:gd name="T42" fmla="*/ 48 w 204"/>
                <a:gd name="T43" fmla="*/ 21 h 159"/>
                <a:gd name="T44" fmla="*/ 45 w 204"/>
                <a:gd name="T45" fmla="*/ 26 h 159"/>
                <a:gd name="T46" fmla="*/ 42 w 204"/>
                <a:gd name="T47" fmla="*/ 30 h 159"/>
                <a:gd name="T48" fmla="*/ 35 w 204"/>
                <a:gd name="T49" fmla="*/ 33 h 159"/>
                <a:gd name="T50" fmla="*/ 32 w 204"/>
                <a:gd name="T51" fmla="*/ 44 h 159"/>
                <a:gd name="T52" fmla="*/ 9 w 204"/>
                <a:gd name="T53" fmla="*/ 52 h 159"/>
                <a:gd name="T54" fmla="*/ 3 w 204"/>
                <a:gd name="T55" fmla="*/ 58 h 159"/>
                <a:gd name="T56" fmla="*/ 2 w 204"/>
                <a:gd name="T57" fmla="*/ 70 h 159"/>
                <a:gd name="T58" fmla="*/ 4 w 204"/>
                <a:gd name="T59" fmla="*/ 76 h 159"/>
                <a:gd name="T60" fmla="*/ 4 w 204"/>
                <a:gd name="T61" fmla="*/ 81 h 159"/>
                <a:gd name="T62" fmla="*/ 9 w 204"/>
                <a:gd name="T63" fmla="*/ 90 h 159"/>
                <a:gd name="T64" fmla="*/ 20 w 204"/>
                <a:gd name="T65" fmla="*/ 112 h 159"/>
                <a:gd name="T66" fmla="*/ 19 w 204"/>
                <a:gd name="T67" fmla="*/ 123 h 159"/>
                <a:gd name="T68" fmla="*/ 25 w 204"/>
                <a:gd name="T69" fmla="*/ 132 h 159"/>
                <a:gd name="T70" fmla="*/ 43 w 204"/>
                <a:gd name="T71" fmla="*/ 126 h 159"/>
                <a:gd name="T72" fmla="*/ 57 w 204"/>
                <a:gd name="T73" fmla="*/ 125 h 159"/>
                <a:gd name="T74" fmla="*/ 74 w 204"/>
                <a:gd name="T75" fmla="*/ 119 h 159"/>
                <a:gd name="T76" fmla="*/ 98 w 204"/>
                <a:gd name="T77" fmla="*/ 114 h 159"/>
                <a:gd name="T78" fmla="*/ 112 w 204"/>
                <a:gd name="T79" fmla="*/ 121 h 159"/>
                <a:gd name="T80" fmla="*/ 120 w 204"/>
                <a:gd name="T81" fmla="*/ 132 h 159"/>
                <a:gd name="T82" fmla="*/ 125 w 204"/>
                <a:gd name="T83" fmla="*/ 125 h 159"/>
                <a:gd name="T84" fmla="*/ 129 w 204"/>
                <a:gd name="T85" fmla="*/ 125 h 159"/>
                <a:gd name="T86" fmla="*/ 129 w 204"/>
                <a:gd name="T87" fmla="*/ 134 h 159"/>
                <a:gd name="T88" fmla="*/ 136 w 204"/>
                <a:gd name="T89" fmla="*/ 134 h 159"/>
                <a:gd name="T90" fmla="*/ 139 w 204"/>
                <a:gd name="T91" fmla="*/ 138 h 159"/>
                <a:gd name="T92" fmla="*/ 153 w 204"/>
                <a:gd name="T93" fmla="*/ 154 h 159"/>
                <a:gd name="T94" fmla="*/ 166 w 204"/>
                <a:gd name="T95" fmla="*/ 158 h 159"/>
                <a:gd name="T96" fmla="*/ 175 w 204"/>
                <a:gd name="T97" fmla="*/ 156 h 159"/>
                <a:gd name="T98" fmla="*/ 187 w 204"/>
                <a:gd name="T99" fmla="*/ 154 h 159"/>
                <a:gd name="T100" fmla="*/ 196 w 204"/>
                <a:gd name="T101" fmla="*/ 141 h 159"/>
                <a:gd name="T102" fmla="*/ 199 w 204"/>
                <a:gd name="T103" fmla="*/ 122 h 159"/>
                <a:gd name="T104" fmla="*/ 201 w 204"/>
                <a:gd name="T105" fmla="*/ 92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204" h="159">
                  <a:moveTo>
                    <a:pt x="201" y="92"/>
                  </a:moveTo>
                  <a:cubicBezTo>
                    <a:pt x="200" y="90"/>
                    <a:pt x="199" y="89"/>
                    <a:pt x="199" y="87"/>
                  </a:cubicBezTo>
                  <a:cubicBezTo>
                    <a:pt x="198" y="84"/>
                    <a:pt x="195" y="80"/>
                    <a:pt x="195" y="79"/>
                  </a:cubicBezTo>
                  <a:cubicBezTo>
                    <a:pt x="194" y="78"/>
                    <a:pt x="190" y="72"/>
                    <a:pt x="189" y="71"/>
                  </a:cubicBezTo>
                  <a:cubicBezTo>
                    <a:pt x="188" y="70"/>
                    <a:pt x="185" y="67"/>
                    <a:pt x="183" y="66"/>
                  </a:cubicBezTo>
                  <a:cubicBezTo>
                    <a:pt x="182" y="65"/>
                    <a:pt x="181" y="65"/>
                    <a:pt x="180" y="62"/>
                  </a:cubicBezTo>
                  <a:cubicBezTo>
                    <a:pt x="178" y="59"/>
                    <a:pt x="177" y="59"/>
                    <a:pt x="177" y="59"/>
                  </a:cubicBezTo>
                  <a:cubicBezTo>
                    <a:pt x="176" y="59"/>
                    <a:pt x="175" y="58"/>
                    <a:pt x="175" y="59"/>
                  </a:cubicBezTo>
                  <a:cubicBezTo>
                    <a:pt x="175" y="59"/>
                    <a:pt x="174" y="59"/>
                    <a:pt x="173" y="57"/>
                  </a:cubicBezTo>
                  <a:cubicBezTo>
                    <a:pt x="171" y="55"/>
                    <a:pt x="170" y="53"/>
                    <a:pt x="169" y="52"/>
                  </a:cubicBezTo>
                  <a:cubicBezTo>
                    <a:pt x="168" y="51"/>
                    <a:pt x="166" y="48"/>
                    <a:pt x="165" y="47"/>
                  </a:cubicBezTo>
                  <a:cubicBezTo>
                    <a:pt x="163" y="47"/>
                    <a:pt x="160" y="46"/>
                    <a:pt x="159" y="44"/>
                  </a:cubicBezTo>
                  <a:cubicBezTo>
                    <a:pt x="158" y="43"/>
                    <a:pt x="156" y="42"/>
                    <a:pt x="155" y="41"/>
                  </a:cubicBezTo>
                  <a:cubicBezTo>
                    <a:pt x="154" y="40"/>
                    <a:pt x="151" y="39"/>
                    <a:pt x="151" y="37"/>
                  </a:cubicBezTo>
                  <a:cubicBezTo>
                    <a:pt x="151" y="36"/>
                    <a:pt x="150" y="34"/>
                    <a:pt x="148" y="31"/>
                  </a:cubicBezTo>
                  <a:cubicBezTo>
                    <a:pt x="147" y="29"/>
                    <a:pt x="144" y="25"/>
                    <a:pt x="143" y="23"/>
                  </a:cubicBezTo>
                  <a:cubicBezTo>
                    <a:pt x="143" y="22"/>
                    <a:pt x="141" y="19"/>
                    <a:pt x="140" y="18"/>
                  </a:cubicBezTo>
                  <a:cubicBezTo>
                    <a:pt x="139" y="17"/>
                    <a:pt x="138" y="17"/>
                    <a:pt x="137" y="17"/>
                  </a:cubicBezTo>
                  <a:cubicBezTo>
                    <a:pt x="136" y="17"/>
                    <a:pt x="135" y="18"/>
                    <a:pt x="135" y="17"/>
                  </a:cubicBezTo>
                  <a:cubicBezTo>
                    <a:pt x="134" y="16"/>
                    <a:pt x="133" y="11"/>
                    <a:pt x="131" y="9"/>
                  </a:cubicBezTo>
                  <a:cubicBezTo>
                    <a:pt x="129" y="6"/>
                    <a:pt x="128" y="6"/>
                    <a:pt x="129" y="6"/>
                  </a:cubicBezTo>
                  <a:cubicBezTo>
                    <a:pt x="130" y="5"/>
                    <a:pt x="127" y="4"/>
                    <a:pt x="127" y="4"/>
                  </a:cubicBezTo>
                  <a:cubicBezTo>
                    <a:pt x="126" y="3"/>
                    <a:pt x="125" y="0"/>
                    <a:pt x="124" y="0"/>
                  </a:cubicBezTo>
                  <a:cubicBezTo>
                    <a:pt x="123" y="0"/>
                    <a:pt x="123" y="5"/>
                    <a:pt x="123" y="6"/>
                  </a:cubicBezTo>
                  <a:cubicBezTo>
                    <a:pt x="122" y="7"/>
                    <a:pt x="123" y="10"/>
                    <a:pt x="123" y="10"/>
                  </a:cubicBezTo>
                  <a:cubicBezTo>
                    <a:pt x="123" y="11"/>
                    <a:pt x="123" y="12"/>
                    <a:pt x="124" y="14"/>
                  </a:cubicBezTo>
                  <a:cubicBezTo>
                    <a:pt x="124" y="15"/>
                    <a:pt x="126" y="22"/>
                    <a:pt x="126" y="23"/>
                  </a:cubicBezTo>
                  <a:cubicBezTo>
                    <a:pt x="126" y="25"/>
                    <a:pt x="125" y="34"/>
                    <a:pt x="124" y="34"/>
                  </a:cubicBezTo>
                  <a:cubicBezTo>
                    <a:pt x="123" y="34"/>
                    <a:pt x="122" y="33"/>
                    <a:pt x="121" y="33"/>
                  </a:cubicBezTo>
                  <a:cubicBezTo>
                    <a:pt x="120" y="33"/>
                    <a:pt x="121" y="34"/>
                    <a:pt x="119" y="33"/>
                  </a:cubicBezTo>
                  <a:cubicBezTo>
                    <a:pt x="118" y="33"/>
                    <a:pt x="118" y="32"/>
                    <a:pt x="116" y="31"/>
                  </a:cubicBezTo>
                  <a:cubicBezTo>
                    <a:pt x="115" y="30"/>
                    <a:pt x="112" y="30"/>
                    <a:pt x="111" y="29"/>
                  </a:cubicBezTo>
                  <a:cubicBezTo>
                    <a:pt x="110" y="28"/>
                    <a:pt x="110" y="27"/>
                    <a:pt x="108" y="26"/>
                  </a:cubicBezTo>
                  <a:cubicBezTo>
                    <a:pt x="106" y="25"/>
                    <a:pt x="105" y="24"/>
                    <a:pt x="104" y="24"/>
                  </a:cubicBezTo>
                  <a:cubicBezTo>
                    <a:pt x="102" y="23"/>
                    <a:pt x="102" y="24"/>
                    <a:pt x="101" y="23"/>
                  </a:cubicBezTo>
                  <a:cubicBezTo>
                    <a:pt x="100" y="22"/>
                    <a:pt x="97" y="21"/>
                    <a:pt x="96" y="20"/>
                  </a:cubicBezTo>
                  <a:cubicBezTo>
                    <a:pt x="96" y="18"/>
                    <a:pt x="97" y="16"/>
                    <a:pt x="97" y="16"/>
                  </a:cubicBezTo>
                  <a:cubicBezTo>
                    <a:pt x="98" y="16"/>
                    <a:pt x="98" y="14"/>
                    <a:pt x="98" y="14"/>
                  </a:cubicBezTo>
                  <a:cubicBezTo>
                    <a:pt x="97" y="13"/>
                    <a:pt x="96" y="12"/>
                    <a:pt x="97" y="12"/>
                  </a:cubicBezTo>
                  <a:cubicBezTo>
                    <a:pt x="99" y="11"/>
                    <a:pt x="100" y="12"/>
                    <a:pt x="99" y="11"/>
                  </a:cubicBezTo>
                  <a:cubicBezTo>
                    <a:pt x="99" y="10"/>
                    <a:pt x="101" y="7"/>
                    <a:pt x="99" y="6"/>
                  </a:cubicBezTo>
                  <a:cubicBezTo>
                    <a:pt x="97" y="5"/>
                    <a:pt x="96" y="5"/>
                    <a:pt x="96" y="6"/>
                  </a:cubicBezTo>
                  <a:cubicBezTo>
                    <a:pt x="96" y="6"/>
                    <a:pt x="97" y="8"/>
                    <a:pt x="96" y="7"/>
                  </a:cubicBezTo>
                  <a:cubicBezTo>
                    <a:pt x="95" y="6"/>
                    <a:pt x="94" y="5"/>
                    <a:pt x="93" y="6"/>
                  </a:cubicBezTo>
                  <a:cubicBezTo>
                    <a:pt x="93" y="6"/>
                    <a:pt x="93" y="7"/>
                    <a:pt x="91" y="7"/>
                  </a:cubicBezTo>
                  <a:cubicBezTo>
                    <a:pt x="90" y="6"/>
                    <a:pt x="87" y="5"/>
                    <a:pt x="86" y="5"/>
                  </a:cubicBezTo>
                  <a:cubicBezTo>
                    <a:pt x="84" y="5"/>
                    <a:pt x="83" y="4"/>
                    <a:pt x="82" y="4"/>
                  </a:cubicBezTo>
                  <a:cubicBezTo>
                    <a:pt x="81" y="3"/>
                    <a:pt x="79" y="3"/>
                    <a:pt x="79" y="3"/>
                  </a:cubicBezTo>
                  <a:cubicBezTo>
                    <a:pt x="79" y="3"/>
                    <a:pt x="80" y="5"/>
                    <a:pt x="79" y="6"/>
                  </a:cubicBezTo>
                  <a:cubicBezTo>
                    <a:pt x="78" y="7"/>
                    <a:pt x="74" y="8"/>
                    <a:pt x="74" y="7"/>
                  </a:cubicBezTo>
                  <a:cubicBezTo>
                    <a:pt x="73" y="7"/>
                    <a:pt x="72" y="6"/>
                    <a:pt x="71" y="7"/>
                  </a:cubicBezTo>
                  <a:cubicBezTo>
                    <a:pt x="70" y="8"/>
                    <a:pt x="69" y="10"/>
                    <a:pt x="69" y="10"/>
                  </a:cubicBezTo>
                  <a:cubicBezTo>
                    <a:pt x="68" y="10"/>
                    <a:pt x="70" y="12"/>
                    <a:pt x="69" y="12"/>
                  </a:cubicBezTo>
                  <a:cubicBezTo>
                    <a:pt x="68" y="13"/>
                    <a:pt x="68" y="13"/>
                    <a:pt x="67" y="14"/>
                  </a:cubicBezTo>
                  <a:cubicBezTo>
                    <a:pt x="67" y="15"/>
                    <a:pt x="66" y="18"/>
                    <a:pt x="67" y="18"/>
                  </a:cubicBezTo>
                  <a:cubicBezTo>
                    <a:pt x="68" y="18"/>
                    <a:pt x="70" y="19"/>
                    <a:pt x="69" y="19"/>
                  </a:cubicBezTo>
                  <a:cubicBezTo>
                    <a:pt x="69" y="20"/>
                    <a:pt x="71" y="22"/>
                    <a:pt x="69" y="22"/>
                  </a:cubicBezTo>
                  <a:cubicBezTo>
                    <a:pt x="68" y="21"/>
                    <a:pt x="67" y="20"/>
                    <a:pt x="66" y="20"/>
                  </a:cubicBezTo>
                  <a:cubicBezTo>
                    <a:pt x="66" y="20"/>
                    <a:pt x="63" y="20"/>
                    <a:pt x="63" y="20"/>
                  </a:cubicBezTo>
                  <a:cubicBezTo>
                    <a:pt x="62" y="20"/>
                    <a:pt x="62" y="22"/>
                    <a:pt x="61" y="21"/>
                  </a:cubicBezTo>
                  <a:cubicBezTo>
                    <a:pt x="60" y="19"/>
                    <a:pt x="61" y="19"/>
                    <a:pt x="59" y="18"/>
                  </a:cubicBezTo>
                  <a:cubicBezTo>
                    <a:pt x="58" y="18"/>
                    <a:pt x="57" y="16"/>
                    <a:pt x="56" y="16"/>
                  </a:cubicBezTo>
                  <a:cubicBezTo>
                    <a:pt x="55" y="15"/>
                    <a:pt x="53" y="17"/>
                    <a:pt x="52" y="17"/>
                  </a:cubicBezTo>
                  <a:cubicBezTo>
                    <a:pt x="51" y="16"/>
                    <a:pt x="51" y="15"/>
                    <a:pt x="50" y="16"/>
                  </a:cubicBezTo>
                  <a:cubicBezTo>
                    <a:pt x="50" y="17"/>
                    <a:pt x="50" y="19"/>
                    <a:pt x="49" y="18"/>
                  </a:cubicBezTo>
                  <a:cubicBezTo>
                    <a:pt x="48" y="18"/>
                    <a:pt x="48" y="20"/>
                    <a:pt x="48" y="21"/>
                  </a:cubicBezTo>
                  <a:cubicBezTo>
                    <a:pt x="48" y="21"/>
                    <a:pt x="49" y="24"/>
                    <a:pt x="48" y="23"/>
                  </a:cubicBezTo>
                  <a:cubicBezTo>
                    <a:pt x="46" y="23"/>
                    <a:pt x="45" y="22"/>
                    <a:pt x="45" y="22"/>
                  </a:cubicBezTo>
                  <a:cubicBezTo>
                    <a:pt x="45" y="23"/>
                    <a:pt x="44" y="25"/>
                    <a:pt x="45" y="26"/>
                  </a:cubicBezTo>
                  <a:cubicBezTo>
                    <a:pt x="45" y="26"/>
                    <a:pt x="45" y="28"/>
                    <a:pt x="44" y="28"/>
                  </a:cubicBezTo>
                  <a:cubicBezTo>
                    <a:pt x="44" y="28"/>
                    <a:pt x="42" y="27"/>
                    <a:pt x="42" y="27"/>
                  </a:cubicBezTo>
                  <a:cubicBezTo>
                    <a:pt x="42" y="28"/>
                    <a:pt x="42" y="29"/>
                    <a:pt x="42" y="30"/>
                  </a:cubicBezTo>
                  <a:cubicBezTo>
                    <a:pt x="43" y="31"/>
                    <a:pt x="43" y="34"/>
                    <a:pt x="42" y="33"/>
                  </a:cubicBezTo>
                  <a:cubicBezTo>
                    <a:pt x="41" y="32"/>
                    <a:pt x="39" y="29"/>
                    <a:pt x="38" y="29"/>
                  </a:cubicBezTo>
                  <a:cubicBezTo>
                    <a:pt x="38" y="29"/>
                    <a:pt x="35" y="32"/>
                    <a:pt x="35" y="33"/>
                  </a:cubicBezTo>
                  <a:cubicBezTo>
                    <a:pt x="35" y="35"/>
                    <a:pt x="37" y="37"/>
                    <a:pt x="36" y="38"/>
                  </a:cubicBezTo>
                  <a:cubicBezTo>
                    <a:pt x="35" y="39"/>
                    <a:pt x="35" y="41"/>
                    <a:pt x="35" y="42"/>
                  </a:cubicBezTo>
                  <a:cubicBezTo>
                    <a:pt x="34" y="43"/>
                    <a:pt x="33" y="43"/>
                    <a:pt x="32" y="44"/>
                  </a:cubicBezTo>
                  <a:cubicBezTo>
                    <a:pt x="30" y="45"/>
                    <a:pt x="24" y="47"/>
                    <a:pt x="23" y="48"/>
                  </a:cubicBezTo>
                  <a:cubicBezTo>
                    <a:pt x="21" y="49"/>
                    <a:pt x="19" y="50"/>
                    <a:pt x="17" y="50"/>
                  </a:cubicBezTo>
                  <a:cubicBezTo>
                    <a:pt x="15" y="50"/>
                    <a:pt x="10" y="51"/>
                    <a:pt x="9" y="52"/>
                  </a:cubicBezTo>
                  <a:cubicBezTo>
                    <a:pt x="8" y="53"/>
                    <a:pt x="7" y="55"/>
                    <a:pt x="6" y="55"/>
                  </a:cubicBezTo>
                  <a:cubicBezTo>
                    <a:pt x="5" y="55"/>
                    <a:pt x="4" y="60"/>
                    <a:pt x="4" y="59"/>
                  </a:cubicBezTo>
                  <a:cubicBezTo>
                    <a:pt x="3" y="59"/>
                    <a:pt x="4" y="57"/>
                    <a:pt x="3" y="58"/>
                  </a:cubicBezTo>
                  <a:cubicBezTo>
                    <a:pt x="2" y="59"/>
                    <a:pt x="0" y="60"/>
                    <a:pt x="1" y="62"/>
                  </a:cubicBezTo>
                  <a:cubicBezTo>
                    <a:pt x="2" y="64"/>
                    <a:pt x="2" y="65"/>
                    <a:pt x="2" y="66"/>
                  </a:cubicBezTo>
                  <a:cubicBezTo>
                    <a:pt x="1" y="67"/>
                    <a:pt x="1" y="71"/>
                    <a:pt x="2" y="70"/>
                  </a:cubicBezTo>
                  <a:cubicBezTo>
                    <a:pt x="2" y="70"/>
                    <a:pt x="3" y="68"/>
                    <a:pt x="3" y="68"/>
                  </a:cubicBezTo>
                  <a:cubicBezTo>
                    <a:pt x="3" y="69"/>
                    <a:pt x="2" y="70"/>
                    <a:pt x="3" y="72"/>
                  </a:cubicBezTo>
                  <a:cubicBezTo>
                    <a:pt x="3" y="74"/>
                    <a:pt x="3" y="74"/>
                    <a:pt x="4" y="76"/>
                  </a:cubicBezTo>
                  <a:cubicBezTo>
                    <a:pt x="6" y="77"/>
                    <a:pt x="8" y="80"/>
                    <a:pt x="6" y="80"/>
                  </a:cubicBezTo>
                  <a:cubicBezTo>
                    <a:pt x="5" y="79"/>
                    <a:pt x="3" y="77"/>
                    <a:pt x="4" y="78"/>
                  </a:cubicBezTo>
                  <a:cubicBezTo>
                    <a:pt x="4" y="79"/>
                    <a:pt x="4" y="81"/>
                    <a:pt x="4" y="81"/>
                  </a:cubicBezTo>
                  <a:cubicBezTo>
                    <a:pt x="3" y="80"/>
                    <a:pt x="2" y="78"/>
                    <a:pt x="2" y="80"/>
                  </a:cubicBezTo>
                  <a:cubicBezTo>
                    <a:pt x="3" y="82"/>
                    <a:pt x="3" y="84"/>
                    <a:pt x="5" y="85"/>
                  </a:cubicBezTo>
                  <a:cubicBezTo>
                    <a:pt x="6" y="86"/>
                    <a:pt x="8" y="89"/>
                    <a:pt x="9" y="90"/>
                  </a:cubicBezTo>
                  <a:cubicBezTo>
                    <a:pt x="9" y="92"/>
                    <a:pt x="12" y="96"/>
                    <a:pt x="12" y="97"/>
                  </a:cubicBezTo>
                  <a:cubicBezTo>
                    <a:pt x="13" y="97"/>
                    <a:pt x="15" y="101"/>
                    <a:pt x="15" y="103"/>
                  </a:cubicBezTo>
                  <a:cubicBezTo>
                    <a:pt x="16" y="104"/>
                    <a:pt x="18" y="110"/>
                    <a:pt x="20" y="112"/>
                  </a:cubicBezTo>
                  <a:cubicBezTo>
                    <a:pt x="21" y="115"/>
                    <a:pt x="23" y="119"/>
                    <a:pt x="22" y="119"/>
                  </a:cubicBezTo>
                  <a:cubicBezTo>
                    <a:pt x="21" y="118"/>
                    <a:pt x="20" y="116"/>
                    <a:pt x="20" y="118"/>
                  </a:cubicBezTo>
                  <a:cubicBezTo>
                    <a:pt x="20" y="120"/>
                    <a:pt x="20" y="122"/>
                    <a:pt x="19" y="123"/>
                  </a:cubicBezTo>
                  <a:cubicBezTo>
                    <a:pt x="18" y="124"/>
                    <a:pt x="17" y="124"/>
                    <a:pt x="18" y="125"/>
                  </a:cubicBezTo>
                  <a:cubicBezTo>
                    <a:pt x="18" y="126"/>
                    <a:pt x="19" y="128"/>
                    <a:pt x="20" y="128"/>
                  </a:cubicBezTo>
                  <a:cubicBezTo>
                    <a:pt x="22" y="129"/>
                    <a:pt x="23" y="131"/>
                    <a:pt x="25" y="132"/>
                  </a:cubicBezTo>
                  <a:cubicBezTo>
                    <a:pt x="27" y="133"/>
                    <a:pt x="31" y="134"/>
                    <a:pt x="32" y="133"/>
                  </a:cubicBezTo>
                  <a:cubicBezTo>
                    <a:pt x="34" y="133"/>
                    <a:pt x="37" y="130"/>
                    <a:pt x="38" y="129"/>
                  </a:cubicBezTo>
                  <a:cubicBezTo>
                    <a:pt x="40" y="129"/>
                    <a:pt x="41" y="126"/>
                    <a:pt x="43" y="126"/>
                  </a:cubicBezTo>
                  <a:cubicBezTo>
                    <a:pt x="44" y="126"/>
                    <a:pt x="49" y="125"/>
                    <a:pt x="51" y="126"/>
                  </a:cubicBezTo>
                  <a:cubicBezTo>
                    <a:pt x="52" y="126"/>
                    <a:pt x="54" y="127"/>
                    <a:pt x="55" y="126"/>
                  </a:cubicBezTo>
                  <a:cubicBezTo>
                    <a:pt x="56" y="125"/>
                    <a:pt x="56" y="124"/>
                    <a:pt x="57" y="125"/>
                  </a:cubicBezTo>
                  <a:cubicBezTo>
                    <a:pt x="58" y="126"/>
                    <a:pt x="59" y="127"/>
                    <a:pt x="60" y="126"/>
                  </a:cubicBezTo>
                  <a:cubicBezTo>
                    <a:pt x="61" y="124"/>
                    <a:pt x="61" y="120"/>
                    <a:pt x="63" y="120"/>
                  </a:cubicBezTo>
                  <a:cubicBezTo>
                    <a:pt x="65" y="119"/>
                    <a:pt x="70" y="119"/>
                    <a:pt x="74" y="119"/>
                  </a:cubicBezTo>
                  <a:cubicBezTo>
                    <a:pt x="79" y="119"/>
                    <a:pt x="79" y="120"/>
                    <a:pt x="82" y="118"/>
                  </a:cubicBezTo>
                  <a:cubicBezTo>
                    <a:pt x="85" y="116"/>
                    <a:pt x="90" y="115"/>
                    <a:pt x="92" y="114"/>
                  </a:cubicBezTo>
                  <a:cubicBezTo>
                    <a:pt x="94" y="114"/>
                    <a:pt x="96" y="113"/>
                    <a:pt x="98" y="114"/>
                  </a:cubicBezTo>
                  <a:cubicBezTo>
                    <a:pt x="100" y="115"/>
                    <a:pt x="101" y="117"/>
                    <a:pt x="105" y="117"/>
                  </a:cubicBezTo>
                  <a:cubicBezTo>
                    <a:pt x="108" y="117"/>
                    <a:pt x="111" y="118"/>
                    <a:pt x="111" y="118"/>
                  </a:cubicBezTo>
                  <a:cubicBezTo>
                    <a:pt x="112" y="119"/>
                    <a:pt x="111" y="119"/>
                    <a:pt x="112" y="121"/>
                  </a:cubicBezTo>
                  <a:cubicBezTo>
                    <a:pt x="112" y="122"/>
                    <a:pt x="113" y="121"/>
                    <a:pt x="114" y="123"/>
                  </a:cubicBezTo>
                  <a:cubicBezTo>
                    <a:pt x="115" y="125"/>
                    <a:pt x="117" y="127"/>
                    <a:pt x="118" y="128"/>
                  </a:cubicBezTo>
                  <a:cubicBezTo>
                    <a:pt x="118" y="129"/>
                    <a:pt x="119" y="131"/>
                    <a:pt x="120" y="132"/>
                  </a:cubicBezTo>
                  <a:cubicBezTo>
                    <a:pt x="121" y="132"/>
                    <a:pt x="123" y="134"/>
                    <a:pt x="123" y="133"/>
                  </a:cubicBezTo>
                  <a:cubicBezTo>
                    <a:pt x="123" y="131"/>
                    <a:pt x="122" y="131"/>
                    <a:pt x="123" y="130"/>
                  </a:cubicBezTo>
                  <a:cubicBezTo>
                    <a:pt x="124" y="129"/>
                    <a:pt x="123" y="125"/>
                    <a:pt x="125" y="125"/>
                  </a:cubicBezTo>
                  <a:cubicBezTo>
                    <a:pt x="127" y="124"/>
                    <a:pt x="127" y="124"/>
                    <a:pt x="127" y="123"/>
                  </a:cubicBezTo>
                  <a:cubicBezTo>
                    <a:pt x="127" y="122"/>
                    <a:pt x="129" y="120"/>
                    <a:pt x="129" y="121"/>
                  </a:cubicBezTo>
                  <a:cubicBezTo>
                    <a:pt x="129" y="121"/>
                    <a:pt x="130" y="123"/>
                    <a:pt x="129" y="125"/>
                  </a:cubicBezTo>
                  <a:cubicBezTo>
                    <a:pt x="129" y="126"/>
                    <a:pt x="130" y="131"/>
                    <a:pt x="129" y="132"/>
                  </a:cubicBezTo>
                  <a:cubicBezTo>
                    <a:pt x="129" y="132"/>
                    <a:pt x="128" y="133"/>
                    <a:pt x="128" y="134"/>
                  </a:cubicBezTo>
                  <a:cubicBezTo>
                    <a:pt x="128" y="135"/>
                    <a:pt x="129" y="135"/>
                    <a:pt x="129" y="134"/>
                  </a:cubicBezTo>
                  <a:cubicBezTo>
                    <a:pt x="130" y="134"/>
                    <a:pt x="132" y="133"/>
                    <a:pt x="132" y="132"/>
                  </a:cubicBezTo>
                  <a:cubicBezTo>
                    <a:pt x="132" y="131"/>
                    <a:pt x="132" y="128"/>
                    <a:pt x="133" y="129"/>
                  </a:cubicBezTo>
                  <a:cubicBezTo>
                    <a:pt x="133" y="130"/>
                    <a:pt x="135" y="133"/>
                    <a:pt x="136" y="134"/>
                  </a:cubicBezTo>
                  <a:cubicBezTo>
                    <a:pt x="137" y="136"/>
                    <a:pt x="134" y="137"/>
                    <a:pt x="134" y="137"/>
                  </a:cubicBezTo>
                  <a:cubicBezTo>
                    <a:pt x="135" y="138"/>
                    <a:pt x="136" y="138"/>
                    <a:pt x="137" y="138"/>
                  </a:cubicBezTo>
                  <a:cubicBezTo>
                    <a:pt x="138" y="137"/>
                    <a:pt x="137" y="135"/>
                    <a:pt x="139" y="138"/>
                  </a:cubicBezTo>
                  <a:cubicBezTo>
                    <a:pt x="141" y="140"/>
                    <a:pt x="144" y="143"/>
                    <a:pt x="145" y="145"/>
                  </a:cubicBezTo>
                  <a:cubicBezTo>
                    <a:pt x="145" y="147"/>
                    <a:pt x="146" y="149"/>
                    <a:pt x="148" y="151"/>
                  </a:cubicBezTo>
                  <a:cubicBezTo>
                    <a:pt x="150" y="153"/>
                    <a:pt x="149" y="153"/>
                    <a:pt x="153" y="154"/>
                  </a:cubicBezTo>
                  <a:cubicBezTo>
                    <a:pt x="156" y="155"/>
                    <a:pt x="155" y="158"/>
                    <a:pt x="157" y="157"/>
                  </a:cubicBezTo>
                  <a:cubicBezTo>
                    <a:pt x="158" y="156"/>
                    <a:pt x="157" y="154"/>
                    <a:pt x="159" y="155"/>
                  </a:cubicBezTo>
                  <a:cubicBezTo>
                    <a:pt x="161" y="156"/>
                    <a:pt x="165" y="159"/>
                    <a:pt x="166" y="158"/>
                  </a:cubicBezTo>
                  <a:cubicBezTo>
                    <a:pt x="167" y="158"/>
                    <a:pt x="169" y="156"/>
                    <a:pt x="171" y="156"/>
                  </a:cubicBezTo>
                  <a:cubicBezTo>
                    <a:pt x="172" y="156"/>
                    <a:pt x="172" y="153"/>
                    <a:pt x="172" y="153"/>
                  </a:cubicBezTo>
                  <a:cubicBezTo>
                    <a:pt x="172" y="153"/>
                    <a:pt x="173" y="153"/>
                    <a:pt x="175" y="156"/>
                  </a:cubicBezTo>
                  <a:cubicBezTo>
                    <a:pt x="178" y="158"/>
                    <a:pt x="178" y="159"/>
                    <a:pt x="180" y="159"/>
                  </a:cubicBezTo>
                  <a:cubicBezTo>
                    <a:pt x="182" y="158"/>
                    <a:pt x="184" y="159"/>
                    <a:pt x="185" y="158"/>
                  </a:cubicBezTo>
                  <a:cubicBezTo>
                    <a:pt x="186" y="156"/>
                    <a:pt x="185" y="154"/>
                    <a:pt x="187" y="154"/>
                  </a:cubicBezTo>
                  <a:cubicBezTo>
                    <a:pt x="190" y="153"/>
                    <a:pt x="191" y="153"/>
                    <a:pt x="193" y="152"/>
                  </a:cubicBezTo>
                  <a:cubicBezTo>
                    <a:pt x="195" y="151"/>
                    <a:pt x="197" y="152"/>
                    <a:pt x="197" y="150"/>
                  </a:cubicBezTo>
                  <a:cubicBezTo>
                    <a:pt x="197" y="148"/>
                    <a:pt x="195" y="142"/>
                    <a:pt x="196" y="141"/>
                  </a:cubicBezTo>
                  <a:cubicBezTo>
                    <a:pt x="196" y="141"/>
                    <a:pt x="195" y="137"/>
                    <a:pt x="196" y="135"/>
                  </a:cubicBezTo>
                  <a:cubicBezTo>
                    <a:pt x="196" y="133"/>
                    <a:pt x="195" y="130"/>
                    <a:pt x="196" y="129"/>
                  </a:cubicBezTo>
                  <a:cubicBezTo>
                    <a:pt x="197" y="128"/>
                    <a:pt x="198" y="123"/>
                    <a:pt x="199" y="122"/>
                  </a:cubicBezTo>
                  <a:cubicBezTo>
                    <a:pt x="200" y="121"/>
                    <a:pt x="201" y="121"/>
                    <a:pt x="203" y="119"/>
                  </a:cubicBezTo>
                  <a:cubicBezTo>
                    <a:pt x="204" y="118"/>
                    <a:pt x="204" y="105"/>
                    <a:pt x="203" y="102"/>
                  </a:cubicBezTo>
                  <a:cubicBezTo>
                    <a:pt x="203" y="99"/>
                    <a:pt x="203" y="94"/>
                    <a:pt x="201" y="9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59" name="Freeform 54"/>
            <p:cNvSpPr>
              <a:spLocks/>
            </p:cNvSpPr>
            <p:nvPr/>
          </p:nvSpPr>
          <p:spPr bwMode="auto">
            <a:xfrm>
              <a:off x="7618462" y="5430807"/>
              <a:ext cx="109461" cy="115776"/>
            </a:xfrm>
            <a:custGeom>
              <a:avLst/>
              <a:gdLst>
                <a:gd name="T0" fmla="*/ 18 w 22"/>
                <a:gd name="T1" fmla="*/ 2 h 23"/>
                <a:gd name="T2" fmla="*/ 12 w 22"/>
                <a:gd name="T3" fmla="*/ 3 h 23"/>
                <a:gd name="T4" fmla="*/ 4 w 22"/>
                <a:gd name="T5" fmla="*/ 1 h 23"/>
                <a:gd name="T6" fmla="*/ 0 w 22"/>
                <a:gd name="T7" fmla="*/ 2 h 23"/>
                <a:gd name="T8" fmla="*/ 6 w 22"/>
                <a:gd name="T9" fmla="*/ 11 h 23"/>
                <a:gd name="T10" fmla="*/ 8 w 22"/>
                <a:gd name="T11" fmla="*/ 16 h 23"/>
                <a:gd name="T12" fmla="*/ 16 w 22"/>
                <a:gd name="T13" fmla="*/ 23 h 23"/>
                <a:gd name="T14" fmla="*/ 18 w 22"/>
                <a:gd name="T15" fmla="*/ 18 h 23"/>
                <a:gd name="T16" fmla="*/ 21 w 22"/>
                <a:gd name="T17" fmla="*/ 20 h 23"/>
                <a:gd name="T18" fmla="*/ 21 w 22"/>
                <a:gd name="T19" fmla="*/ 18 h 23"/>
                <a:gd name="T20" fmla="*/ 22 w 22"/>
                <a:gd name="T21" fmla="*/ 13 h 23"/>
                <a:gd name="T22" fmla="*/ 20 w 22"/>
                <a:gd name="T23" fmla="*/ 5 h 23"/>
                <a:gd name="T24" fmla="*/ 18 w 22"/>
                <a:gd name="T25" fmla="*/ 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" h="23">
                  <a:moveTo>
                    <a:pt x="18" y="2"/>
                  </a:moveTo>
                  <a:cubicBezTo>
                    <a:pt x="17" y="1"/>
                    <a:pt x="13" y="3"/>
                    <a:pt x="12" y="3"/>
                  </a:cubicBezTo>
                  <a:cubicBezTo>
                    <a:pt x="10" y="4"/>
                    <a:pt x="7" y="3"/>
                    <a:pt x="4" y="1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1" y="2"/>
                    <a:pt x="5" y="9"/>
                    <a:pt x="6" y="11"/>
                  </a:cubicBezTo>
                  <a:cubicBezTo>
                    <a:pt x="7" y="13"/>
                    <a:pt x="8" y="13"/>
                    <a:pt x="8" y="16"/>
                  </a:cubicBezTo>
                  <a:cubicBezTo>
                    <a:pt x="9" y="19"/>
                    <a:pt x="14" y="23"/>
                    <a:pt x="16" y="23"/>
                  </a:cubicBezTo>
                  <a:cubicBezTo>
                    <a:pt x="18" y="23"/>
                    <a:pt x="18" y="19"/>
                    <a:pt x="18" y="18"/>
                  </a:cubicBezTo>
                  <a:cubicBezTo>
                    <a:pt x="19" y="17"/>
                    <a:pt x="20" y="19"/>
                    <a:pt x="21" y="20"/>
                  </a:cubicBezTo>
                  <a:cubicBezTo>
                    <a:pt x="22" y="21"/>
                    <a:pt x="21" y="18"/>
                    <a:pt x="21" y="18"/>
                  </a:cubicBezTo>
                  <a:cubicBezTo>
                    <a:pt x="20" y="17"/>
                    <a:pt x="21" y="14"/>
                    <a:pt x="22" y="13"/>
                  </a:cubicBezTo>
                  <a:cubicBezTo>
                    <a:pt x="22" y="12"/>
                    <a:pt x="21" y="7"/>
                    <a:pt x="20" y="5"/>
                  </a:cubicBezTo>
                  <a:cubicBezTo>
                    <a:pt x="18" y="4"/>
                    <a:pt x="20" y="4"/>
                    <a:pt x="18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60" name="Freeform 55"/>
            <p:cNvSpPr>
              <a:spLocks/>
            </p:cNvSpPr>
            <p:nvPr/>
          </p:nvSpPr>
          <p:spPr bwMode="auto">
            <a:xfrm>
              <a:off x="8205761" y="5426595"/>
              <a:ext cx="138931" cy="244183"/>
            </a:xfrm>
            <a:custGeom>
              <a:avLst/>
              <a:gdLst>
                <a:gd name="T0" fmla="*/ 27 w 28"/>
                <a:gd name="T1" fmla="*/ 14 h 49"/>
                <a:gd name="T2" fmla="*/ 25 w 28"/>
                <a:gd name="T3" fmla="*/ 6 h 49"/>
                <a:gd name="T4" fmla="*/ 23 w 28"/>
                <a:gd name="T5" fmla="*/ 3 h 49"/>
                <a:gd name="T6" fmla="*/ 21 w 28"/>
                <a:gd name="T7" fmla="*/ 5 h 49"/>
                <a:gd name="T8" fmla="*/ 19 w 28"/>
                <a:gd name="T9" fmla="*/ 3 h 49"/>
                <a:gd name="T10" fmla="*/ 17 w 28"/>
                <a:gd name="T11" fmla="*/ 1 h 49"/>
                <a:gd name="T12" fmla="*/ 14 w 28"/>
                <a:gd name="T13" fmla="*/ 2 h 49"/>
                <a:gd name="T14" fmla="*/ 13 w 28"/>
                <a:gd name="T15" fmla="*/ 9 h 49"/>
                <a:gd name="T16" fmla="*/ 13 w 28"/>
                <a:gd name="T17" fmla="*/ 14 h 49"/>
                <a:gd name="T18" fmla="*/ 9 w 28"/>
                <a:gd name="T19" fmla="*/ 23 h 49"/>
                <a:gd name="T20" fmla="*/ 4 w 28"/>
                <a:gd name="T21" fmla="*/ 28 h 49"/>
                <a:gd name="T22" fmla="*/ 4 w 28"/>
                <a:gd name="T23" fmla="*/ 34 h 49"/>
                <a:gd name="T24" fmla="*/ 2 w 28"/>
                <a:gd name="T25" fmla="*/ 38 h 49"/>
                <a:gd name="T26" fmla="*/ 0 w 28"/>
                <a:gd name="T27" fmla="*/ 42 h 49"/>
                <a:gd name="T28" fmla="*/ 7 w 28"/>
                <a:gd name="T29" fmla="*/ 45 h 49"/>
                <a:gd name="T30" fmla="*/ 10 w 28"/>
                <a:gd name="T31" fmla="*/ 48 h 49"/>
                <a:gd name="T32" fmla="*/ 15 w 28"/>
                <a:gd name="T33" fmla="*/ 48 h 49"/>
                <a:gd name="T34" fmla="*/ 19 w 28"/>
                <a:gd name="T35" fmla="*/ 44 h 49"/>
                <a:gd name="T36" fmla="*/ 20 w 28"/>
                <a:gd name="T37" fmla="*/ 38 h 49"/>
                <a:gd name="T38" fmla="*/ 18 w 28"/>
                <a:gd name="T39" fmla="*/ 31 h 49"/>
                <a:gd name="T40" fmla="*/ 24 w 28"/>
                <a:gd name="T41" fmla="*/ 26 h 49"/>
                <a:gd name="T42" fmla="*/ 27 w 28"/>
                <a:gd name="T43" fmla="*/ 26 h 49"/>
                <a:gd name="T44" fmla="*/ 25 w 28"/>
                <a:gd name="T45" fmla="*/ 21 h 49"/>
                <a:gd name="T46" fmla="*/ 27 w 28"/>
                <a:gd name="T47" fmla="*/ 14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8" h="49">
                  <a:moveTo>
                    <a:pt x="27" y="14"/>
                  </a:moveTo>
                  <a:cubicBezTo>
                    <a:pt x="27" y="12"/>
                    <a:pt x="26" y="9"/>
                    <a:pt x="25" y="6"/>
                  </a:cubicBezTo>
                  <a:cubicBezTo>
                    <a:pt x="24" y="3"/>
                    <a:pt x="24" y="4"/>
                    <a:pt x="23" y="3"/>
                  </a:cubicBezTo>
                  <a:cubicBezTo>
                    <a:pt x="22" y="3"/>
                    <a:pt x="21" y="4"/>
                    <a:pt x="21" y="5"/>
                  </a:cubicBezTo>
                  <a:cubicBezTo>
                    <a:pt x="21" y="6"/>
                    <a:pt x="20" y="4"/>
                    <a:pt x="19" y="3"/>
                  </a:cubicBezTo>
                  <a:cubicBezTo>
                    <a:pt x="19" y="2"/>
                    <a:pt x="18" y="2"/>
                    <a:pt x="17" y="1"/>
                  </a:cubicBezTo>
                  <a:cubicBezTo>
                    <a:pt x="16" y="0"/>
                    <a:pt x="14" y="0"/>
                    <a:pt x="14" y="2"/>
                  </a:cubicBezTo>
                  <a:cubicBezTo>
                    <a:pt x="14" y="4"/>
                    <a:pt x="14" y="8"/>
                    <a:pt x="13" y="9"/>
                  </a:cubicBezTo>
                  <a:cubicBezTo>
                    <a:pt x="12" y="10"/>
                    <a:pt x="12" y="12"/>
                    <a:pt x="13" y="14"/>
                  </a:cubicBezTo>
                  <a:cubicBezTo>
                    <a:pt x="14" y="17"/>
                    <a:pt x="10" y="21"/>
                    <a:pt x="9" y="23"/>
                  </a:cubicBezTo>
                  <a:cubicBezTo>
                    <a:pt x="8" y="25"/>
                    <a:pt x="6" y="27"/>
                    <a:pt x="4" y="28"/>
                  </a:cubicBezTo>
                  <a:cubicBezTo>
                    <a:pt x="3" y="28"/>
                    <a:pt x="5" y="33"/>
                    <a:pt x="4" y="34"/>
                  </a:cubicBezTo>
                  <a:cubicBezTo>
                    <a:pt x="2" y="35"/>
                    <a:pt x="2" y="36"/>
                    <a:pt x="2" y="38"/>
                  </a:cubicBezTo>
                  <a:cubicBezTo>
                    <a:pt x="1" y="39"/>
                    <a:pt x="0" y="40"/>
                    <a:pt x="0" y="42"/>
                  </a:cubicBezTo>
                  <a:cubicBezTo>
                    <a:pt x="1" y="44"/>
                    <a:pt x="6" y="45"/>
                    <a:pt x="7" y="45"/>
                  </a:cubicBezTo>
                  <a:cubicBezTo>
                    <a:pt x="8" y="45"/>
                    <a:pt x="8" y="46"/>
                    <a:pt x="10" y="48"/>
                  </a:cubicBezTo>
                  <a:cubicBezTo>
                    <a:pt x="11" y="49"/>
                    <a:pt x="14" y="49"/>
                    <a:pt x="15" y="48"/>
                  </a:cubicBezTo>
                  <a:cubicBezTo>
                    <a:pt x="16" y="48"/>
                    <a:pt x="18" y="45"/>
                    <a:pt x="19" y="44"/>
                  </a:cubicBezTo>
                  <a:cubicBezTo>
                    <a:pt x="20" y="42"/>
                    <a:pt x="20" y="40"/>
                    <a:pt x="20" y="38"/>
                  </a:cubicBezTo>
                  <a:cubicBezTo>
                    <a:pt x="20" y="37"/>
                    <a:pt x="19" y="32"/>
                    <a:pt x="18" y="31"/>
                  </a:cubicBezTo>
                  <a:cubicBezTo>
                    <a:pt x="18" y="30"/>
                    <a:pt x="23" y="27"/>
                    <a:pt x="24" y="26"/>
                  </a:cubicBezTo>
                  <a:cubicBezTo>
                    <a:pt x="25" y="25"/>
                    <a:pt x="26" y="26"/>
                    <a:pt x="27" y="26"/>
                  </a:cubicBezTo>
                  <a:cubicBezTo>
                    <a:pt x="28" y="25"/>
                    <a:pt x="25" y="23"/>
                    <a:pt x="25" y="21"/>
                  </a:cubicBezTo>
                  <a:cubicBezTo>
                    <a:pt x="25" y="19"/>
                    <a:pt x="26" y="15"/>
                    <a:pt x="27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61" name="Freeform 56"/>
            <p:cNvSpPr>
              <a:spLocks/>
            </p:cNvSpPr>
            <p:nvPr/>
          </p:nvSpPr>
          <p:spPr bwMode="auto">
            <a:xfrm>
              <a:off x="8205762" y="5207675"/>
              <a:ext cx="193663" cy="254707"/>
            </a:xfrm>
            <a:custGeom>
              <a:avLst/>
              <a:gdLst>
                <a:gd name="T0" fmla="*/ 38 w 39"/>
                <a:gd name="T1" fmla="*/ 32 h 51"/>
                <a:gd name="T2" fmla="*/ 39 w 39"/>
                <a:gd name="T3" fmla="*/ 25 h 51"/>
                <a:gd name="T4" fmla="*/ 35 w 39"/>
                <a:gd name="T5" fmla="*/ 24 h 51"/>
                <a:gd name="T6" fmla="*/ 31 w 39"/>
                <a:gd name="T7" fmla="*/ 25 h 51"/>
                <a:gd name="T8" fmla="*/ 25 w 39"/>
                <a:gd name="T9" fmla="*/ 20 h 51"/>
                <a:gd name="T10" fmla="*/ 20 w 39"/>
                <a:gd name="T11" fmla="*/ 13 h 51"/>
                <a:gd name="T12" fmla="*/ 21 w 39"/>
                <a:gd name="T13" fmla="*/ 17 h 51"/>
                <a:gd name="T14" fmla="*/ 21 w 39"/>
                <a:gd name="T15" fmla="*/ 20 h 51"/>
                <a:gd name="T16" fmla="*/ 17 w 39"/>
                <a:gd name="T17" fmla="*/ 17 h 51"/>
                <a:gd name="T18" fmla="*/ 15 w 39"/>
                <a:gd name="T19" fmla="*/ 11 h 51"/>
                <a:gd name="T20" fmla="*/ 9 w 39"/>
                <a:gd name="T21" fmla="*/ 6 h 51"/>
                <a:gd name="T22" fmla="*/ 2 w 39"/>
                <a:gd name="T23" fmla="*/ 1 h 51"/>
                <a:gd name="T24" fmla="*/ 8 w 39"/>
                <a:gd name="T25" fmla="*/ 9 h 51"/>
                <a:gd name="T26" fmla="*/ 15 w 39"/>
                <a:gd name="T27" fmla="*/ 17 h 51"/>
                <a:gd name="T28" fmla="*/ 18 w 39"/>
                <a:gd name="T29" fmla="*/ 20 h 51"/>
                <a:gd name="T30" fmla="*/ 20 w 39"/>
                <a:gd name="T31" fmla="*/ 23 h 51"/>
                <a:gd name="T32" fmla="*/ 20 w 39"/>
                <a:gd name="T33" fmla="*/ 29 h 51"/>
                <a:gd name="T34" fmla="*/ 18 w 39"/>
                <a:gd name="T35" fmla="*/ 35 h 51"/>
                <a:gd name="T36" fmla="*/ 27 w 39"/>
                <a:gd name="T37" fmla="*/ 41 h 51"/>
                <a:gd name="T38" fmla="*/ 28 w 39"/>
                <a:gd name="T39" fmla="*/ 49 h 51"/>
                <a:gd name="T40" fmla="*/ 33 w 39"/>
                <a:gd name="T41" fmla="*/ 51 h 51"/>
                <a:gd name="T42" fmla="*/ 34 w 39"/>
                <a:gd name="T43" fmla="*/ 46 h 51"/>
                <a:gd name="T44" fmla="*/ 37 w 39"/>
                <a:gd name="T45" fmla="*/ 39 h 51"/>
                <a:gd name="T46" fmla="*/ 36 w 39"/>
                <a:gd name="T47" fmla="*/ 35 h 51"/>
                <a:gd name="T48" fmla="*/ 38 w 39"/>
                <a:gd name="T49" fmla="*/ 32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39" h="51">
                  <a:moveTo>
                    <a:pt x="38" y="32"/>
                  </a:moveTo>
                  <a:cubicBezTo>
                    <a:pt x="38" y="31"/>
                    <a:pt x="39" y="27"/>
                    <a:pt x="39" y="25"/>
                  </a:cubicBezTo>
                  <a:cubicBezTo>
                    <a:pt x="38" y="24"/>
                    <a:pt x="36" y="23"/>
                    <a:pt x="35" y="24"/>
                  </a:cubicBezTo>
                  <a:cubicBezTo>
                    <a:pt x="33" y="25"/>
                    <a:pt x="34" y="26"/>
                    <a:pt x="31" y="25"/>
                  </a:cubicBezTo>
                  <a:cubicBezTo>
                    <a:pt x="28" y="24"/>
                    <a:pt x="25" y="21"/>
                    <a:pt x="25" y="20"/>
                  </a:cubicBezTo>
                  <a:cubicBezTo>
                    <a:pt x="24" y="19"/>
                    <a:pt x="21" y="14"/>
                    <a:pt x="20" y="13"/>
                  </a:cubicBezTo>
                  <a:cubicBezTo>
                    <a:pt x="19" y="12"/>
                    <a:pt x="20" y="15"/>
                    <a:pt x="21" y="17"/>
                  </a:cubicBezTo>
                  <a:cubicBezTo>
                    <a:pt x="23" y="19"/>
                    <a:pt x="22" y="20"/>
                    <a:pt x="21" y="20"/>
                  </a:cubicBezTo>
                  <a:cubicBezTo>
                    <a:pt x="21" y="21"/>
                    <a:pt x="19" y="19"/>
                    <a:pt x="17" y="17"/>
                  </a:cubicBezTo>
                  <a:cubicBezTo>
                    <a:pt x="16" y="14"/>
                    <a:pt x="15" y="13"/>
                    <a:pt x="15" y="11"/>
                  </a:cubicBezTo>
                  <a:cubicBezTo>
                    <a:pt x="15" y="10"/>
                    <a:pt x="11" y="7"/>
                    <a:pt x="9" y="6"/>
                  </a:cubicBezTo>
                  <a:cubicBezTo>
                    <a:pt x="7" y="5"/>
                    <a:pt x="4" y="2"/>
                    <a:pt x="2" y="1"/>
                  </a:cubicBezTo>
                  <a:cubicBezTo>
                    <a:pt x="0" y="0"/>
                    <a:pt x="6" y="7"/>
                    <a:pt x="8" y="9"/>
                  </a:cubicBezTo>
                  <a:cubicBezTo>
                    <a:pt x="10" y="11"/>
                    <a:pt x="14" y="16"/>
                    <a:pt x="15" y="17"/>
                  </a:cubicBezTo>
                  <a:cubicBezTo>
                    <a:pt x="17" y="18"/>
                    <a:pt x="18" y="19"/>
                    <a:pt x="18" y="20"/>
                  </a:cubicBezTo>
                  <a:cubicBezTo>
                    <a:pt x="17" y="21"/>
                    <a:pt x="17" y="21"/>
                    <a:pt x="20" y="23"/>
                  </a:cubicBezTo>
                  <a:cubicBezTo>
                    <a:pt x="22" y="25"/>
                    <a:pt x="19" y="26"/>
                    <a:pt x="20" y="29"/>
                  </a:cubicBezTo>
                  <a:cubicBezTo>
                    <a:pt x="21" y="31"/>
                    <a:pt x="19" y="34"/>
                    <a:pt x="18" y="35"/>
                  </a:cubicBezTo>
                  <a:cubicBezTo>
                    <a:pt x="18" y="37"/>
                    <a:pt x="25" y="39"/>
                    <a:pt x="27" y="41"/>
                  </a:cubicBezTo>
                  <a:cubicBezTo>
                    <a:pt x="30" y="43"/>
                    <a:pt x="27" y="49"/>
                    <a:pt x="28" y="49"/>
                  </a:cubicBezTo>
                  <a:cubicBezTo>
                    <a:pt x="29" y="51"/>
                    <a:pt x="32" y="51"/>
                    <a:pt x="33" y="51"/>
                  </a:cubicBezTo>
                  <a:cubicBezTo>
                    <a:pt x="34" y="51"/>
                    <a:pt x="34" y="48"/>
                    <a:pt x="34" y="46"/>
                  </a:cubicBezTo>
                  <a:cubicBezTo>
                    <a:pt x="34" y="45"/>
                    <a:pt x="36" y="40"/>
                    <a:pt x="37" y="39"/>
                  </a:cubicBezTo>
                  <a:cubicBezTo>
                    <a:pt x="37" y="37"/>
                    <a:pt x="35" y="36"/>
                    <a:pt x="36" y="35"/>
                  </a:cubicBezTo>
                  <a:cubicBezTo>
                    <a:pt x="37" y="34"/>
                    <a:pt x="38" y="33"/>
                    <a:pt x="38" y="3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62" name="Freeform 57"/>
            <p:cNvSpPr>
              <a:spLocks/>
            </p:cNvSpPr>
            <p:nvPr/>
          </p:nvSpPr>
          <p:spPr bwMode="auto">
            <a:xfrm>
              <a:off x="977131" y="2401687"/>
              <a:ext cx="2292364" cy="3574319"/>
            </a:xfrm>
            <a:custGeom>
              <a:avLst/>
              <a:gdLst>
                <a:gd name="T0" fmla="*/ 393 w 460"/>
                <a:gd name="T1" fmla="*/ 367 h 716"/>
                <a:gd name="T2" fmla="*/ 379 w 460"/>
                <a:gd name="T3" fmla="*/ 358 h 716"/>
                <a:gd name="T4" fmla="*/ 355 w 460"/>
                <a:gd name="T5" fmla="*/ 339 h 716"/>
                <a:gd name="T6" fmla="*/ 294 w 460"/>
                <a:gd name="T7" fmla="*/ 337 h 716"/>
                <a:gd name="T8" fmla="*/ 256 w 460"/>
                <a:gd name="T9" fmla="*/ 338 h 716"/>
                <a:gd name="T10" fmla="*/ 261 w 460"/>
                <a:gd name="T11" fmla="*/ 317 h 716"/>
                <a:gd name="T12" fmla="*/ 238 w 460"/>
                <a:gd name="T13" fmla="*/ 314 h 716"/>
                <a:gd name="T14" fmla="*/ 250 w 460"/>
                <a:gd name="T15" fmla="*/ 290 h 716"/>
                <a:gd name="T16" fmla="*/ 209 w 460"/>
                <a:gd name="T17" fmla="*/ 279 h 716"/>
                <a:gd name="T18" fmla="*/ 229 w 460"/>
                <a:gd name="T19" fmla="*/ 255 h 716"/>
                <a:gd name="T20" fmla="*/ 282 w 460"/>
                <a:gd name="T21" fmla="*/ 270 h 716"/>
                <a:gd name="T22" fmla="*/ 319 w 460"/>
                <a:gd name="T23" fmla="*/ 218 h 716"/>
                <a:gd name="T24" fmla="*/ 363 w 460"/>
                <a:gd name="T25" fmla="*/ 180 h 716"/>
                <a:gd name="T26" fmla="*/ 372 w 460"/>
                <a:gd name="T27" fmla="*/ 184 h 716"/>
                <a:gd name="T28" fmla="*/ 364 w 460"/>
                <a:gd name="T29" fmla="*/ 160 h 716"/>
                <a:gd name="T30" fmla="*/ 412 w 460"/>
                <a:gd name="T31" fmla="*/ 132 h 716"/>
                <a:gd name="T32" fmla="*/ 393 w 460"/>
                <a:gd name="T33" fmla="*/ 104 h 716"/>
                <a:gd name="T34" fmla="*/ 371 w 460"/>
                <a:gd name="T35" fmla="*/ 95 h 716"/>
                <a:gd name="T36" fmla="*/ 339 w 460"/>
                <a:gd name="T37" fmla="*/ 88 h 716"/>
                <a:gd name="T38" fmla="*/ 325 w 460"/>
                <a:gd name="T39" fmla="*/ 142 h 716"/>
                <a:gd name="T40" fmla="*/ 277 w 460"/>
                <a:gd name="T41" fmla="*/ 113 h 716"/>
                <a:gd name="T42" fmla="*/ 296 w 460"/>
                <a:gd name="T43" fmla="*/ 72 h 716"/>
                <a:gd name="T44" fmla="*/ 317 w 460"/>
                <a:gd name="T45" fmla="*/ 47 h 716"/>
                <a:gd name="T46" fmla="*/ 340 w 460"/>
                <a:gd name="T47" fmla="*/ 30 h 716"/>
                <a:gd name="T48" fmla="*/ 328 w 460"/>
                <a:gd name="T49" fmla="*/ 28 h 716"/>
                <a:gd name="T50" fmla="*/ 309 w 460"/>
                <a:gd name="T51" fmla="*/ 24 h 716"/>
                <a:gd name="T52" fmla="*/ 291 w 460"/>
                <a:gd name="T53" fmla="*/ 18 h 716"/>
                <a:gd name="T54" fmla="*/ 284 w 460"/>
                <a:gd name="T55" fmla="*/ 33 h 716"/>
                <a:gd name="T56" fmla="*/ 242 w 460"/>
                <a:gd name="T57" fmla="*/ 32 h 716"/>
                <a:gd name="T58" fmla="*/ 226 w 460"/>
                <a:gd name="T59" fmla="*/ 37 h 716"/>
                <a:gd name="T60" fmla="*/ 189 w 460"/>
                <a:gd name="T61" fmla="*/ 20 h 716"/>
                <a:gd name="T62" fmla="*/ 163 w 460"/>
                <a:gd name="T63" fmla="*/ 19 h 716"/>
                <a:gd name="T64" fmla="*/ 128 w 460"/>
                <a:gd name="T65" fmla="*/ 21 h 716"/>
                <a:gd name="T66" fmla="*/ 78 w 460"/>
                <a:gd name="T67" fmla="*/ 8 h 716"/>
                <a:gd name="T68" fmla="*/ 32 w 460"/>
                <a:gd name="T69" fmla="*/ 42 h 716"/>
                <a:gd name="T70" fmla="*/ 22 w 460"/>
                <a:gd name="T71" fmla="*/ 48 h 716"/>
                <a:gd name="T72" fmla="*/ 26 w 460"/>
                <a:gd name="T73" fmla="*/ 70 h 716"/>
                <a:gd name="T74" fmla="*/ 15 w 460"/>
                <a:gd name="T75" fmla="*/ 95 h 716"/>
                <a:gd name="T76" fmla="*/ 15 w 460"/>
                <a:gd name="T77" fmla="*/ 115 h 716"/>
                <a:gd name="T78" fmla="*/ 49 w 460"/>
                <a:gd name="T79" fmla="*/ 95 h 716"/>
                <a:gd name="T80" fmla="*/ 73 w 460"/>
                <a:gd name="T81" fmla="*/ 91 h 716"/>
                <a:gd name="T82" fmla="*/ 111 w 460"/>
                <a:gd name="T83" fmla="*/ 102 h 716"/>
                <a:gd name="T84" fmla="*/ 129 w 460"/>
                <a:gd name="T85" fmla="*/ 124 h 716"/>
                <a:gd name="T86" fmla="*/ 138 w 460"/>
                <a:gd name="T87" fmla="*/ 149 h 716"/>
                <a:gd name="T88" fmla="*/ 135 w 460"/>
                <a:gd name="T89" fmla="*/ 163 h 716"/>
                <a:gd name="T90" fmla="*/ 139 w 460"/>
                <a:gd name="T91" fmla="*/ 237 h 716"/>
                <a:gd name="T92" fmla="*/ 155 w 460"/>
                <a:gd name="T93" fmla="*/ 281 h 716"/>
                <a:gd name="T94" fmla="*/ 160 w 460"/>
                <a:gd name="T95" fmla="*/ 262 h 716"/>
                <a:gd name="T96" fmla="*/ 222 w 460"/>
                <a:gd name="T97" fmla="*/ 321 h 716"/>
                <a:gd name="T98" fmla="*/ 240 w 460"/>
                <a:gd name="T99" fmla="*/ 326 h 716"/>
                <a:gd name="T100" fmla="*/ 246 w 460"/>
                <a:gd name="T101" fmla="*/ 340 h 716"/>
                <a:gd name="T102" fmla="*/ 279 w 460"/>
                <a:gd name="T103" fmla="*/ 354 h 716"/>
                <a:gd name="T104" fmla="*/ 253 w 460"/>
                <a:gd name="T105" fmla="*/ 396 h 716"/>
                <a:gd name="T106" fmla="*/ 265 w 460"/>
                <a:gd name="T107" fmla="*/ 458 h 716"/>
                <a:gd name="T108" fmla="*/ 259 w 460"/>
                <a:gd name="T109" fmla="*/ 546 h 716"/>
                <a:gd name="T110" fmla="*/ 232 w 460"/>
                <a:gd name="T111" fmla="*/ 635 h 716"/>
                <a:gd name="T112" fmla="*/ 213 w 460"/>
                <a:gd name="T113" fmla="*/ 687 h 716"/>
                <a:gd name="T114" fmla="*/ 236 w 460"/>
                <a:gd name="T115" fmla="*/ 704 h 716"/>
                <a:gd name="T116" fmla="*/ 250 w 460"/>
                <a:gd name="T117" fmla="*/ 677 h 716"/>
                <a:gd name="T118" fmla="*/ 301 w 460"/>
                <a:gd name="T119" fmla="*/ 594 h 716"/>
                <a:gd name="T120" fmla="*/ 349 w 460"/>
                <a:gd name="T121" fmla="*/ 556 h 716"/>
                <a:gd name="T122" fmla="*/ 395 w 460"/>
                <a:gd name="T123" fmla="*/ 498 h 7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60" h="716">
                  <a:moveTo>
                    <a:pt x="458" y="407"/>
                  </a:moveTo>
                  <a:cubicBezTo>
                    <a:pt x="457" y="406"/>
                    <a:pt x="455" y="405"/>
                    <a:pt x="452" y="404"/>
                  </a:cubicBezTo>
                  <a:cubicBezTo>
                    <a:pt x="449" y="404"/>
                    <a:pt x="446" y="404"/>
                    <a:pt x="445" y="402"/>
                  </a:cubicBezTo>
                  <a:cubicBezTo>
                    <a:pt x="443" y="401"/>
                    <a:pt x="442" y="398"/>
                    <a:pt x="438" y="397"/>
                  </a:cubicBezTo>
                  <a:cubicBezTo>
                    <a:pt x="434" y="397"/>
                    <a:pt x="430" y="397"/>
                    <a:pt x="428" y="397"/>
                  </a:cubicBezTo>
                  <a:cubicBezTo>
                    <a:pt x="426" y="396"/>
                    <a:pt x="426" y="395"/>
                    <a:pt x="423" y="395"/>
                  </a:cubicBezTo>
                  <a:cubicBezTo>
                    <a:pt x="421" y="395"/>
                    <a:pt x="419" y="395"/>
                    <a:pt x="418" y="395"/>
                  </a:cubicBezTo>
                  <a:cubicBezTo>
                    <a:pt x="418" y="394"/>
                    <a:pt x="417" y="392"/>
                    <a:pt x="416" y="392"/>
                  </a:cubicBezTo>
                  <a:cubicBezTo>
                    <a:pt x="414" y="391"/>
                    <a:pt x="410" y="389"/>
                    <a:pt x="409" y="388"/>
                  </a:cubicBezTo>
                  <a:cubicBezTo>
                    <a:pt x="408" y="388"/>
                    <a:pt x="406" y="386"/>
                    <a:pt x="405" y="387"/>
                  </a:cubicBezTo>
                  <a:cubicBezTo>
                    <a:pt x="403" y="388"/>
                    <a:pt x="400" y="393"/>
                    <a:pt x="399" y="393"/>
                  </a:cubicBezTo>
                  <a:cubicBezTo>
                    <a:pt x="398" y="393"/>
                    <a:pt x="402" y="388"/>
                    <a:pt x="403" y="388"/>
                  </a:cubicBezTo>
                  <a:cubicBezTo>
                    <a:pt x="403" y="387"/>
                    <a:pt x="403" y="385"/>
                    <a:pt x="401" y="385"/>
                  </a:cubicBezTo>
                  <a:cubicBezTo>
                    <a:pt x="399" y="385"/>
                    <a:pt x="397" y="386"/>
                    <a:pt x="396" y="385"/>
                  </a:cubicBezTo>
                  <a:cubicBezTo>
                    <a:pt x="396" y="385"/>
                    <a:pt x="396" y="382"/>
                    <a:pt x="394" y="383"/>
                  </a:cubicBezTo>
                  <a:cubicBezTo>
                    <a:pt x="393" y="384"/>
                    <a:pt x="391" y="387"/>
                    <a:pt x="391" y="386"/>
                  </a:cubicBezTo>
                  <a:cubicBezTo>
                    <a:pt x="391" y="384"/>
                    <a:pt x="394" y="383"/>
                    <a:pt x="395" y="382"/>
                  </a:cubicBezTo>
                  <a:cubicBezTo>
                    <a:pt x="396" y="382"/>
                    <a:pt x="397" y="379"/>
                    <a:pt x="397" y="378"/>
                  </a:cubicBezTo>
                  <a:cubicBezTo>
                    <a:pt x="397" y="377"/>
                    <a:pt x="396" y="377"/>
                    <a:pt x="395" y="375"/>
                  </a:cubicBezTo>
                  <a:cubicBezTo>
                    <a:pt x="394" y="374"/>
                    <a:pt x="393" y="368"/>
                    <a:pt x="393" y="367"/>
                  </a:cubicBezTo>
                  <a:cubicBezTo>
                    <a:pt x="393" y="367"/>
                    <a:pt x="393" y="366"/>
                    <a:pt x="392" y="366"/>
                  </a:cubicBezTo>
                  <a:cubicBezTo>
                    <a:pt x="392" y="366"/>
                    <a:pt x="392" y="366"/>
                    <a:pt x="392" y="366"/>
                  </a:cubicBezTo>
                  <a:cubicBezTo>
                    <a:pt x="392" y="366"/>
                    <a:pt x="392" y="366"/>
                    <a:pt x="392" y="366"/>
                  </a:cubicBezTo>
                  <a:cubicBezTo>
                    <a:pt x="392" y="365"/>
                    <a:pt x="392" y="365"/>
                    <a:pt x="391" y="365"/>
                  </a:cubicBezTo>
                  <a:cubicBezTo>
                    <a:pt x="391" y="365"/>
                    <a:pt x="391" y="364"/>
                    <a:pt x="391" y="364"/>
                  </a:cubicBezTo>
                  <a:cubicBezTo>
                    <a:pt x="391" y="364"/>
                    <a:pt x="390" y="364"/>
                    <a:pt x="390" y="364"/>
                  </a:cubicBezTo>
                  <a:cubicBezTo>
                    <a:pt x="390" y="364"/>
                    <a:pt x="389" y="363"/>
                    <a:pt x="389" y="363"/>
                  </a:cubicBezTo>
                  <a:cubicBezTo>
                    <a:pt x="389" y="363"/>
                    <a:pt x="389" y="363"/>
                    <a:pt x="389" y="363"/>
                  </a:cubicBezTo>
                  <a:cubicBezTo>
                    <a:pt x="389" y="363"/>
                    <a:pt x="388" y="363"/>
                    <a:pt x="388" y="362"/>
                  </a:cubicBezTo>
                  <a:cubicBezTo>
                    <a:pt x="388" y="362"/>
                    <a:pt x="388" y="362"/>
                    <a:pt x="388" y="362"/>
                  </a:cubicBezTo>
                  <a:cubicBezTo>
                    <a:pt x="388" y="362"/>
                    <a:pt x="387" y="362"/>
                    <a:pt x="387" y="362"/>
                  </a:cubicBezTo>
                  <a:cubicBezTo>
                    <a:pt x="387" y="362"/>
                    <a:pt x="387" y="361"/>
                    <a:pt x="386" y="361"/>
                  </a:cubicBezTo>
                  <a:cubicBezTo>
                    <a:pt x="386" y="361"/>
                    <a:pt x="386" y="361"/>
                    <a:pt x="386" y="361"/>
                  </a:cubicBezTo>
                  <a:cubicBezTo>
                    <a:pt x="386" y="361"/>
                    <a:pt x="385" y="360"/>
                    <a:pt x="385" y="360"/>
                  </a:cubicBezTo>
                  <a:cubicBezTo>
                    <a:pt x="385" y="360"/>
                    <a:pt x="384" y="360"/>
                    <a:pt x="384" y="360"/>
                  </a:cubicBezTo>
                  <a:cubicBezTo>
                    <a:pt x="384" y="360"/>
                    <a:pt x="383" y="360"/>
                    <a:pt x="383" y="359"/>
                  </a:cubicBezTo>
                  <a:cubicBezTo>
                    <a:pt x="383" y="359"/>
                    <a:pt x="383" y="359"/>
                    <a:pt x="383" y="359"/>
                  </a:cubicBezTo>
                  <a:cubicBezTo>
                    <a:pt x="382" y="359"/>
                    <a:pt x="382" y="359"/>
                    <a:pt x="382" y="359"/>
                  </a:cubicBezTo>
                  <a:cubicBezTo>
                    <a:pt x="381" y="358"/>
                    <a:pt x="380" y="358"/>
                    <a:pt x="380" y="358"/>
                  </a:cubicBezTo>
                  <a:cubicBezTo>
                    <a:pt x="379" y="358"/>
                    <a:pt x="379" y="358"/>
                    <a:pt x="379" y="358"/>
                  </a:cubicBezTo>
                  <a:cubicBezTo>
                    <a:pt x="376" y="358"/>
                    <a:pt x="373" y="359"/>
                    <a:pt x="371" y="358"/>
                  </a:cubicBezTo>
                  <a:cubicBezTo>
                    <a:pt x="371" y="358"/>
                    <a:pt x="370" y="358"/>
                    <a:pt x="370" y="358"/>
                  </a:cubicBezTo>
                  <a:cubicBezTo>
                    <a:pt x="370" y="358"/>
                    <a:pt x="370" y="357"/>
                    <a:pt x="369" y="357"/>
                  </a:cubicBezTo>
                  <a:cubicBezTo>
                    <a:pt x="369" y="357"/>
                    <a:pt x="369" y="357"/>
                    <a:pt x="369" y="357"/>
                  </a:cubicBezTo>
                  <a:cubicBezTo>
                    <a:pt x="369" y="357"/>
                    <a:pt x="368" y="356"/>
                    <a:pt x="368" y="356"/>
                  </a:cubicBezTo>
                  <a:cubicBezTo>
                    <a:pt x="368" y="356"/>
                    <a:pt x="368" y="356"/>
                    <a:pt x="367" y="356"/>
                  </a:cubicBezTo>
                  <a:cubicBezTo>
                    <a:pt x="367" y="355"/>
                    <a:pt x="367" y="355"/>
                    <a:pt x="366" y="355"/>
                  </a:cubicBezTo>
                  <a:cubicBezTo>
                    <a:pt x="366" y="355"/>
                    <a:pt x="366" y="354"/>
                    <a:pt x="365" y="354"/>
                  </a:cubicBezTo>
                  <a:cubicBezTo>
                    <a:pt x="365" y="354"/>
                    <a:pt x="365" y="354"/>
                    <a:pt x="365" y="354"/>
                  </a:cubicBezTo>
                  <a:cubicBezTo>
                    <a:pt x="365" y="354"/>
                    <a:pt x="364" y="354"/>
                    <a:pt x="364" y="354"/>
                  </a:cubicBezTo>
                  <a:cubicBezTo>
                    <a:pt x="363" y="353"/>
                    <a:pt x="364" y="353"/>
                    <a:pt x="362" y="351"/>
                  </a:cubicBezTo>
                  <a:cubicBezTo>
                    <a:pt x="361" y="349"/>
                    <a:pt x="361" y="348"/>
                    <a:pt x="358" y="347"/>
                  </a:cubicBezTo>
                  <a:cubicBezTo>
                    <a:pt x="358" y="347"/>
                    <a:pt x="358" y="347"/>
                    <a:pt x="358" y="347"/>
                  </a:cubicBezTo>
                  <a:cubicBezTo>
                    <a:pt x="357" y="347"/>
                    <a:pt x="357" y="347"/>
                    <a:pt x="357" y="347"/>
                  </a:cubicBezTo>
                  <a:cubicBezTo>
                    <a:pt x="357" y="347"/>
                    <a:pt x="357" y="347"/>
                    <a:pt x="357" y="347"/>
                  </a:cubicBezTo>
                  <a:cubicBezTo>
                    <a:pt x="356" y="347"/>
                    <a:pt x="356" y="347"/>
                    <a:pt x="356" y="346"/>
                  </a:cubicBezTo>
                  <a:cubicBezTo>
                    <a:pt x="356" y="346"/>
                    <a:pt x="356" y="346"/>
                    <a:pt x="356" y="346"/>
                  </a:cubicBezTo>
                  <a:cubicBezTo>
                    <a:pt x="355" y="346"/>
                    <a:pt x="355" y="346"/>
                    <a:pt x="355" y="346"/>
                  </a:cubicBezTo>
                  <a:cubicBezTo>
                    <a:pt x="353" y="346"/>
                    <a:pt x="354" y="346"/>
                    <a:pt x="354" y="344"/>
                  </a:cubicBezTo>
                  <a:cubicBezTo>
                    <a:pt x="354" y="343"/>
                    <a:pt x="353" y="340"/>
                    <a:pt x="355" y="339"/>
                  </a:cubicBezTo>
                  <a:cubicBezTo>
                    <a:pt x="356" y="339"/>
                    <a:pt x="356" y="337"/>
                    <a:pt x="355" y="338"/>
                  </a:cubicBezTo>
                  <a:cubicBezTo>
                    <a:pt x="353" y="339"/>
                    <a:pt x="352" y="341"/>
                    <a:pt x="350" y="340"/>
                  </a:cubicBezTo>
                  <a:cubicBezTo>
                    <a:pt x="347" y="339"/>
                    <a:pt x="348" y="338"/>
                    <a:pt x="345" y="338"/>
                  </a:cubicBezTo>
                  <a:cubicBezTo>
                    <a:pt x="343" y="338"/>
                    <a:pt x="340" y="340"/>
                    <a:pt x="337" y="339"/>
                  </a:cubicBezTo>
                  <a:cubicBezTo>
                    <a:pt x="334" y="339"/>
                    <a:pt x="332" y="337"/>
                    <a:pt x="330" y="337"/>
                  </a:cubicBezTo>
                  <a:cubicBezTo>
                    <a:pt x="328" y="337"/>
                    <a:pt x="325" y="339"/>
                    <a:pt x="324" y="338"/>
                  </a:cubicBezTo>
                  <a:cubicBezTo>
                    <a:pt x="323" y="337"/>
                    <a:pt x="325" y="336"/>
                    <a:pt x="324" y="335"/>
                  </a:cubicBezTo>
                  <a:cubicBezTo>
                    <a:pt x="323" y="334"/>
                    <a:pt x="319" y="333"/>
                    <a:pt x="318" y="334"/>
                  </a:cubicBezTo>
                  <a:cubicBezTo>
                    <a:pt x="316" y="335"/>
                    <a:pt x="313" y="336"/>
                    <a:pt x="311" y="336"/>
                  </a:cubicBezTo>
                  <a:cubicBezTo>
                    <a:pt x="310" y="336"/>
                    <a:pt x="307" y="338"/>
                    <a:pt x="308" y="336"/>
                  </a:cubicBezTo>
                  <a:cubicBezTo>
                    <a:pt x="308" y="336"/>
                    <a:pt x="308" y="336"/>
                    <a:pt x="308" y="335"/>
                  </a:cubicBezTo>
                  <a:cubicBezTo>
                    <a:pt x="308" y="335"/>
                    <a:pt x="308" y="335"/>
                    <a:pt x="308" y="335"/>
                  </a:cubicBezTo>
                  <a:cubicBezTo>
                    <a:pt x="308" y="335"/>
                    <a:pt x="308" y="335"/>
                    <a:pt x="309" y="334"/>
                  </a:cubicBezTo>
                  <a:cubicBezTo>
                    <a:pt x="309" y="334"/>
                    <a:pt x="309" y="334"/>
                    <a:pt x="309" y="334"/>
                  </a:cubicBezTo>
                  <a:cubicBezTo>
                    <a:pt x="309" y="334"/>
                    <a:pt x="310" y="334"/>
                    <a:pt x="310" y="333"/>
                  </a:cubicBezTo>
                  <a:cubicBezTo>
                    <a:pt x="312" y="333"/>
                    <a:pt x="313" y="332"/>
                    <a:pt x="312" y="330"/>
                  </a:cubicBezTo>
                  <a:cubicBezTo>
                    <a:pt x="310" y="329"/>
                    <a:pt x="309" y="329"/>
                    <a:pt x="308" y="331"/>
                  </a:cubicBezTo>
                  <a:cubicBezTo>
                    <a:pt x="306" y="332"/>
                    <a:pt x="302" y="335"/>
                    <a:pt x="301" y="334"/>
                  </a:cubicBezTo>
                  <a:cubicBezTo>
                    <a:pt x="300" y="334"/>
                    <a:pt x="299" y="333"/>
                    <a:pt x="298" y="334"/>
                  </a:cubicBezTo>
                  <a:cubicBezTo>
                    <a:pt x="297" y="335"/>
                    <a:pt x="295" y="336"/>
                    <a:pt x="294" y="337"/>
                  </a:cubicBezTo>
                  <a:cubicBezTo>
                    <a:pt x="293" y="337"/>
                    <a:pt x="291" y="337"/>
                    <a:pt x="292" y="338"/>
                  </a:cubicBezTo>
                  <a:cubicBezTo>
                    <a:pt x="292" y="339"/>
                    <a:pt x="290" y="339"/>
                    <a:pt x="290" y="340"/>
                  </a:cubicBezTo>
                  <a:cubicBezTo>
                    <a:pt x="290" y="341"/>
                    <a:pt x="290" y="342"/>
                    <a:pt x="289" y="342"/>
                  </a:cubicBezTo>
                  <a:cubicBezTo>
                    <a:pt x="288" y="342"/>
                    <a:pt x="286" y="345"/>
                    <a:pt x="285" y="346"/>
                  </a:cubicBezTo>
                  <a:cubicBezTo>
                    <a:pt x="285" y="346"/>
                    <a:pt x="283" y="346"/>
                    <a:pt x="282" y="346"/>
                  </a:cubicBezTo>
                  <a:cubicBezTo>
                    <a:pt x="282" y="346"/>
                    <a:pt x="282" y="346"/>
                    <a:pt x="282" y="346"/>
                  </a:cubicBezTo>
                  <a:cubicBezTo>
                    <a:pt x="282" y="345"/>
                    <a:pt x="282" y="345"/>
                    <a:pt x="281" y="345"/>
                  </a:cubicBezTo>
                  <a:cubicBezTo>
                    <a:pt x="281" y="345"/>
                    <a:pt x="281" y="345"/>
                    <a:pt x="281" y="345"/>
                  </a:cubicBezTo>
                  <a:cubicBezTo>
                    <a:pt x="281" y="345"/>
                    <a:pt x="281" y="344"/>
                    <a:pt x="281" y="344"/>
                  </a:cubicBezTo>
                  <a:cubicBezTo>
                    <a:pt x="281" y="344"/>
                    <a:pt x="280" y="344"/>
                    <a:pt x="280" y="344"/>
                  </a:cubicBezTo>
                  <a:cubicBezTo>
                    <a:pt x="280" y="344"/>
                    <a:pt x="280" y="344"/>
                    <a:pt x="279" y="343"/>
                  </a:cubicBezTo>
                  <a:cubicBezTo>
                    <a:pt x="277" y="343"/>
                    <a:pt x="274" y="342"/>
                    <a:pt x="273" y="342"/>
                  </a:cubicBezTo>
                  <a:cubicBezTo>
                    <a:pt x="271" y="343"/>
                    <a:pt x="270" y="344"/>
                    <a:pt x="269" y="344"/>
                  </a:cubicBezTo>
                  <a:cubicBezTo>
                    <a:pt x="267" y="344"/>
                    <a:pt x="264" y="345"/>
                    <a:pt x="263" y="344"/>
                  </a:cubicBezTo>
                  <a:cubicBezTo>
                    <a:pt x="262" y="343"/>
                    <a:pt x="261" y="345"/>
                    <a:pt x="260" y="344"/>
                  </a:cubicBezTo>
                  <a:cubicBezTo>
                    <a:pt x="259" y="342"/>
                    <a:pt x="260" y="343"/>
                    <a:pt x="259" y="341"/>
                  </a:cubicBezTo>
                  <a:cubicBezTo>
                    <a:pt x="259" y="340"/>
                    <a:pt x="258" y="340"/>
                    <a:pt x="258" y="340"/>
                  </a:cubicBezTo>
                  <a:cubicBezTo>
                    <a:pt x="258" y="340"/>
                    <a:pt x="258" y="340"/>
                    <a:pt x="258" y="340"/>
                  </a:cubicBezTo>
                  <a:cubicBezTo>
                    <a:pt x="257" y="339"/>
                    <a:pt x="257" y="339"/>
                    <a:pt x="256" y="338"/>
                  </a:cubicBezTo>
                  <a:cubicBezTo>
                    <a:pt x="256" y="338"/>
                    <a:pt x="256" y="338"/>
                    <a:pt x="256" y="338"/>
                  </a:cubicBezTo>
                  <a:cubicBezTo>
                    <a:pt x="256" y="338"/>
                    <a:pt x="256" y="338"/>
                    <a:pt x="256" y="338"/>
                  </a:cubicBezTo>
                  <a:cubicBezTo>
                    <a:pt x="256" y="338"/>
                    <a:pt x="256" y="338"/>
                    <a:pt x="256" y="338"/>
                  </a:cubicBezTo>
                  <a:cubicBezTo>
                    <a:pt x="256" y="338"/>
                    <a:pt x="256" y="338"/>
                    <a:pt x="256" y="338"/>
                  </a:cubicBezTo>
                  <a:cubicBezTo>
                    <a:pt x="256" y="338"/>
                    <a:pt x="256" y="338"/>
                    <a:pt x="256" y="337"/>
                  </a:cubicBezTo>
                  <a:cubicBezTo>
                    <a:pt x="255" y="337"/>
                    <a:pt x="255" y="337"/>
                    <a:pt x="255" y="337"/>
                  </a:cubicBezTo>
                  <a:cubicBezTo>
                    <a:pt x="255" y="336"/>
                    <a:pt x="255" y="336"/>
                    <a:pt x="255" y="336"/>
                  </a:cubicBezTo>
                  <a:cubicBezTo>
                    <a:pt x="255" y="336"/>
                    <a:pt x="255" y="335"/>
                    <a:pt x="255" y="335"/>
                  </a:cubicBezTo>
                  <a:cubicBezTo>
                    <a:pt x="255" y="335"/>
                    <a:pt x="255" y="335"/>
                    <a:pt x="255" y="334"/>
                  </a:cubicBezTo>
                  <a:cubicBezTo>
                    <a:pt x="255" y="334"/>
                    <a:pt x="255" y="334"/>
                    <a:pt x="255" y="334"/>
                  </a:cubicBezTo>
                  <a:cubicBezTo>
                    <a:pt x="255" y="334"/>
                    <a:pt x="255" y="333"/>
                    <a:pt x="255" y="333"/>
                  </a:cubicBezTo>
                  <a:cubicBezTo>
                    <a:pt x="255" y="333"/>
                    <a:pt x="255" y="333"/>
                    <a:pt x="255" y="333"/>
                  </a:cubicBezTo>
                  <a:cubicBezTo>
                    <a:pt x="255" y="333"/>
                    <a:pt x="255" y="333"/>
                    <a:pt x="256" y="332"/>
                  </a:cubicBezTo>
                  <a:cubicBezTo>
                    <a:pt x="257" y="332"/>
                    <a:pt x="256" y="331"/>
                    <a:pt x="257" y="330"/>
                  </a:cubicBezTo>
                  <a:cubicBezTo>
                    <a:pt x="258" y="329"/>
                    <a:pt x="258" y="325"/>
                    <a:pt x="260" y="324"/>
                  </a:cubicBezTo>
                  <a:cubicBezTo>
                    <a:pt x="261" y="323"/>
                    <a:pt x="261" y="321"/>
                    <a:pt x="261" y="320"/>
                  </a:cubicBezTo>
                  <a:cubicBezTo>
                    <a:pt x="261" y="320"/>
                    <a:pt x="261" y="320"/>
                    <a:pt x="261" y="319"/>
                  </a:cubicBezTo>
                  <a:cubicBezTo>
                    <a:pt x="261" y="319"/>
                    <a:pt x="261" y="319"/>
                    <a:pt x="261" y="319"/>
                  </a:cubicBezTo>
                  <a:cubicBezTo>
                    <a:pt x="261" y="319"/>
                    <a:pt x="261" y="318"/>
                    <a:pt x="261" y="318"/>
                  </a:cubicBezTo>
                  <a:cubicBezTo>
                    <a:pt x="261" y="318"/>
                    <a:pt x="261" y="317"/>
                    <a:pt x="261" y="317"/>
                  </a:cubicBezTo>
                  <a:cubicBezTo>
                    <a:pt x="261" y="317"/>
                    <a:pt x="261" y="317"/>
                    <a:pt x="261" y="317"/>
                  </a:cubicBezTo>
                  <a:cubicBezTo>
                    <a:pt x="261" y="317"/>
                    <a:pt x="261" y="316"/>
                    <a:pt x="261" y="316"/>
                  </a:cubicBezTo>
                  <a:cubicBezTo>
                    <a:pt x="261" y="316"/>
                    <a:pt x="261" y="316"/>
                    <a:pt x="261" y="316"/>
                  </a:cubicBezTo>
                  <a:cubicBezTo>
                    <a:pt x="261" y="316"/>
                    <a:pt x="261" y="316"/>
                    <a:pt x="261" y="315"/>
                  </a:cubicBezTo>
                  <a:cubicBezTo>
                    <a:pt x="261" y="315"/>
                    <a:pt x="261" y="315"/>
                    <a:pt x="261" y="315"/>
                  </a:cubicBezTo>
                  <a:cubicBezTo>
                    <a:pt x="260" y="315"/>
                    <a:pt x="260" y="315"/>
                    <a:pt x="260" y="315"/>
                  </a:cubicBezTo>
                  <a:cubicBezTo>
                    <a:pt x="258" y="315"/>
                    <a:pt x="257" y="315"/>
                    <a:pt x="256" y="315"/>
                  </a:cubicBezTo>
                  <a:cubicBezTo>
                    <a:pt x="255" y="315"/>
                    <a:pt x="254" y="314"/>
                    <a:pt x="253" y="314"/>
                  </a:cubicBezTo>
                  <a:cubicBezTo>
                    <a:pt x="252" y="315"/>
                    <a:pt x="251" y="315"/>
                    <a:pt x="249" y="315"/>
                  </a:cubicBezTo>
                  <a:cubicBezTo>
                    <a:pt x="247" y="315"/>
                    <a:pt x="244" y="315"/>
                    <a:pt x="243" y="315"/>
                  </a:cubicBezTo>
                  <a:cubicBezTo>
                    <a:pt x="243" y="315"/>
                    <a:pt x="242" y="315"/>
                    <a:pt x="242" y="315"/>
                  </a:cubicBezTo>
                  <a:cubicBezTo>
                    <a:pt x="242" y="315"/>
                    <a:pt x="242" y="315"/>
                    <a:pt x="241" y="315"/>
                  </a:cubicBezTo>
                  <a:cubicBezTo>
                    <a:pt x="241" y="315"/>
                    <a:pt x="241" y="315"/>
                    <a:pt x="241" y="315"/>
                  </a:cubicBezTo>
                  <a:cubicBezTo>
                    <a:pt x="241" y="315"/>
                    <a:pt x="241" y="315"/>
                    <a:pt x="240" y="315"/>
                  </a:cubicBezTo>
                  <a:cubicBezTo>
                    <a:pt x="240" y="315"/>
                    <a:pt x="240" y="315"/>
                    <a:pt x="240" y="315"/>
                  </a:cubicBezTo>
                  <a:cubicBezTo>
                    <a:pt x="240" y="315"/>
                    <a:pt x="240" y="315"/>
                    <a:pt x="239" y="315"/>
                  </a:cubicBezTo>
                  <a:cubicBezTo>
                    <a:pt x="239" y="315"/>
                    <a:pt x="239" y="315"/>
                    <a:pt x="239" y="315"/>
                  </a:cubicBezTo>
                  <a:cubicBezTo>
                    <a:pt x="239" y="315"/>
                    <a:pt x="239" y="315"/>
                    <a:pt x="239" y="315"/>
                  </a:cubicBezTo>
                  <a:cubicBezTo>
                    <a:pt x="239" y="314"/>
                    <a:pt x="238" y="314"/>
                    <a:pt x="238" y="314"/>
                  </a:cubicBezTo>
                  <a:cubicBezTo>
                    <a:pt x="238" y="314"/>
                    <a:pt x="238" y="314"/>
                    <a:pt x="238" y="314"/>
                  </a:cubicBezTo>
                  <a:cubicBezTo>
                    <a:pt x="238" y="314"/>
                    <a:pt x="238" y="314"/>
                    <a:pt x="238" y="314"/>
                  </a:cubicBezTo>
                  <a:cubicBezTo>
                    <a:pt x="238" y="314"/>
                    <a:pt x="238" y="314"/>
                    <a:pt x="238" y="314"/>
                  </a:cubicBezTo>
                  <a:cubicBezTo>
                    <a:pt x="238" y="314"/>
                    <a:pt x="238" y="314"/>
                    <a:pt x="238" y="313"/>
                  </a:cubicBezTo>
                  <a:cubicBezTo>
                    <a:pt x="238" y="313"/>
                    <a:pt x="238" y="313"/>
                    <a:pt x="238" y="313"/>
                  </a:cubicBezTo>
                  <a:cubicBezTo>
                    <a:pt x="239" y="313"/>
                    <a:pt x="239" y="313"/>
                    <a:pt x="239" y="313"/>
                  </a:cubicBezTo>
                  <a:cubicBezTo>
                    <a:pt x="239" y="313"/>
                    <a:pt x="239" y="313"/>
                    <a:pt x="239" y="313"/>
                  </a:cubicBezTo>
                  <a:cubicBezTo>
                    <a:pt x="241" y="312"/>
                    <a:pt x="241" y="311"/>
                    <a:pt x="242" y="309"/>
                  </a:cubicBezTo>
                  <a:cubicBezTo>
                    <a:pt x="243" y="307"/>
                    <a:pt x="244" y="305"/>
                    <a:pt x="244" y="304"/>
                  </a:cubicBezTo>
                  <a:cubicBezTo>
                    <a:pt x="244" y="303"/>
                    <a:pt x="244" y="303"/>
                    <a:pt x="244" y="303"/>
                  </a:cubicBezTo>
                  <a:cubicBezTo>
                    <a:pt x="244" y="303"/>
                    <a:pt x="244" y="303"/>
                    <a:pt x="244" y="303"/>
                  </a:cubicBezTo>
                  <a:cubicBezTo>
                    <a:pt x="244" y="302"/>
                    <a:pt x="244" y="302"/>
                    <a:pt x="244" y="302"/>
                  </a:cubicBezTo>
                  <a:cubicBezTo>
                    <a:pt x="244" y="302"/>
                    <a:pt x="244" y="302"/>
                    <a:pt x="244" y="302"/>
                  </a:cubicBezTo>
                  <a:cubicBezTo>
                    <a:pt x="244" y="302"/>
                    <a:pt x="244" y="302"/>
                    <a:pt x="244" y="302"/>
                  </a:cubicBezTo>
                  <a:cubicBezTo>
                    <a:pt x="244" y="302"/>
                    <a:pt x="244" y="302"/>
                    <a:pt x="244" y="302"/>
                  </a:cubicBezTo>
                  <a:cubicBezTo>
                    <a:pt x="244" y="302"/>
                    <a:pt x="244" y="302"/>
                    <a:pt x="244" y="302"/>
                  </a:cubicBezTo>
                  <a:cubicBezTo>
                    <a:pt x="244" y="302"/>
                    <a:pt x="244" y="302"/>
                    <a:pt x="245" y="302"/>
                  </a:cubicBezTo>
                  <a:cubicBezTo>
                    <a:pt x="246" y="303"/>
                    <a:pt x="246" y="303"/>
                    <a:pt x="247" y="302"/>
                  </a:cubicBezTo>
                  <a:cubicBezTo>
                    <a:pt x="248" y="301"/>
                    <a:pt x="249" y="296"/>
                    <a:pt x="250" y="295"/>
                  </a:cubicBezTo>
                  <a:cubicBezTo>
                    <a:pt x="251" y="294"/>
                    <a:pt x="253" y="293"/>
                    <a:pt x="253" y="292"/>
                  </a:cubicBezTo>
                  <a:cubicBezTo>
                    <a:pt x="253" y="291"/>
                    <a:pt x="253" y="290"/>
                    <a:pt x="253" y="290"/>
                  </a:cubicBezTo>
                  <a:cubicBezTo>
                    <a:pt x="252" y="290"/>
                    <a:pt x="251" y="290"/>
                    <a:pt x="250" y="290"/>
                  </a:cubicBezTo>
                  <a:cubicBezTo>
                    <a:pt x="250" y="290"/>
                    <a:pt x="250" y="289"/>
                    <a:pt x="249" y="289"/>
                  </a:cubicBezTo>
                  <a:cubicBezTo>
                    <a:pt x="248" y="289"/>
                    <a:pt x="247" y="290"/>
                    <a:pt x="246" y="289"/>
                  </a:cubicBezTo>
                  <a:cubicBezTo>
                    <a:pt x="245" y="289"/>
                    <a:pt x="244" y="289"/>
                    <a:pt x="243" y="289"/>
                  </a:cubicBezTo>
                  <a:cubicBezTo>
                    <a:pt x="241" y="290"/>
                    <a:pt x="239" y="292"/>
                    <a:pt x="238" y="292"/>
                  </a:cubicBezTo>
                  <a:cubicBezTo>
                    <a:pt x="238" y="292"/>
                    <a:pt x="236" y="295"/>
                    <a:pt x="236" y="295"/>
                  </a:cubicBezTo>
                  <a:cubicBezTo>
                    <a:pt x="236" y="296"/>
                    <a:pt x="235" y="297"/>
                    <a:pt x="235" y="297"/>
                  </a:cubicBezTo>
                  <a:cubicBezTo>
                    <a:pt x="234" y="298"/>
                    <a:pt x="235" y="298"/>
                    <a:pt x="234" y="299"/>
                  </a:cubicBezTo>
                  <a:cubicBezTo>
                    <a:pt x="234" y="299"/>
                    <a:pt x="232" y="302"/>
                    <a:pt x="230" y="302"/>
                  </a:cubicBezTo>
                  <a:cubicBezTo>
                    <a:pt x="227" y="301"/>
                    <a:pt x="226" y="301"/>
                    <a:pt x="225" y="302"/>
                  </a:cubicBezTo>
                  <a:cubicBezTo>
                    <a:pt x="224" y="303"/>
                    <a:pt x="224" y="303"/>
                    <a:pt x="223" y="303"/>
                  </a:cubicBezTo>
                  <a:cubicBezTo>
                    <a:pt x="221" y="303"/>
                    <a:pt x="221" y="302"/>
                    <a:pt x="220" y="302"/>
                  </a:cubicBezTo>
                  <a:cubicBezTo>
                    <a:pt x="220" y="302"/>
                    <a:pt x="218" y="304"/>
                    <a:pt x="218" y="303"/>
                  </a:cubicBezTo>
                  <a:cubicBezTo>
                    <a:pt x="217" y="303"/>
                    <a:pt x="217" y="303"/>
                    <a:pt x="216" y="302"/>
                  </a:cubicBezTo>
                  <a:cubicBezTo>
                    <a:pt x="215" y="302"/>
                    <a:pt x="211" y="301"/>
                    <a:pt x="211" y="300"/>
                  </a:cubicBezTo>
                  <a:cubicBezTo>
                    <a:pt x="211" y="300"/>
                    <a:pt x="212" y="300"/>
                    <a:pt x="211" y="299"/>
                  </a:cubicBezTo>
                  <a:cubicBezTo>
                    <a:pt x="210" y="298"/>
                    <a:pt x="211" y="297"/>
                    <a:pt x="211" y="296"/>
                  </a:cubicBezTo>
                  <a:cubicBezTo>
                    <a:pt x="211" y="295"/>
                    <a:pt x="208" y="294"/>
                    <a:pt x="208" y="292"/>
                  </a:cubicBezTo>
                  <a:cubicBezTo>
                    <a:pt x="208" y="290"/>
                    <a:pt x="209" y="290"/>
                    <a:pt x="209" y="288"/>
                  </a:cubicBezTo>
                  <a:cubicBezTo>
                    <a:pt x="208" y="286"/>
                    <a:pt x="207" y="285"/>
                    <a:pt x="208" y="284"/>
                  </a:cubicBezTo>
                  <a:cubicBezTo>
                    <a:pt x="209" y="283"/>
                    <a:pt x="208" y="280"/>
                    <a:pt x="209" y="279"/>
                  </a:cubicBezTo>
                  <a:cubicBezTo>
                    <a:pt x="211" y="277"/>
                    <a:pt x="212" y="275"/>
                    <a:pt x="213" y="273"/>
                  </a:cubicBezTo>
                  <a:cubicBezTo>
                    <a:pt x="213" y="273"/>
                    <a:pt x="213" y="273"/>
                    <a:pt x="214" y="273"/>
                  </a:cubicBezTo>
                  <a:cubicBezTo>
                    <a:pt x="214" y="273"/>
                    <a:pt x="214" y="273"/>
                    <a:pt x="214" y="273"/>
                  </a:cubicBezTo>
                  <a:cubicBezTo>
                    <a:pt x="214" y="272"/>
                    <a:pt x="214" y="272"/>
                    <a:pt x="214" y="272"/>
                  </a:cubicBezTo>
                  <a:cubicBezTo>
                    <a:pt x="214" y="272"/>
                    <a:pt x="214" y="272"/>
                    <a:pt x="214" y="272"/>
                  </a:cubicBezTo>
                  <a:cubicBezTo>
                    <a:pt x="214" y="271"/>
                    <a:pt x="215" y="271"/>
                    <a:pt x="215" y="271"/>
                  </a:cubicBezTo>
                  <a:cubicBezTo>
                    <a:pt x="215" y="271"/>
                    <a:pt x="215" y="271"/>
                    <a:pt x="215" y="271"/>
                  </a:cubicBezTo>
                  <a:cubicBezTo>
                    <a:pt x="215" y="270"/>
                    <a:pt x="215" y="270"/>
                    <a:pt x="215" y="270"/>
                  </a:cubicBezTo>
                  <a:cubicBezTo>
                    <a:pt x="215" y="270"/>
                    <a:pt x="215" y="270"/>
                    <a:pt x="215" y="270"/>
                  </a:cubicBezTo>
                  <a:cubicBezTo>
                    <a:pt x="215" y="270"/>
                    <a:pt x="215" y="270"/>
                    <a:pt x="215" y="270"/>
                  </a:cubicBezTo>
                  <a:cubicBezTo>
                    <a:pt x="215" y="269"/>
                    <a:pt x="215" y="269"/>
                    <a:pt x="215" y="269"/>
                  </a:cubicBezTo>
                  <a:cubicBezTo>
                    <a:pt x="215" y="269"/>
                    <a:pt x="215" y="269"/>
                    <a:pt x="215" y="268"/>
                  </a:cubicBezTo>
                  <a:cubicBezTo>
                    <a:pt x="216" y="268"/>
                    <a:pt x="216" y="268"/>
                    <a:pt x="216" y="268"/>
                  </a:cubicBezTo>
                  <a:cubicBezTo>
                    <a:pt x="216" y="268"/>
                    <a:pt x="216" y="268"/>
                    <a:pt x="216" y="267"/>
                  </a:cubicBezTo>
                  <a:cubicBezTo>
                    <a:pt x="216" y="267"/>
                    <a:pt x="216" y="267"/>
                    <a:pt x="216" y="267"/>
                  </a:cubicBezTo>
                  <a:cubicBezTo>
                    <a:pt x="216" y="267"/>
                    <a:pt x="216" y="266"/>
                    <a:pt x="216" y="266"/>
                  </a:cubicBezTo>
                  <a:cubicBezTo>
                    <a:pt x="216" y="264"/>
                    <a:pt x="217" y="263"/>
                    <a:pt x="217" y="262"/>
                  </a:cubicBezTo>
                  <a:cubicBezTo>
                    <a:pt x="217" y="262"/>
                    <a:pt x="216" y="261"/>
                    <a:pt x="219" y="261"/>
                  </a:cubicBezTo>
                  <a:cubicBezTo>
                    <a:pt x="221" y="260"/>
                    <a:pt x="221" y="259"/>
                    <a:pt x="222" y="258"/>
                  </a:cubicBezTo>
                  <a:cubicBezTo>
                    <a:pt x="224" y="257"/>
                    <a:pt x="227" y="256"/>
                    <a:pt x="229" y="255"/>
                  </a:cubicBezTo>
                  <a:cubicBezTo>
                    <a:pt x="230" y="254"/>
                    <a:pt x="228" y="253"/>
                    <a:pt x="230" y="254"/>
                  </a:cubicBezTo>
                  <a:cubicBezTo>
                    <a:pt x="232" y="255"/>
                    <a:pt x="233" y="254"/>
                    <a:pt x="234" y="254"/>
                  </a:cubicBezTo>
                  <a:cubicBezTo>
                    <a:pt x="235" y="254"/>
                    <a:pt x="239" y="254"/>
                    <a:pt x="239" y="254"/>
                  </a:cubicBezTo>
                  <a:cubicBezTo>
                    <a:pt x="240" y="253"/>
                    <a:pt x="242" y="253"/>
                    <a:pt x="242" y="253"/>
                  </a:cubicBezTo>
                  <a:cubicBezTo>
                    <a:pt x="242" y="254"/>
                    <a:pt x="245" y="254"/>
                    <a:pt x="245" y="255"/>
                  </a:cubicBezTo>
                  <a:cubicBezTo>
                    <a:pt x="245" y="255"/>
                    <a:pt x="246" y="256"/>
                    <a:pt x="247" y="256"/>
                  </a:cubicBezTo>
                  <a:cubicBezTo>
                    <a:pt x="248" y="255"/>
                    <a:pt x="249" y="254"/>
                    <a:pt x="251" y="253"/>
                  </a:cubicBezTo>
                  <a:cubicBezTo>
                    <a:pt x="254" y="252"/>
                    <a:pt x="255" y="251"/>
                    <a:pt x="257" y="251"/>
                  </a:cubicBezTo>
                  <a:cubicBezTo>
                    <a:pt x="258" y="251"/>
                    <a:pt x="259" y="251"/>
                    <a:pt x="260" y="250"/>
                  </a:cubicBezTo>
                  <a:cubicBezTo>
                    <a:pt x="261" y="250"/>
                    <a:pt x="259" y="251"/>
                    <a:pt x="261" y="251"/>
                  </a:cubicBezTo>
                  <a:cubicBezTo>
                    <a:pt x="263" y="250"/>
                    <a:pt x="263" y="250"/>
                    <a:pt x="265" y="251"/>
                  </a:cubicBezTo>
                  <a:cubicBezTo>
                    <a:pt x="266" y="251"/>
                    <a:pt x="267" y="250"/>
                    <a:pt x="268" y="251"/>
                  </a:cubicBezTo>
                  <a:cubicBezTo>
                    <a:pt x="268" y="251"/>
                    <a:pt x="270" y="253"/>
                    <a:pt x="271" y="253"/>
                  </a:cubicBezTo>
                  <a:cubicBezTo>
                    <a:pt x="273" y="253"/>
                    <a:pt x="274" y="253"/>
                    <a:pt x="274" y="252"/>
                  </a:cubicBezTo>
                  <a:cubicBezTo>
                    <a:pt x="275" y="251"/>
                    <a:pt x="276" y="250"/>
                    <a:pt x="277" y="252"/>
                  </a:cubicBezTo>
                  <a:cubicBezTo>
                    <a:pt x="278" y="253"/>
                    <a:pt x="278" y="255"/>
                    <a:pt x="279" y="256"/>
                  </a:cubicBezTo>
                  <a:cubicBezTo>
                    <a:pt x="280" y="256"/>
                    <a:pt x="279" y="261"/>
                    <a:pt x="279" y="262"/>
                  </a:cubicBezTo>
                  <a:cubicBezTo>
                    <a:pt x="279" y="263"/>
                    <a:pt x="279" y="267"/>
                    <a:pt x="280" y="267"/>
                  </a:cubicBezTo>
                  <a:cubicBezTo>
                    <a:pt x="280" y="266"/>
                    <a:pt x="280" y="265"/>
                    <a:pt x="281" y="266"/>
                  </a:cubicBezTo>
                  <a:cubicBezTo>
                    <a:pt x="281" y="267"/>
                    <a:pt x="281" y="269"/>
                    <a:pt x="282" y="270"/>
                  </a:cubicBezTo>
                  <a:cubicBezTo>
                    <a:pt x="283" y="272"/>
                    <a:pt x="283" y="272"/>
                    <a:pt x="283" y="273"/>
                  </a:cubicBezTo>
                  <a:cubicBezTo>
                    <a:pt x="284" y="274"/>
                    <a:pt x="285" y="276"/>
                    <a:pt x="286" y="275"/>
                  </a:cubicBezTo>
                  <a:cubicBezTo>
                    <a:pt x="287" y="274"/>
                    <a:pt x="288" y="269"/>
                    <a:pt x="288" y="267"/>
                  </a:cubicBezTo>
                  <a:cubicBezTo>
                    <a:pt x="289" y="265"/>
                    <a:pt x="289" y="259"/>
                    <a:pt x="288" y="257"/>
                  </a:cubicBezTo>
                  <a:cubicBezTo>
                    <a:pt x="287" y="255"/>
                    <a:pt x="285" y="252"/>
                    <a:pt x="287" y="249"/>
                  </a:cubicBezTo>
                  <a:cubicBezTo>
                    <a:pt x="289" y="246"/>
                    <a:pt x="290" y="244"/>
                    <a:pt x="291" y="242"/>
                  </a:cubicBezTo>
                  <a:cubicBezTo>
                    <a:pt x="292" y="241"/>
                    <a:pt x="294" y="241"/>
                    <a:pt x="295" y="240"/>
                  </a:cubicBezTo>
                  <a:cubicBezTo>
                    <a:pt x="296" y="240"/>
                    <a:pt x="297" y="240"/>
                    <a:pt x="298" y="239"/>
                  </a:cubicBezTo>
                  <a:cubicBezTo>
                    <a:pt x="300" y="238"/>
                    <a:pt x="302" y="235"/>
                    <a:pt x="302" y="235"/>
                  </a:cubicBezTo>
                  <a:cubicBezTo>
                    <a:pt x="302" y="235"/>
                    <a:pt x="304" y="235"/>
                    <a:pt x="305" y="235"/>
                  </a:cubicBezTo>
                  <a:cubicBezTo>
                    <a:pt x="307" y="234"/>
                    <a:pt x="309" y="231"/>
                    <a:pt x="310" y="230"/>
                  </a:cubicBezTo>
                  <a:cubicBezTo>
                    <a:pt x="311" y="230"/>
                    <a:pt x="313" y="230"/>
                    <a:pt x="313" y="229"/>
                  </a:cubicBezTo>
                  <a:cubicBezTo>
                    <a:pt x="313" y="229"/>
                    <a:pt x="314" y="227"/>
                    <a:pt x="314" y="227"/>
                  </a:cubicBezTo>
                  <a:cubicBezTo>
                    <a:pt x="315" y="227"/>
                    <a:pt x="317" y="226"/>
                    <a:pt x="317" y="226"/>
                  </a:cubicBezTo>
                  <a:cubicBezTo>
                    <a:pt x="317" y="225"/>
                    <a:pt x="318" y="222"/>
                    <a:pt x="317" y="221"/>
                  </a:cubicBezTo>
                  <a:cubicBezTo>
                    <a:pt x="317" y="220"/>
                    <a:pt x="316" y="219"/>
                    <a:pt x="316" y="218"/>
                  </a:cubicBezTo>
                  <a:cubicBezTo>
                    <a:pt x="316" y="218"/>
                    <a:pt x="317" y="216"/>
                    <a:pt x="317" y="215"/>
                  </a:cubicBezTo>
                  <a:cubicBezTo>
                    <a:pt x="317" y="215"/>
                    <a:pt x="318" y="213"/>
                    <a:pt x="318" y="214"/>
                  </a:cubicBezTo>
                  <a:cubicBezTo>
                    <a:pt x="318" y="214"/>
                    <a:pt x="320" y="215"/>
                    <a:pt x="319" y="216"/>
                  </a:cubicBezTo>
                  <a:cubicBezTo>
                    <a:pt x="318" y="216"/>
                    <a:pt x="318" y="218"/>
                    <a:pt x="319" y="218"/>
                  </a:cubicBezTo>
                  <a:cubicBezTo>
                    <a:pt x="320" y="217"/>
                    <a:pt x="321" y="216"/>
                    <a:pt x="321" y="216"/>
                  </a:cubicBezTo>
                  <a:cubicBezTo>
                    <a:pt x="321" y="215"/>
                    <a:pt x="323" y="212"/>
                    <a:pt x="324" y="211"/>
                  </a:cubicBezTo>
                  <a:cubicBezTo>
                    <a:pt x="325" y="210"/>
                    <a:pt x="323" y="209"/>
                    <a:pt x="324" y="209"/>
                  </a:cubicBezTo>
                  <a:cubicBezTo>
                    <a:pt x="324" y="208"/>
                    <a:pt x="325" y="209"/>
                    <a:pt x="326" y="208"/>
                  </a:cubicBezTo>
                  <a:cubicBezTo>
                    <a:pt x="327" y="207"/>
                    <a:pt x="330" y="204"/>
                    <a:pt x="330" y="203"/>
                  </a:cubicBezTo>
                  <a:cubicBezTo>
                    <a:pt x="330" y="203"/>
                    <a:pt x="329" y="202"/>
                    <a:pt x="331" y="201"/>
                  </a:cubicBezTo>
                  <a:cubicBezTo>
                    <a:pt x="332" y="201"/>
                    <a:pt x="334" y="201"/>
                    <a:pt x="334" y="201"/>
                  </a:cubicBezTo>
                  <a:cubicBezTo>
                    <a:pt x="334" y="200"/>
                    <a:pt x="335" y="199"/>
                    <a:pt x="336" y="199"/>
                  </a:cubicBezTo>
                  <a:cubicBezTo>
                    <a:pt x="336" y="199"/>
                    <a:pt x="337" y="200"/>
                    <a:pt x="338" y="200"/>
                  </a:cubicBezTo>
                  <a:cubicBezTo>
                    <a:pt x="340" y="199"/>
                    <a:pt x="343" y="197"/>
                    <a:pt x="345" y="197"/>
                  </a:cubicBezTo>
                  <a:cubicBezTo>
                    <a:pt x="346" y="197"/>
                    <a:pt x="348" y="197"/>
                    <a:pt x="347" y="196"/>
                  </a:cubicBezTo>
                  <a:cubicBezTo>
                    <a:pt x="347" y="195"/>
                    <a:pt x="346" y="195"/>
                    <a:pt x="345" y="195"/>
                  </a:cubicBezTo>
                  <a:cubicBezTo>
                    <a:pt x="345" y="194"/>
                    <a:pt x="346" y="192"/>
                    <a:pt x="346" y="191"/>
                  </a:cubicBezTo>
                  <a:cubicBezTo>
                    <a:pt x="346" y="190"/>
                    <a:pt x="348" y="188"/>
                    <a:pt x="349" y="187"/>
                  </a:cubicBezTo>
                  <a:cubicBezTo>
                    <a:pt x="350" y="186"/>
                    <a:pt x="353" y="185"/>
                    <a:pt x="355" y="184"/>
                  </a:cubicBezTo>
                  <a:cubicBezTo>
                    <a:pt x="356" y="183"/>
                    <a:pt x="356" y="183"/>
                    <a:pt x="357" y="183"/>
                  </a:cubicBezTo>
                  <a:cubicBezTo>
                    <a:pt x="359" y="183"/>
                    <a:pt x="363" y="181"/>
                    <a:pt x="364" y="180"/>
                  </a:cubicBezTo>
                  <a:cubicBezTo>
                    <a:pt x="364" y="180"/>
                    <a:pt x="364" y="180"/>
                    <a:pt x="364" y="180"/>
                  </a:cubicBezTo>
                  <a:cubicBezTo>
                    <a:pt x="364" y="180"/>
                    <a:pt x="364" y="180"/>
                    <a:pt x="364" y="180"/>
                  </a:cubicBezTo>
                  <a:cubicBezTo>
                    <a:pt x="363" y="180"/>
                    <a:pt x="363" y="180"/>
                    <a:pt x="363" y="180"/>
                  </a:cubicBezTo>
                  <a:cubicBezTo>
                    <a:pt x="363" y="180"/>
                    <a:pt x="363" y="180"/>
                    <a:pt x="363" y="179"/>
                  </a:cubicBezTo>
                  <a:cubicBezTo>
                    <a:pt x="363" y="179"/>
                    <a:pt x="363" y="179"/>
                    <a:pt x="363" y="179"/>
                  </a:cubicBezTo>
                  <a:cubicBezTo>
                    <a:pt x="363" y="179"/>
                    <a:pt x="363" y="179"/>
                    <a:pt x="363" y="179"/>
                  </a:cubicBezTo>
                  <a:cubicBezTo>
                    <a:pt x="363" y="179"/>
                    <a:pt x="363" y="179"/>
                    <a:pt x="363" y="179"/>
                  </a:cubicBezTo>
                  <a:cubicBezTo>
                    <a:pt x="363" y="179"/>
                    <a:pt x="363" y="179"/>
                    <a:pt x="363" y="179"/>
                  </a:cubicBezTo>
                  <a:cubicBezTo>
                    <a:pt x="363" y="179"/>
                    <a:pt x="363" y="179"/>
                    <a:pt x="363" y="179"/>
                  </a:cubicBezTo>
                  <a:cubicBezTo>
                    <a:pt x="363" y="179"/>
                    <a:pt x="363" y="179"/>
                    <a:pt x="363" y="179"/>
                  </a:cubicBezTo>
                  <a:cubicBezTo>
                    <a:pt x="363" y="179"/>
                    <a:pt x="363" y="179"/>
                    <a:pt x="363" y="179"/>
                  </a:cubicBezTo>
                  <a:cubicBezTo>
                    <a:pt x="363" y="179"/>
                    <a:pt x="363" y="179"/>
                    <a:pt x="363" y="179"/>
                  </a:cubicBezTo>
                  <a:cubicBezTo>
                    <a:pt x="363" y="179"/>
                    <a:pt x="363" y="179"/>
                    <a:pt x="364" y="179"/>
                  </a:cubicBezTo>
                  <a:cubicBezTo>
                    <a:pt x="364" y="179"/>
                    <a:pt x="364" y="179"/>
                    <a:pt x="364" y="179"/>
                  </a:cubicBezTo>
                  <a:cubicBezTo>
                    <a:pt x="367" y="179"/>
                    <a:pt x="368" y="178"/>
                    <a:pt x="370" y="177"/>
                  </a:cubicBezTo>
                  <a:cubicBezTo>
                    <a:pt x="371" y="177"/>
                    <a:pt x="372" y="176"/>
                    <a:pt x="372" y="177"/>
                  </a:cubicBezTo>
                  <a:cubicBezTo>
                    <a:pt x="372" y="177"/>
                    <a:pt x="371" y="178"/>
                    <a:pt x="372" y="177"/>
                  </a:cubicBezTo>
                  <a:cubicBezTo>
                    <a:pt x="374" y="177"/>
                    <a:pt x="377" y="177"/>
                    <a:pt x="377" y="177"/>
                  </a:cubicBezTo>
                  <a:cubicBezTo>
                    <a:pt x="376" y="177"/>
                    <a:pt x="375" y="179"/>
                    <a:pt x="374" y="179"/>
                  </a:cubicBezTo>
                  <a:cubicBezTo>
                    <a:pt x="374" y="179"/>
                    <a:pt x="373" y="178"/>
                    <a:pt x="372" y="179"/>
                  </a:cubicBezTo>
                  <a:cubicBezTo>
                    <a:pt x="370" y="180"/>
                    <a:pt x="367" y="182"/>
                    <a:pt x="366" y="182"/>
                  </a:cubicBezTo>
                  <a:cubicBezTo>
                    <a:pt x="366" y="183"/>
                    <a:pt x="366" y="187"/>
                    <a:pt x="367" y="187"/>
                  </a:cubicBezTo>
                  <a:cubicBezTo>
                    <a:pt x="368" y="186"/>
                    <a:pt x="371" y="185"/>
                    <a:pt x="372" y="184"/>
                  </a:cubicBezTo>
                  <a:cubicBezTo>
                    <a:pt x="372" y="183"/>
                    <a:pt x="373" y="181"/>
                    <a:pt x="375" y="181"/>
                  </a:cubicBezTo>
                  <a:cubicBezTo>
                    <a:pt x="377" y="181"/>
                    <a:pt x="377" y="182"/>
                    <a:pt x="379" y="181"/>
                  </a:cubicBezTo>
                  <a:cubicBezTo>
                    <a:pt x="381" y="181"/>
                    <a:pt x="384" y="178"/>
                    <a:pt x="386" y="178"/>
                  </a:cubicBezTo>
                  <a:cubicBezTo>
                    <a:pt x="387" y="178"/>
                    <a:pt x="388" y="178"/>
                    <a:pt x="388" y="177"/>
                  </a:cubicBezTo>
                  <a:cubicBezTo>
                    <a:pt x="387" y="177"/>
                    <a:pt x="387" y="176"/>
                    <a:pt x="386" y="176"/>
                  </a:cubicBezTo>
                  <a:cubicBezTo>
                    <a:pt x="384" y="175"/>
                    <a:pt x="385" y="174"/>
                    <a:pt x="384" y="175"/>
                  </a:cubicBezTo>
                  <a:cubicBezTo>
                    <a:pt x="383" y="175"/>
                    <a:pt x="382" y="175"/>
                    <a:pt x="381" y="175"/>
                  </a:cubicBezTo>
                  <a:cubicBezTo>
                    <a:pt x="379" y="175"/>
                    <a:pt x="378" y="174"/>
                    <a:pt x="378" y="173"/>
                  </a:cubicBezTo>
                  <a:cubicBezTo>
                    <a:pt x="378" y="173"/>
                    <a:pt x="375" y="173"/>
                    <a:pt x="374" y="173"/>
                  </a:cubicBezTo>
                  <a:cubicBezTo>
                    <a:pt x="374" y="173"/>
                    <a:pt x="374" y="172"/>
                    <a:pt x="374" y="171"/>
                  </a:cubicBezTo>
                  <a:cubicBezTo>
                    <a:pt x="373" y="170"/>
                    <a:pt x="372" y="169"/>
                    <a:pt x="373" y="169"/>
                  </a:cubicBezTo>
                  <a:cubicBezTo>
                    <a:pt x="374" y="168"/>
                    <a:pt x="375" y="165"/>
                    <a:pt x="374" y="165"/>
                  </a:cubicBezTo>
                  <a:cubicBezTo>
                    <a:pt x="373" y="165"/>
                    <a:pt x="372" y="166"/>
                    <a:pt x="372" y="165"/>
                  </a:cubicBezTo>
                  <a:cubicBezTo>
                    <a:pt x="371" y="164"/>
                    <a:pt x="369" y="164"/>
                    <a:pt x="369" y="163"/>
                  </a:cubicBezTo>
                  <a:cubicBezTo>
                    <a:pt x="370" y="163"/>
                    <a:pt x="370" y="163"/>
                    <a:pt x="372" y="163"/>
                  </a:cubicBezTo>
                  <a:cubicBezTo>
                    <a:pt x="374" y="163"/>
                    <a:pt x="377" y="163"/>
                    <a:pt x="377" y="161"/>
                  </a:cubicBezTo>
                  <a:cubicBezTo>
                    <a:pt x="378" y="160"/>
                    <a:pt x="378" y="160"/>
                    <a:pt x="378" y="159"/>
                  </a:cubicBezTo>
                  <a:cubicBezTo>
                    <a:pt x="378" y="158"/>
                    <a:pt x="379" y="158"/>
                    <a:pt x="377" y="157"/>
                  </a:cubicBezTo>
                  <a:cubicBezTo>
                    <a:pt x="376" y="156"/>
                    <a:pt x="374" y="156"/>
                    <a:pt x="372" y="157"/>
                  </a:cubicBezTo>
                  <a:cubicBezTo>
                    <a:pt x="371" y="157"/>
                    <a:pt x="366" y="159"/>
                    <a:pt x="364" y="160"/>
                  </a:cubicBezTo>
                  <a:cubicBezTo>
                    <a:pt x="362" y="161"/>
                    <a:pt x="361" y="161"/>
                    <a:pt x="359" y="162"/>
                  </a:cubicBezTo>
                  <a:cubicBezTo>
                    <a:pt x="357" y="163"/>
                    <a:pt x="352" y="169"/>
                    <a:pt x="351" y="169"/>
                  </a:cubicBezTo>
                  <a:cubicBezTo>
                    <a:pt x="350" y="169"/>
                    <a:pt x="351" y="168"/>
                    <a:pt x="353" y="166"/>
                  </a:cubicBezTo>
                  <a:cubicBezTo>
                    <a:pt x="354" y="165"/>
                    <a:pt x="357" y="161"/>
                    <a:pt x="358" y="160"/>
                  </a:cubicBezTo>
                  <a:cubicBezTo>
                    <a:pt x="360" y="159"/>
                    <a:pt x="362" y="157"/>
                    <a:pt x="364" y="157"/>
                  </a:cubicBezTo>
                  <a:cubicBezTo>
                    <a:pt x="365" y="156"/>
                    <a:pt x="367" y="156"/>
                    <a:pt x="367" y="155"/>
                  </a:cubicBezTo>
                  <a:cubicBezTo>
                    <a:pt x="367" y="155"/>
                    <a:pt x="371" y="151"/>
                    <a:pt x="373" y="150"/>
                  </a:cubicBezTo>
                  <a:cubicBezTo>
                    <a:pt x="374" y="150"/>
                    <a:pt x="381" y="151"/>
                    <a:pt x="384" y="151"/>
                  </a:cubicBezTo>
                  <a:cubicBezTo>
                    <a:pt x="386" y="151"/>
                    <a:pt x="397" y="151"/>
                    <a:pt x="399" y="150"/>
                  </a:cubicBezTo>
                  <a:cubicBezTo>
                    <a:pt x="400" y="149"/>
                    <a:pt x="402" y="148"/>
                    <a:pt x="402" y="147"/>
                  </a:cubicBezTo>
                  <a:cubicBezTo>
                    <a:pt x="403" y="146"/>
                    <a:pt x="405" y="145"/>
                    <a:pt x="406" y="145"/>
                  </a:cubicBezTo>
                  <a:cubicBezTo>
                    <a:pt x="406" y="145"/>
                    <a:pt x="409" y="144"/>
                    <a:pt x="410" y="144"/>
                  </a:cubicBezTo>
                  <a:cubicBezTo>
                    <a:pt x="411" y="144"/>
                    <a:pt x="414" y="143"/>
                    <a:pt x="415" y="142"/>
                  </a:cubicBezTo>
                  <a:cubicBezTo>
                    <a:pt x="415" y="141"/>
                    <a:pt x="416" y="140"/>
                    <a:pt x="415" y="140"/>
                  </a:cubicBezTo>
                  <a:cubicBezTo>
                    <a:pt x="415" y="139"/>
                    <a:pt x="414" y="139"/>
                    <a:pt x="414" y="139"/>
                  </a:cubicBezTo>
                  <a:cubicBezTo>
                    <a:pt x="415" y="138"/>
                    <a:pt x="416" y="137"/>
                    <a:pt x="416" y="136"/>
                  </a:cubicBezTo>
                  <a:cubicBezTo>
                    <a:pt x="416" y="136"/>
                    <a:pt x="415" y="135"/>
                    <a:pt x="416" y="135"/>
                  </a:cubicBezTo>
                  <a:cubicBezTo>
                    <a:pt x="417" y="134"/>
                    <a:pt x="418" y="134"/>
                    <a:pt x="417" y="133"/>
                  </a:cubicBezTo>
                  <a:cubicBezTo>
                    <a:pt x="417" y="133"/>
                    <a:pt x="415" y="132"/>
                    <a:pt x="414" y="132"/>
                  </a:cubicBezTo>
                  <a:cubicBezTo>
                    <a:pt x="413" y="132"/>
                    <a:pt x="412" y="133"/>
                    <a:pt x="412" y="132"/>
                  </a:cubicBezTo>
                  <a:cubicBezTo>
                    <a:pt x="412" y="131"/>
                    <a:pt x="411" y="129"/>
                    <a:pt x="411" y="129"/>
                  </a:cubicBezTo>
                  <a:cubicBezTo>
                    <a:pt x="410" y="129"/>
                    <a:pt x="406" y="130"/>
                    <a:pt x="406" y="131"/>
                  </a:cubicBezTo>
                  <a:cubicBezTo>
                    <a:pt x="406" y="132"/>
                    <a:pt x="405" y="132"/>
                    <a:pt x="404" y="132"/>
                  </a:cubicBezTo>
                  <a:cubicBezTo>
                    <a:pt x="404" y="132"/>
                    <a:pt x="398" y="135"/>
                    <a:pt x="399" y="134"/>
                  </a:cubicBezTo>
                  <a:cubicBezTo>
                    <a:pt x="399" y="133"/>
                    <a:pt x="402" y="131"/>
                    <a:pt x="403" y="131"/>
                  </a:cubicBezTo>
                  <a:cubicBezTo>
                    <a:pt x="404" y="130"/>
                    <a:pt x="411" y="128"/>
                    <a:pt x="411" y="127"/>
                  </a:cubicBezTo>
                  <a:cubicBezTo>
                    <a:pt x="411" y="127"/>
                    <a:pt x="411" y="127"/>
                    <a:pt x="411" y="126"/>
                  </a:cubicBezTo>
                  <a:cubicBezTo>
                    <a:pt x="410" y="126"/>
                    <a:pt x="407" y="126"/>
                    <a:pt x="407" y="126"/>
                  </a:cubicBezTo>
                  <a:cubicBezTo>
                    <a:pt x="407" y="125"/>
                    <a:pt x="406" y="124"/>
                    <a:pt x="406" y="124"/>
                  </a:cubicBezTo>
                  <a:cubicBezTo>
                    <a:pt x="405" y="123"/>
                    <a:pt x="404" y="124"/>
                    <a:pt x="403" y="123"/>
                  </a:cubicBezTo>
                  <a:cubicBezTo>
                    <a:pt x="403" y="123"/>
                    <a:pt x="403" y="122"/>
                    <a:pt x="402" y="121"/>
                  </a:cubicBezTo>
                  <a:cubicBezTo>
                    <a:pt x="402" y="120"/>
                    <a:pt x="400" y="119"/>
                    <a:pt x="399" y="119"/>
                  </a:cubicBezTo>
                  <a:cubicBezTo>
                    <a:pt x="399" y="119"/>
                    <a:pt x="398" y="118"/>
                    <a:pt x="397" y="118"/>
                  </a:cubicBezTo>
                  <a:cubicBezTo>
                    <a:pt x="397" y="117"/>
                    <a:pt x="396" y="116"/>
                    <a:pt x="397" y="115"/>
                  </a:cubicBezTo>
                  <a:cubicBezTo>
                    <a:pt x="397" y="115"/>
                    <a:pt x="400" y="114"/>
                    <a:pt x="399" y="114"/>
                  </a:cubicBezTo>
                  <a:cubicBezTo>
                    <a:pt x="399" y="113"/>
                    <a:pt x="398" y="112"/>
                    <a:pt x="398" y="111"/>
                  </a:cubicBezTo>
                  <a:cubicBezTo>
                    <a:pt x="399" y="111"/>
                    <a:pt x="398" y="109"/>
                    <a:pt x="397" y="108"/>
                  </a:cubicBezTo>
                  <a:cubicBezTo>
                    <a:pt x="397" y="107"/>
                    <a:pt x="396" y="105"/>
                    <a:pt x="396" y="105"/>
                  </a:cubicBezTo>
                  <a:cubicBezTo>
                    <a:pt x="396" y="105"/>
                    <a:pt x="396" y="104"/>
                    <a:pt x="395" y="104"/>
                  </a:cubicBezTo>
                  <a:cubicBezTo>
                    <a:pt x="395" y="104"/>
                    <a:pt x="392" y="104"/>
                    <a:pt x="393" y="104"/>
                  </a:cubicBezTo>
                  <a:cubicBezTo>
                    <a:pt x="394" y="103"/>
                    <a:pt x="396" y="103"/>
                    <a:pt x="396" y="102"/>
                  </a:cubicBezTo>
                  <a:cubicBezTo>
                    <a:pt x="396" y="101"/>
                    <a:pt x="395" y="101"/>
                    <a:pt x="395" y="101"/>
                  </a:cubicBezTo>
                  <a:cubicBezTo>
                    <a:pt x="394" y="101"/>
                    <a:pt x="391" y="100"/>
                    <a:pt x="392" y="100"/>
                  </a:cubicBezTo>
                  <a:cubicBezTo>
                    <a:pt x="394" y="99"/>
                    <a:pt x="395" y="98"/>
                    <a:pt x="395" y="98"/>
                  </a:cubicBezTo>
                  <a:cubicBezTo>
                    <a:pt x="394" y="98"/>
                    <a:pt x="393" y="95"/>
                    <a:pt x="392" y="95"/>
                  </a:cubicBezTo>
                  <a:cubicBezTo>
                    <a:pt x="392" y="95"/>
                    <a:pt x="392" y="94"/>
                    <a:pt x="392" y="93"/>
                  </a:cubicBezTo>
                  <a:cubicBezTo>
                    <a:pt x="392" y="93"/>
                    <a:pt x="393" y="90"/>
                    <a:pt x="393" y="90"/>
                  </a:cubicBezTo>
                  <a:cubicBezTo>
                    <a:pt x="392" y="90"/>
                    <a:pt x="390" y="90"/>
                    <a:pt x="390" y="91"/>
                  </a:cubicBezTo>
                  <a:cubicBezTo>
                    <a:pt x="390" y="92"/>
                    <a:pt x="389" y="95"/>
                    <a:pt x="388" y="95"/>
                  </a:cubicBezTo>
                  <a:cubicBezTo>
                    <a:pt x="387" y="95"/>
                    <a:pt x="386" y="96"/>
                    <a:pt x="386" y="97"/>
                  </a:cubicBezTo>
                  <a:cubicBezTo>
                    <a:pt x="385" y="99"/>
                    <a:pt x="384" y="101"/>
                    <a:pt x="384" y="101"/>
                  </a:cubicBezTo>
                  <a:cubicBezTo>
                    <a:pt x="384" y="101"/>
                    <a:pt x="382" y="101"/>
                    <a:pt x="382" y="102"/>
                  </a:cubicBezTo>
                  <a:cubicBezTo>
                    <a:pt x="381" y="102"/>
                    <a:pt x="380" y="103"/>
                    <a:pt x="379" y="103"/>
                  </a:cubicBezTo>
                  <a:cubicBezTo>
                    <a:pt x="379" y="103"/>
                    <a:pt x="378" y="105"/>
                    <a:pt x="377" y="104"/>
                  </a:cubicBezTo>
                  <a:cubicBezTo>
                    <a:pt x="377" y="104"/>
                    <a:pt x="375" y="103"/>
                    <a:pt x="375" y="102"/>
                  </a:cubicBezTo>
                  <a:cubicBezTo>
                    <a:pt x="375" y="102"/>
                    <a:pt x="374" y="101"/>
                    <a:pt x="373" y="101"/>
                  </a:cubicBezTo>
                  <a:cubicBezTo>
                    <a:pt x="373" y="102"/>
                    <a:pt x="371" y="103"/>
                    <a:pt x="371" y="102"/>
                  </a:cubicBezTo>
                  <a:cubicBezTo>
                    <a:pt x="370" y="101"/>
                    <a:pt x="371" y="101"/>
                    <a:pt x="370" y="100"/>
                  </a:cubicBezTo>
                  <a:cubicBezTo>
                    <a:pt x="370" y="99"/>
                    <a:pt x="369" y="98"/>
                    <a:pt x="370" y="98"/>
                  </a:cubicBezTo>
                  <a:cubicBezTo>
                    <a:pt x="371" y="97"/>
                    <a:pt x="371" y="95"/>
                    <a:pt x="371" y="95"/>
                  </a:cubicBezTo>
                  <a:cubicBezTo>
                    <a:pt x="370" y="94"/>
                    <a:pt x="369" y="94"/>
                    <a:pt x="370" y="93"/>
                  </a:cubicBezTo>
                  <a:cubicBezTo>
                    <a:pt x="371" y="93"/>
                    <a:pt x="371" y="93"/>
                    <a:pt x="372" y="92"/>
                  </a:cubicBezTo>
                  <a:cubicBezTo>
                    <a:pt x="372" y="91"/>
                    <a:pt x="375" y="88"/>
                    <a:pt x="373" y="87"/>
                  </a:cubicBezTo>
                  <a:cubicBezTo>
                    <a:pt x="372" y="87"/>
                    <a:pt x="370" y="87"/>
                    <a:pt x="369" y="87"/>
                  </a:cubicBezTo>
                  <a:cubicBezTo>
                    <a:pt x="368" y="87"/>
                    <a:pt x="367" y="85"/>
                    <a:pt x="367" y="85"/>
                  </a:cubicBezTo>
                  <a:cubicBezTo>
                    <a:pt x="366" y="84"/>
                    <a:pt x="365" y="84"/>
                    <a:pt x="366" y="83"/>
                  </a:cubicBezTo>
                  <a:cubicBezTo>
                    <a:pt x="367" y="83"/>
                    <a:pt x="367" y="82"/>
                    <a:pt x="366" y="82"/>
                  </a:cubicBezTo>
                  <a:cubicBezTo>
                    <a:pt x="365" y="82"/>
                    <a:pt x="364" y="82"/>
                    <a:pt x="363" y="81"/>
                  </a:cubicBezTo>
                  <a:cubicBezTo>
                    <a:pt x="363" y="81"/>
                    <a:pt x="362" y="80"/>
                    <a:pt x="362" y="80"/>
                  </a:cubicBezTo>
                  <a:cubicBezTo>
                    <a:pt x="361" y="80"/>
                    <a:pt x="361" y="79"/>
                    <a:pt x="361" y="79"/>
                  </a:cubicBezTo>
                  <a:cubicBezTo>
                    <a:pt x="360" y="78"/>
                    <a:pt x="360" y="77"/>
                    <a:pt x="359" y="77"/>
                  </a:cubicBezTo>
                  <a:cubicBezTo>
                    <a:pt x="358" y="77"/>
                    <a:pt x="354" y="77"/>
                    <a:pt x="354" y="77"/>
                  </a:cubicBezTo>
                  <a:cubicBezTo>
                    <a:pt x="353" y="77"/>
                    <a:pt x="352" y="76"/>
                    <a:pt x="351" y="76"/>
                  </a:cubicBezTo>
                  <a:cubicBezTo>
                    <a:pt x="350" y="76"/>
                    <a:pt x="347" y="76"/>
                    <a:pt x="346" y="76"/>
                  </a:cubicBezTo>
                  <a:cubicBezTo>
                    <a:pt x="344" y="76"/>
                    <a:pt x="343" y="77"/>
                    <a:pt x="343" y="77"/>
                  </a:cubicBezTo>
                  <a:cubicBezTo>
                    <a:pt x="342" y="78"/>
                    <a:pt x="341" y="78"/>
                    <a:pt x="341" y="79"/>
                  </a:cubicBezTo>
                  <a:cubicBezTo>
                    <a:pt x="342" y="81"/>
                    <a:pt x="341" y="82"/>
                    <a:pt x="342" y="82"/>
                  </a:cubicBezTo>
                  <a:cubicBezTo>
                    <a:pt x="343" y="82"/>
                    <a:pt x="343" y="82"/>
                    <a:pt x="342" y="83"/>
                  </a:cubicBezTo>
                  <a:cubicBezTo>
                    <a:pt x="341" y="84"/>
                    <a:pt x="340" y="86"/>
                    <a:pt x="339" y="86"/>
                  </a:cubicBezTo>
                  <a:cubicBezTo>
                    <a:pt x="339" y="87"/>
                    <a:pt x="337" y="88"/>
                    <a:pt x="339" y="88"/>
                  </a:cubicBezTo>
                  <a:cubicBezTo>
                    <a:pt x="340" y="88"/>
                    <a:pt x="340" y="88"/>
                    <a:pt x="340" y="89"/>
                  </a:cubicBezTo>
                  <a:cubicBezTo>
                    <a:pt x="339" y="91"/>
                    <a:pt x="338" y="93"/>
                    <a:pt x="339" y="93"/>
                  </a:cubicBezTo>
                  <a:cubicBezTo>
                    <a:pt x="340" y="93"/>
                    <a:pt x="340" y="94"/>
                    <a:pt x="339" y="95"/>
                  </a:cubicBezTo>
                  <a:cubicBezTo>
                    <a:pt x="339" y="95"/>
                    <a:pt x="338" y="97"/>
                    <a:pt x="338" y="97"/>
                  </a:cubicBezTo>
                  <a:cubicBezTo>
                    <a:pt x="339" y="97"/>
                    <a:pt x="339" y="97"/>
                    <a:pt x="338" y="98"/>
                  </a:cubicBezTo>
                  <a:cubicBezTo>
                    <a:pt x="336" y="99"/>
                    <a:pt x="334" y="100"/>
                    <a:pt x="334" y="100"/>
                  </a:cubicBezTo>
                  <a:cubicBezTo>
                    <a:pt x="333" y="101"/>
                    <a:pt x="333" y="102"/>
                    <a:pt x="334" y="103"/>
                  </a:cubicBezTo>
                  <a:cubicBezTo>
                    <a:pt x="335" y="104"/>
                    <a:pt x="335" y="106"/>
                    <a:pt x="335" y="106"/>
                  </a:cubicBezTo>
                  <a:cubicBezTo>
                    <a:pt x="335" y="107"/>
                    <a:pt x="336" y="107"/>
                    <a:pt x="336" y="109"/>
                  </a:cubicBezTo>
                  <a:cubicBezTo>
                    <a:pt x="336" y="110"/>
                    <a:pt x="336" y="112"/>
                    <a:pt x="336" y="113"/>
                  </a:cubicBezTo>
                  <a:cubicBezTo>
                    <a:pt x="337" y="115"/>
                    <a:pt x="335" y="119"/>
                    <a:pt x="334" y="120"/>
                  </a:cubicBezTo>
                  <a:cubicBezTo>
                    <a:pt x="333" y="120"/>
                    <a:pt x="332" y="123"/>
                    <a:pt x="332" y="122"/>
                  </a:cubicBezTo>
                  <a:cubicBezTo>
                    <a:pt x="332" y="122"/>
                    <a:pt x="332" y="121"/>
                    <a:pt x="331" y="122"/>
                  </a:cubicBezTo>
                  <a:cubicBezTo>
                    <a:pt x="330" y="123"/>
                    <a:pt x="329" y="125"/>
                    <a:pt x="329" y="125"/>
                  </a:cubicBezTo>
                  <a:cubicBezTo>
                    <a:pt x="328" y="126"/>
                    <a:pt x="326" y="126"/>
                    <a:pt x="326" y="127"/>
                  </a:cubicBezTo>
                  <a:cubicBezTo>
                    <a:pt x="326" y="127"/>
                    <a:pt x="328" y="128"/>
                    <a:pt x="327" y="129"/>
                  </a:cubicBezTo>
                  <a:cubicBezTo>
                    <a:pt x="327" y="130"/>
                    <a:pt x="326" y="132"/>
                    <a:pt x="326" y="133"/>
                  </a:cubicBezTo>
                  <a:cubicBezTo>
                    <a:pt x="326" y="133"/>
                    <a:pt x="325" y="136"/>
                    <a:pt x="326" y="136"/>
                  </a:cubicBezTo>
                  <a:cubicBezTo>
                    <a:pt x="327" y="137"/>
                    <a:pt x="327" y="138"/>
                    <a:pt x="327" y="139"/>
                  </a:cubicBezTo>
                  <a:cubicBezTo>
                    <a:pt x="326" y="141"/>
                    <a:pt x="326" y="142"/>
                    <a:pt x="325" y="142"/>
                  </a:cubicBezTo>
                  <a:cubicBezTo>
                    <a:pt x="323" y="143"/>
                    <a:pt x="323" y="144"/>
                    <a:pt x="323" y="145"/>
                  </a:cubicBezTo>
                  <a:cubicBezTo>
                    <a:pt x="323" y="146"/>
                    <a:pt x="323" y="147"/>
                    <a:pt x="322" y="146"/>
                  </a:cubicBezTo>
                  <a:cubicBezTo>
                    <a:pt x="322" y="146"/>
                    <a:pt x="321" y="145"/>
                    <a:pt x="320" y="145"/>
                  </a:cubicBezTo>
                  <a:cubicBezTo>
                    <a:pt x="320" y="146"/>
                    <a:pt x="320" y="148"/>
                    <a:pt x="319" y="147"/>
                  </a:cubicBezTo>
                  <a:cubicBezTo>
                    <a:pt x="318" y="147"/>
                    <a:pt x="316" y="144"/>
                    <a:pt x="316" y="144"/>
                  </a:cubicBezTo>
                  <a:cubicBezTo>
                    <a:pt x="317" y="143"/>
                    <a:pt x="318" y="143"/>
                    <a:pt x="317" y="142"/>
                  </a:cubicBezTo>
                  <a:cubicBezTo>
                    <a:pt x="316" y="142"/>
                    <a:pt x="313" y="141"/>
                    <a:pt x="312" y="140"/>
                  </a:cubicBezTo>
                  <a:cubicBezTo>
                    <a:pt x="312" y="139"/>
                    <a:pt x="313" y="139"/>
                    <a:pt x="312" y="138"/>
                  </a:cubicBezTo>
                  <a:cubicBezTo>
                    <a:pt x="310" y="136"/>
                    <a:pt x="308" y="136"/>
                    <a:pt x="308" y="134"/>
                  </a:cubicBezTo>
                  <a:cubicBezTo>
                    <a:pt x="309" y="133"/>
                    <a:pt x="310" y="131"/>
                    <a:pt x="310" y="129"/>
                  </a:cubicBezTo>
                  <a:cubicBezTo>
                    <a:pt x="310" y="128"/>
                    <a:pt x="311" y="127"/>
                    <a:pt x="312" y="126"/>
                  </a:cubicBezTo>
                  <a:cubicBezTo>
                    <a:pt x="313" y="126"/>
                    <a:pt x="315" y="125"/>
                    <a:pt x="314" y="124"/>
                  </a:cubicBezTo>
                  <a:cubicBezTo>
                    <a:pt x="313" y="124"/>
                    <a:pt x="304" y="124"/>
                    <a:pt x="303" y="124"/>
                  </a:cubicBezTo>
                  <a:cubicBezTo>
                    <a:pt x="302" y="123"/>
                    <a:pt x="302" y="123"/>
                    <a:pt x="301" y="123"/>
                  </a:cubicBezTo>
                  <a:cubicBezTo>
                    <a:pt x="300" y="122"/>
                    <a:pt x="298" y="120"/>
                    <a:pt x="297" y="120"/>
                  </a:cubicBezTo>
                  <a:cubicBezTo>
                    <a:pt x="296" y="119"/>
                    <a:pt x="295" y="118"/>
                    <a:pt x="294" y="117"/>
                  </a:cubicBezTo>
                  <a:cubicBezTo>
                    <a:pt x="294" y="116"/>
                    <a:pt x="291" y="113"/>
                    <a:pt x="290" y="113"/>
                  </a:cubicBezTo>
                  <a:cubicBezTo>
                    <a:pt x="290" y="113"/>
                    <a:pt x="287" y="114"/>
                    <a:pt x="287" y="113"/>
                  </a:cubicBezTo>
                  <a:cubicBezTo>
                    <a:pt x="286" y="113"/>
                    <a:pt x="284" y="111"/>
                    <a:pt x="283" y="111"/>
                  </a:cubicBezTo>
                  <a:cubicBezTo>
                    <a:pt x="282" y="111"/>
                    <a:pt x="278" y="113"/>
                    <a:pt x="277" y="113"/>
                  </a:cubicBezTo>
                  <a:cubicBezTo>
                    <a:pt x="277" y="113"/>
                    <a:pt x="278" y="111"/>
                    <a:pt x="279" y="111"/>
                  </a:cubicBezTo>
                  <a:cubicBezTo>
                    <a:pt x="279" y="110"/>
                    <a:pt x="279" y="103"/>
                    <a:pt x="279" y="102"/>
                  </a:cubicBezTo>
                  <a:cubicBezTo>
                    <a:pt x="278" y="102"/>
                    <a:pt x="277" y="101"/>
                    <a:pt x="276" y="101"/>
                  </a:cubicBezTo>
                  <a:cubicBezTo>
                    <a:pt x="275" y="101"/>
                    <a:pt x="274" y="103"/>
                    <a:pt x="273" y="102"/>
                  </a:cubicBezTo>
                  <a:cubicBezTo>
                    <a:pt x="273" y="101"/>
                    <a:pt x="272" y="99"/>
                    <a:pt x="272" y="99"/>
                  </a:cubicBezTo>
                  <a:cubicBezTo>
                    <a:pt x="272" y="98"/>
                    <a:pt x="273" y="97"/>
                    <a:pt x="273" y="96"/>
                  </a:cubicBezTo>
                  <a:cubicBezTo>
                    <a:pt x="273" y="96"/>
                    <a:pt x="276" y="90"/>
                    <a:pt x="277" y="88"/>
                  </a:cubicBezTo>
                  <a:cubicBezTo>
                    <a:pt x="278" y="87"/>
                    <a:pt x="280" y="87"/>
                    <a:pt x="280" y="85"/>
                  </a:cubicBezTo>
                  <a:cubicBezTo>
                    <a:pt x="280" y="84"/>
                    <a:pt x="279" y="83"/>
                    <a:pt x="279" y="82"/>
                  </a:cubicBezTo>
                  <a:cubicBezTo>
                    <a:pt x="279" y="81"/>
                    <a:pt x="279" y="79"/>
                    <a:pt x="280" y="79"/>
                  </a:cubicBezTo>
                  <a:cubicBezTo>
                    <a:pt x="281" y="79"/>
                    <a:pt x="281" y="80"/>
                    <a:pt x="281" y="79"/>
                  </a:cubicBezTo>
                  <a:cubicBezTo>
                    <a:pt x="282" y="78"/>
                    <a:pt x="282" y="76"/>
                    <a:pt x="283" y="77"/>
                  </a:cubicBezTo>
                  <a:cubicBezTo>
                    <a:pt x="284" y="77"/>
                    <a:pt x="284" y="79"/>
                    <a:pt x="284" y="79"/>
                  </a:cubicBezTo>
                  <a:cubicBezTo>
                    <a:pt x="285" y="79"/>
                    <a:pt x="288" y="80"/>
                    <a:pt x="287" y="79"/>
                  </a:cubicBezTo>
                  <a:cubicBezTo>
                    <a:pt x="287" y="79"/>
                    <a:pt x="285" y="78"/>
                    <a:pt x="286" y="77"/>
                  </a:cubicBezTo>
                  <a:cubicBezTo>
                    <a:pt x="287" y="77"/>
                    <a:pt x="289" y="75"/>
                    <a:pt x="289" y="74"/>
                  </a:cubicBezTo>
                  <a:cubicBezTo>
                    <a:pt x="288" y="74"/>
                    <a:pt x="287" y="73"/>
                    <a:pt x="288" y="73"/>
                  </a:cubicBezTo>
                  <a:cubicBezTo>
                    <a:pt x="289" y="72"/>
                    <a:pt x="290" y="73"/>
                    <a:pt x="291" y="74"/>
                  </a:cubicBezTo>
                  <a:cubicBezTo>
                    <a:pt x="291" y="74"/>
                    <a:pt x="292" y="75"/>
                    <a:pt x="294" y="75"/>
                  </a:cubicBezTo>
                  <a:cubicBezTo>
                    <a:pt x="295" y="74"/>
                    <a:pt x="296" y="73"/>
                    <a:pt x="296" y="72"/>
                  </a:cubicBezTo>
                  <a:cubicBezTo>
                    <a:pt x="296" y="71"/>
                    <a:pt x="293" y="68"/>
                    <a:pt x="291" y="67"/>
                  </a:cubicBezTo>
                  <a:cubicBezTo>
                    <a:pt x="290" y="67"/>
                    <a:pt x="296" y="69"/>
                    <a:pt x="297" y="70"/>
                  </a:cubicBezTo>
                  <a:cubicBezTo>
                    <a:pt x="297" y="70"/>
                    <a:pt x="298" y="69"/>
                    <a:pt x="298" y="67"/>
                  </a:cubicBezTo>
                  <a:cubicBezTo>
                    <a:pt x="298" y="66"/>
                    <a:pt x="298" y="66"/>
                    <a:pt x="299" y="66"/>
                  </a:cubicBezTo>
                  <a:cubicBezTo>
                    <a:pt x="300" y="66"/>
                    <a:pt x="301" y="65"/>
                    <a:pt x="302" y="65"/>
                  </a:cubicBezTo>
                  <a:cubicBezTo>
                    <a:pt x="302" y="64"/>
                    <a:pt x="304" y="67"/>
                    <a:pt x="305" y="67"/>
                  </a:cubicBezTo>
                  <a:cubicBezTo>
                    <a:pt x="306" y="66"/>
                    <a:pt x="308" y="65"/>
                    <a:pt x="308" y="64"/>
                  </a:cubicBezTo>
                  <a:cubicBezTo>
                    <a:pt x="309" y="63"/>
                    <a:pt x="309" y="61"/>
                    <a:pt x="310" y="60"/>
                  </a:cubicBezTo>
                  <a:cubicBezTo>
                    <a:pt x="311" y="59"/>
                    <a:pt x="312" y="57"/>
                    <a:pt x="312" y="57"/>
                  </a:cubicBezTo>
                  <a:cubicBezTo>
                    <a:pt x="311" y="57"/>
                    <a:pt x="308" y="57"/>
                    <a:pt x="306" y="56"/>
                  </a:cubicBezTo>
                  <a:cubicBezTo>
                    <a:pt x="304" y="55"/>
                    <a:pt x="301" y="54"/>
                    <a:pt x="301" y="54"/>
                  </a:cubicBezTo>
                  <a:cubicBezTo>
                    <a:pt x="300" y="54"/>
                    <a:pt x="292" y="55"/>
                    <a:pt x="292" y="55"/>
                  </a:cubicBezTo>
                  <a:cubicBezTo>
                    <a:pt x="292" y="54"/>
                    <a:pt x="294" y="54"/>
                    <a:pt x="295" y="54"/>
                  </a:cubicBezTo>
                  <a:cubicBezTo>
                    <a:pt x="296" y="54"/>
                    <a:pt x="299" y="53"/>
                    <a:pt x="299" y="53"/>
                  </a:cubicBezTo>
                  <a:cubicBezTo>
                    <a:pt x="299" y="53"/>
                    <a:pt x="298" y="52"/>
                    <a:pt x="299" y="51"/>
                  </a:cubicBezTo>
                  <a:cubicBezTo>
                    <a:pt x="300" y="51"/>
                    <a:pt x="301" y="51"/>
                    <a:pt x="302" y="52"/>
                  </a:cubicBezTo>
                  <a:cubicBezTo>
                    <a:pt x="304" y="52"/>
                    <a:pt x="307" y="54"/>
                    <a:pt x="308" y="54"/>
                  </a:cubicBezTo>
                  <a:cubicBezTo>
                    <a:pt x="308" y="55"/>
                    <a:pt x="312" y="56"/>
                    <a:pt x="313" y="56"/>
                  </a:cubicBezTo>
                  <a:cubicBezTo>
                    <a:pt x="314" y="55"/>
                    <a:pt x="319" y="51"/>
                    <a:pt x="319" y="51"/>
                  </a:cubicBezTo>
                  <a:cubicBezTo>
                    <a:pt x="320" y="50"/>
                    <a:pt x="317" y="47"/>
                    <a:pt x="317" y="47"/>
                  </a:cubicBezTo>
                  <a:cubicBezTo>
                    <a:pt x="318" y="46"/>
                    <a:pt x="318" y="47"/>
                    <a:pt x="320" y="47"/>
                  </a:cubicBezTo>
                  <a:cubicBezTo>
                    <a:pt x="321" y="46"/>
                    <a:pt x="322" y="46"/>
                    <a:pt x="322" y="47"/>
                  </a:cubicBezTo>
                  <a:cubicBezTo>
                    <a:pt x="322" y="47"/>
                    <a:pt x="322" y="50"/>
                    <a:pt x="323" y="50"/>
                  </a:cubicBezTo>
                  <a:cubicBezTo>
                    <a:pt x="324" y="50"/>
                    <a:pt x="326" y="51"/>
                    <a:pt x="325" y="50"/>
                  </a:cubicBezTo>
                  <a:cubicBezTo>
                    <a:pt x="325" y="49"/>
                    <a:pt x="324" y="48"/>
                    <a:pt x="325" y="48"/>
                  </a:cubicBezTo>
                  <a:cubicBezTo>
                    <a:pt x="326" y="48"/>
                    <a:pt x="326" y="47"/>
                    <a:pt x="326" y="46"/>
                  </a:cubicBezTo>
                  <a:cubicBezTo>
                    <a:pt x="326" y="46"/>
                    <a:pt x="327" y="46"/>
                    <a:pt x="326" y="45"/>
                  </a:cubicBezTo>
                  <a:cubicBezTo>
                    <a:pt x="325" y="44"/>
                    <a:pt x="323" y="43"/>
                    <a:pt x="324" y="43"/>
                  </a:cubicBezTo>
                  <a:cubicBezTo>
                    <a:pt x="324" y="43"/>
                    <a:pt x="326" y="42"/>
                    <a:pt x="326" y="43"/>
                  </a:cubicBezTo>
                  <a:cubicBezTo>
                    <a:pt x="327" y="44"/>
                    <a:pt x="328" y="44"/>
                    <a:pt x="328" y="45"/>
                  </a:cubicBezTo>
                  <a:cubicBezTo>
                    <a:pt x="328" y="46"/>
                    <a:pt x="329" y="47"/>
                    <a:pt x="329" y="48"/>
                  </a:cubicBezTo>
                  <a:cubicBezTo>
                    <a:pt x="329" y="48"/>
                    <a:pt x="329" y="49"/>
                    <a:pt x="330" y="49"/>
                  </a:cubicBezTo>
                  <a:cubicBezTo>
                    <a:pt x="330" y="49"/>
                    <a:pt x="330" y="48"/>
                    <a:pt x="331" y="47"/>
                  </a:cubicBezTo>
                  <a:cubicBezTo>
                    <a:pt x="333" y="46"/>
                    <a:pt x="334" y="46"/>
                    <a:pt x="335" y="45"/>
                  </a:cubicBezTo>
                  <a:cubicBezTo>
                    <a:pt x="337" y="45"/>
                    <a:pt x="336" y="44"/>
                    <a:pt x="338" y="44"/>
                  </a:cubicBezTo>
                  <a:cubicBezTo>
                    <a:pt x="339" y="44"/>
                    <a:pt x="340" y="43"/>
                    <a:pt x="340" y="42"/>
                  </a:cubicBezTo>
                  <a:cubicBezTo>
                    <a:pt x="340" y="42"/>
                    <a:pt x="341" y="38"/>
                    <a:pt x="340" y="38"/>
                  </a:cubicBezTo>
                  <a:cubicBezTo>
                    <a:pt x="340" y="37"/>
                    <a:pt x="339" y="36"/>
                    <a:pt x="339" y="35"/>
                  </a:cubicBezTo>
                  <a:cubicBezTo>
                    <a:pt x="339" y="34"/>
                    <a:pt x="339" y="32"/>
                    <a:pt x="339" y="32"/>
                  </a:cubicBezTo>
                  <a:cubicBezTo>
                    <a:pt x="339" y="31"/>
                    <a:pt x="338" y="30"/>
                    <a:pt x="340" y="30"/>
                  </a:cubicBezTo>
                  <a:cubicBezTo>
                    <a:pt x="341" y="30"/>
                    <a:pt x="343" y="31"/>
                    <a:pt x="344" y="30"/>
                  </a:cubicBezTo>
                  <a:cubicBezTo>
                    <a:pt x="344" y="29"/>
                    <a:pt x="344" y="28"/>
                    <a:pt x="344" y="27"/>
                  </a:cubicBezTo>
                  <a:cubicBezTo>
                    <a:pt x="343" y="27"/>
                    <a:pt x="343" y="27"/>
                    <a:pt x="344" y="26"/>
                  </a:cubicBezTo>
                  <a:cubicBezTo>
                    <a:pt x="345" y="26"/>
                    <a:pt x="345" y="25"/>
                    <a:pt x="344" y="25"/>
                  </a:cubicBezTo>
                  <a:cubicBezTo>
                    <a:pt x="343" y="25"/>
                    <a:pt x="342" y="26"/>
                    <a:pt x="341" y="25"/>
                  </a:cubicBezTo>
                  <a:cubicBezTo>
                    <a:pt x="341" y="25"/>
                    <a:pt x="341" y="24"/>
                    <a:pt x="341" y="24"/>
                  </a:cubicBezTo>
                  <a:cubicBezTo>
                    <a:pt x="342" y="23"/>
                    <a:pt x="340" y="23"/>
                    <a:pt x="341" y="22"/>
                  </a:cubicBezTo>
                  <a:cubicBezTo>
                    <a:pt x="341" y="22"/>
                    <a:pt x="342" y="21"/>
                    <a:pt x="342" y="21"/>
                  </a:cubicBezTo>
                  <a:cubicBezTo>
                    <a:pt x="341" y="21"/>
                    <a:pt x="339" y="20"/>
                    <a:pt x="339" y="20"/>
                  </a:cubicBezTo>
                  <a:cubicBezTo>
                    <a:pt x="339" y="21"/>
                    <a:pt x="337" y="21"/>
                    <a:pt x="337" y="21"/>
                  </a:cubicBezTo>
                  <a:cubicBezTo>
                    <a:pt x="336" y="20"/>
                    <a:pt x="336" y="20"/>
                    <a:pt x="335" y="20"/>
                  </a:cubicBezTo>
                  <a:cubicBezTo>
                    <a:pt x="334" y="20"/>
                    <a:pt x="331" y="20"/>
                    <a:pt x="331" y="20"/>
                  </a:cubicBezTo>
                  <a:cubicBezTo>
                    <a:pt x="331" y="20"/>
                    <a:pt x="330" y="19"/>
                    <a:pt x="330" y="20"/>
                  </a:cubicBezTo>
                  <a:cubicBezTo>
                    <a:pt x="330" y="20"/>
                    <a:pt x="331" y="21"/>
                    <a:pt x="330" y="21"/>
                  </a:cubicBezTo>
                  <a:cubicBezTo>
                    <a:pt x="329" y="21"/>
                    <a:pt x="330" y="23"/>
                    <a:pt x="330" y="23"/>
                  </a:cubicBezTo>
                  <a:cubicBezTo>
                    <a:pt x="330" y="24"/>
                    <a:pt x="329" y="25"/>
                    <a:pt x="330" y="25"/>
                  </a:cubicBezTo>
                  <a:cubicBezTo>
                    <a:pt x="330" y="25"/>
                    <a:pt x="332" y="26"/>
                    <a:pt x="331" y="27"/>
                  </a:cubicBezTo>
                  <a:cubicBezTo>
                    <a:pt x="331" y="27"/>
                    <a:pt x="333" y="27"/>
                    <a:pt x="332" y="28"/>
                  </a:cubicBezTo>
                  <a:cubicBezTo>
                    <a:pt x="331" y="28"/>
                    <a:pt x="331" y="29"/>
                    <a:pt x="330" y="28"/>
                  </a:cubicBezTo>
                  <a:cubicBezTo>
                    <a:pt x="329" y="28"/>
                    <a:pt x="328" y="28"/>
                    <a:pt x="328" y="28"/>
                  </a:cubicBezTo>
                  <a:cubicBezTo>
                    <a:pt x="327" y="29"/>
                    <a:pt x="326" y="33"/>
                    <a:pt x="325" y="34"/>
                  </a:cubicBezTo>
                  <a:cubicBezTo>
                    <a:pt x="324" y="34"/>
                    <a:pt x="323" y="37"/>
                    <a:pt x="323" y="36"/>
                  </a:cubicBezTo>
                  <a:cubicBezTo>
                    <a:pt x="322" y="36"/>
                    <a:pt x="322" y="35"/>
                    <a:pt x="322" y="36"/>
                  </a:cubicBezTo>
                  <a:cubicBezTo>
                    <a:pt x="321" y="37"/>
                    <a:pt x="323" y="39"/>
                    <a:pt x="321" y="39"/>
                  </a:cubicBezTo>
                  <a:cubicBezTo>
                    <a:pt x="320" y="40"/>
                    <a:pt x="319" y="41"/>
                    <a:pt x="319" y="41"/>
                  </a:cubicBezTo>
                  <a:cubicBezTo>
                    <a:pt x="318" y="41"/>
                    <a:pt x="317" y="41"/>
                    <a:pt x="317" y="39"/>
                  </a:cubicBezTo>
                  <a:cubicBezTo>
                    <a:pt x="316" y="38"/>
                    <a:pt x="316" y="37"/>
                    <a:pt x="315" y="37"/>
                  </a:cubicBezTo>
                  <a:cubicBezTo>
                    <a:pt x="315" y="36"/>
                    <a:pt x="316" y="33"/>
                    <a:pt x="316" y="33"/>
                  </a:cubicBezTo>
                  <a:cubicBezTo>
                    <a:pt x="316" y="32"/>
                    <a:pt x="317" y="31"/>
                    <a:pt x="317" y="32"/>
                  </a:cubicBezTo>
                  <a:cubicBezTo>
                    <a:pt x="317" y="32"/>
                    <a:pt x="318" y="32"/>
                    <a:pt x="318" y="30"/>
                  </a:cubicBezTo>
                  <a:cubicBezTo>
                    <a:pt x="319" y="29"/>
                    <a:pt x="320" y="28"/>
                    <a:pt x="319" y="27"/>
                  </a:cubicBezTo>
                  <a:cubicBezTo>
                    <a:pt x="318" y="26"/>
                    <a:pt x="318" y="26"/>
                    <a:pt x="317" y="25"/>
                  </a:cubicBezTo>
                  <a:cubicBezTo>
                    <a:pt x="317" y="24"/>
                    <a:pt x="315" y="24"/>
                    <a:pt x="314" y="25"/>
                  </a:cubicBezTo>
                  <a:cubicBezTo>
                    <a:pt x="314" y="25"/>
                    <a:pt x="312" y="25"/>
                    <a:pt x="313" y="26"/>
                  </a:cubicBezTo>
                  <a:cubicBezTo>
                    <a:pt x="313" y="27"/>
                    <a:pt x="312" y="29"/>
                    <a:pt x="312" y="29"/>
                  </a:cubicBezTo>
                  <a:cubicBezTo>
                    <a:pt x="311" y="30"/>
                    <a:pt x="309" y="32"/>
                    <a:pt x="308" y="32"/>
                  </a:cubicBezTo>
                  <a:cubicBezTo>
                    <a:pt x="308" y="32"/>
                    <a:pt x="307" y="30"/>
                    <a:pt x="307" y="30"/>
                  </a:cubicBezTo>
                  <a:cubicBezTo>
                    <a:pt x="308" y="29"/>
                    <a:pt x="309" y="26"/>
                    <a:pt x="308" y="26"/>
                  </a:cubicBezTo>
                  <a:cubicBezTo>
                    <a:pt x="308" y="25"/>
                    <a:pt x="306" y="24"/>
                    <a:pt x="307" y="24"/>
                  </a:cubicBezTo>
                  <a:cubicBezTo>
                    <a:pt x="308" y="24"/>
                    <a:pt x="309" y="24"/>
                    <a:pt x="309" y="24"/>
                  </a:cubicBezTo>
                  <a:cubicBezTo>
                    <a:pt x="308" y="23"/>
                    <a:pt x="307" y="23"/>
                    <a:pt x="306" y="23"/>
                  </a:cubicBezTo>
                  <a:cubicBezTo>
                    <a:pt x="305" y="22"/>
                    <a:pt x="306" y="21"/>
                    <a:pt x="305" y="21"/>
                  </a:cubicBezTo>
                  <a:cubicBezTo>
                    <a:pt x="304" y="20"/>
                    <a:pt x="303" y="20"/>
                    <a:pt x="303" y="19"/>
                  </a:cubicBezTo>
                  <a:cubicBezTo>
                    <a:pt x="304" y="19"/>
                    <a:pt x="305" y="19"/>
                    <a:pt x="306" y="18"/>
                  </a:cubicBezTo>
                  <a:cubicBezTo>
                    <a:pt x="308" y="18"/>
                    <a:pt x="308" y="16"/>
                    <a:pt x="307" y="17"/>
                  </a:cubicBezTo>
                  <a:cubicBezTo>
                    <a:pt x="307" y="17"/>
                    <a:pt x="306" y="17"/>
                    <a:pt x="305" y="17"/>
                  </a:cubicBezTo>
                  <a:cubicBezTo>
                    <a:pt x="305" y="17"/>
                    <a:pt x="304" y="17"/>
                    <a:pt x="305" y="16"/>
                  </a:cubicBezTo>
                  <a:cubicBezTo>
                    <a:pt x="306" y="16"/>
                    <a:pt x="308" y="17"/>
                    <a:pt x="308" y="16"/>
                  </a:cubicBezTo>
                  <a:cubicBezTo>
                    <a:pt x="308" y="15"/>
                    <a:pt x="308" y="13"/>
                    <a:pt x="306" y="11"/>
                  </a:cubicBezTo>
                  <a:cubicBezTo>
                    <a:pt x="305" y="10"/>
                    <a:pt x="304" y="9"/>
                    <a:pt x="304" y="8"/>
                  </a:cubicBezTo>
                  <a:cubicBezTo>
                    <a:pt x="304" y="7"/>
                    <a:pt x="304" y="5"/>
                    <a:pt x="304" y="5"/>
                  </a:cubicBezTo>
                  <a:cubicBezTo>
                    <a:pt x="305" y="4"/>
                    <a:pt x="304" y="1"/>
                    <a:pt x="302" y="1"/>
                  </a:cubicBezTo>
                  <a:cubicBezTo>
                    <a:pt x="301" y="1"/>
                    <a:pt x="298" y="0"/>
                    <a:pt x="298" y="2"/>
                  </a:cubicBezTo>
                  <a:cubicBezTo>
                    <a:pt x="298" y="3"/>
                    <a:pt x="299" y="4"/>
                    <a:pt x="298" y="5"/>
                  </a:cubicBezTo>
                  <a:cubicBezTo>
                    <a:pt x="298" y="5"/>
                    <a:pt x="297" y="6"/>
                    <a:pt x="297" y="6"/>
                  </a:cubicBezTo>
                  <a:cubicBezTo>
                    <a:pt x="297" y="5"/>
                    <a:pt x="296" y="5"/>
                    <a:pt x="296" y="5"/>
                  </a:cubicBezTo>
                  <a:cubicBezTo>
                    <a:pt x="295" y="5"/>
                    <a:pt x="294" y="5"/>
                    <a:pt x="294" y="6"/>
                  </a:cubicBezTo>
                  <a:cubicBezTo>
                    <a:pt x="294" y="7"/>
                    <a:pt x="292" y="9"/>
                    <a:pt x="291" y="10"/>
                  </a:cubicBezTo>
                  <a:cubicBezTo>
                    <a:pt x="290" y="12"/>
                    <a:pt x="290" y="13"/>
                    <a:pt x="290" y="15"/>
                  </a:cubicBezTo>
                  <a:cubicBezTo>
                    <a:pt x="289" y="17"/>
                    <a:pt x="290" y="18"/>
                    <a:pt x="291" y="18"/>
                  </a:cubicBezTo>
                  <a:cubicBezTo>
                    <a:pt x="292" y="18"/>
                    <a:pt x="291" y="19"/>
                    <a:pt x="293" y="19"/>
                  </a:cubicBezTo>
                  <a:cubicBezTo>
                    <a:pt x="294" y="19"/>
                    <a:pt x="294" y="21"/>
                    <a:pt x="294" y="21"/>
                  </a:cubicBezTo>
                  <a:cubicBezTo>
                    <a:pt x="295" y="21"/>
                    <a:pt x="296" y="21"/>
                    <a:pt x="297" y="21"/>
                  </a:cubicBezTo>
                  <a:cubicBezTo>
                    <a:pt x="298" y="21"/>
                    <a:pt x="301" y="21"/>
                    <a:pt x="300" y="22"/>
                  </a:cubicBezTo>
                  <a:cubicBezTo>
                    <a:pt x="299" y="22"/>
                    <a:pt x="298" y="22"/>
                    <a:pt x="297" y="23"/>
                  </a:cubicBezTo>
                  <a:cubicBezTo>
                    <a:pt x="296" y="24"/>
                    <a:pt x="295" y="26"/>
                    <a:pt x="294" y="27"/>
                  </a:cubicBezTo>
                  <a:cubicBezTo>
                    <a:pt x="293" y="27"/>
                    <a:pt x="293" y="29"/>
                    <a:pt x="293" y="28"/>
                  </a:cubicBezTo>
                  <a:cubicBezTo>
                    <a:pt x="294" y="28"/>
                    <a:pt x="297" y="27"/>
                    <a:pt x="297" y="27"/>
                  </a:cubicBezTo>
                  <a:cubicBezTo>
                    <a:pt x="297" y="27"/>
                    <a:pt x="296" y="29"/>
                    <a:pt x="296" y="29"/>
                  </a:cubicBezTo>
                  <a:cubicBezTo>
                    <a:pt x="297" y="30"/>
                    <a:pt x="297" y="30"/>
                    <a:pt x="296" y="30"/>
                  </a:cubicBezTo>
                  <a:cubicBezTo>
                    <a:pt x="295" y="31"/>
                    <a:pt x="293" y="31"/>
                    <a:pt x="293" y="32"/>
                  </a:cubicBezTo>
                  <a:cubicBezTo>
                    <a:pt x="292" y="33"/>
                    <a:pt x="290" y="34"/>
                    <a:pt x="290" y="35"/>
                  </a:cubicBezTo>
                  <a:cubicBezTo>
                    <a:pt x="289" y="35"/>
                    <a:pt x="288" y="36"/>
                    <a:pt x="287" y="36"/>
                  </a:cubicBezTo>
                  <a:cubicBezTo>
                    <a:pt x="287" y="36"/>
                    <a:pt x="286" y="37"/>
                    <a:pt x="287" y="38"/>
                  </a:cubicBezTo>
                  <a:cubicBezTo>
                    <a:pt x="287" y="39"/>
                    <a:pt x="288" y="41"/>
                    <a:pt x="287" y="41"/>
                  </a:cubicBezTo>
                  <a:cubicBezTo>
                    <a:pt x="286" y="42"/>
                    <a:pt x="286" y="44"/>
                    <a:pt x="286" y="43"/>
                  </a:cubicBezTo>
                  <a:cubicBezTo>
                    <a:pt x="286" y="41"/>
                    <a:pt x="286" y="40"/>
                    <a:pt x="285" y="39"/>
                  </a:cubicBezTo>
                  <a:cubicBezTo>
                    <a:pt x="283" y="39"/>
                    <a:pt x="283" y="37"/>
                    <a:pt x="284" y="36"/>
                  </a:cubicBezTo>
                  <a:cubicBezTo>
                    <a:pt x="284" y="36"/>
                    <a:pt x="285" y="35"/>
                    <a:pt x="284" y="35"/>
                  </a:cubicBezTo>
                  <a:cubicBezTo>
                    <a:pt x="284" y="34"/>
                    <a:pt x="284" y="34"/>
                    <a:pt x="284" y="33"/>
                  </a:cubicBezTo>
                  <a:cubicBezTo>
                    <a:pt x="284" y="33"/>
                    <a:pt x="286" y="32"/>
                    <a:pt x="284" y="32"/>
                  </a:cubicBezTo>
                  <a:cubicBezTo>
                    <a:pt x="283" y="32"/>
                    <a:pt x="282" y="30"/>
                    <a:pt x="281" y="31"/>
                  </a:cubicBezTo>
                  <a:cubicBezTo>
                    <a:pt x="281" y="31"/>
                    <a:pt x="279" y="32"/>
                    <a:pt x="279" y="33"/>
                  </a:cubicBezTo>
                  <a:cubicBezTo>
                    <a:pt x="279" y="34"/>
                    <a:pt x="280" y="37"/>
                    <a:pt x="279" y="37"/>
                  </a:cubicBezTo>
                  <a:cubicBezTo>
                    <a:pt x="279" y="36"/>
                    <a:pt x="278" y="35"/>
                    <a:pt x="277" y="35"/>
                  </a:cubicBezTo>
                  <a:cubicBezTo>
                    <a:pt x="277" y="35"/>
                    <a:pt x="275" y="37"/>
                    <a:pt x="274" y="36"/>
                  </a:cubicBezTo>
                  <a:cubicBezTo>
                    <a:pt x="273" y="36"/>
                    <a:pt x="271" y="36"/>
                    <a:pt x="270" y="36"/>
                  </a:cubicBezTo>
                  <a:cubicBezTo>
                    <a:pt x="269" y="36"/>
                    <a:pt x="266" y="37"/>
                    <a:pt x="265" y="37"/>
                  </a:cubicBezTo>
                  <a:cubicBezTo>
                    <a:pt x="265" y="37"/>
                    <a:pt x="263" y="37"/>
                    <a:pt x="262" y="37"/>
                  </a:cubicBezTo>
                  <a:cubicBezTo>
                    <a:pt x="262" y="37"/>
                    <a:pt x="262" y="36"/>
                    <a:pt x="261" y="35"/>
                  </a:cubicBezTo>
                  <a:cubicBezTo>
                    <a:pt x="260" y="35"/>
                    <a:pt x="260" y="33"/>
                    <a:pt x="259" y="34"/>
                  </a:cubicBezTo>
                  <a:cubicBezTo>
                    <a:pt x="257" y="34"/>
                    <a:pt x="256" y="34"/>
                    <a:pt x="255" y="34"/>
                  </a:cubicBezTo>
                  <a:cubicBezTo>
                    <a:pt x="255" y="33"/>
                    <a:pt x="253" y="33"/>
                    <a:pt x="252" y="31"/>
                  </a:cubicBezTo>
                  <a:cubicBezTo>
                    <a:pt x="252" y="30"/>
                    <a:pt x="254" y="28"/>
                    <a:pt x="253" y="28"/>
                  </a:cubicBezTo>
                  <a:cubicBezTo>
                    <a:pt x="252" y="27"/>
                    <a:pt x="249" y="28"/>
                    <a:pt x="248" y="28"/>
                  </a:cubicBezTo>
                  <a:cubicBezTo>
                    <a:pt x="246" y="28"/>
                    <a:pt x="244" y="28"/>
                    <a:pt x="243" y="28"/>
                  </a:cubicBezTo>
                  <a:cubicBezTo>
                    <a:pt x="243" y="29"/>
                    <a:pt x="241" y="29"/>
                    <a:pt x="241" y="30"/>
                  </a:cubicBezTo>
                  <a:cubicBezTo>
                    <a:pt x="240" y="31"/>
                    <a:pt x="239" y="32"/>
                    <a:pt x="239" y="32"/>
                  </a:cubicBezTo>
                  <a:cubicBezTo>
                    <a:pt x="240" y="33"/>
                    <a:pt x="241" y="34"/>
                    <a:pt x="241" y="33"/>
                  </a:cubicBezTo>
                  <a:cubicBezTo>
                    <a:pt x="241" y="32"/>
                    <a:pt x="241" y="32"/>
                    <a:pt x="242" y="32"/>
                  </a:cubicBezTo>
                  <a:cubicBezTo>
                    <a:pt x="243" y="32"/>
                    <a:pt x="244" y="32"/>
                    <a:pt x="245" y="32"/>
                  </a:cubicBezTo>
                  <a:cubicBezTo>
                    <a:pt x="246" y="31"/>
                    <a:pt x="247" y="30"/>
                    <a:pt x="248" y="30"/>
                  </a:cubicBezTo>
                  <a:cubicBezTo>
                    <a:pt x="249" y="30"/>
                    <a:pt x="251" y="30"/>
                    <a:pt x="251" y="30"/>
                  </a:cubicBezTo>
                  <a:cubicBezTo>
                    <a:pt x="250" y="30"/>
                    <a:pt x="249" y="32"/>
                    <a:pt x="248" y="32"/>
                  </a:cubicBezTo>
                  <a:cubicBezTo>
                    <a:pt x="247" y="32"/>
                    <a:pt x="245" y="33"/>
                    <a:pt x="245" y="33"/>
                  </a:cubicBezTo>
                  <a:cubicBezTo>
                    <a:pt x="244" y="33"/>
                    <a:pt x="243" y="34"/>
                    <a:pt x="242" y="34"/>
                  </a:cubicBezTo>
                  <a:cubicBezTo>
                    <a:pt x="242" y="34"/>
                    <a:pt x="240" y="35"/>
                    <a:pt x="240" y="35"/>
                  </a:cubicBezTo>
                  <a:cubicBezTo>
                    <a:pt x="239" y="36"/>
                    <a:pt x="239" y="37"/>
                    <a:pt x="238" y="38"/>
                  </a:cubicBezTo>
                  <a:cubicBezTo>
                    <a:pt x="237" y="38"/>
                    <a:pt x="239" y="39"/>
                    <a:pt x="239" y="39"/>
                  </a:cubicBezTo>
                  <a:cubicBezTo>
                    <a:pt x="239" y="40"/>
                    <a:pt x="239" y="40"/>
                    <a:pt x="239" y="41"/>
                  </a:cubicBezTo>
                  <a:cubicBezTo>
                    <a:pt x="240" y="42"/>
                    <a:pt x="239" y="42"/>
                    <a:pt x="238" y="43"/>
                  </a:cubicBezTo>
                  <a:cubicBezTo>
                    <a:pt x="237" y="44"/>
                    <a:pt x="239" y="46"/>
                    <a:pt x="238" y="46"/>
                  </a:cubicBezTo>
                  <a:cubicBezTo>
                    <a:pt x="236" y="45"/>
                    <a:pt x="234" y="43"/>
                    <a:pt x="235" y="43"/>
                  </a:cubicBezTo>
                  <a:cubicBezTo>
                    <a:pt x="236" y="42"/>
                    <a:pt x="237" y="41"/>
                    <a:pt x="237" y="41"/>
                  </a:cubicBezTo>
                  <a:cubicBezTo>
                    <a:pt x="237" y="40"/>
                    <a:pt x="236" y="38"/>
                    <a:pt x="235" y="39"/>
                  </a:cubicBezTo>
                  <a:cubicBezTo>
                    <a:pt x="234" y="39"/>
                    <a:pt x="233" y="40"/>
                    <a:pt x="234" y="39"/>
                  </a:cubicBezTo>
                  <a:cubicBezTo>
                    <a:pt x="234" y="38"/>
                    <a:pt x="235" y="36"/>
                    <a:pt x="234" y="37"/>
                  </a:cubicBezTo>
                  <a:cubicBezTo>
                    <a:pt x="234" y="37"/>
                    <a:pt x="233" y="37"/>
                    <a:pt x="232" y="37"/>
                  </a:cubicBezTo>
                  <a:cubicBezTo>
                    <a:pt x="232" y="36"/>
                    <a:pt x="231" y="34"/>
                    <a:pt x="231" y="34"/>
                  </a:cubicBezTo>
                  <a:cubicBezTo>
                    <a:pt x="231" y="35"/>
                    <a:pt x="228" y="36"/>
                    <a:pt x="226" y="37"/>
                  </a:cubicBezTo>
                  <a:cubicBezTo>
                    <a:pt x="225" y="37"/>
                    <a:pt x="220" y="37"/>
                    <a:pt x="219" y="37"/>
                  </a:cubicBezTo>
                  <a:cubicBezTo>
                    <a:pt x="218" y="37"/>
                    <a:pt x="218" y="37"/>
                    <a:pt x="216" y="37"/>
                  </a:cubicBezTo>
                  <a:cubicBezTo>
                    <a:pt x="215" y="36"/>
                    <a:pt x="211" y="36"/>
                    <a:pt x="212" y="35"/>
                  </a:cubicBezTo>
                  <a:cubicBezTo>
                    <a:pt x="214" y="35"/>
                    <a:pt x="215" y="35"/>
                    <a:pt x="215" y="34"/>
                  </a:cubicBezTo>
                  <a:cubicBezTo>
                    <a:pt x="215" y="34"/>
                    <a:pt x="213" y="33"/>
                    <a:pt x="215" y="33"/>
                  </a:cubicBezTo>
                  <a:cubicBezTo>
                    <a:pt x="216" y="33"/>
                    <a:pt x="217" y="33"/>
                    <a:pt x="217" y="33"/>
                  </a:cubicBezTo>
                  <a:cubicBezTo>
                    <a:pt x="217" y="32"/>
                    <a:pt x="216" y="32"/>
                    <a:pt x="217" y="31"/>
                  </a:cubicBezTo>
                  <a:cubicBezTo>
                    <a:pt x="219" y="31"/>
                    <a:pt x="220" y="32"/>
                    <a:pt x="220" y="32"/>
                  </a:cubicBezTo>
                  <a:cubicBezTo>
                    <a:pt x="221" y="31"/>
                    <a:pt x="221" y="30"/>
                    <a:pt x="220" y="29"/>
                  </a:cubicBezTo>
                  <a:cubicBezTo>
                    <a:pt x="219" y="29"/>
                    <a:pt x="219" y="27"/>
                    <a:pt x="217" y="27"/>
                  </a:cubicBezTo>
                  <a:cubicBezTo>
                    <a:pt x="215" y="27"/>
                    <a:pt x="214" y="26"/>
                    <a:pt x="214" y="27"/>
                  </a:cubicBezTo>
                  <a:cubicBezTo>
                    <a:pt x="214" y="28"/>
                    <a:pt x="215" y="29"/>
                    <a:pt x="214" y="29"/>
                  </a:cubicBezTo>
                  <a:cubicBezTo>
                    <a:pt x="212" y="28"/>
                    <a:pt x="212" y="28"/>
                    <a:pt x="210" y="27"/>
                  </a:cubicBezTo>
                  <a:cubicBezTo>
                    <a:pt x="208" y="27"/>
                    <a:pt x="208" y="26"/>
                    <a:pt x="207" y="25"/>
                  </a:cubicBezTo>
                  <a:cubicBezTo>
                    <a:pt x="206" y="25"/>
                    <a:pt x="207" y="24"/>
                    <a:pt x="206" y="24"/>
                  </a:cubicBezTo>
                  <a:cubicBezTo>
                    <a:pt x="205" y="24"/>
                    <a:pt x="200" y="21"/>
                    <a:pt x="199" y="21"/>
                  </a:cubicBezTo>
                  <a:cubicBezTo>
                    <a:pt x="198" y="21"/>
                    <a:pt x="197" y="19"/>
                    <a:pt x="195" y="19"/>
                  </a:cubicBezTo>
                  <a:cubicBezTo>
                    <a:pt x="194" y="19"/>
                    <a:pt x="192" y="19"/>
                    <a:pt x="192" y="20"/>
                  </a:cubicBezTo>
                  <a:cubicBezTo>
                    <a:pt x="192" y="20"/>
                    <a:pt x="189" y="22"/>
                    <a:pt x="188" y="22"/>
                  </a:cubicBezTo>
                  <a:cubicBezTo>
                    <a:pt x="188" y="21"/>
                    <a:pt x="189" y="20"/>
                    <a:pt x="189" y="20"/>
                  </a:cubicBezTo>
                  <a:cubicBezTo>
                    <a:pt x="189" y="20"/>
                    <a:pt x="189" y="18"/>
                    <a:pt x="189" y="18"/>
                  </a:cubicBezTo>
                  <a:cubicBezTo>
                    <a:pt x="190" y="17"/>
                    <a:pt x="189" y="17"/>
                    <a:pt x="188" y="17"/>
                  </a:cubicBezTo>
                  <a:cubicBezTo>
                    <a:pt x="188" y="18"/>
                    <a:pt x="187" y="18"/>
                    <a:pt x="187" y="19"/>
                  </a:cubicBezTo>
                  <a:cubicBezTo>
                    <a:pt x="187" y="20"/>
                    <a:pt x="186" y="20"/>
                    <a:pt x="186" y="20"/>
                  </a:cubicBezTo>
                  <a:cubicBezTo>
                    <a:pt x="186" y="21"/>
                    <a:pt x="185" y="22"/>
                    <a:pt x="184" y="22"/>
                  </a:cubicBezTo>
                  <a:cubicBezTo>
                    <a:pt x="183" y="22"/>
                    <a:pt x="182" y="22"/>
                    <a:pt x="182" y="21"/>
                  </a:cubicBezTo>
                  <a:cubicBezTo>
                    <a:pt x="181" y="19"/>
                    <a:pt x="180" y="18"/>
                    <a:pt x="180" y="17"/>
                  </a:cubicBezTo>
                  <a:cubicBezTo>
                    <a:pt x="180" y="15"/>
                    <a:pt x="180" y="13"/>
                    <a:pt x="179" y="12"/>
                  </a:cubicBezTo>
                  <a:cubicBezTo>
                    <a:pt x="179" y="12"/>
                    <a:pt x="177" y="11"/>
                    <a:pt x="177" y="11"/>
                  </a:cubicBezTo>
                  <a:cubicBezTo>
                    <a:pt x="177" y="12"/>
                    <a:pt x="176" y="12"/>
                    <a:pt x="177" y="13"/>
                  </a:cubicBezTo>
                  <a:cubicBezTo>
                    <a:pt x="177" y="13"/>
                    <a:pt x="177" y="14"/>
                    <a:pt x="177" y="15"/>
                  </a:cubicBezTo>
                  <a:cubicBezTo>
                    <a:pt x="178" y="15"/>
                    <a:pt x="178" y="16"/>
                    <a:pt x="178" y="16"/>
                  </a:cubicBezTo>
                  <a:cubicBezTo>
                    <a:pt x="177" y="16"/>
                    <a:pt x="176" y="16"/>
                    <a:pt x="176" y="16"/>
                  </a:cubicBezTo>
                  <a:cubicBezTo>
                    <a:pt x="176" y="17"/>
                    <a:pt x="176" y="18"/>
                    <a:pt x="175" y="18"/>
                  </a:cubicBezTo>
                  <a:cubicBezTo>
                    <a:pt x="174" y="18"/>
                    <a:pt x="173" y="20"/>
                    <a:pt x="173" y="20"/>
                  </a:cubicBezTo>
                  <a:cubicBezTo>
                    <a:pt x="172" y="20"/>
                    <a:pt x="172" y="19"/>
                    <a:pt x="171" y="19"/>
                  </a:cubicBezTo>
                  <a:cubicBezTo>
                    <a:pt x="170" y="19"/>
                    <a:pt x="168" y="21"/>
                    <a:pt x="169" y="19"/>
                  </a:cubicBezTo>
                  <a:cubicBezTo>
                    <a:pt x="169" y="18"/>
                    <a:pt x="170" y="18"/>
                    <a:pt x="169" y="17"/>
                  </a:cubicBezTo>
                  <a:cubicBezTo>
                    <a:pt x="169" y="16"/>
                    <a:pt x="169" y="15"/>
                    <a:pt x="168" y="16"/>
                  </a:cubicBezTo>
                  <a:cubicBezTo>
                    <a:pt x="167" y="17"/>
                    <a:pt x="164" y="18"/>
                    <a:pt x="163" y="19"/>
                  </a:cubicBezTo>
                  <a:cubicBezTo>
                    <a:pt x="163" y="19"/>
                    <a:pt x="160" y="23"/>
                    <a:pt x="159" y="23"/>
                  </a:cubicBezTo>
                  <a:cubicBezTo>
                    <a:pt x="159" y="23"/>
                    <a:pt x="156" y="24"/>
                    <a:pt x="157" y="24"/>
                  </a:cubicBezTo>
                  <a:cubicBezTo>
                    <a:pt x="158" y="23"/>
                    <a:pt x="161" y="20"/>
                    <a:pt x="160" y="20"/>
                  </a:cubicBezTo>
                  <a:cubicBezTo>
                    <a:pt x="160" y="20"/>
                    <a:pt x="160" y="19"/>
                    <a:pt x="159" y="19"/>
                  </a:cubicBezTo>
                  <a:cubicBezTo>
                    <a:pt x="159" y="20"/>
                    <a:pt x="156" y="22"/>
                    <a:pt x="155" y="23"/>
                  </a:cubicBezTo>
                  <a:cubicBezTo>
                    <a:pt x="153" y="24"/>
                    <a:pt x="150" y="25"/>
                    <a:pt x="149" y="26"/>
                  </a:cubicBezTo>
                  <a:cubicBezTo>
                    <a:pt x="149" y="26"/>
                    <a:pt x="148" y="28"/>
                    <a:pt x="148" y="27"/>
                  </a:cubicBezTo>
                  <a:cubicBezTo>
                    <a:pt x="147" y="27"/>
                    <a:pt x="148" y="26"/>
                    <a:pt x="147" y="26"/>
                  </a:cubicBezTo>
                  <a:cubicBezTo>
                    <a:pt x="146" y="27"/>
                    <a:pt x="146" y="28"/>
                    <a:pt x="145" y="28"/>
                  </a:cubicBezTo>
                  <a:cubicBezTo>
                    <a:pt x="145" y="28"/>
                    <a:pt x="144" y="27"/>
                    <a:pt x="143" y="27"/>
                  </a:cubicBezTo>
                  <a:cubicBezTo>
                    <a:pt x="143" y="28"/>
                    <a:pt x="142" y="29"/>
                    <a:pt x="142" y="28"/>
                  </a:cubicBezTo>
                  <a:cubicBezTo>
                    <a:pt x="141" y="27"/>
                    <a:pt x="140" y="27"/>
                    <a:pt x="140" y="27"/>
                  </a:cubicBezTo>
                  <a:cubicBezTo>
                    <a:pt x="140" y="28"/>
                    <a:pt x="139" y="28"/>
                    <a:pt x="138" y="28"/>
                  </a:cubicBezTo>
                  <a:cubicBezTo>
                    <a:pt x="138" y="28"/>
                    <a:pt x="136" y="26"/>
                    <a:pt x="135" y="25"/>
                  </a:cubicBezTo>
                  <a:cubicBezTo>
                    <a:pt x="135" y="25"/>
                    <a:pt x="135" y="24"/>
                    <a:pt x="135" y="24"/>
                  </a:cubicBezTo>
                  <a:cubicBezTo>
                    <a:pt x="134" y="23"/>
                    <a:pt x="134" y="21"/>
                    <a:pt x="133" y="21"/>
                  </a:cubicBezTo>
                  <a:cubicBezTo>
                    <a:pt x="132" y="21"/>
                    <a:pt x="131" y="21"/>
                    <a:pt x="130" y="21"/>
                  </a:cubicBezTo>
                  <a:cubicBezTo>
                    <a:pt x="130" y="21"/>
                    <a:pt x="129" y="21"/>
                    <a:pt x="129" y="21"/>
                  </a:cubicBezTo>
                  <a:cubicBezTo>
                    <a:pt x="129" y="21"/>
                    <a:pt x="129" y="21"/>
                    <a:pt x="129" y="21"/>
                  </a:cubicBezTo>
                  <a:cubicBezTo>
                    <a:pt x="128" y="21"/>
                    <a:pt x="128" y="21"/>
                    <a:pt x="128" y="21"/>
                  </a:cubicBezTo>
                  <a:cubicBezTo>
                    <a:pt x="127" y="21"/>
                    <a:pt x="126" y="21"/>
                    <a:pt x="126" y="21"/>
                  </a:cubicBezTo>
                  <a:cubicBezTo>
                    <a:pt x="126" y="21"/>
                    <a:pt x="126" y="21"/>
                    <a:pt x="126" y="21"/>
                  </a:cubicBezTo>
                  <a:cubicBezTo>
                    <a:pt x="125" y="20"/>
                    <a:pt x="125" y="20"/>
                    <a:pt x="125" y="20"/>
                  </a:cubicBezTo>
                  <a:cubicBezTo>
                    <a:pt x="124" y="20"/>
                    <a:pt x="120" y="18"/>
                    <a:pt x="120" y="17"/>
                  </a:cubicBezTo>
                  <a:cubicBezTo>
                    <a:pt x="119" y="17"/>
                    <a:pt x="119" y="17"/>
                    <a:pt x="116" y="17"/>
                  </a:cubicBezTo>
                  <a:cubicBezTo>
                    <a:pt x="114" y="18"/>
                    <a:pt x="111" y="18"/>
                    <a:pt x="109" y="17"/>
                  </a:cubicBezTo>
                  <a:cubicBezTo>
                    <a:pt x="107" y="17"/>
                    <a:pt x="104" y="17"/>
                    <a:pt x="103" y="16"/>
                  </a:cubicBezTo>
                  <a:cubicBezTo>
                    <a:pt x="103" y="16"/>
                    <a:pt x="103" y="15"/>
                    <a:pt x="102" y="15"/>
                  </a:cubicBezTo>
                  <a:cubicBezTo>
                    <a:pt x="101" y="15"/>
                    <a:pt x="97" y="14"/>
                    <a:pt x="96" y="14"/>
                  </a:cubicBezTo>
                  <a:cubicBezTo>
                    <a:pt x="95" y="14"/>
                    <a:pt x="92" y="13"/>
                    <a:pt x="92" y="14"/>
                  </a:cubicBezTo>
                  <a:cubicBezTo>
                    <a:pt x="91" y="14"/>
                    <a:pt x="90" y="15"/>
                    <a:pt x="89" y="14"/>
                  </a:cubicBezTo>
                  <a:cubicBezTo>
                    <a:pt x="88" y="14"/>
                    <a:pt x="89" y="14"/>
                    <a:pt x="88" y="13"/>
                  </a:cubicBezTo>
                  <a:cubicBezTo>
                    <a:pt x="87" y="13"/>
                    <a:pt x="86" y="12"/>
                    <a:pt x="87" y="12"/>
                  </a:cubicBezTo>
                  <a:cubicBezTo>
                    <a:pt x="87" y="11"/>
                    <a:pt x="89" y="10"/>
                    <a:pt x="88" y="10"/>
                  </a:cubicBezTo>
                  <a:cubicBezTo>
                    <a:pt x="87" y="10"/>
                    <a:pt x="83" y="11"/>
                    <a:pt x="83" y="11"/>
                  </a:cubicBezTo>
                  <a:cubicBezTo>
                    <a:pt x="82" y="11"/>
                    <a:pt x="80" y="11"/>
                    <a:pt x="80" y="10"/>
                  </a:cubicBezTo>
                  <a:cubicBezTo>
                    <a:pt x="81" y="9"/>
                    <a:pt x="82" y="9"/>
                    <a:pt x="82" y="8"/>
                  </a:cubicBezTo>
                  <a:cubicBezTo>
                    <a:pt x="81" y="8"/>
                    <a:pt x="80" y="8"/>
                    <a:pt x="79" y="9"/>
                  </a:cubicBezTo>
                  <a:cubicBezTo>
                    <a:pt x="78" y="10"/>
                    <a:pt x="77" y="12"/>
                    <a:pt x="77" y="11"/>
                  </a:cubicBezTo>
                  <a:cubicBezTo>
                    <a:pt x="77" y="10"/>
                    <a:pt x="78" y="8"/>
                    <a:pt x="78" y="8"/>
                  </a:cubicBezTo>
                  <a:cubicBezTo>
                    <a:pt x="77" y="8"/>
                    <a:pt x="77" y="7"/>
                    <a:pt x="76" y="7"/>
                  </a:cubicBezTo>
                  <a:cubicBezTo>
                    <a:pt x="76" y="7"/>
                    <a:pt x="75" y="6"/>
                    <a:pt x="74" y="6"/>
                  </a:cubicBezTo>
                  <a:cubicBezTo>
                    <a:pt x="73" y="6"/>
                    <a:pt x="72" y="9"/>
                    <a:pt x="70" y="10"/>
                  </a:cubicBezTo>
                  <a:cubicBezTo>
                    <a:pt x="68" y="11"/>
                    <a:pt x="64" y="12"/>
                    <a:pt x="63" y="12"/>
                  </a:cubicBezTo>
                  <a:cubicBezTo>
                    <a:pt x="62" y="11"/>
                    <a:pt x="61" y="11"/>
                    <a:pt x="60" y="11"/>
                  </a:cubicBezTo>
                  <a:cubicBezTo>
                    <a:pt x="60" y="12"/>
                    <a:pt x="58" y="14"/>
                    <a:pt x="57" y="14"/>
                  </a:cubicBezTo>
                  <a:cubicBezTo>
                    <a:pt x="56" y="14"/>
                    <a:pt x="54" y="15"/>
                    <a:pt x="52" y="15"/>
                  </a:cubicBezTo>
                  <a:cubicBezTo>
                    <a:pt x="49" y="15"/>
                    <a:pt x="50" y="16"/>
                    <a:pt x="49" y="16"/>
                  </a:cubicBezTo>
                  <a:cubicBezTo>
                    <a:pt x="48" y="17"/>
                    <a:pt x="47" y="19"/>
                    <a:pt x="47" y="19"/>
                  </a:cubicBezTo>
                  <a:cubicBezTo>
                    <a:pt x="46" y="20"/>
                    <a:pt x="43" y="23"/>
                    <a:pt x="42" y="24"/>
                  </a:cubicBezTo>
                  <a:cubicBezTo>
                    <a:pt x="41" y="25"/>
                    <a:pt x="38" y="27"/>
                    <a:pt x="37" y="28"/>
                  </a:cubicBezTo>
                  <a:cubicBezTo>
                    <a:pt x="37" y="28"/>
                    <a:pt x="36" y="27"/>
                    <a:pt x="35" y="28"/>
                  </a:cubicBezTo>
                  <a:cubicBezTo>
                    <a:pt x="34" y="28"/>
                    <a:pt x="32" y="28"/>
                    <a:pt x="30" y="28"/>
                  </a:cubicBezTo>
                  <a:cubicBezTo>
                    <a:pt x="28" y="28"/>
                    <a:pt x="28" y="31"/>
                    <a:pt x="27" y="31"/>
                  </a:cubicBezTo>
                  <a:cubicBezTo>
                    <a:pt x="27" y="31"/>
                    <a:pt x="26" y="31"/>
                    <a:pt x="26" y="32"/>
                  </a:cubicBezTo>
                  <a:cubicBezTo>
                    <a:pt x="26" y="32"/>
                    <a:pt x="27" y="33"/>
                    <a:pt x="27" y="34"/>
                  </a:cubicBezTo>
                  <a:cubicBezTo>
                    <a:pt x="28" y="35"/>
                    <a:pt x="28" y="34"/>
                    <a:pt x="29" y="35"/>
                  </a:cubicBezTo>
                  <a:cubicBezTo>
                    <a:pt x="29" y="36"/>
                    <a:pt x="30" y="37"/>
                    <a:pt x="31" y="37"/>
                  </a:cubicBezTo>
                  <a:cubicBezTo>
                    <a:pt x="31" y="38"/>
                    <a:pt x="32" y="38"/>
                    <a:pt x="32" y="39"/>
                  </a:cubicBezTo>
                  <a:cubicBezTo>
                    <a:pt x="31" y="40"/>
                    <a:pt x="32" y="41"/>
                    <a:pt x="32" y="42"/>
                  </a:cubicBezTo>
                  <a:cubicBezTo>
                    <a:pt x="32" y="43"/>
                    <a:pt x="33" y="43"/>
                    <a:pt x="34" y="43"/>
                  </a:cubicBezTo>
                  <a:cubicBezTo>
                    <a:pt x="35" y="43"/>
                    <a:pt x="38" y="43"/>
                    <a:pt x="38" y="44"/>
                  </a:cubicBezTo>
                  <a:cubicBezTo>
                    <a:pt x="38" y="45"/>
                    <a:pt x="38" y="45"/>
                    <a:pt x="39" y="46"/>
                  </a:cubicBezTo>
                  <a:cubicBezTo>
                    <a:pt x="40" y="46"/>
                    <a:pt x="43" y="46"/>
                    <a:pt x="42" y="47"/>
                  </a:cubicBezTo>
                  <a:cubicBezTo>
                    <a:pt x="42" y="47"/>
                    <a:pt x="41" y="48"/>
                    <a:pt x="40" y="47"/>
                  </a:cubicBezTo>
                  <a:cubicBezTo>
                    <a:pt x="39" y="47"/>
                    <a:pt x="37" y="47"/>
                    <a:pt x="37" y="46"/>
                  </a:cubicBezTo>
                  <a:cubicBezTo>
                    <a:pt x="36" y="45"/>
                    <a:pt x="36" y="46"/>
                    <a:pt x="36" y="47"/>
                  </a:cubicBezTo>
                  <a:cubicBezTo>
                    <a:pt x="36" y="48"/>
                    <a:pt x="35" y="49"/>
                    <a:pt x="36" y="49"/>
                  </a:cubicBezTo>
                  <a:cubicBezTo>
                    <a:pt x="36" y="48"/>
                    <a:pt x="37" y="47"/>
                    <a:pt x="38" y="48"/>
                  </a:cubicBezTo>
                  <a:cubicBezTo>
                    <a:pt x="39" y="49"/>
                    <a:pt x="39" y="50"/>
                    <a:pt x="39" y="50"/>
                  </a:cubicBezTo>
                  <a:cubicBezTo>
                    <a:pt x="38" y="50"/>
                    <a:pt x="37" y="49"/>
                    <a:pt x="37" y="50"/>
                  </a:cubicBezTo>
                  <a:cubicBezTo>
                    <a:pt x="36" y="51"/>
                    <a:pt x="36" y="52"/>
                    <a:pt x="35" y="52"/>
                  </a:cubicBezTo>
                  <a:cubicBezTo>
                    <a:pt x="34" y="52"/>
                    <a:pt x="33" y="51"/>
                    <a:pt x="33" y="51"/>
                  </a:cubicBezTo>
                  <a:cubicBezTo>
                    <a:pt x="33" y="51"/>
                    <a:pt x="31" y="52"/>
                    <a:pt x="31" y="52"/>
                  </a:cubicBezTo>
                  <a:cubicBezTo>
                    <a:pt x="31" y="52"/>
                    <a:pt x="31" y="51"/>
                    <a:pt x="30" y="51"/>
                  </a:cubicBezTo>
                  <a:cubicBezTo>
                    <a:pt x="30" y="51"/>
                    <a:pt x="29" y="51"/>
                    <a:pt x="28" y="51"/>
                  </a:cubicBezTo>
                  <a:cubicBezTo>
                    <a:pt x="28" y="50"/>
                    <a:pt x="28" y="49"/>
                    <a:pt x="29" y="48"/>
                  </a:cubicBezTo>
                  <a:cubicBezTo>
                    <a:pt x="29" y="48"/>
                    <a:pt x="30" y="46"/>
                    <a:pt x="30" y="46"/>
                  </a:cubicBezTo>
                  <a:cubicBezTo>
                    <a:pt x="29" y="46"/>
                    <a:pt x="26" y="46"/>
                    <a:pt x="25" y="47"/>
                  </a:cubicBezTo>
                  <a:cubicBezTo>
                    <a:pt x="25" y="47"/>
                    <a:pt x="23" y="48"/>
                    <a:pt x="22" y="48"/>
                  </a:cubicBezTo>
                  <a:cubicBezTo>
                    <a:pt x="21" y="49"/>
                    <a:pt x="20" y="49"/>
                    <a:pt x="20" y="50"/>
                  </a:cubicBezTo>
                  <a:cubicBezTo>
                    <a:pt x="20" y="50"/>
                    <a:pt x="19" y="51"/>
                    <a:pt x="19" y="51"/>
                  </a:cubicBezTo>
                  <a:cubicBezTo>
                    <a:pt x="18" y="50"/>
                    <a:pt x="16" y="52"/>
                    <a:pt x="15" y="52"/>
                  </a:cubicBezTo>
                  <a:cubicBezTo>
                    <a:pt x="14" y="52"/>
                    <a:pt x="13" y="52"/>
                    <a:pt x="13" y="53"/>
                  </a:cubicBezTo>
                  <a:cubicBezTo>
                    <a:pt x="12" y="53"/>
                    <a:pt x="12" y="54"/>
                    <a:pt x="11" y="54"/>
                  </a:cubicBezTo>
                  <a:cubicBezTo>
                    <a:pt x="11" y="54"/>
                    <a:pt x="11" y="55"/>
                    <a:pt x="12" y="55"/>
                  </a:cubicBezTo>
                  <a:cubicBezTo>
                    <a:pt x="13" y="56"/>
                    <a:pt x="14" y="55"/>
                    <a:pt x="13" y="57"/>
                  </a:cubicBezTo>
                  <a:cubicBezTo>
                    <a:pt x="13" y="58"/>
                    <a:pt x="13" y="59"/>
                    <a:pt x="13" y="60"/>
                  </a:cubicBezTo>
                  <a:cubicBezTo>
                    <a:pt x="14" y="60"/>
                    <a:pt x="12" y="63"/>
                    <a:pt x="14" y="63"/>
                  </a:cubicBezTo>
                  <a:cubicBezTo>
                    <a:pt x="15" y="63"/>
                    <a:pt x="15" y="64"/>
                    <a:pt x="18" y="64"/>
                  </a:cubicBezTo>
                  <a:cubicBezTo>
                    <a:pt x="20" y="63"/>
                    <a:pt x="21" y="63"/>
                    <a:pt x="22" y="63"/>
                  </a:cubicBezTo>
                  <a:cubicBezTo>
                    <a:pt x="24" y="63"/>
                    <a:pt x="24" y="63"/>
                    <a:pt x="25" y="63"/>
                  </a:cubicBezTo>
                  <a:cubicBezTo>
                    <a:pt x="25" y="62"/>
                    <a:pt x="25" y="63"/>
                    <a:pt x="26" y="63"/>
                  </a:cubicBezTo>
                  <a:cubicBezTo>
                    <a:pt x="28" y="63"/>
                    <a:pt x="30" y="60"/>
                    <a:pt x="31" y="60"/>
                  </a:cubicBezTo>
                  <a:cubicBezTo>
                    <a:pt x="32" y="60"/>
                    <a:pt x="32" y="61"/>
                    <a:pt x="33" y="61"/>
                  </a:cubicBezTo>
                  <a:cubicBezTo>
                    <a:pt x="33" y="60"/>
                    <a:pt x="34" y="60"/>
                    <a:pt x="33" y="61"/>
                  </a:cubicBezTo>
                  <a:cubicBezTo>
                    <a:pt x="33" y="62"/>
                    <a:pt x="32" y="63"/>
                    <a:pt x="32" y="63"/>
                  </a:cubicBezTo>
                  <a:cubicBezTo>
                    <a:pt x="31" y="63"/>
                    <a:pt x="33" y="64"/>
                    <a:pt x="32" y="65"/>
                  </a:cubicBezTo>
                  <a:cubicBezTo>
                    <a:pt x="32" y="66"/>
                    <a:pt x="31" y="68"/>
                    <a:pt x="30" y="69"/>
                  </a:cubicBezTo>
                  <a:cubicBezTo>
                    <a:pt x="29" y="70"/>
                    <a:pt x="27" y="70"/>
                    <a:pt x="26" y="70"/>
                  </a:cubicBezTo>
                  <a:cubicBezTo>
                    <a:pt x="25" y="70"/>
                    <a:pt x="24" y="71"/>
                    <a:pt x="23" y="72"/>
                  </a:cubicBezTo>
                  <a:cubicBezTo>
                    <a:pt x="22" y="72"/>
                    <a:pt x="19" y="73"/>
                    <a:pt x="19" y="73"/>
                  </a:cubicBezTo>
                  <a:cubicBezTo>
                    <a:pt x="19" y="72"/>
                    <a:pt x="19" y="72"/>
                    <a:pt x="18" y="72"/>
                  </a:cubicBezTo>
                  <a:cubicBezTo>
                    <a:pt x="17" y="72"/>
                    <a:pt x="16" y="71"/>
                    <a:pt x="15" y="72"/>
                  </a:cubicBezTo>
                  <a:cubicBezTo>
                    <a:pt x="14" y="73"/>
                    <a:pt x="13" y="75"/>
                    <a:pt x="12" y="76"/>
                  </a:cubicBezTo>
                  <a:cubicBezTo>
                    <a:pt x="11" y="77"/>
                    <a:pt x="7" y="79"/>
                    <a:pt x="7" y="80"/>
                  </a:cubicBezTo>
                  <a:cubicBezTo>
                    <a:pt x="6" y="81"/>
                    <a:pt x="6" y="82"/>
                    <a:pt x="5" y="82"/>
                  </a:cubicBezTo>
                  <a:cubicBezTo>
                    <a:pt x="4" y="83"/>
                    <a:pt x="3" y="84"/>
                    <a:pt x="4" y="84"/>
                  </a:cubicBezTo>
                  <a:cubicBezTo>
                    <a:pt x="4" y="84"/>
                    <a:pt x="6" y="83"/>
                    <a:pt x="6" y="84"/>
                  </a:cubicBezTo>
                  <a:cubicBezTo>
                    <a:pt x="5" y="84"/>
                    <a:pt x="4" y="85"/>
                    <a:pt x="4" y="86"/>
                  </a:cubicBezTo>
                  <a:cubicBezTo>
                    <a:pt x="3" y="86"/>
                    <a:pt x="5" y="87"/>
                    <a:pt x="6" y="87"/>
                  </a:cubicBezTo>
                  <a:cubicBezTo>
                    <a:pt x="7" y="88"/>
                    <a:pt x="7" y="88"/>
                    <a:pt x="9" y="89"/>
                  </a:cubicBezTo>
                  <a:cubicBezTo>
                    <a:pt x="10" y="89"/>
                    <a:pt x="11" y="89"/>
                    <a:pt x="10" y="89"/>
                  </a:cubicBezTo>
                  <a:cubicBezTo>
                    <a:pt x="10" y="90"/>
                    <a:pt x="8" y="90"/>
                    <a:pt x="8" y="91"/>
                  </a:cubicBezTo>
                  <a:cubicBezTo>
                    <a:pt x="7" y="93"/>
                    <a:pt x="6" y="94"/>
                    <a:pt x="7" y="94"/>
                  </a:cubicBezTo>
                  <a:cubicBezTo>
                    <a:pt x="8" y="94"/>
                    <a:pt x="7" y="94"/>
                    <a:pt x="8" y="95"/>
                  </a:cubicBezTo>
                  <a:cubicBezTo>
                    <a:pt x="8" y="96"/>
                    <a:pt x="10" y="95"/>
                    <a:pt x="11" y="95"/>
                  </a:cubicBezTo>
                  <a:cubicBezTo>
                    <a:pt x="12" y="95"/>
                    <a:pt x="14" y="95"/>
                    <a:pt x="13" y="94"/>
                  </a:cubicBezTo>
                  <a:cubicBezTo>
                    <a:pt x="13" y="93"/>
                    <a:pt x="14" y="91"/>
                    <a:pt x="15" y="91"/>
                  </a:cubicBezTo>
                  <a:cubicBezTo>
                    <a:pt x="15" y="91"/>
                    <a:pt x="15" y="94"/>
                    <a:pt x="15" y="95"/>
                  </a:cubicBezTo>
                  <a:cubicBezTo>
                    <a:pt x="15" y="95"/>
                    <a:pt x="14" y="96"/>
                    <a:pt x="13" y="97"/>
                  </a:cubicBezTo>
                  <a:cubicBezTo>
                    <a:pt x="12" y="98"/>
                    <a:pt x="12" y="98"/>
                    <a:pt x="13" y="99"/>
                  </a:cubicBezTo>
                  <a:cubicBezTo>
                    <a:pt x="13" y="100"/>
                    <a:pt x="13" y="100"/>
                    <a:pt x="13" y="101"/>
                  </a:cubicBezTo>
                  <a:cubicBezTo>
                    <a:pt x="12" y="101"/>
                    <a:pt x="12" y="102"/>
                    <a:pt x="11" y="102"/>
                  </a:cubicBezTo>
                  <a:cubicBezTo>
                    <a:pt x="10" y="102"/>
                    <a:pt x="8" y="103"/>
                    <a:pt x="10" y="103"/>
                  </a:cubicBezTo>
                  <a:cubicBezTo>
                    <a:pt x="11" y="103"/>
                    <a:pt x="12" y="104"/>
                    <a:pt x="13" y="103"/>
                  </a:cubicBezTo>
                  <a:cubicBezTo>
                    <a:pt x="14" y="103"/>
                    <a:pt x="17" y="101"/>
                    <a:pt x="18" y="101"/>
                  </a:cubicBezTo>
                  <a:cubicBezTo>
                    <a:pt x="20" y="101"/>
                    <a:pt x="20" y="102"/>
                    <a:pt x="21" y="102"/>
                  </a:cubicBezTo>
                  <a:cubicBezTo>
                    <a:pt x="22" y="102"/>
                    <a:pt x="22" y="101"/>
                    <a:pt x="22" y="102"/>
                  </a:cubicBezTo>
                  <a:cubicBezTo>
                    <a:pt x="23" y="102"/>
                    <a:pt x="23" y="104"/>
                    <a:pt x="24" y="103"/>
                  </a:cubicBezTo>
                  <a:cubicBezTo>
                    <a:pt x="25" y="103"/>
                    <a:pt x="24" y="102"/>
                    <a:pt x="24" y="102"/>
                  </a:cubicBezTo>
                  <a:cubicBezTo>
                    <a:pt x="25" y="101"/>
                    <a:pt x="26" y="99"/>
                    <a:pt x="27" y="100"/>
                  </a:cubicBezTo>
                  <a:cubicBezTo>
                    <a:pt x="27" y="100"/>
                    <a:pt x="26" y="102"/>
                    <a:pt x="27" y="102"/>
                  </a:cubicBezTo>
                  <a:cubicBezTo>
                    <a:pt x="28" y="102"/>
                    <a:pt x="31" y="101"/>
                    <a:pt x="32" y="100"/>
                  </a:cubicBezTo>
                  <a:cubicBezTo>
                    <a:pt x="32" y="100"/>
                    <a:pt x="33" y="99"/>
                    <a:pt x="33" y="100"/>
                  </a:cubicBezTo>
                  <a:cubicBezTo>
                    <a:pt x="32" y="101"/>
                    <a:pt x="31" y="102"/>
                    <a:pt x="30" y="103"/>
                  </a:cubicBezTo>
                  <a:cubicBezTo>
                    <a:pt x="29" y="104"/>
                    <a:pt x="27" y="105"/>
                    <a:pt x="27" y="106"/>
                  </a:cubicBezTo>
                  <a:cubicBezTo>
                    <a:pt x="26" y="107"/>
                    <a:pt x="25" y="108"/>
                    <a:pt x="24" y="110"/>
                  </a:cubicBezTo>
                  <a:cubicBezTo>
                    <a:pt x="22" y="112"/>
                    <a:pt x="21" y="114"/>
                    <a:pt x="20" y="114"/>
                  </a:cubicBezTo>
                  <a:cubicBezTo>
                    <a:pt x="19" y="114"/>
                    <a:pt x="16" y="114"/>
                    <a:pt x="15" y="115"/>
                  </a:cubicBezTo>
                  <a:cubicBezTo>
                    <a:pt x="14" y="116"/>
                    <a:pt x="12" y="119"/>
                    <a:pt x="11" y="119"/>
                  </a:cubicBezTo>
                  <a:cubicBezTo>
                    <a:pt x="10" y="119"/>
                    <a:pt x="11" y="118"/>
                    <a:pt x="9" y="119"/>
                  </a:cubicBezTo>
                  <a:cubicBezTo>
                    <a:pt x="8" y="119"/>
                    <a:pt x="6" y="119"/>
                    <a:pt x="4" y="120"/>
                  </a:cubicBezTo>
                  <a:cubicBezTo>
                    <a:pt x="2" y="121"/>
                    <a:pt x="2" y="122"/>
                    <a:pt x="1" y="122"/>
                  </a:cubicBezTo>
                  <a:cubicBezTo>
                    <a:pt x="1" y="123"/>
                    <a:pt x="0" y="123"/>
                    <a:pt x="1" y="124"/>
                  </a:cubicBezTo>
                  <a:cubicBezTo>
                    <a:pt x="3" y="124"/>
                    <a:pt x="3" y="124"/>
                    <a:pt x="4" y="123"/>
                  </a:cubicBezTo>
                  <a:cubicBezTo>
                    <a:pt x="4" y="122"/>
                    <a:pt x="6" y="121"/>
                    <a:pt x="6" y="121"/>
                  </a:cubicBezTo>
                  <a:cubicBezTo>
                    <a:pt x="6" y="122"/>
                    <a:pt x="5" y="123"/>
                    <a:pt x="6" y="122"/>
                  </a:cubicBezTo>
                  <a:cubicBezTo>
                    <a:pt x="8" y="122"/>
                    <a:pt x="10" y="121"/>
                    <a:pt x="12" y="120"/>
                  </a:cubicBezTo>
                  <a:cubicBezTo>
                    <a:pt x="13" y="120"/>
                    <a:pt x="13" y="119"/>
                    <a:pt x="15" y="119"/>
                  </a:cubicBezTo>
                  <a:cubicBezTo>
                    <a:pt x="17" y="119"/>
                    <a:pt x="18" y="118"/>
                    <a:pt x="19" y="117"/>
                  </a:cubicBezTo>
                  <a:cubicBezTo>
                    <a:pt x="21" y="116"/>
                    <a:pt x="29" y="113"/>
                    <a:pt x="30" y="113"/>
                  </a:cubicBezTo>
                  <a:cubicBezTo>
                    <a:pt x="31" y="112"/>
                    <a:pt x="30" y="112"/>
                    <a:pt x="32" y="111"/>
                  </a:cubicBezTo>
                  <a:cubicBezTo>
                    <a:pt x="34" y="110"/>
                    <a:pt x="35" y="108"/>
                    <a:pt x="37" y="107"/>
                  </a:cubicBezTo>
                  <a:cubicBezTo>
                    <a:pt x="39" y="106"/>
                    <a:pt x="40" y="107"/>
                    <a:pt x="41" y="106"/>
                  </a:cubicBezTo>
                  <a:cubicBezTo>
                    <a:pt x="42" y="106"/>
                    <a:pt x="41" y="105"/>
                    <a:pt x="42" y="105"/>
                  </a:cubicBezTo>
                  <a:cubicBezTo>
                    <a:pt x="43" y="104"/>
                    <a:pt x="46" y="101"/>
                    <a:pt x="46" y="101"/>
                  </a:cubicBezTo>
                  <a:cubicBezTo>
                    <a:pt x="47" y="100"/>
                    <a:pt x="47" y="100"/>
                    <a:pt x="46" y="100"/>
                  </a:cubicBezTo>
                  <a:cubicBezTo>
                    <a:pt x="45" y="99"/>
                    <a:pt x="43" y="99"/>
                    <a:pt x="45" y="98"/>
                  </a:cubicBezTo>
                  <a:cubicBezTo>
                    <a:pt x="47" y="97"/>
                    <a:pt x="48" y="95"/>
                    <a:pt x="49" y="95"/>
                  </a:cubicBezTo>
                  <a:cubicBezTo>
                    <a:pt x="51" y="95"/>
                    <a:pt x="51" y="93"/>
                    <a:pt x="52" y="92"/>
                  </a:cubicBezTo>
                  <a:cubicBezTo>
                    <a:pt x="52" y="91"/>
                    <a:pt x="54" y="89"/>
                    <a:pt x="56" y="88"/>
                  </a:cubicBezTo>
                  <a:cubicBezTo>
                    <a:pt x="57" y="88"/>
                    <a:pt x="59" y="87"/>
                    <a:pt x="60" y="87"/>
                  </a:cubicBezTo>
                  <a:cubicBezTo>
                    <a:pt x="60" y="86"/>
                    <a:pt x="62" y="84"/>
                    <a:pt x="63" y="85"/>
                  </a:cubicBezTo>
                  <a:cubicBezTo>
                    <a:pt x="63" y="85"/>
                    <a:pt x="63" y="85"/>
                    <a:pt x="64" y="85"/>
                  </a:cubicBezTo>
                  <a:cubicBezTo>
                    <a:pt x="65" y="85"/>
                    <a:pt x="67" y="83"/>
                    <a:pt x="67" y="84"/>
                  </a:cubicBezTo>
                  <a:cubicBezTo>
                    <a:pt x="66" y="85"/>
                    <a:pt x="65" y="86"/>
                    <a:pt x="65" y="86"/>
                  </a:cubicBezTo>
                  <a:cubicBezTo>
                    <a:pt x="65" y="87"/>
                    <a:pt x="67" y="88"/>
                    <a:pt x="66" y="88"/>
                  </a:cubicBezTo>
                  <a:cubicBezTo>
                    <a:pt x="65" y="88"/>
                    <a:pt x="63" y="88"/>
                    <a:pt x="63" y="88"/>
                  </a:cubicBezTo>
                  <a:cubicBezTo>
                    <a:pt x="62" y="88"/>
                    <a:pt x="63" y="87"/>
                    <a:pt x="61" y="87"/>
                  </a:cubicBezTo>
                  <a:cubicBezTo>
                    <a:pt x="60" y="88"/>
                    <a:pt x="59" y="88"/>
                    <a:pt x="59" y="89"/>
                  </a:cubicBezTo>
                  <a:cubicBezTo>
                    <a:pt x="58" y="89"/>
                    <a:pt x="56" y="93"/>
                    <a:pt x="55" y="94"/>
                  </a:cubicBezTo>
                  <a:cubicBezTo>
                    <a:pt x="54" y="95"/>
                    <a:pt x="54" y="96"/>
                    <a:pt x="55" y="95"/>
                  </a:cubicBezTo>
                  <a:cubicBezTo>
                    <a:pt x="56" y="95"/>
                    <a:pt x="57" y="95"/>
                    <a:pt x="57" y="95"/>
                  </a:cubicBezTo>
                  <a:cubicBezTo>
                    <a:pt x="56" y="95"/>
                    <a:pt x="54" y="97"/>
                    <a:pt x="54" y="97"/>
                  </a:cubicBezTo>
                  <a:cubicBezTo>
                    <a:pt x="53" y="98"/>
                    <a:pt x="56" y="98"/>
                    <a:pt x="57" y="97"/>
                  </a:cubicBezTo>
                  <a:cubicBezTo>
                    <a:pt x="58" y="96"/>
                    <a:pt x="58" y="97"/>
                    <a:pt x="60" y="96"/>
                  </a:cubicBezTo>
                  <a:cubicBezTo>
                    <a:pt x="61" y="95"/>
                    <a:pt x="63" y="94"/>
                    <a:pt x="64" y="94"/>
                  </a:cubicBezTo>
                  <a:cubicBezTo>
                    <a:pt x="66" y="94"/>
                    <a:pt x="68" y="94"/>
                    <a:pt x="69" y="93"/>
                  </a:cubicBezTo>
                  <a:cubicBezTo>
                    <a:pt x="71" y="92"/>
                    <a:pt x="73" y="92"/>
                    <a:pt x="73" y="91"/>
                  </a:cubicBezTo>
                  <a:cubicBezTo>
                    <a:pt x="73" y="91"/>
                    <a:pt x="71" y="90"/>
                    <a:pt x="70" y="89"/>
                  </a:cubicBezTo>
                  <a:cubicBezTo>
                    <a:pt x="70" y="89"/>
                    <a:pt x="71" y="87"/>
                    <a:pt x="71" y="87"/>
                  </a:cubicBezTo>
                  <a:cubicBezTo>
                    <a:pt x="72" y="87"/>
                    <a:pt x="72" y="87"/>
                    <a:pt x="73" y="87"/>
                  </a:cubicBezTo>
                  <a:cubicBezTo>
                    <a:pt x="74" y="87"/>
                    <a:pt x="74" y="88"/>
                    <a:pt x="75" y="88"/>
                  </a:cubicBezTo>
                  <a:cubicBezTo>
                    <a:pt x="76" y="87"/>
                    <a:pt x="77" y="87"/>
                    <a:pt x="77" y="88"/>
                  </a:cubicBezTo>
                  <a:cubicBezTo>
                    <a:pt x="77" y="88"/>
                    <a:pt x="76" y="89"/>
                    <a:pt x="77" y="89"/>
                  </a:cubicBezTo>
                  <a:cubicBezTo>
                    <a:pt x="78" y="89"/>
                    <a:pt x="78" y="89"/>
                    <a:pt x="79" y="89"/>
                  </a:cubicBezTo>
                  <a:cubicBezTo>
                    <a:pt x="79" y="90"/>
                    <a:pt x="80" y="91"/>
                    <a:pt x="81" y="91"/>
                  </a:cubicBezTo>
                  <a:cubicBezTo>
                    <a:pt x="82" y="91"/>
                    <a:pt x="83" y="91"/>
                    <a:pt x="84" y="91"/>
                  </a:cubicBezTo>
                  <a:cubicBezTo>
                    <a:pt x="84" y="92"/>
                    <a:pt x="84" y="93"/>
                    <a:pt x="85" y="93"/>
                  </a:cubicBezTo>
                  <a:cubicBezTo>
                    <a:pt x="86" y="93"/>
                    <a:pt x="88" y="93"/>
                    <a:pt x="91" y="93"/>
                  </a:cubicBezTo>
                  <a:cubicBezTo>
                    <a:pt x="93" y="93"/>
                    <a:pt x="96" y="95"/>
                    <a:pt x="97" y="95"/>
                  </a:cubicBezTo>
                  <a:cubicBezTo>
                    <a:pt x="98" y="95"/>
                    <a:pt x="102" y="93"/>
                    <a:pt x="102" y="93"/>
                  </a:cubicBezTo>
                  <a:cubicBezTo>
                    <a:pt x="102" y="94"/>
                    <a:pt x="100" y="95"/>
                    <a:pt x="101" y="96"/>
                  </a:cubicBezTo>
                  <a:cubicBezTo>
                    <a:pt x="101" y="97"/>
                    <a:pt x="102" y="99"/>
                    <a:pt x="104" y="99"/>
                  </a:cubicBezTo>
                  <a:cubicBezTo>
                    <a:pt x="105" y="99"/>
                    <a:pt x="106" y="99"/>
                    <a:pt x="106" y="100"/>
                  </a:cubicBezTo>
                  <a:cubicBezTo>
                    <a:pt x="106" y="101"/>
                    <a:pt x="105" y="103"/>
                    <a:pt x="106" y="103"/>
                  </a:cubicBezTo>
                  <a:cubicBezTo>
                    <a:pt x="107" y="103"/>
                    <a:pt x="108" y="103"/>
                    <a:pt x="108" y="104"/>
                  </a:cubicBezTo>
                  <a:cubicBezTo>
                    <a:pt x="109" y="104"/>
                    <a:pt x="109" y="105"/>
                    <a:pt x="110" y="104"/>
                  </a:cubicBezTo>
                  <a:cubicBezTo>
                    <a:pt x="111" y="104"/>
                    <a:pt x="112" y="103"/>
                    <a:pt x="111" y="102"/>
                  </a:cubicBezTo>
                  <a:cubicBezTo>
                    <a:pt x="111" y="102"/>
                    <a:pt x="111" y="100"/>
                    <a:pt x="111" y="100"/>
                  </a:cubicBezTo>
                  <a:cubicBezTo>
                    <a:pt x="112" y="100"/>
                    <a:pt x="113" y="101"/>
                    <a:pt x="113" y="102"/>
                  </a:cubicBezTo>
                  <a:cubicBezTo>
                    <a:pt x="113" y="104"/>
                    <a:pt x="114" y="105"/>
                    <a:pt x="114" y="105"/>
                  </a:cubicBezTo>
                  <a:cubicBezTo>
                    <a:pt x="114" y="105"/>
                    <a:pt x="115" y="101"/>
                    <a:pt x="115" y="101"/>
                  </a:cubicBezTo>
                  <a:cubicBezTo>
                    <a:pt x="115" y="100"/>
                    <a:pt x="115" y="97"/>
                    <a:pt x="116" y="97"/>
                  </a:cubicBezTo>
                  <a:cubicBezTo>
                    <a:pt x="117" y="97"/>
                    <a:pt x="117" y="99"/>
                    <a:pt x="117" y="100"/>
                  </a:cubicBezTo>
                  <a:cubicBezTo>
                    <a:pt x="117" y="101"/>
                    <a:pt x="116" y="104"/>
                    <a:pt x="116" y="104"/>
                  </a:cubicBezTo>
                  <a:cubicBezTo>
                    <a:pt x="117" y="105"/>
                    <a:pt x="118" y="105"/>
                    <a:pt x="119" y="105"/>
                  </a:cubicBezTo>
                  <a:cubicBezTo>
                    <a:pt x="120" y="105"/>
                    <a:pt x="120" y="106"/>
                    <a:pt x="121" y="107"/>
                  </a:cubicBezTo>
                  <a:cubicBezTo>
                    <a:pt x="122" y="108"/>
                    <a:pt x="122" y="109"/>
                    <a:pt x="121" y="110"/>
                  </a:cubicBezTo>
                  <a:cubicBezTo>
                    <a:pt x="121" y="111"/>
                    <a:pt x="123" y="111"/>
                    <a:pt x="123" y="112"/>
                  </a:cubicBezTo>
                  <a:cubicBezTo>
                    <a:pt x="123" y="113"/>
                    <a:pt x="122" y="114"/>
                    <a:pt x="123" y="115"/>
                  </a:cubicBezTo>
                  <a:cubicBezTo>
                    <a:pt x="123" y="116"/>
                    <a:pt x="125" y="116"/>
                    <a:pt x="125" y="117"/>
                  </a:cubicBezTo>
                  <a:cubicBezTo>
                    <a:pt x="124" y="118"/>
                    <a:pt x="123" y="119"/>
                    <a:pt x="124" y="119"/>
                  </a:cubicBezTo>
                  <a:cubicBezTo>
                    <a:pt x="126" y="118"/>
                    <a:pt x="127" y="118"/>
                    <a:pt x="127" y="118"/>
                  </a:cubicBezTo>
                  <a:cubicBezTo>
                    <a:pt x="128" y="118"/>
                    <a:pt x="128" y="120"/>
                    <a:pt x="127" y="121"/>
                  </a:cubicBezTo>
                  <a:cubicBezTo>
                    <a:pt x="127" y="122"/>
                    <a:pt x="128" y="123"/>
                    <a:pt x="127" y="123"/>
                  </a:cubicBezTo>
                  <a:cubicBezTo>
                    <a:pt x="126" y="124"/>
                    <a:pt x="126" y="125"/>
                    <a:pt x="127" y="125"/>
                  </a:cubicBezTo>
                  <a:cubicBezTo>
                    <a:pt x="127" y="125"/>
                    <a:pt x="129" y="123"/>
                    <a:pt x="129" y="124"/>
                  </a:cubicBezTo>
                  <a:cubicBezTo>
                    <a:pt x="129" y="124"/>
                    <a:pt x="129" y="124"/>
                    <a:pt x="129" y="124"/>
                  </a:cubicBezTo>
                  <a:cubicBezTo>
                    <a:pt x="128" y="125"/>
                    <a:pt x="128" y="125"/>
                    <a:pt x="127" y="126"/>
                  </a:cubicBezTo>
                  <a:cubicBezTo>
                    <a:pt x="127" y="126"/>
                    <a:pt x="127" y="126"/>
                    <a:pt x="127" y="126"/>
                  </a:cubicBezTo>
                  <a:cubicBezTo>
                    <a:pt x="127" y="126"/>
                    <a:pt x="127" y="127"/>
                    <a:pt x="126" y="127"/>
                  </a:cubicBezTo>
                  <a:cubicBezTo>
                    <a:pt x="126" y="128"/>
                    <a:pt x="127" y="129"/>
                    <a:pt x="127" y="130"/>
                  </a:cubicBezTo>
                  <a:cubicBezTo>
                    <a:pt x="127" y="130"/>
                    <a:pt x="128" y="131"/>
                    <a:pt x="126" y="131"/>
                  </a:cubicBezTo>
                  <a:cubicBezTo>
                    <a:pt x="125" y="131"/>
                    <a:pt x="125" y="132"/>
                    <a:pt x="126" y="133"/>
                  </a:cubicBezTo>
                  <a:cubicBezTo>
                    <a:pt x="127" y="133"/>
                    <a:pt x="128" y="133"/>
                    <a:pt x="129" y="133"/>
                  </a:cubicBezTo>
                  <a:cubicBezTo>
                    <a:pt x="129" y="132"/>
                    <a:pt x="130" y="130"/>
                    <a:pt x="131" y="131"/>
                  </a:cubicBezTo>
                  <a:cubicBezTo>
                    <a:pt x="132" y="131"/>
                    <a:pt x="132" y="133"/>
                    <a:pt x="131" y="133"/>
                  </a:cubicBezTo>
                  <a:cubicBezTo>
                    <a:pt x="131" y="133"/>
                    <a:pt x="130" y="133"/>
                    <a:pt x="130" y="134"/>
                  </a:cubicBezTo>
                  <a:cubicBezTo>
                    <a:pt x="129" y="134"/>
                    <a:pt x="130" y="135"/>
                    <a:pt x="131" y="136"/>
                  </a:cubicBezTo>
                  <a:cubicBezTo>
                    <a:pt x="131" y="136"/>
                    <a:pt x="131" y="139"/>
                    <a:pt x="132" y="139"/>
                  </a:cubicBezTo>
                  <a:cubicBezTo>
                    <a:pt x="133" y="138"/>
                    <a:pt x="136" y="137"/>
                    <a:pt x="136" y="137"/>
                  </a:cubicBezTo>
                  <a:cubicBezTo>
                    <a:pt x="136" y="138"/>
                    <a:pt x="134" y="140"/>
                    <a:pt x="133" y="141"/>
                  </a:cubicBezTo>
                  <a:cubicBezTo>
                    <a:pt x="132" y="141"/>
                    <a:pt x="130" y="144"/>
                    <a:pt x="130" y="144"/>
                  </a:cubicBezTo>
                  <a:cubicBezTo>
                    <a:pt x="130" y="145"/>
                    <a:pt x="129" y="145"/>
                    <a:pt x="130" y="146"/>
                  </a:cubicBezTo>
                  <a:cubicBezTo>
                    <a:pt x="130" y="147"/>
                    <a:pt x="131" y="147"/>
                    <a:pt x="132" y="147"/>
                  </a:cubicBezTo>
                  <a:cubicBezTo>
                    <a:pt x="133" y="147"/>
                    <a:pt x="133" y="147"/>
                    <a:pt x="133" y="148"/>
                  </a:cubicBezTo>
                  <a:cubicBezTo>
                    <a:pt x="132" y="148"/>
                    <a:pt x="132" y="149"/>
                    <a:pt x="134" y="149"/>
                  </a:cubicBezTo>
                  <a:cubicBezTo>
                    <a:pt x="136" y="149"/>
                    <a:pt x="138" y="149"/>
                    <a:pt x="138" y="149"/>
                  </a:cubicBezTo>
                  <a:cubicBezTo>
                    <a:pt x="138" y="149"/>
                    <a:pt x="138" y="149"/>
                    <a:pt x="138" y="150"/>
                  </a:cubicBezTo>
                  <a:cubicBezTo>
                    <a:pt x="138" y="150"/>
                    <a:pt x="138" y="150"/>
                    <a:pt x="138" y="150"/>
                  </a:cubicBezTo>
                  <a:cubicBezTo>
                    <a:pt x="138" y="150"/>
                    <a:pt x="138" y="150"/>
                    <a:pt x="138" y="150"/>
                  </a:cubicBezTo>
                  <a:cubicBezTo>
                    <a:pt x="138" y="150"/>
                    <a:pt x="138" y="150"/>
                    <a:pt x="139" y="150"/>
                  </a:cubicBezTo>
                  <a:cubicBezTo>
                    <a:pt x="140" y="150"/>
                    <a:pt x="141" y="148"/>
                    <a:pt x="140" y="149"/>
                  </a:cubicBezTo>
                  <a:cubicBezTo>
                    <a:pt x="140" y="150"/>
                    <a:pt x="138" y="151"/>
                    <a:pt x="139" y="152"/>
                  </a:cubicBezTo>
                  <a:cubicBezTo>
                    <a:pt x="140" y="153"/>
                    <a:pt x="140" y="152"/>
                    <a:pt x="140" y="153"/>
                  </a:cubicBezTo>
                  <a:cubicBezTo>
                    <a:pt x="140" y="154"/>
                    <a:pt x="140" y="155"/>
                    <a:pt x="141" y="155"/>
                  </a:cubicBezTo>
                  <a:cubicBezTo>
                    <a:pt x="143" y="154"/>
                    <a:pt x="142" y="155"/>
                    <a:pt x="143" y="156"/>
                  </a:cubicBezTo>
                  <a:cubicBezTo>
                    <a:pt x="143" y="156"/>
                    <a:pt x="144" y="156"/>
                    <a:pt x="144" y="156"/>
                  </a:cubicBezTo>
                  <a:cubicBezTo>
                    <a:pt x="144" y="157"/>
                    <a:pt x="144" y="157"/>
                    <a:pt x="144" y="157"/>
                  </a:cubicBezTo>
                  <a:cubicBezTo>
                    <a:pt x="144" y="157"/>
                    <a:pt x="144" y="157"/>
                    <a:pt x="144" y="157"/>
                  </a:cubicBezTo>
                  <a:cubicBezTo>
                    <a:pt x="144" y="157"/>
                    <a:pt x="144" y="157"/>
                    <a:pt x="144" y="157"/>
                  </a:cubicBezTo>
                  <a:cubicBezTo>
                    <a:pt x="144" y="157"/>
                    <a:pt x="144" y="157"/>
                    <a:pt x="144" y="158"/>
                  </a:cubicBezTo>
                  <a:cubicBezTo>
                    <a:pt x="144" y="158"/>
                    <a:pt x="144" y="158"/>
                    <a:pt x="144" y="158"/>
                  </a:cubicBezTo>
                  <a:cubicBezTo>
                    <a:pt x="144" y="159"/>
                    <a:pt x="144" y="161"/>
                    <a:pt x="144" y="162"/>
                  </a:cubicBezTo>
                  <a:cubicBezTo>
                    <a:pt x="144" y="162"/>
                    <a:pt x="143" y="164"/>
                    <a:pt x="143" y="164"/>
                  </a:cubicBezTo>
                  <a:cubicBezTo>
                    <a:pt x="143" y="163"/>
                    <a:pt x="142" y="162"/>
                    <a:pt x="141" y="162"/>
                  </a:cubicBezTo>
                  <a:cubicBezTo>
                    <a:pt x="140" y="162"/>
                    <a:pt x="137" y="162"/>
                    <a:pt x="136" y="162"/>
                  </a:cubicBezTo>
                  <a:cubicBezTo>
                    <a:pt x="135" y="161"/>
                    <a:pt x="135" y="162"/>
                    <a:pt x="135" y="163"/>
                  </a:cubicBezTo>
                  <a:cubicBezTo>
                    <a:pt x="135" y="164"/>
                    <a:pt x="136" y="169"/>
                    <a:pt x="134" y="171"/>
                  </a:cubicBezTo>
                  <a:cubicBezTo>
                    <a:pt x="133" y="174"/>
                    <a:pt x="132" y="179"/>
                    <a:pt x="131" y="180"/>
                  </a:cubicBezTo>
                  <a:cubicBezTo>
                    <a:pt x="130" y="181"/>
                    <a:pt x="128" y="187"/>
                    <a:pt x="127" y="188"/>
                  </a:cubicBezTo>
                  <a:cubicBezTo>
                    <a:pt x="126" y="189"/>
                    <a:pt x="126" y="191"/>
                    <a:pt x="126" y="192"/>
                  </a:cubicBezTo>
                  <a:cubicBezTo>
                    <a:pt x="126" y="193"/>
                    <a:pt x="126" y="193"/>
                    <a:pt x="125" y="195"/>
                  </a:cubicBezTo>
                  <a:cubicBezTo>
                    <a:pt x="124" y="197"/>
                    <a:pt x="123" y="201"/>
                    <a:pt x="123" y="203"/>
                  </a:cubicBezTo>
                  <a:cubicBezTo>
                    <a:pt x="123" y="204"/>
                    <a:pt x="125" y="206"/>
                    <a:pt x="124" y="207"/>
                  </a:cubicBezTo>
                  <a:cubicBezTo>
                    <a:pt x="123" y="209"/>
                    <a:pt x="123" y="210"/>
                    <a:pt x="124" y="211"/>
                  </a:cubicBezTo>
                  <a:cubicBezTo>
                    <a:pt x="124" y="212"/>
                    <a:pt x="125" y="214"/>
                    <a:pt x="125" y="216"/>
                  </a:cubicBezTo>
                  <a:cubicBezTo>
                    <a:pt x="126" y="217"/>
                    <a:pt x="125" y="219"/>
                    <a:pt x="126" y="220"/>
                  </a:cubicBezTo>
                  <a:cubicBezTo>
                    <a:pt x="127" y="221"/>
                    <a:pt x="127" y="224"/>
                    <a:pt x="127" y="226"/>
                  </a:cubicBezTo>
                  <a:cubicBezTo>
                    <a:pt x="128" y="228"/>
                    <a:pt x="129" y="228"/>
                    <a:pt x="129" y="230"/>
                  </a:cubicBezTo>
                  <a:cubicBezTo>
                    <a:pt x="129" y="231"/>
                    <a:pt x="132" y="230"/>
                    <a:pt x="133" y="231"/>
                  </a:cubicBezTo>
                  <a:cubicBezTo>
                    <a:pt x="135" y="232"/>
                    <a:pt x="136" y="232"/>
                    <a:pt x="137" y="232"/>
                  </a:cubicBezTo>
                  <a:cubicBezTo>
                    <a:pt x="139" y="233"/>
                    <a:pt x="138" y="234"/>
                    <a:pt x="139" y="235"/>
                  </a:cubicBezTo>
                  <a:cubicBezTo>
                    <a:pt x="139" y="235"/>
                    <a:pt x="139" y="235"/>
                    <a:pt x="139" y="235"/>
                  </a:cubicBezTo>
                  <a:cubicBezTo>
                    <a:pt x="139" y="235"/>
                    <a:pt x="139" y="235"/>
                    <a:pt x="139" y="235"/>
                  </a:cubicBezTo>
                  <a:cubicBezTo>
                    <a:pt x="139" y="236"/>
                    <a:pt x="139" y="236"/>
                    <a:pt x="139" y="236"/>
                  </a:cubicBezTo>
                  <a:cubicBezTo>
                    <a:pt x="139" y="236"/>
                    <a:pt x="139" y="236"/>
                    <a:pt x="139" y="236"/>
                  </a:cubicBezTo>
                  <a:cubicBezTo>
                    <a:pt x="139" y="237"/>
                    <a:pt x="139" y="237"/>
                    <a:pt x="139" y="237"/>
                  </a:cubicBezTo>
                  <a:cubicBezTo>
                    <a:pt x="139" y="238"/>
                    <a:pt x="140" y="238"/>
                    <a:pt x="140" y="238"/>
                  </a:cubicBezTo>
                  <a:cubicBezTo>
                    <a:pt x="140" y="238"/>
                    <a:pt x="140" y="238"/>
                    <a:pt x="140" y="239"/>
                  </a:cubicBezTo>
                  <a:cubicBezTo>
                    <a:pt x="140" y="239"/>
                    <a:pt x="140" y="239"/>
                    <a:pt x="140" y="239"/>
                  </a:cubicBezTo>
                  <a:cubicBezTo>
                    <a:pt x="140" y="240"/>
                    <a:pt x="140" y="240"/>
                    <a:pt x="140" y="240"/>
                  </a:cubicBezTo>
                  <a:cubicBezTo>
                    <a:pt x="140" y="240"/>
                    <a:pt x="140" y="241"/>
                    <a:pt x="140" y="241"/>
                  </a:cubicBezTo>
                  <a:cubicBezTo>
                    <a:pt x="140" y="241"/>
                    <a:pt x="140" y="241"/>
                    <a:pt x="140" y="242"/>
                  </a:cubicBezTo>
                  <a:cubicBezTo>
                    <a:pt x="140" y="242"/>
                    <a:pt x="140" y="242"/>
                    <a:pt x="140" y="242"/>
                  </a:cubicBezTo>
                  <a:cubicBezTo>
                    <a:pt x="140" y="242"/>
                    <a:pt x="140" y="243"/>
                    <a:pt x="140" y="243"/>
                  </a:cubicBezTo>
                  <a:cubicBezTo>
                    <a:pt x="140" y="243"/>
                    <a:pt x="141" y="243"/>
                    <a:pt x="141" y="243"/>
                  </a:cubicBezTo>
                  <a:cubicBezTo>
                    <a:pt x="141" y="244"/>
                    <a:pt x="141" y="244"/>
                    <a:pt x="141" y="244"/>
                  </a:cubicBezTo>
                  <a:cubicBezTo>
                    <a:pt x="141" y="246"/>
                    <a:pt x="142" y="249"/>
                    <a:pt x="142" y="251"/>
                  </a:cubicBezTo>
                  <a:cubicBezTo>
                    <a:pt x="142" y="253"/>
                    <a:pt x="143" y="254"/>
                    <a:pt x="144" y="255"/>
                  </a:cubicBezTo>
                  <a:cubicBezTo>
                    <a:pt x="145" y="256"/>
                    <a:pt x="147" y="257"/>
                    <a:pt x="146" y="259"/>
                  </a:cubicBezTo>
                  <a:cubicBezTo>
                    <a:pt x="145" y="261"/>
                    <a:pt x="144" y="262"/>
                    <a:pt x="143" y="262"/>
                  </a:cubicBezTo>
                  <a:cubicBezTo>
                    <a:pt x="143" y="262"/>
                    <a:pt x="143" y="263"/>
                    <a:pt x="144" y="264"/>
                  </a:cubicBezTo>
                  <a:cubicBezTo>
                    <a:pt x="144" y="264"/>
                    <a:pt x="146" y="266"/>
                    <a:pt x="147" y="266"/>
                  </a:cubicBezTo>
                  <a:cubicBezTo>
                    <a:pt x="148" y="266"/>
                    <a:pt x="149" y="266"/>
                    <a:pt x="150" y="267"/>
                  </a:cubicBezTo>
                  <a:cubicBezTo>
                    <a:pt x="151" y="268"/>
                    <a:pt x="151" y="270"/>
                    <a:pt x="151" y="271"/>
                  </a:cubicBezTo>
                  <a:cubicBezTo>
                    <a:pt x="150" y="273"/>
                    <a:pt x="150" y="274"/>
                    <a:pt x="151" y="275"/>
                  </a:cubicBezTo>
                  <a:cubicBezTo>
                    <a:pt x="151" y="276"/>
                    <a:pt x="155" y="279"/>
                    <a:pt x="155" y="281"/>
                  </a:cubicBezTo>
                  <a:cubicBezTo>
                    <a:pt x="155" y="282"/>
                    <a:pt x="156" y="284"/>
                    <a:pt x="157" y="283"/>
                  </a:cubicBezTo>
                  <a:cubicBezTo>
                    <a:pt x="157" y="283"/>
                    <a:pt x="159" y="283"/>
                    <a:pt x="159" y="281"/>
                  </a:cubicBezTo>
                  <a:cubicBezTo>
                    <a:pt x="159" y="280"/>
                    <a:pt x="156" y="276"/>
                    <a:pt x="155" y="276"/>
                  </a:cubicBezTo>
                  <a:cubicBezTo>
                    <a:pt x="155" y="275"/>
                    <a:pt x="157" y="275"/>
                    <a:pt x="156" y="274"/>
                  </a:cubicBezTo>
                  <a:cubicBezTo>
                    <a:pt x="156" y="272"/>
                    <a:pt x="154" y="271"/>
                    <a:pt x="155" y="270"/>
                  </a:cubicBezTo>
                  <a:cubicBezTo>
                    <a:pt x="155" y="270"/>
                    <a:pt x="157" y="270"/>
                    <a:pt x="156" y="269"/>
                  </a:cubicBezTo>
                  <a:cubicBezTo>
                    <a:pt x="154" y="267"/>
                    <a:pt x="154" y="265"/>
                    <a:pt x="153" y="264"/>
                  </a:cubicBezTo>
                  <a:cubicBezTo>
                    <a:pt x="153" y="262"/>
                    <a:pt x="152" y="262"/>
                    <a:pt x="152" y="260"/>
                  </a:cubicBezTo>
                  <a:cubicBezTo>
                    <a:pt x="152" y="258"/>
                    <a:pt x="150" y="255"/>
                    <a:pt x="149" y="255"/>
                  </a:cubicBezTo>
                  <a:cubicBezTo>
                    <a:pt x="148" y="254"/>
                    <a:pt x="146" y="252"/>
                    <a:pt x="147" y="251"/>
                  </a:cubicBezTo>
                  <a:cubicBezTo>
                    <a:pt x="147" y="250"/>
                    <a:pt x="147" y="248"/>
                    <a:pt x="147" y="247"/>
                  </a:cubicBezTo>
                  <a:cubicBezTo>
                    <a:pt x="147" y="246"/>
                    <a:pt x="148" y="245"/>
                    <a:pt x="148" y="244"/>
                  </a:cubicBezTo>
                  <a:cubicBezTo>
                    <a:pt x="148" y="244"/>
                    <a:pt x="149" y="243"/>
                    <a:pt x="149" y="243"/>
                  </a:cubicBezTo>
                  <a:cubicBezTo>
                    <a:pt x="149" y="244"/>
                    <a:pt x="151" y="245"/>
                    <a:pt x="151" y="245"/>
                  </a:cubicBezTo>
                  <a:cubicBezTo>
                    <a:pt x="151" y="245"/>
                    <a:pt x="152" y="245"/>
                    <a:pt x="153" y="246"/>
                  </a:cubicBezTo>
                  <a:cubicBezTo>
                    <a:pt x="154" y="247"/>
                    <a:pt x="155" y="246"/>
                    <a:pt x="154" y="247"/>
                  </a:cubicBezTo>
                  <a:cubicBezTo>
                    <a:pt x="154" y="249"/>
                    <a:pt x="154" y="250"/>
                    <a:pt x="154" y="251"/>
                  </a:cubicBezTo>
                  <a:cubicBezTo>
                    <a:pt x="155" y="251"/>
                    <a:pt x="154" y="254"/>
                    <a:pt x="155" y="254"/>
                  </a:cubicBezTo>
                  <a:cubicBezTo>
                    <a:pt x="155" y="255"/>
                    <a:pt x="155" y="257"/>
                    <a:pt x="156" y="258"/>
                  </a:cubicBezTo>
                  <a:cubicBezTo>
                    <a:pt x="157" y="260"/>
                    <a:pt x="158" y="260"/>
                    <a:pt x="160" y="262"/>
                  </a:cubicBezTo>
                  <a:cubicBezTo>
                    <a:pt x="161" y="263"/>
                    <a:pt x="165" y="267"/>
                    <a:pt x="164" y="267"/>
                  </a:cubicBezTo>
                  <a:cubicBezTo>
                    <a:pt x="164" y="268"/>
                    <a:pt x="163" y="269"/>
                    <a:pt x="164" y="270"/>
                  </a:cubicBezTo>
                  <a:cubicBezTo>
                    <a:pt x="164" y="271"/>
                    <a:pt x="166" y="272"/>
                    <a:pt x="167" y="273"/>
                  </a:cubicBezTo>
                  <a:cubicBezTo>
                    <a:pt x="168" y="274"/>
                    <a:pt x="170" y="276"/>
                    <a:pt x="170" y="277"/>
                  </a:cubicBezTo>
                  <a:cubicBezTo>
                    <a:pt x="169" y="278"/>
                    <a:pt x="170" y="279"/>
                    <a:pt x="171" y="281"/>
                  </a:cubicBezTo>
                  <a:cubicBezTo>
                    <a:pt x="172" y="282"/>
                    <a:pt x="173" y="284"/>
                    <a:pt x="173" y="286"/>
                  </a:cubicBezTo>
                  <a:cubicBezTo>
                    <a:pt x="174" y="287"/>
                    <a:pt x="173" y="291"/>
                    <a:pt x="173" y="292"/>
                  </a:cubicBezTo>
                  <a:cubicBezTo>
                    <a:pt x="172" y="292"/>
                    <a:pt x="170" y="294"/>
                    <a:pt x="170" y="295"/>
                  </a:cubicBezTo>
                  <a:cubicBezTo>
                    <a:pt x="171" y="295"/>
                    <a:pt x="169" y="296"/>
                    <a:pt x="171" y="298"/>
                  </a:cubicBezTo>
                  <a:cubicBezTo>
                    <a:pt x="173" y="300"/>
                    <a:pt x="177" y="303"/>
                    <a:pt x="179" y="304"/>
                  </a:cubicBezTo>
                  <a:cubicBezTo>
                    <a:pt x="181" y="305"/>
                    <a:pt x="183" y="304"/>
                    <a:pt x="184" y="305"/>
                  </a:cubicBezTo>
                  <a:cubicBezTo>
                    <a:pt x="185" y="306"/>
                    <a:pt x="186" y="307"/>
                    <a:pt x="188" y="308"/>
                  </a:cubicBezTo>
                  <a:cubicBezTo>
                    <a:pt x="189" y="308"/>
                    <a:pt x="195" y="310"/>
                    <a:pt x="196" y="311"/>
                  </a:cubicBezTo>
                  <a:cubicBezTo>
                    <a:pt x="197" y="312"/>
                    <a:pt x="198" y="313"/>
                    <a:pt x="200" y="313"/>
                  </a:cubicBezTo>
                  <a:cubicBezTo>
                    <a:pt x="202" y="314"/>
                    <a:pt x="204" y="315"/>
                    <a:pt x="206" y="315"/>
                  </a:cubicBezTo>
                  <a:cubicBezTo>
                    <a:pt x="207" y="314"/>
                    <a:pt x="212" y="311"/>
                    <a:pt x="214" y="312"/>
                  </a:cubicBezTo>
                  <a:cubicBezTo>
                    <a:pt x="216" y="312"/>
                    <a:pt x="217" y="312"/>
                    <a:pt x="217" y="313"/>
                  </a:cubicBezTo>
                  <a:cubicBezTo>
                    <a:pt x="218" y="314"/>
                    <a:pt x="219" y="317"/>
                    <a:pt x="221" y="319"/>
                  </a:cubicBezTo>
                  <a:cubicBezTo>
                    <a:pt x="221" y="319"/>
                    <a:pt x="221" y="319"/>
                    <a:pt x="221" y="320"/>
                  </a:cubicBezTo>
                  <a:cubicBezTo>
                    <a:pt x="222" y="320"/>
                    <a:pt x="222" y="320"/>
                    <a:pt x="222" y="321"/>
                  </a:cubicBezTo>
                  <a:cubicBezTo>
                    <a:pt x="222" y="321"/>
                    <a:pt x="222" y="321"/>
                    <a:pt x="222" y="321"/>
                  </a:cubicBezTo>
                  <a:cubicBezTo>
                    <a:pt x="222" y="321"/>
                    <a:pt x="223" y="321"/>
                    <a:pt x="223" y="321"/>
                  </a:cubicBezTo>
                  <a:cubicBezTo>
                    <a:pt x="223" y="321"/>
                    <a:pt x="223" y="321"/>
                    <a:pt x="223" y="321"/>
                  </a:cubicBezTo>
                  <a:cubicBezTo>
                    <a:pt x="223" y="321"/>
                    <a:pt x="223" y="321"/>
                    <a:pt x="223" y="321"/>
                  </a:cubicBezTo>
                  <a:cubicBezTo>
                    <a:pt x="223" y="321"/>
                    <a:pt x="223" y="321"/>
                    <a:pt x="223" y="321"/>
                  </a:cubicBezTo>
                  <a:cubicBezTo>
                    <a:pt x="224" y="321"/>
                    <a:pt x="224" y="321"/>
                    <a:pt x="224" y="321"/>
                  </a:cubicBezTo>
                  <a:cubicBezTo>
                    <a:pt x="224" y="322"/>
                    <a:pt x="224" y="322"/>
                    <a:pt x="224" y="322"/>
                  </a:cubicBezTo>
                  <a:cubicBezTo>
                    <a:pt x="224" y="322"/>
                    <a:pt x="225" y="322"/>
                    <a:pt x="225" y="322"/>
                  </a:cubicBezTo>
                  <a:cubicBezTo>
                    <a:pt x="226" y="322"/>
                    <a:pt x="227" y="322"/>
                    <a:pt x="227" y="322"/>
                  </a:cubicBezTo>
                  <a:cubicBezTo>
                    <a:pt x="228" y="322"/>
                    <a:pt x="228" y="322"/>
                    <a:pt x="228" y="322"/>
                  </a:cubicBezTo>
                  <a:cubicBezTo>
                    <a:pt x="229" y="322"/>
                    <a:pt x="229" y="322"/>
                    <a:pt x="229" y="322"/>
                  </a:cubicBezTo>
                  <a:cubicBezTo>
                    <a:pt x="229" y="322"/>
                    <a:pt x="230" y="322"/>
                    <a:pt x="230" y="322"/>
                  </a:cubicBezTo>
                  <a:cubicBezTo>
                    <a:pt x="230" y="322"/>
                    <a:pt x="230" y="322"/>
                    <a:pt x="230" y="322"/>
                  </a:cubicBezTo>
                  <a:cubicBezTo>
                    <a:pt x="231" y="323"/>
                    <a:pt x="231" y="323"/>
                    <a:pt x="231" y="323"/>
                  </a:cubicBezTo>
                  <a:cubicBezTo>
                    <a:pt x="232" y="323"/>
                    <a:pt x="236" y="326"/>
                    <a:pt x="237" y="326"/>
                  </a:cubicBezTo>
                  <a:cubicBezTo>
                    <a:pt x="238" y="326"/>
                    <a:pt x="238" y="326"/>
                    <a:pt x="238" y="326"/>
                  </a:cubicBezTo>
                  <a:cubicBezTo>
                    <a:pt x="238" y="326"/>
                    <a:pt x="238" y="326"/>
                    <a:pt x="238" y="326"/>
                  </a:cubicBezTo>
                  <a:cubicBezTo>
                    <a:pt x="239" y="326"/>
                    <a:pt x="239" y="326"/>
                    <a:pt x="239" y="326"/>
                  </a:cubicBezTo>
                  <a:cubicBezTo>
                    <a:pt x="239" y="326"/>
                    <a:pt x="239" y="326"/>
                    <a:pt x="240" y="326"/>
                  </a:cubicBezTo>
                  <a:cubicBezTo>
                    <a:pt x="240" y="326"/>
                    <a:pt x="240" y="326"/>
                    <a:pt x="240" y="326"/>
                  </a:cubicBezTo>
                  <a:cubicBezTo>
                    <a:pt x="240" y="326"/>
                    <a:pt x="240" y="326"/>
                    <a:pt x="240" y="326"/>
                  </a:cubicBezTo>
                  <a:cubicBezTo>
                    <a:pt x="240" y="326"/>
                    <a:pt x="240" y="326"/>
                    <a:pt x="241" y="326"/>
                  </a:cubicBezTo>
                  <a:cubicBezTo>
                    <a:pt x="241" y="326"/>
                    <a:pt x="241" y="326"/>
                    <a:pt x="241" y="326"/>
                  </a:cubicBezTo>
                  <a:cubicBezTo>
                    <a:pt x="241" y="326"/>
                    <a:pt x="241" y="326"/>
                    <a:pt x="241" y="326"/>
                  </a:cubicBezTo>
                  <a:cubicBezTo>
                    <a:pt x="241" y="326"/>
                    <a:pt x="241" y="326"/>
                    <a:pt x="241" y="326"/>
                  </a:cubicBezTo>
                  <a:cubicBezTo>
                    <a:pt x="241" y="326"/>
                    <a:pt x="241" y="326"/>
                    <a:pt x="241" y="326"/>
                  </a:cubicBezTo>
                  <a:cubicBezTo>
                    <a:pt x="241" y="326"/>
                    <a:pt x="241" y="326"/>
                    <a:pt x="240" y="327"/>
                  </a:cubicBezTo>
                  <a:cubicBezTo>
                    <a:pt x="240" y="327"/>
                    <a:pt x="240" y="327"/>
                    <a:pt x="240" y="327"/>
                  </a:cubicBezTo>
                  <a:cubicBezTo>
                    <a:pt x="240" y="327"/>
                    <a:pt x="240" y="327"/>
                    <a:pt x="240" y="327"/>
                  </a:cubicBezTo>
                  <a:cubicBezTo>
                    <a:pt x="240" y="327"/>
                    <a:pt x="240" y="327"/>
                    <a:pt x="240" y="327"/>
                  </a:cubicBezTo>
                  <a:cubicBezTo>
                    <a:pt x="240" y="327"/>
                    <a:pt x="240" y="328"/>
                    <a:pt x="240" y="328"/>
                  </a:cubicBezTo>
                  <a:cubicBezTo>
                    <a:pt x="240" y="328"/>
                    <a:pt x="240" y="328"/>
                    <a:pt x="240" y="328"/>
                  </a:cubicBezTo>
                  <a:cubicBezTo>
                    <a:pt x="240" y="329"/>
                    <a:pt x="243" y="330"/>
                    <a:pt x="243" y="331"/>
                  </a:cubicBezTo>
                  <a:cubicBezTo>
                    <a:pt x="244" y="332"/>
                    <a:pt x="244" y="333"/>
                    <a:pt x="245" y="333"/>
                  </a:cubicBezTo>
                  <a:cubicBezTo>
                    <a:pt x="245" y="334"/>
                    <a:pt x="245" y="334"/>
                    <a:pt x="246" y="334"/>
                  </a:cubicBezTo>
                  <a:cubicBezTo>
                    <a:pt x="246" y="334"/>
                    <a:pt x="246" y="334"/>
                    <a:pt x="246" y="334"/>
                  </a:cubicBezTo>
                  <a:cubicBezTo>
                    <a:pt x="246" y="335"/>
                    <a:pt x="246" y="335"/>
                    <a:pt x="246" y="335"/>
                  </a:cubicBezTo>
                  <a:cubicBezTo>
                    <a:pt x="246" y="335"/>
                    <a:pt x="246" y="335"/>
                    <a:pt x="246" y="335"/>
                  </a:cubicBezTo>
                  <a:cubicBezTo>
                    <a:pt x="246" y="336"/>
                    <a:pt x="246" y="336"/>
                    <a:pt x="246" y="337"/>
                  </a:cubicBezTo>
                  <a:cubicBezTo>
                    <a:pt x="246" y="338"/>
                    <a:pt x="245" y="339"/>
                    <a:pt x="246" y="340"/>
                  </a:cubicBezTo>
                  <a:cubicBezTo>
                    <a:pt x="247" y="341"/>
                    <a:pt x="248" y="342"/>
                    <a:pt x="249" y="341"/>
                  </a:cubicBezTo>
                  <a:cubicBezTo>
                    <a:pt x="249" y="340"/>
                    <a:pt x="249" y="340"/>
                    <a:pt x="249" y="341"/>
                  </a:cubicBezTo>
                  <a:cubicBezTo>
                    <a:pt x="250" y="342"/>
                    <a:pt x="249" y="343"/>
                    <a:pt x="251" y="343"/>
                  </a:cubicBezTo>
                  <a:cubicBezTo>
                    <a:pt x="253" y="344"/>
                    <a:pt x="252" y="345"/>
                    <a:pt x="253" y="346"/>
                  </a:cubicBezTo>
                  <a:cubicBezTo>
                    <a:pt x="253" y="346"/>
                    <a:pt x="253" y="346"/>
                    <a:pt x="253" y="346"/>
                  </a:cubicBezTo>
                  <a:cubicBezTo>
                    <a:pt x="253" y="346"/>
                    <a:pt x="253" y="346"/>
                    <a:pt x="254" y="346"/>
                  </a:cubicBezTo>
                  <a:cubicBezTo>
                    <a:pt x="254" y="346"/>
                    <a:pt x="254" y="347"/>
                    <a:pt x="255" y="347"/>
                  </a:cubicBezTo>
                  <a:cubicBezTo>
                    <a:pt x="255" y="347"/>
                    <a:pt x="255" y="347"/>
                    <a:pt x="255" y="347"/>
                  </a:cubicBezTo>
                  <a:cubicBezTo>
                    <a:pt x="255" y="347"/>
                    <a:pt x="255" y="347"/>
                    <a:pt x="255" y="347"/>
                  </a:cubicBezTo>
                  <a:cubicBezTo>
                    <a:pt x="256" y="347"/>
                    <a:pt x="256" y="347"/>
                    <a:pt x="256" y="347"/>
                  </a:cubicBezTo>
                  <a:cubicBezTo>
                    <a:pt x="257" y="348"/>
                    <a:pt x="259" y="347"/>
                    <a:pt x="260" y="348"/>
                  </a:cubicBezTo>
                  <a:cubicBezTo>
                    <a:pt x="262" y="349"/>
                    <a:pt x="261" y="351"/>
                    <a:pt x="263" y="351"/>
                  </a:cubicBezTo>
                  <a:cubicBezTo>
                    <a:pt x="265" y="351"/>
                    <a:pt x="268" y="351"/>
                    <a:pt x="268" y="351"/>
                  </a:cubicBezTo>
                  <a:cubicBezTo>
                    <a:pt x="268" y="350"/>
                    <a:pt x="267" y="348"/>
                    <a:pt x="268" y="348"/>
                  </a:cubicBezTo>
                  <a:cubicBezTo>
                    <a:pt x="269" y="347"/>
                    <a:pt x="270" y="346"/>
                    <a:pt x="271" y="345"/>
                  </a:cubicBezTo>
                  <a:cubicBezTo>
                    <a:pt x="271" y="345"/>
                    <a:pt x="274" y="344"/>
                    <a:pt x="274" y="345"/>
                  </a:cubicBezTo>
                  <a:cubicBezTo>
                    <a:pt x="275" y="345"/>
                    <a:pt x="277" y="346"/>
                    <a:pt x="277" y="348"/>
                  </a:cubicBezTo>
                  <a:cubicBezTo>
                    <a:pt x="277" y="349"/>
                    <a:pt x="277" y="352"/>
                    <a:pt x="278" y="353"/>
                  </a:cubicBezTo>
                  <a:cubicBezTo>
                    <a:pt x="278" y="353"/>
                    <a:pt x="278" y="353"/>
                    <a:pt x="278" y="353"/>
                  </a:cubicBezTo>
                  <a:cubicBezTo>
                    <a:pt x="278" y="354"/>
                    <a:pt x="279" y="354"/>
                    <a:pt x="279" y="354"/>
                  </a:cubicBezTo>
                  <a:cubicBezTo>
                    <a:pt x="279" y="354"/>
                    <a:pt x="279" y="354"/>
                    <a:pt x="279" y="354"/>
                  </a:cubicBezTo>
                  <a:cubicBezTo>
                    <a:pt x="279" y="354"/>
                    <a:pt x="279" y="354"/>
                    <a:pt x="279" y="355"/>
                  </a:cubicBezTo>
                  <a:cubicBezTo>
                    <a:pt x="279" y="355"/>
                    <a:pt x="279" y="355"/>
                    <a:pt x="279" y="355"/>
                  </a:cubicBezTo>
                  <a:cubicBezTo>
                    <a:pt x="279" y="355"/>
                    <a:pt x="279" y="355"/>
                    <a:pt x="279" y="356"/>
                  </a:cubicBezTo>
                  <a:cubicBezTo>
                    <a:pt x="279" y="356"/>
                    <a:pt x="279" y="356"/>
                    <a:pt x="278" y="357"/>
                  </a:cubicBezTo>
                  <a:cubicBezTo>
                    <a:pt x="278" y="359"/>
                    <a:pt x="279" y="360"/>
                    <a:pt x="278" y="360"/>
                  </a:cubicBezTo>
                  <a:cubicBezTo>
                    <a:pt x="277" y="361"/>
                    <a:pt x="277" y="362"/>
                    <a:pt x="277" y="363"/>
                  </a:cubicBezTo>
                  <a:cubicBezTo>
                    <a:pt x="277" y="363"/>
                    <a:pt x="276" y="364"/>
                    <a:pt x="276" y="366"/>
                  </a:cubicBezTo>
                  <a:cubicBezTo>
                    <a:pt x="276" y="367"/>
                    <a:pt x="277" y="368"/>
                    <a:pt x="276" y="369"/>
                  </a:cubicBezTo>
                  <a:cubicBezTo>
                    <a:pt x="275" y="370"/>
                    <a:pt x="274" y="372"/>
                    <a:pt x="272" y="372"/>
                  </a:cubicBezTo>
                  <a:cubicBezTo>
                    <a:pt x="271" y="372"/>
                    <a:pt x="270" y="373"/>
                    <a:pt x="269" y="373"/>
                  </a:cubicBezTo>
                  <a:cubicBezTo>
                    <a:pt x="269" y="373"/>
                    <a:pt x="269" y="376"/>
                    <a:pt x="267" y="377"/>
                  </a:cubicBezTo>
                  <a:cubicBezTo>
                    <a:pt x="267" y="378"/>
                    <a:pt x="266" y="378"/>
                    <a:pt x="266" y="378"/>
                  </a:cubicBezTo>
                  <a:cubicBezTo>
                    <a:pt x="266" y="379"/>
                    <a:pt x="265" y="379"/>
                    <a:pt x="265" y="379"/>
                  </a:cubicBezTo>
                  <a:cubicBezTo>
                    <a:pt x="265" y="380"/>
                    <a:pt x="265" y="380"/>
                    <a:pt x="265" y="380"/>
                  </a:cubicBezTo>
                  <a:cubicBezTo>
                    <a:pt x="264" y="380"/>
                    <a:pt x="264" y="380"/>
                    <a:pt x="263" y="381"/>
                  </a:cubicBezTo>
                  <a:cubicBezTo>
                    <a:pt x="262" y="381"/>
                    <a:pt x="260" y="382"/>
                    <a:pt x="259" y="384"/>
                  </a:cubicBezTo>
                  <a:cubicBezTo>
                    <a:pt x="258" y="386"/>
                    <a:pt x="259" y="386"/>
                    <a:pt x="257" y="386"/>
                  </a:cubicBezTo>
                  <a:cubicBezTo>
                    <a:pt x="256" y="387"/>
                    <a:pt x="254" y="389"/>
                    <a:pt x="254" y="390"/>
                  </a:cubicBezTo>
                  <a:cubicBezTo>
                    <a:pt x="254" y="391"/>
                    <a:pt x="252" y="395"/>
                    <a:pt x="253" y="396"/>
                  </a:cubicBezTo>
                  <a:cubicBezTo>
                    <a:pt x="254" y="397"/>
                    <a:pt x="253" y="398"/>
                    <a:pt x="253" y="398"/>
                  </a:cubicBezTo>
                  <a:cubicBezTo>
                    <a:pt x="253" y="398"/>
                    <a:pt x="253" y="398"/>
                    <a:pt x="253" y="399"/>
                  </a:cubicBezTo>
                  <a:cubicBezTo>
                    <a:pt x="253" y="399"/>
                    <a:pt x="252" y="399"/>
                    <a:pt x="252" y="399"/>
                  </a:cubicBezTo>
                  <a:cubicBezTo>
                    <a:pt x="252" y="399"/>
                    <a:pt x="252" y="399"/>
                    <a:pt x="252" y="399"/>
                  </a:cubicBezTo>
                  <a:cubicBezTo>
                    <a:pt x="252" y="399"/>
                    <a:pt x="252" y="399"/>
                    <a:pt x="252" y="399"/>
                  </a:cubicBezTo>
                  <a:cubicBezTo>
                    <a:pt x="251" y="399"/>
                    <a:pt x="251" y="399"/>
                    <a:pt x="251" y="399"/>
                  </a:cubicBezTo>
                  <a:cubicBezTo>
                    <a:pt x="251" y="400"/>
                    <a:pt x="251" y="400"/>
                    <a:pt x="251" y="400"/>
                  </a:cubicBezTo>
                  <a:cubicBezTo>
                    <a:pt x="250" y="400"/>
                    <a:pt x="250" y="400"/>
                    <a:pt x="250" y="400"/>
                  </a:cubicBezTo>
                  <a:cubicBezTo>
                    <a:pt x="250" y="400"/>
                    <a:pt x="249" y="401"/>
                    <a:pt x="249" y="401"/>
                  </a:cubicBezTo>
                  <a:cubicBezTo>
                    <a:pt x="248" y="402"/>
                    <a:pt x="246" y="403"/>
                    <a:pt x="247" y="404"/>
                  </a:cubicBezTo>
                  <a:cubicBezTo>
                    <a:pt x="248" y="405"/>
                    <a:pt x="249" y="406"/>
                    <a:pt x="248" y="406"/>
                  </a:cubicBezTo>
                  <a:cubicBezTo>
                    <a:pt x="247" y="407"/>
                    <a:pt x="246" y="408"/>
                    <a:pt x="247" y="408"/>
                  </a:cubicBezTo>
                  <a:cubicBezTo>
                    <a:pt x="249" y="409"/>
                    <a:pt x="252" y="411"/>
                    <a:pt x="253" y="413"/>
                  </a:cubicBezTo>
                  <a:cubicBezTo>
                    <a:pt x="253" y="414"/>
                    <a:pt x="252" y="414"/>
                    <a:pt x="253" y="416"/>
                  </a:cubicBezTo>
                  <a:cubicBezTo>
                    <a:pt x="254" y="417"/>
                    <a:pt x="255" y="420"/>
                    <a:pt x="255" y="421"/>
                  </a:cubicBezTo>
                  <a:cubicBezTo>
                    <a:pt x="255" y="422"/>
                    <a:pt x="258" y="431"/>
                    <a:pt x="258" y="433"/>
                  </a:cubicBezTo>
                  <a:cubicBezTo>
                    <a:pt x="259" y="435"/>
                    <a:pt x="261" y="436"/>
                    <a:pt x="261" y="439"/>
                  </a:cubicBezTo>
                  <a:cubicBezTo>
                    <a:pt x="260" y="441"/>
                    <a:pt x="259" y="443"/>
                    <a:pt x="260" y="446"/>
                  </a:cubicBezTo>
                  <a:cubicBezTo>
                    <a:pt x="260" y="449"/>
                    <a:pt x="260" y="452"/>
                    <a:pt x="261" y="453"/>
                  </a:cubicBezTo>
                  <a:cubicBezTo>
                    <a:pt x="263" y="454"/>
                    <a:pt x="264" y="457"/>
                    <a:pt x="265" y="458"/>
                  </a:cubicBezTo>
                  <a:cubicBezTo>
                    <a:pt x="266" y="459"/>
                    <a:pt x="270" y="462"/>
                    <a:pt x="271" y="462"/>
                  </a:cubicBezTo>
                  <a:cubicBezTo>
                    <a:pt x="273" y="463"/>
                    <a:pt x="277" y="466"/>
                    <a:pt x="278" y="467"/>
                  </a:cubicBezTo>
                  <a:cubicBezTo>
                    <a:pt x="278" y="468"/>
                    <a:pt x="281" y="469"/>
                    <a:pt x="281" y="471"/>
                  </a:cubicBezTo>
                  <a:cubicBezTo>
                    <a:pt x="281" y="471"/>
                    <a:pt x="281" y="472"/>
                    <a:pt x="282" y="473"/>
                  </a:cubicBezTo>
                  <a:cubicBezTo>
                    <a:pt x="282" y="473"/>
                    <a:pt x="282" y="473"/>
                    <a:pt x="282" y="474"/>
                  </a:cubicBezTo>
                  <a:cubicBezTo>
                    <a:pt x="282" y="474"/>
                    <a:pt x="282" y="474"/>
                    <a:pt x="282" y="474"/>
                  </a:cubicBezTo>
                  <a:cubicBezTo>
                    <a:pt x="282" y="474"/>
                    <a:pt x="282" y="475"/>
                    <a:pt x="282" y="475"/>
                  </a:cubicBezTo>
                  <a:cubicBezTo>
                    <a:pt x="282" y="475"/>
                    <a:pt x="282" y="475"/>
                    <a:pt x="282" y="475"/>
                  </a:cubicBezTo>
                  <a:cubicBezTo>
                    <a:pt x="282" y="476"/>
                    <a:pt x="282" y="476"/>
                    <a:pt x="281" y="477"/>
                  </a:cubicBezTo>
                  <a:cubicBezTo>
                    <a:pt x="280" y="478"/>
                    <a:pt x="279" y="480"/>
                    <a:pt x="279" y="482"/>
                  </a:cubicBezTo>
                  <a:cubicBezTo>
                    <a:pt x="279" y="483"/>
                    <a:pt x="280" y="484"/>
                    <a:pt x="279" y="487"/>
                  </a:cubicBezTo>
                  <a:cubicBezTo>
                    <a:pt x="278" y="489"/>
                    <a:pt x="277" y="495"/>
                    <a:pt x="276" y="496"/>
                  </a:cubicBezTo>
                  <a:cubicBezTo>
                    <a:pt x="275" y="496"/>
                    <a:pt x="273" y="497"/>
                    <a:pt x="273" y="498"/>
                  </a:cubicBezTo>
                  <a:cubicBezTo>
                    <a:pt x="274" y="500"/>
                    <a:pt x="274" y="502"/>
                    <a:pt x="273" y="505"/>
                  </a:cubicBezTo>
                  <a:cubicBezTo>
                    <a:pt x="272" y="507"/>
                    <a:pt x="271" y="510"/>
                    <a:pt x="270" y="512"/>
                  </a:cubicBezTo>
                  <a:cubicBezTo>
                    <a:pt x="270" y="513"/>
                    <a:pt x="268" y="519"/>
                    <a:pt x="267" y="520"/>
                  </a:cubicBezTo>
                  <a:cubicBezTo>
                    <a:pt x="267" y="521"/>
                    <a:pt x="266" y="526"/>
                    <a:pt x="265" y="527"/>
                  </a:cubicBezTo>
                  <a:cubicBezTo>
                    <a:pt x="264" y="527"/>
                    <a:pt x="261" y="531"/>
                    <a:pt x="262" y="533"/>
                  </a:cubicBezTo>
                  <a:cubicBezTo>
                    <a:pt x="262" y="534"/>
                    <a:pt x="262" y="534"/>
                    <a:pt x="261" y="536"/>
                  </a:cubicBezTo>
                  <a:cubicBezTo>
                    <a:pt x="260" y="538"/>
                    <a:pt x="259" y="544"/>
                    <a:pt x="259" y="546"/>
                  </a:cubicBezTo>
                  <a:cubicBezTo>
                    <a:pt x="259" y="549"/>
                    <a:pt x="258" y="553"/>
                    <a:pt x="257" y="555"/>
                  </a:cubicBezTo>
                  <a:cubicBezTo>
                    <a:pt x="256" y="557"/>
                    <a:pt x="254" y="559"/>
                    <a:pt x="254" y="560"/>
                  </a:cubicBezTo>
                  <a:cubicBezTo>
                    <a:pt x="253" y="562"/>
                    <a:pt x="249" y="569"/>
                    <a:pt x="247" y="572"/>
                  </a:cubicBezTo>
                  <a:cubicBezTo>
                    <a:pt x="245" y="574"/>
                    <a:pt x="244" y="578"/>
                    <a:pt x="242" y="580"/>
                  </a:cubicBezTo>
                  <a:cubicBezTo>
                    <a:pt x="241" y="582"/>
                    <a:pt x="239" y="583"/>
                    <a:pt x="240" y="585"/>
                  </a:cubicBezTo>
                  <a:cubicBezTo>
                    <a:pt x="240" y="587"/>
                    <a:pt x="241" y="588"/>
                    <a:pt x="240" y="590"/>
                  </a:cubicBezTo>
                  <a:cubicBezTo>
                    <a:pt x="239" y="592"/>
                    <a:pt x="240" y="592"/>
                    <a:pt x="239" y="595"/>
                  </a:cubicBezTo>
                  <a:cubicBezTo>
                    <a:pt x="238" y="598"/>
                    <a:pt x="238" y="598"/>
                    <a:pt x="236" y="601"/>
                  </a:cubicBezTo>
                  <a:cubicBezTo>
                    <a:pt x="235" y="604"/>
                    <a:pt x="234" y="607"/>
                    <a:pt x="233" y="610"/>
                  </a:cubicBezTo>
                  <a:cubicBezTo>
                    <a:pt x="233" y="612"/>
                    <a:pt x="233" y="615"/>
                    <a:pt x="232" y="615"/>
                  </a:cubicBezTo>
                  <a:cubicBezTo>
                    <a:pt x="232" y="615"/>
                    <a:pt x="230" y="619"/>
                    <a:pt x="229" y="620"/>
                  </a:cubicBezTo>
                  <a:cubicBezTo>
                    <a:pt x="229" y="622"/>
                    <a:pt x="229" y="625"/>
                    <a:pt x="229" y="625"/>
                  </a:cubicBezTo>
                  <a:cubicBezTo>
                    <a:pt x="230" y="625"/>
                    <a:pt x="232" y="621"/>
                    <a:pt x="233" y="620"/>
                  </a:cubicBezTo>
                  <a:cubicBezTo>
                    <a:pt x="233" y="619"/>
                    <a:pt x="235" y="618"/>
                    <a:pt x="235" y="616"/>
                  </a:cubicBezTo>
                  <a:cubicBezTo>
                    <a:pt x="235" y="615"/>
                    <a:pt x="235" y="613"/>
                    <a:pt x="236" y="614"/>
                  </a:cubicBezTo>
                  <a:cubicBezTo>
                    <a:pt x="236" y="615"/>
                    <a:pt x="238" y="613"/>
                    <a:pt x="237" y="615"/>
                  </a:cubicBezTo>
                  <a:cubicBezTo>
                    <a:pt x="237" y="618"/>
                    <a:pt x="237" y="618"/>
                    <a:pt x="235" y="621"/>
                  </a:cubicBezTo>
                  <a:cubicBezTo>
                    <a:pt x="234" y="624"/>
                    <a:pt x="234" y="628"/>
                    <a:pt x="234" y="628"/>
                  </a:cubicBezTo>
                  <a:cubicBezTo>
                    <a:pt x="233" y="629"/>
                    <a:pt x="232" y="630"/>
                    <a:pt x="232" y="631"/>
                  </a:cubicBezTo>
                  <a:cubicBezTo>
                    <a:pt x="232" y="632"/>
                    <a:pt x="233" y="634"/>
                    <a:pt x="232" y="635"/>
                  </a:cubicBezTo>
                  <a:cubicBezTo>
                    <a:pt x="232" y="635"/>
                    <a:pt x="231" y="638"/>
                    <a:pt x="230" y="638"/>
                  </a:cubicBezTo>
                  <a:cubicBezTo>
                    <a:pt x="229" y="638"/>
                    <a:pt x="228" y="639"/>
                    <a:pt x="229" y="641"/>
                  </a:cubicBezTo>
                  <a:cubicBezTo>
                    <a:pt x="230" y="642"/>
                    <a:pt x="230" y="642"/>
                    <a:pt x="229" y="643"/>
                  </a:cubicBezTo>
                  <a:cubicBezTo>
                    <a:pt x="227" y="644"/>
                    <a:pt x="226" y="647"/>
                    <a:pt x="226" y="647"/>
                  </a:cubicBezTo>
                  <a:cubicBezTo>
                    <a:pt x="226" y="647"/>
                    <a:pt x="225" y="649"/>
                    <a:pt x="224" y="648"/>
                  </a:cubicBezTo>
                  <a:cubicBezTo>
                    <a:pt x="223" y="647"/>
                    <a:pt x="222" y="648"/>
                    <a:pt x="222" y="647"/>
                  </a:cubicBezTo>
                  <a:cubicBezTo>
                    <a:pt x="221" y="646"/>
                    <a:pt x="220" y="645"/>
                    <a:pt x="219" y="646"/>
                  </a:cubicBezTo>
                  <a:cubicBezTo>
                    <a:pt x="218" y="647"/>
                    <a:pt x="219" y="649"/>
                    <a:pt x="218" y="649"/>
                  </a:cubicBezTo>
                  <a:cubicBezTo>
                    <a:pt x="217" y="650"/>
                    <a:pt x="214" y="657"/>
                    <a:pt x="215" y="656"/>
                  </a:cubicBezTo>
                  <a:cubicBezTo>
                    <a:pt x="216" y="654"/>
                    <a:pt x="218" y="653"/>
                    <a:pt x="218" y="655"/>
                  </a:cubicBezTo>
                  <a:cubicBezTo>
                    <a:pt x="218" y="656"/>
                    <a:pt x="218" y="658"/>
                    <a:pt x="218" y="660"/>
                  </a:cubicBezTo>
                  <a:cubicBezTo>
                    <a:pt x="218" y="661"/>
                    <a:pt x="218" y="663"/>
                    <a:pt x="219" y="663"/>
                  </a:cubicBezTo>
                  <a:cubicBezTo>
                    <a:pt x="220" y="664"/>
                    <a:pt x="223" y="664"/>
                    <a:pt x="222" y="665"/>
                  </a:cubicBezTo>
                  <a:cubicBezTo>
                    <a:pt x="221" y="666"/>
                    <a:pt x="220" y="664"/>
                    <a:pt x="218" y="665"/>
                  </a:cubicBezTo>
                  <a:cubicBezTo>
                    <a:pt x="216" y="666"/>
                    <a:pt x="217" y="668"/>
                    <a:pt x="217" y="669"/>
                  </a:cubicBezTo>
                  <a:cubicBezTo>
                    <a:pt x="217" y="670"/>
                    <a:pt x="216" y="672"/>
                    <a:pt x="215" y="673"/>
                  </a:cubicBezTo>
                  <a:cubicBezTo>
                    <a:pt x="215" y="673"/>
                    <a:pt x="214" y="676"/>
                    <a:pt x="215" y="677"/>
                  </a:cubicBezTo>
                  <a:cubicBezTo>
                    <a:pt x="216" y="677"/>
                    <a:pt x="217" y="678"/>
                    <a:pt x="215" y="679"/>
                  </a:cubicBezTo>
                  <a:cubicBezTo>
                    <a:pt x="213" y="680"/>
                    <a:pt x="213" y="681"/>
                    <a:pt x="214" y="683"/>
                  </a:cubicBezTo>
                  <a:cubicBezTo>
                    <a:pt x="214" y="685"/>
                    <a:pt x="214" y="686"/>
                    <a:pt x="213" y="687"/>
                  </a:cubicBezTo>
                  <a:cubicBezTo>
                    <a:pt x="211" y="687"/>
                    <a:pt x="212" y="691"/>
                    <a:pt x="212" y="691"/>
                  </a:cubicBezTo>
                  <a:cubicBezTo>
                    <a:pt x="211" y="692"/>
                    <a:pt x="211" y="693"/>
                    <a:pt x="211" y="694"/>
                  </a:cubicBezTo>
                  <a:cubicBezTo>
                    <a:pt x="212" y="696"/>
                    <a:pt x="212" y="697"/>
                    <a:pt x="211" y="698"/>
                  </a:cubicBezTo>
                  <a:cubicBezTo>
                    <a:pt x="209" y="699"/>
                    <a:pt x="210" y="702"/>
                    <a:pt x="209" y="702"/>
                  </a:cubicBezTo>
                  <a:cubicBezTo>
                    <a:pt x="208" y="703"/>
                    <a:pt x="210" y="703"/>
                    <a:pt x="209" y="705"/>
                  </a:cubicBezTo>
                  <a:cubicBezTo>
                    <a:pt x="208" y="706"/>
                    <a:pt x="208" y="710"/>
                    <a:pt x="209" y="709"/>
                  </a:cubicBezTo>
                  <a:cubicBezTo>
                    <a:pt x="210" y="708"/>
                    <a:pt x="212" y="705"/>
                    <a:pt x="213" y="704"/>
                  </a:cubicBezTo>
                  <a:cubicBezTo>
                    <a:pt x="213" y="704"/>
                    <a:pt x="211" y="707"/>
                    <a:pt x="211" y="709"/>
                  </a:cubicBezTo>
                  <a:cubicBezTo>
                    <a:pt x="210" y="710"/>
                    <a:pt x="209" y="713"/>
                    <a:pt x="210" y="713"/>
                  </a:cubicBezTo>
                  <a:cubicBezTo>
                    <a:pt x="211" y="714"/>
                    <a:pt x="214" y="713"/>
                    <a:pt x="213" y="714"/>
                  </a:cubicBezTo>
                  <a:cubicBezTo>
                    <a:pt x="211" y="716"/>
                    <a:pt x="214" y="714"/>
                    <a:pt x="216" y="713"/>
                  </a:cubicBezTo>
                  <a:cubicBezTo>
                    <a:pt x="218" y="711"/>
                    <a:pt x="221" y="708"/>
                    <a:pt x="222" y="710"/>
                  </a:cubicBezTo>
                  <a:cubicBezTo>
                    <a:pt x="222" y="711"/>
                    <a:pt x="219" y="713"/>
                    <a:pt x="221" y="713"/>
                  </a:cubicBezTo>
                  <a:cubicBezTo>
                    <a:pt x="223" y="713"/>
                    <a:pt x="224" y="713"/>
                    <a:pt x="225" y="711"/>
                  </a:cubicBezTo>
                  <a:cubicBezTo>
                    <a:pt x="226" y="709"/>
                    <a:pt x="228" y="708"/>
                    <a:pt x="230" y="708"/>
                  </a:cubicBezTo>
                  <a:cubicBezTo>
                    <a:pt x="232" y="707"/>
                    <a:pt x="233" y="706"/>
                    <a:pt x="234" y="705"/>
                  </a:cubicBezTo>
                  <a:cubicBezTo>
                    <a:pt x="234" y="705"/>
                    <a:pt x="234" y="705"/>
                    <a:pt x="235" y="705"/>
                  </a:cubicBezTo>
                  <a:cubicBezTo>
                    <a:pt x="235" y="704"/>
                    <a:pt x="235" y="704"/>
                    <a:pt x="235" y="704"/>
                  </a:cubicBezTo>
                  <a:cubicBezTo>
                    <a:pt x="235" y="704"/>
                    <a:pt x="235" y="704"/>
                    <a:pt x="235" y="704"/>
                  </a:cubicBezTo>
                  <a:cubicBezTo>
                    <a:pt x="236" y="704"/>
                    <a:pt x="236" y="704"/>
                    <a:pt x="236" y="704"/>
                  </a:cubicBezTo>
                  <a:cubicBezTo>
                    <a:pt x="236" y="704"/>
                    <a:pt x="236" y="704"/>
                    <a:pt x="236" y="705"/>
                  </a:cubicBezTo>
                  <a:cubicBezTo>
                    <a:pt x="237" y="705"/>
                    <a:pt x="237" y="705"/>
                    <a:pt x="237" y="705"/>
                  </a:cubicBezTo>
                  <a:cubicBezTo>
                    <a:pt x="237" y="705"/>
                    <a:pt x="237" y="705"/>
                    <a:pt x="237" y="705"/>
                  </a:cubicBezTo>
                  <a:cubicBezTo>
                    <a:pt x="237" y="705"/>
                    <a:pt x="238" y="706"/>
                    <a:pt x="238" y="706"/>
                  </a:cubicBezTo>
                  <a:cubicBezTo>
                    <a:pt x="238" y="706"/>
                    <a:pt x="238" y="706"/>
                    <a:pt x="238" y="706"/>
                  </a:cubicBezTo>
                  <a:cubicBezTo>
                    <a:pt x="238" y="706"/>
                    <a:pt x="238" y="706"/>
                    <a:pt x="238" y="706"/>
                  </a:cubicBezTo>
                  <a:cubicBezTo>
                    <a:pt x="238" y="706"/>
                    <a:pt x="238" y="706"/>
                    <a:pt x="238" y="706"/>
                  </a:cubicBezTo>
                  <a:cubicBezTo>
                    <a:pt x="238" y="706"/>
                    <a:pt x="238" y="706"/>
                    <a:pt x="238" y="706"/>
                  </a:cubicBezTo>
                  <a:cubicBezTo>
                    <a:pt x="238" y="706"/>
                    <a:pt x="238" y="706"/>
                    <a:pt x="238" y="706"/>
                  </a:cubicBezTo>
                  <a:cubicBezTo>
                    <a:pt x="238" y="706"/>
                    <a:pt x="238" y="706"/>
                    <a:pt x="238" y="706"/>
                  </a:cubicBezTo>
                  <a:cubicBezTo>
                    <a:pt x="239" y="706"/>
                    <a:pt x="239" y="706"/>
                    <a:pt x="239" y="706"/>
                  </a:cubicBezTo>
                  <a:cubicBezTo>
                    <a:pt x="239" y="706"/>
                    <a:pt x="239" y="706"/>
                    <a:pt x="239" y="705"/>
                  </a:cubicBezTo>
                  <a:cubicBezTo>
                    <a:pt x="239" y="705"/>
                    <a:pt x="239" y="705"/>
                    <a:pt x="238" y="705"/>
                  </a:cubicBezTo>
                  <a:cubicBezTo>
                    <a:pt x="238" y="702"/>
                    <a:pt x="238" y="700"/>
                    <a:pt x="238" y="699"/>
                  </a:cubicBezTo>
                  <a:cubicBezTo>
                    <a:pt x="239" y="697"/>
                    <a:pt x="237" y="694"/>
                    <a:pt x="238" y="693"/>
                  </a:cubicBezTo>
                  <a:cubicBezTo>
                    <a:pt x="239" y="691"/>
                    <a:pt x="241" y="693"/>
                    <a:pt x="241" y="691"/>
                  </a:cubicBezTo>
                  <a:cubicBezTo>
                    <a:pt x="241" y="689"/>
                    <a:pt x="240" y="688"/>
                    <a:pt x="241" y="688"/>
                  </a:cubicBezTo>
                  <a:cubicBezTo>
                    <a:pt x="242" y="687"/>
                    <a:pt x="241" y="689"/>
                    <a:pt x="243" y="688"/>
                  </a:cubicBezTo>
                  <a:cubicBezTo>
                    <a:pt x="245" y="688"/>
                    <a:pt x="245" y="686"/>
                    <a:pt x="246" y="685"/>
                  </a:cubicBezTo>
                  <a:cubicBezTo>
                    <a:pt x="248" y="684"/>
                    <a:pt x="250" y="680"/>
                    <a:pt x="250" y="677"/>
                  </a:cubicBezTo>
                  <a:cubicBezTo>
                    <a:pt x="250" y="675"/>
                    <a:pt x="254" y="670"/>
                    <a:pt x="256" y="669"/>
                  </a:cubicBezTo>
                  <a:cubicBezTo>
                    <a:pt x="258" y="669"/>
                    <a:pt x="260" y="667"/>
                    <a:pt x="261" y="666"/>
                  </a:cubicBezTo>
                  <a:cubicBezTo>
                    <a:pt x="262" y="666"/>
                    <a:pt x="264" y="659"/>
                    <a:pt x="263" y="658"/>
                  </a:cubicBezTo>
                  <a:cubicBezTo>
                    <a:pt x="262" y="657"/>
                    <a:pt x="261" y="656"/>
                    <a:pt x="259" y="655"/>
                  </a:cubicBezTo>
                  <a:cubicBezTo>
                    <a:pt x="258" y="654"/>
                    <a:pt x="255" y="650"/>
                    <a:pt x="256" y="648"/>
                  </a:cubicBezTo>
                  <a:cubicBezTo>
                    <a:pt x="257" y="647"/>
                    <a:pt x="258" y="645"/>
                    <a:pt x="260" y="643"/>
                  </a:cubicBezTo>
                  <a:cubicBezTo>
                    <a:pt x="262" y="641"/>
                    <a:pt x="267" y="639"/>
                    <a:pt x="268" y="639"/>
                  </a:cubicBezTo>
                  <a:cubicBezTo>
                    <a:pt x="269" y="639"/>
                    <a:pt x="269" y="638"/>
                    <a:pt x="270" y="637"/>
                  </a:cubicBezTo>
                  <a:cubicBezTo>
                    <a:pt x="271" y="636"/>
                    <a:pt x="272" y="635"/>
                    <a:pt x="272" y="634"/>
                  </a:cubicBezTo>
                  <a:cubicBezTo>
                    <a:pt x="272" y="633"/>
                    <a:pt x="273" y="628"/>
                    <a:pt x="274" y="627"/>
                  </a:cubicBezTo>
                  <a:cubicBezTo>
                    <a:pt x="275" y="626"/>
                    <a:pt x="280" y="623"/>
                    <a:pt x="279" y="622"/>
                  </a:cubicBezTo>
                  <a:cubicBezTo>
                    <a:pt x="278" y="622"/>
                    <a:pt x="276" y="622"/>
                    <a:pt x="277" y="621"/>
                  </a:cubicBezTo>
                  <a:cubicBezTo>
                    <a:pt x="278" y="620"/>
                    <a:pt x="281" y="618"/>
                    <a:pt x="280" y="617"/>
                  </a:cubicBezTo>
                  <a:cubicBezTo>
                    <a:pt x="279" y="616"/>
                    <a:pt x="278" y="613"/>
                    <a:pt x="278" y="611"/>
                  </a:cubicBezTo>
                  <a:cubicBezTo>
                    <a:pt x="278" y="608"/>
                    <a:pt x="279" y="606"/>
                    <a:pt x="281" y="607"/>
                  </a:cubicBezTo>
                  <a:cubicBezTo>
                    <a:pt x="282" y="608"/>
                    <a:pt x="285" y="610"/>
                    <a:pt x="287" y="610"/>
                  </a:cubicBezTo>
                  <a:cubicBezTo>
                    <a:pt x="290" y="609"/>
                    <a:pt x="291" y="609"/>
                    <a:pt x="293" y="608"/>
                  </a:cubicBezTo>
                  <a:cubicBezTo>
                    <a:pt x="294" y="606"/>
                    <a:pt x="294" y="603"/>
                    <a:pt x="294" y="601"/>
                  </a:cubicBezTo>
                  <a:cubicBezTo>
                    <a:pt x="295" y="600"/>
                    <a:pt x="295" y="596"/>
                    <a:pt x="296" y="595"/>
                  </a:cubicBezTo>
                  <a:cubicBezTo>
                    <a:pt x="298" y="594"/>
                    <a:pt x="298" y="594"/>
                    <a:pt x="301" y="594"/>
                  </a:cubicBezTo>
                  <a:cubicBezTo>
                    <a:pt x="304" y="594"/>
                    <a:pt x="307" y="593"/>
                    <a:pt x="310" y="592"/>
                  </a:cubicBezTo>
                  <a:cubicBezTo>
                    <a:pt x="312" y="592"/>
                    <a:pt x="320" y="589"/>
                    <a:pt x="322" y="586"/>
                  </a:cubicBezTo>
                  <a:cubicBezTo>
                    <a:pt x="325" y="583"/>
                    <a:pt x="327" y="580"/>
                    <a:pt x="327" y="578"/>
                  </a:cubicBezTo>
                  <a:cubicBezTo>
                    <a:pt x="327" y="576"/>
                    <a:pt x="327" y="575"/>
                    <a:pt x="326" y="575"/>
                  </a:cubicBezTo>
                  <a:cubicBezTo>
                    <a:pt x="325" y="575"/>
                    <a:pt x="324" y="574"/>
                    <a:pt x="325" y="573"/>
                  </a:cubicBezTo>
                  <a:cubicBezTo>
                    <a:pt x="325" y="571"/>
                    <a:pt x="327" y="570"/>
                    <a:pt x="326" y="569"/>
                  </a:cubicBezTo>
                  <a:cubicBezTo>
                    <a:pt x="325" y="567"/>
                    <a:pt x="322" y="564"/>
                    <a:pt x="321" y="563"/>
                  </a:cubicBezTo>
                  <a:cubicBezTo>
                    <a:pt x="321" y="562"/>
                    <a:pt x="320" y="560"/>
                    <a:pt x="321" y="560"/>
                  </a:cubicBezTo>
                  <a:cubicBezTo>
                    <a:pt x="321" y="560"/>
                    <a:pt x="321" y="560"/>
                    <a:pt x="322" y="560"/>
                  </a:cubicBezTo>
                  <a:cubicBezTo>
                    <a:pt x="322" y="560"/>
                    <a:pt x="322" y="560"/>
                    <a:pt x="322" y="560"/>
                  </a:cubicBezTo>
                  <a:cubicBezTo>
                    <a:pt x="322" y="560"/>
                    <a:pt x="323" y="561"/>
                    <a:pt x="323" y="561"/>
                  </a:cubicBezTo>
                  <a:cubicBezTo>
                    <a:pt x="323" y="561"/>
                    <a:pt x="323" y="561"/>
                    <a:pt x="323" y="561"/>
                  </a:cubicBezTo>
                  <a:cubicBezTo>
                    <a:pt x="324" y="561"/>
                    <a:pt x="324" y="561"/>
                    <a:pt x="324" y="561"/>
                  </a:cubicBezTo>
                  <a:cubicBezTo>
                    <a:pt x="324" y="561"/>
                    <a:pt x="324" y="562"/>
                    <a:pt x="324" y="562"/>
                  </a:cubicBezTo>
                  <a:cubicBezTo>
                    <a:pt x="325" y="562"/>
                    <a:pt x="325" y="562"/>
                    <a:pt x="325" y="562"/>
                  </a:cubicBezTo>
                  <a:cubicBezTo>
                    <a:pt x="325" y="563"/>
                    <a:pt x="328" y="562"/>
                    <a:pt x="329" y="563"/>
                  </a:cubicBezTo>
                  <a:cubicBezTo>
                    <a:pt x="329" y="564"/>
                    <a:pt x="330" y="565"/>
                    <a:pt x="332" y="565"/>
                  </a:cubicBezTo>
                  <a:cubicBezTo>
                    <a:pt x="335" y="565"/>
                    <a:pt x="341" y="565"/>
                    <a:pt x="342" y="564"/>
                  </a:cubicBezTo>
                  <a:cubicBezTo>
                    <a:pt x="344" y="562"/>
                    <a:pt x="346" y="560"/>
                    <a:pt x="348" y="558"/>
                  </a:cubicBezTo>
                  <a:cubicBezTo>
                    <a:pt x="348" y="558"/>
                    <a:pt x="349" y="557"/>
                    <a:pt x="349" y="556"/>
                  </a:cubicBezTo>
                  <a:cubicBezTo>
                    <a:pt x="349" y="556"/>
                    <a:pt x="349" y="556"/>
                    <a:pt x="349" y="556"/>
                  </a:cubicBezTo>
                  <a:cubicBezTo>
                    <a:pt x="350" y="555"/>
                    <a:pt x="350" y="555"/>
                    <a:pt x="350" y="554"/>
                  </a:cubicBezTo>
                  <a:cubicBezTo>
                    <a:pt x="350" y="554"/>
                    <a:pt x="350" y="554"/>
                    <a:pt x="351" y="554"/>
                  </a:cubicBezTo>
                  <a:cubicBezTo>
                    <a:pt x="351" y="554"/>
                    <a:pt x="351" y="553"/>
                    <a:pt x="351" y="553"/>
                  </a:cubicBezTo>
                  <a:cubicBezTo>
                    <a:pt x="351" y="553"/>
                    <a:pt x="351" y="553"/>
                    <a:pt x="351" y="553"/>
                  </a:cubicBezTo>
                  <a:cubicBezTo>
                    <a:pt x="351" y="552"/>
                    <a:pt x="351" y="552"/>
                    <a:pt x="351" y="552"/>
                  </a:cubicBezTo>
                  <a:cubicBezTo>
                    <a:pt x="352" y="552"/>
                    <a:pt x="352" y="551"/>
                    <a:pt x="352" y="551"/>
                  </a:cubicBezTo>
                  <a:cubicBezTo>
                    <a:pt x="352" y="550"/>
                    <a:pt x="353" y="549"/>
                    <a:pt x="354" y="548"/>
                  </a:cubicBezTo>
                  <a:cubicBezTo>
                    <a:pt x="355" y="547"/>
                    <a:pt x="357" y="547"/>
                    <a:pt x="358" y="544"/>
                  </a:cubicBezTo>
                  <a:cubicBezTo>
                    <a:pt x="358" y="541"/>
                    <a:pt x="359" y="539"/>
                    <a:pt x="360" y="538"/>
                  </a:cubicBezTo>
                  <a:cubicBezTo>
                    <a:pt x="361" y="536"/>
                    <a:pt x="363" y="536"/>
                    <a:pt x="363" y="537"/>
                  </a:cubicBezTo>
                  <a:cubicBezTo>
                    <a:pt x="362" y="538"/>
                    <a:pt x="359" y="542"/>
                    <a:pt x="360" y="542"/>
                  </a:cubicBezTo>
                  <a:cubicBezTo>
                    <a:pt x="361" y="541"/>
                    <a:pt x="365" y="538"/>
                    <a:pt x="366" y="536"/>
                  </a:cubicBezTo>
                  <a:cubicBezTo>
                    <a:pt x="368" y="535"/>
                    <a:pt x="371" y="528"/>
                    <a:pt x="372" y="527"/>
                  </a:cubicBezTo>
                  <a:cubicBezTo>
                    <a:pt x="374" y="526"/>
                    <a:pt x="375" y="526"/>
                    <a:pt x="376" y="525"/>
                  </a:cubicBezTo>
                  <a:cubicBezTo>
                    <a:pt x="377" y="523"/>
                    <a:pt x="377" y="521"/>
                    <a:pt x="378" y="520"/>
                  </a:cubicBezTo>
                  <a:cubicBezTo>
                    <a:pt x="379" y="518"/>
                    <a:pt x="377" y="517"/>
                    <a:pt x="378" y="515"/>
                  </a:cubicBezTo>
                  <a:cubicBezTo>
                    <a:pt x="379" y="513"/>
                    <a:pt x="378" y="511"/>
                    <a:pt x="380" y="509"/>
                  </a:cubicBezTo>
                  <a:cubicBezTo>
                    <a:pt x="382" y="507"/>
                    <a:pt x="387" y="502"/>
                    <a:pt x="390" y="501"/>
                  </a:cubicBezTo>
                  <a:cubicBezTo>
                    <a:pt x="392" y="500"/>
                    <a:pt x="393" y="499"/>
                    <a:pt x="395" y="498"/>
                  </a:cubicBezTo>
                  <a:cubicBezTo>
                    <a:pt x="397" y="497"/>
                    <a:pt x="398" y="495"/>
                    <a:pt x="401" y="494"/>
                  </a:cubicBezTo>
                  <a:cubicBezTo>
                    <a:pt x="403" y="493"/>
                    <a:pt x="409" y="494"/>
                    <a:pt x="412" y="493"/>
                  </a:cubicBezTo>
                  <a:cubicBezTo>
                    <a:pt x="415" y="492"/>
                    <a:pt x="418" y="489"/>
                    <a:pt x="418" y="488"/>
                  </a:cubicBezTo>
                  <a:cubicBezTo>
                    <a:pt x="419" y="487"/>
                    <a:pt x="423" y="480"/>
                    <a:pt x="425" y="479"/>
                  </a:cubicBezTo>
                  <a:cubicBezTo>
                    <a:pt x="426" y="477"/>
                    <a:pt x="428" y="473"/>
                    <a:pt x="429" y="470"/>
                  </a:cubicBezTo>
                  <a:cubicBezTo>
                    <a:pt x="430" y="467"/>
                    <a:pt x="432" y="462"/>
                    <a:pt x="433" y="460"/>
                  </a:cubicBezTo>
                  <a:cubicBezTo>
                    <a:pt x="433" y="459"/>
                    <a:pt x="434" y="460"/>
                    <a:pt x="434" y="456"/>
                  </a:cubicBezTo>
                  <a:cubicBezTo>
                    <a:pt x="435" y="452"/>
                    <a:pt x="435" y="445"/>
                    <a:pt x="437" y="444"/>
                  </a:cubicBezTo>
                  <a:cubicBezTo>
                    <a:pt x="439" y="443"/>
                    <a:pt x="439" y="442"/>
                    <a:pt x="441" y="440"/>
                  </a:cubicBezTo>
                  <a:cubicBezTo>
                    <a:pt x="443" y="437"/>
                    <a:pt x="447" y="431"/>
                    <a:pt x="450" y="429"/>
                  </a:cubicBezTo>
                  <a:cubicBezTo>
                    <a:pt x="454" y="427"/>
                    <a:pt x="459" y="421"/>
                    <a:pt x="459" y="418"/>
                  </a:cubicBezTo>
                  <a:cubicBezTo>
                    <a:pt x="460" y="415"/>
                    <a:pt x="460" y="412"/>
                    <a:pt x="459" y="410"/>
                  </a:cubicBezTo>
                  <a:cubicBezTo>
                    <a:pt x="458" y="408"/>
                    <a:pt x="460" y="407"/>
                    <a:pt x="458" y="40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63" name="Freeform 58"/>
            <p:cNvSpPr>
              <a:spLocks/>
            </p:cNvSpPr>
            <p:nvPr/>
          </p:nvSpPr>
          <p:spPr bwMode="auto">
            <a:xfrm>
              <a:off x="2069635" y="5936012"/>
              <a:ext cx="157876" cy="134721"/>
            </a:xfrm>
            <a:custGeom>
              <a:avLst/>
              <a:gdLst>
                <a:gd name="T0" fmla="*/ 30 w 32"/>
                <a:gd name="T1" fmla="*/ 24 h 27"/>
                <a:gd name="T2" fmla="*/ 23 w 32"/>
                <a:gd name="T3" fmla="*/ 18 h 27"/>
                <a:gd name="T4" fmla="*/ 19 w 32"/>
                <a:gd name="T5" fmla="*/ 11 h 27"/>
                <a:gd name="T6" fmla="*/ 18 w 32"/>
                <a:gd name="T7" fmla="*/ 7 h 27"/>
                <a:gd name="T8" fmla="*/ 19 w 32"/>
                <a:gd name="T9" fmla="*/ 3 h 27"/>
                <a:gd name="T10" fmla="*/ 19 w 32"/>
                <a:gd name="T11" fmla="*/ 1 h 27"/>
                <a:gd name="T12" fmla="*/ 18 w 32"/>
                <a:gd name="T13" fmla="*/ 1 h 27"/>
                <a:gd name="T14" fmla="*/ 18 w 32"/>
                <a:gd name="T15" fmla="*/ 0 h 27"/>
                <a:gd name="T16" fmla="*/ 18 w 32"/>
                <a:gd name="T17" fmla="*/ 0 h 27"/>
                <a:gd name="T18" fmla="*/ 18 w 32"/>
                <a:gd name="T19" fmla="*/ 0 h 27"/>
                <a:gd name="T20" fmla="*/ 18 w 32"/>
                <a:gd name="T21" fmla="*/ 0 h 27"/>
                <a:gd name="T22" fmla="*/ 17 w 32"/>
                <a:gd name="T23" fmla="*/ 0 h 27"/>
                <a:gd name="T24" fmla="*/ 15 w 32"/>
                <a:gd name="T25" fmla="*/ 2 h 27"/>
                <a:gd name="T26" fmla="*/ 14 w 32"/>
                <a:gd name="T27" fmla="*/ 1 h 27"/>
                <a:gd name="T28" fmla="*/ 11 w 32"/>
                <a:gd name="T29" fmla="*/ 3 h 27"/>
                <a:gd name="T30" fmla="*/ 10 w 32"/>
                <a:gd name="T31" fmla="*/ 5 h 27"/>
                <a:gd name="T32" fmla="*/ 12 w 32"/>
                <a:gd name="T33" fmla="*/ 7 h 27"/>
                <a:gd name="T34" fmla="*/ 13 w 32"/>
                <a:gd name="T35" fmla="*/ 10 h 27"/>
                <a:gd name="T36" fmla="*/ 8 w 32"/>
                <a:gd name="T37" fmla="*/ 13 h 27"/>
                <a:gd name="T38" fmla="*/ 8 w 32"/>
                <a:gd name="T39" fmla="*/ 16 h 27"/>
                <a:gd name="T40" fmla="*/ 11 w 32"/>
                <a:gd name="T41" fmla="*/ 20 h 27"/>
                <a:gd name="T42" fmla="*/ 7 w 32"/>
                <a:gd name="T43" fmla="*/ 19 h 27"/>
                <a:gd name="T44" fmla="*/ 5 w 32"/>
                <a:gd name="T45" fmla="*/ 21 h 27"/>
                <a:gd name="T46" fmla="*/ 2 w 32"/>
                <a:gd name="T47" fmla="*/ 20 h 27"/>
                <a:gd name="T48" fmla="*/ 1 w 32"/>
                <a:gd name="T49" fmla="*/ 24 h 27"/>
                <a:gd name="T50" fmla="*/ 6 w 32"/>
                <a:gd name="T51" fmla="*/ 25 h 27"/>
                <a:gd name="T52" fmla="*/ 12 w 32"/>
                <a:gd name="T53" fmla="*/ 25 h 27"/>
                <a:gd name="T54" fmla="*/ 16 w 32"/>
                <a:gd name="T55" fmla="*/ 25 h 27"/>
                <a:gd name="T56" fmla="*/ 16 w 32"/>
                <a:gd name="T57" fmla="*/ 25 h 27"/>
                <a:gd name="T58" fmla="*/ 17 w 32"/>
                <a:gd name="T59" fmla="*/ 25 h 27"/>
                <a:gd name="T60" fmla="*/ 17 w 32"/>
                <a:gd name="T61" fmla="*/ 25 h 27"/>
                <a:gd name="T62" fmla="*/ 18 w 32"/>
                <a:gd name="T63" fmla="*/ 25 h 27"/>
                <a:gd name="T64" fmla="*/ 19 w 32"/>
                <a:gd name="T65" fmla="*/ 25 h 27"/>
                <a:gd name="T66" fmla="*/ 19 w 32"/>
                <a:gd name="T67" fmla="*/ 25 h 27"/>
                <a:gd name="T68" fmla="*/ 19 w 32"/>
                <a:gd name="T69" fmla="*/ 25 h 27"/>
                <a:gd name="T70" fmla="*/ 20 w 32"/>
                <a:gd name="T71" fmla="*/ 25 h 27"/>
                <a:gd name="T72" fmla="*/ 25 w 32"/>
                <a:gd name="T73" fmla="*/ 27 h 27"/>
                <a:gd name="T74" fmla="*/ 28 w 32"/>
                <a:gd name="T75" fmla="*/ 25 h 27"/>
                <a:gd name="T76" fmla="*/ 30 w 32"/>
                <a:gd name="T77" fmla="*/ 24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32" h="27">
                  <a:moveTo>
                    <a:pt x="30" y="24"/>
                  </a:moveTo>
                  <a:cubicBezTo>
                    <a:pt x="28" y="23"/>
                    <a:pt x="24" y="20"/>
                    <a:pt x="23" y="18"/>
                  </a:cubicBezTo>
                  <a:cubicBezTo>
                    <a:pt x="23" y="16"/>
                    <a:pt x="19" y="12"/>
                    <a:pt x="19" y="11"/>
                  </a:cubicBezTo>
                  <a:cubicBezTo>
                    <a:pt x="19" y="9"/>
                    <a:pt x="17" y="9"/>
                    <a:pt x="18" y="7"/>
                  </a:cubicBezTo>
                  <a:cubicBezTo>
                    <a:pt x="19" y="5"/>
                    <a:pt x="20" y="6"/>
                    <a:pt x="19" y="3"/>
                  </a:cubicBezTo>
                  <a:cubicBezTo>
                    <a:pt x="19" y="2"/>
                    <a:pt x="19" y="1"/>
                    <a:pt x="19" y="1"/>
                  </a:cubicBezTo>
                  <a:cubicBezTo>
                    <a:pt x="19" y="1"/>
                    <a:pt x="19" y="1"/>
                    <a:pt x="18" y="1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6" y="1"/>
                    <a:pt x="15" y="3"/>
                    <a:pt x="15" y="2"/>
                  </a:cubicBezTo>
                  <a:cubicBezTo>
                    <a:pt x="14" y="2"/>
                    <a:pt x="15" y="0"/>
                    <a:pt x="14" y="1"/>
                  </a:cubicBezTo>
                  <a:cubicBezTo>
                    <a:pt x="13" y="2"/>
                    <a:pt x="12" y="3"/>
                    <a:pt x="11" y="3"/>
                  </a:cubicBezTo>
                  <a:cubicBezTo>
                    <a:pt x="10" y="3"/>
                    <a:pt x="10" y="4"/>
                    <a:pt x="10" y="5"/>
                  </a:cubicBezTo>
                  <a:cubicBezTo>
                    <a:pt x="11" y="6"/>
                    <a:pt x="12" y="6"/>
                    <a:pt x="12" y="7"/>
                  </a:cubicBezTo>
                  <a:cubicBezTo>
                    <a:pt x="13" y="8"/>
                    <a:pt x="14" y="9"/>
                    <a:pt x="13" y="10"/>
                  </a:cubicBezTo>
                  <a:cubicBezTo>
                    <a:pt x="11" y="12"/>
                    <a:pt x="9" y="13"/>
                    <a:pt x="8" y="13"/>
                  </a:cubicBezTo>
                  <a:cubicBezTo>
                    <a:pt x="8" y="13"/>
                    <a:pt x="6" y="15"/>
                    <a:pt x="8" y="16"/>
                  </a:cubicBezTo>
                  <a:cubicBezTo>
                    <a:pt x="10" y="18"/>
                    <a:pt x="11" y="20"/>
                    <a:pt x="11" y="20"/>
                  </a:cubicBezTo>
                  <a:cubicBezTo>
                    <a:pt x="10" y="20"/>
                    <a:pt x="7" y="19"/>
                    <a:pt x="7" y="19"/>
                  </a:cubicBezTo>
                  <a:cubicBezTo>
                    <a:pt x="6" y="20"/>
                    <a:pt x="6" y="21"/>
                    <a:pt x="5" y="21"/>
                  </a:cubicBezTo>
                  <a:cubicBezTo>
                    <a:pt x="4" y="20"/>
                    <a:pt x="3" y="19"/>
                    <a:pt x="2" y="20"/>
                  </a:cubicBezTo>
                  <a:cubicBezTo>
                    <a:pt x="1" y="21"/>
                    <a:pt x="0" y="23"/>
                    <a:pt x="1" y="24"/>
                  </a:cubicBezTo>
                  <a:cubicBezTo>
                    <a:pt x="3" y="25"/>
                    <a:pt x="5" y="23"/>
                    <a:pt x="6" y="25"/>
                  </a:cubicBezTo>
                  <a:cubicBezTo>
                    <a:pt x="7" y="26"/>
                    <a:pt x="10" y="25"/>
                    <a:pt x="12" y="25"/>
                  </a:cubicBezTo>
                  <a:cubicBezTo>
                    <a:pt x="12" y="26"/>
                    <a:pt x="14" y="25"/>
                    <a:pt x="16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17" y="25"/>
                    <a:pt x="17" y="25"/>
                  </a:cubicBezTo>
                  <a:cubicBezTo>
                    <a:pt x="17" y="25"/>
                    <a:pt x="17" y="25"/>
                    <a:pt x="17" y="25"/>
                  </a:cubicBezTo>
                  <a:cubicBezTo>
                    <a:pt x="18" y="25"/>
                    <a:pt x="18" y="25"/>
                    <a:pt x="18" y="25"/>
                  </a:cubicBezTo>
                  <a:cubicBezTo>
                    <a:pt x="18" y="25"/>
                    <a:pt x="18" y="25"/>
                    <a:pt x="19" y="25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20" y="25"/>
                    <a:pt x="20" y="25"/>
                    <a:pt x="20" y="25"/>
                  </a:cubicBezTo>
                  <a:cubicBezTo>
                    <a:pt x="22" y="26"/>
                    <a:pt x="24" y="27"/>
                    <a:pt x="25" y="27"/>
                  </a:cubicBezTo>
                  <a:cubicBezTo>
                    <a:pt x="26" y="27"/>
                    <a:pt x="27" y="25"/>
                    <a:pt x="28" y="25"/>
                  </a:cubicBezTo>
                  <a:cubicBezTo>
                    <a:pt x="30" y="25"/>
                    <a:pt x="32" y="25"/>
                    <a:pt x="30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64" name="Freeform 59"/>
            <p:cNvSpPr>
              <a:spLocks/>
            </p:cNvSpPr>
            <p:nvPr/>
          </p:nvSpPr>
          <p:spPr bwMode="auto">
            <a:xfrm>
              <a:off x="2143313" y="6070733"/>
              <a:ext cx="35785" cy="14735"/>
            </a:xfrm>
            <a:custGeom>
              <a:avLst/>
              <a:gdLst>
                <a:gd name="T0" fmla="*/ 1 w 7"/>
                <a:gd name="T1" fmla="*/ 1 h 3"/>
                <a:gd name="T2" fmla="*/ 5 w 7"/>
                <a:gd name="T3" fmla="*/ 3 h 3"/>
                <a:gd name="T4" fmla="*/ 1 w 7"/>
                <a:gd name="T5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" h="3">
                  <a:moveTo>
                    <a:pt x="1" y="1"/>
                  </a:moveTo>
                  <a:cubicBezTo>
                    <a:pt x="0" y="1"/>
                    <a:pt x="4" y="3"/>
                    <a:pt x="5" y="3"/>
                  </a:cubicBezTo>
                  <a:cubicBezTo>
                    <a:pt x="7" y="1"/>
                    <a:pt x="3" y="0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65" name="Freeform 60"/>
            <p:cNvSpPr>
              <a:spLocks/>
            </p:cNvSpPr>
            <p:nvPr/>
          </p:nvSpPr>
          <p:spPr bwMode="auto">
            <a:xfrm>
              <a:off x="2088581" y="6074941"/>
              <a:ext cx="39995" cy="21051"/>
            </a:xfrm>
            <a:custGeom>
              <a:avLst/>
              <a:gdLst>
                <a:gd name="T0" fmla="*/ 2 w 8"/>
                <a:gd name="T1" fmla="*/ 0 h 4"/>
                <a:gd name="T2" fmla="*/ 3 w 8"/>
                <a:gd name="T3" fmla="*/ 3 h 4"/>
                <a:gd name="T4" fmla="*/ 7 w 8"/>
                <a:gd name="T5" fmla="*/ 0 h 4"/>
                <a:gd name="T6" fmla="*/ 2 w 8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4">
                  <a:moveTo>
                    <a:pt x="2" y="0"/>
                  </a:moveTo>
                  <a:cubicBezTo>
                    <a:pt x="0" y="1"/>
                    <a:pt x="2" y="2"/>
                    <a:pt x="3" y="3"/>
                  </a:cubicBezTo>
                  <a:cubicBezTo>
                    <a:pt x="4" y="4"/>
                    <a:pt x="6" y="1"/>
                    <a:pt x="7" y="0"/>
                  </a:cubicBezTo>
                  <a:cubicBezTo>
                    <a:pt x="8" y="0"/>
                    <a:pt x="3" y="0"/>
                    <a:pt x="2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66" name="Freeform 61"/>
            <p:cNvSpPr>
              <a:spLocks/>
            </p:cNvSpPr>
            <p:nvPr/>
          </p:nvSpPr>
          <p:spPr bwMode="auto">
            <a:xfrm>
              <a:off x="1989646" y="5950746"/>
              <a:ext cx="58940" cy="75781"/>
            </a:xfrm>
            <a:custGeom>
              <a:avLst/>
              <a:gdLst>
                <a:gd name="T0" fmla="*/ 1 w 12"/>
                <a:gd name="T1" fmla="*/ 1 h 15"/>
                <a:gd name="T2" fmla="*/ 2 w 12"/>
                <a:gd name="T3" fmla="*/ 4 h 15"/>
                <a:gd name="T4" fmla="*/ 4 w 12"/>
                <a:gd name="T5" fmla="*/ 6 h 15"/>
                <a:gd name="T6" fmla="*/ 5 w 12"/>
                <a:gd name="T7" fmla="*/ 8 h 15"/>
                <a:gd name="T8" fmla="*/ 5 w 12"/>
                <a:gd name="T9" fmla="*/ 11 h 15"/>
                <a:gd name="T10" fmla="*/ 9 w 12"/>
                <a:gd name="T11" fmla="*/ 14 h 15"/>
                <a:gd name="T12" fmla="*/ 12 w 12"/>
                <a:gd name="T13" fmla="*/ 11 h 15"/>
                <a:gd name="T14" fmla="*/ 7 w 12"/>
                <a:gd name="T15" fmla="*/ 5 h 15"/>
                <a:gd name="T16" fmla="*/ 1 w 12"/>
                <a:gd name="T17" fmla="*/ 1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" h="15">
                  <a:moveTo>
                    <a:pt x="1" y="1"/>
                  </a:moveTo>
                  <a:cubicBezTo>
                    <a:pt x="0" y="0"/>
                    <a:pt x="2" y="3"/>
                    <a:pt x="2" y="4"/>
                  </a:cubicBezTo>
                  <a:cubicBezTo>
                    <a:pt x="2" y="5"/>
                    <a:pt x="3" y="6"/>
                    <a:pt x="4" y="6"/>
                  </a:cubicBezTo>
                  <a:cubicBezTo>
                    <a:pt x="4" y="5"/>
                    <a:pt x="5" y="7"/>
                    <a:pt x="5" y="8"/>
                  </a:cubicBezTo>
                  <a:cubicBezTo>
                    <a:pt x="4" y="8"/>
                    <a:pt x="4" y="10"/>
                    <a:pt x="5" y="11"/>
                  </a:cubicBezTo>
                  <a:cubicBezTo>
                    <a:pt x="6" y="12"/>
                    <a:pt x="7" y="14"/>
                    <a:pt x="9" y="14"/>
                  </a:cubicBezTo>
                  <a:cubicBezTo>
                    <a:pt x="10" y="15"/>
                    <a:pt x="11" y="11"/>
                    <a:pt x="12" y="11"/>
                  </a:cubicBezTo>
                  <a:cubicBezTo>
                    <a:pt x="12" y="10"/>
                    <a:pt x="8" y="7"/>
                    <a:pt x="7" y="5"/>
                  </a:cubicBezTo>
                  <a:cubicBezTo>
                    <a:pt x="5" y="4"/>
                    <a:pt x="2" y="1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67" name="Freeform 62"/>
            <p:cNvSpPr>
              <a:spLocks/>
            </p:cNvSpPr>
            <p:nvPr/>
          </p:nvSpPr>
          <p:spPr bwMode="auto">
            <a:xfrm>
              <a:off x="2054900" y="5971796"/>
              <a:ext cx="33680" cy="39995"/>
            </a:xfrm>
            <a:custGeom>
              <a:avLst/>
              <a:gdLst>
                <a:gd name="T0" fmla="*/ 7 w 7"/>
                <a:gd name="T1" fmla="*/ 0 h 8"/>
                <a:gd name="T2" fmla="*/ 3 w 7"/>
                <a:gd name="T3" fmla="*/ 1 h 8"/>
                <a:gd name="T4" fmla="*/ 0 w 7"/>
                <a:gd name="T5" fmla="*/ 3 h 8"/>
                <a:gd name="T6" fmla="*/ 4 w 7"/>
                <a:gd name="T7" fmla="*/ 8 h 8"/>
                <a:gd name="T8" fmla="*/ 7 w 7"/>
                <a:gd name="T9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8">
                  <a:moveTo>
                    <a:pt x="7" y="0"/>
                  </a:moveTo>
                  <a:cubicBezTo>
                    <a:pt x="6" y="0"/>
                    <a:pt x="4" y="1"/>
                    <a:pt x="3" y="1"/>
                  </a:cubicBezTo>
                  <a:cubicBezTo>
                    <a:pt x="2" y="2"/>
                    <a:pt x="0" y="2"/>
                    <a:pt x="0" y="3"/>
                  </a:cubicBezTo>
                  <a:cubicBezTo>
                    <a:pt x="0" y="5"/>
                    <a:pt x="2" y="7"/>
                    <a:pt x="4" y="8"/>
                  </a:cubicBezTo>
                  <a:cubicBezTo>
                    <a:pt x="5" y="8"/>
                    <a:pt x="7" y="1"/>
                    <a:pt x="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68" name="Freeform 63"/>
            <p:cNvSpPr>
              <a:spLocks/>
            </p:cNvSpPr>
            <p:nvPr/>
          </p:nvSpPr>
          <p:spPr bwMode="auto">
            <a:xfrm>
              <a:off x="2288557" y="3803627"/>
              <a:ext cx="237867" cy="86307"/>
            </a:xfrm>
            <a:custGeom>
              <a:avLst/>
              <a:gdLst>
                <a:gd name="T0" fmla="*/ 43 w 48"/>
                <a:gd name="T1" fmla="*/ 16 h 17"/>
                <a:gd name="T2" fmla="*/ 40 w 48"/>
                <a:gd name="T3" fmla="*/ 13 h 17"/>
                <a:gd name="T4" fmla="*/ 40 w 48"/>
                <a:gd name="T5" fmla="*/ 12 h 17"/>
                <a:gd name="T6" fmla="*/ 38 w 48"/>
                <a:gd name="T7" fmla="*/ 11 h 17"/>
                <a:gd name="T8" fmla="*/ 33 w 48"/>
                <a:gd name="T9" fmla="*/ 9 h 17"/>
                <a:gd name="T10" fmla="*/ 29 w 48"/>
                <a:gd name="T11" fmla="*/ 7 h 17"/>
                <a:gd name="T12" fmla="*/ 21 w 48"/>
                <a:gd name="T13" fmla="*/ 3 h 17"/>
                <a:gd name="T14" fmla="*/ 10 w 48"/>
                <a:gd name="T15" fmla="*/ 2 h 17"/>
                <a:gd name="T16" fmla="*/ 2 w 48"/>
                <a:gd name="T17" fmla="*/ 5 h 17"/>
                <a:gd name="T18" fmla="*/ 6 w 48"/>
                <a:gd name="T19" fmla="*/ 6 h 17"/>
                <a:gd name="T20" fmla="*/ 9 w 48"/>
                <a:gd name="T21" fmla="*/ 8 h 17"/>
                <a:gd name="T22" fmla="*/ 8 w 48"/>
                <a:gd name="T23" fmla="*/ 5 h 17"/>
                <a:gd name="T24" fmla="*/ 11 w 48"/>
                <a:gd name="T25" fmla="*/ 4 h 17"/>
                <a:gd name="T26" fmla="*/ 13 w 48"/>
                <a:gd name="T27" fmla="*/ 5 h 17"/>
                <a:gd name="T28" fmla="*/ 15 w 48"/>
                <a:gd name="T29" fmla="*/ 6 h 17"/>
                <a:gd name="T30" fmla="*/ 19 w 48"/>
                <a:gd name="T31" fmla="*/ 8 h 17"/>
                <a:gd name="T32" fmla="*/ 24 w 48"/>
                <a:gd name="T33" fmla="*/ 8 h 17"/>
                <a:gd name="T34" fmla="*/ 27 w 48"/>
                <a:gd name="T35" fmla="*/ 12 h 17"/>
                <a:gd name="T36" fmla="*/ 31 w 48"/>
                <a:gd name="T37" fmla="*/ 13 h 17"/>
                <a:gd name="T38" fmla="*/ 29 w 48"/>
                <a:gd name="T39" fmla="*/ 16 h 17"/>
                <a:gd name="T40" fmla="*/ 32 w 48"/>
                <a:gd name="T41" fmla="*/ 17 h 17"/>
                <a:gd name="T42" fmla="*/ 43 w 48"/>
                <a:gd name="T43" fmla="*/ 16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8" h="17">
                  <a:moveTo>
                    <a:pt x="43" y="16"/>
                  </a:moveTo>
                  <a:cubicBezTo>
                    <a:pt x="48" y="15"/>
                    <a:pt x="41" y="13"/>
                    <a:pt x="40" y="13"/>
                  </a:cubicBezTo>
                  <a:cubicBezTo>
                    <a:pt x="39" y="13"/>
                    <a:pt x="39" y="12"/>
                    <a:pt x="40" y="12"/>
                  </a:cubicBezTo>
                  <a:cubicBezTo>
                    <a:pt x="40" y="11"/>
                    <a:pt x="39" y="11"/>
                    <a:pt x="38" y="11"/>
                  </a:cubicBezTo>
                  <a:cubicBezTo>
                    <a:pt x="37" y="11"/>
                    <a:pt x="35" y="10"/>
                    <a:pt x="33" y="9"/>
                  </a:cubicBezTo>
                  <a:cubicBezTo>
                    <a:pt x="32" y="8"/>
                    <a:pt x="32" y="7"/>
                    <a:pt x="29" y="7"/>
                  </a:cubicBezTo>
                  <a:cubicBezTo>
                    <a:pt x="26" y="7"/>
                    <a:pt x="23" y="5"/>
                    <a:pt x="21" y="3"/>
                  </a:cubicBezTo>
                  <a:cubicBezTo>
                    <a:pt x="19" y="0"/>
                    <a:pt x="14" y="1"/>
                    <a:pt x="10" y="2"/>
                  </a:cubicBezTo>
                  <a:cubicBezTo>
                    <a:pt x="7" y="2"/>
                    <a:pt x="3" y="4"/>
                    <a:pt x="2" y="5"/>
                  </a:cubicBezTo>
                  <a:cubicBezTo>
                    <a:pt x="0" y="7"/>
                    <a:pt x="4" y="6"/>
                    <a:pt x="6" y="6"/>
                  </a:cubicBezTo>
                  <a:cubicBezTo>
                    <a:pt x="7" y="7"/>
                    <a:pt x="7" y="8"/>
                    <a:pt x="9" y="8"/>
                  </a:cubicBezTo>
                  <a:cubicBezTo>
                    <a:pt x="10" y="8"/>
                    <a:pt x="8" y="6"/>
                    <a:pt x="8" y="5"/>
                  </a:cubicBezTo>
                  <a:cubicBezTo>
                    <a:pt x="8" y="4"/>
                    <a:pt x="9" y="4"/>
                    <a:pt x="11" y="4"/>
                  </a:cubicBezTo>
                  <a:cubicBezTo>
                    <a:pt x="12" y="4"/>
                    <a:pt x="13" y="4"/>
                    <a:pt x="13" y="5"/>
                  </a:cubicBezTo>
                  <a:cubicBezTo>
                    <a:pt x="13" y="6"/>
                    <a:pt x="13" y="6"/>
                    <a:pt x="15" y="6"/>
                  </a:cubicBezTo>
                  <a:cubicBezTo>
                    <a:pt x="17" y="7"/>
                    <a:pt x="18" y="7"/>
                    <a:pt x="19" y="8"/>
                  </a:cubicBezTo>
                  <a:cubicBezTo>
                    <a:pt x="20" y="10"/>
                    <a:pt x="23" y="8"/>
                    <a:pt x="24" y="8"/>
                  </a:cubicBezTo>
                  <a:cubicBezTo>
                    <a:pt x="26" y="9"/>
                    <a:pt x="27" y="11"/>
                    <a:pt x="27" y="12"/>
                  </a:cubicBezTo>
                  <a:cubicBezTo>
                    <a:pt x="27" y="13"/>
                    <a:pt x="28" y="12"/>
                    <a:pt x="31" y="13"/>
                  </a:cubicBezTo>
                  <a:cubicBezTo>
                    <a:pt x="33" y="14"/>
                    <a:pt x="30" y="15"/>
                    <a:pt x="29" y="16"/>
                  </a:cubicBezTo>
                  <a:cubicBezTo>
                    <a:pt x="28" y="16"/>
                    <a:pt x="30" y="16"/>
                    <a:pt x="32" y="17"/>
                  </a:cubicBezTo>
                  <a:cubicBezTo>
                    <a:pt x="35" y="17"/>
                    <a:pt x="42" y="16"/>
                    <a:pt x="43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69" name="Freeform 64"/>
            <p:cNvSpPr>
              <a:spLocks/>
            </p:cNvSpPr>
            <p:nvPr/>
          </p:nvSpPr>
          <p:spPr bwMode="auto">
            <a:xfrm>
              <a:off x="2408543" y="3913090"/>
              <a:ext cx="37891" cy="14735"/>
            </a:xfrm>
            <a:custGeom>
              <a:avLst/>
              <a:gdLst>
                <a:gd name="T0" fmla="*/ 1 w 8"/>
                <a:gd name="T1" fmla="*/ 1 h 3"/>
                <a:gd name="T2" fmla="*/ 2 w 8"/>
                <a:gd name="T3" fmla="*/ 3 h 3"/>
                <a:gd name="T4" fmla="*/ 7 w 8"/>
                <a:gd name="T5" fmla="*/ 2 h 3"/>
                <a:gd name="T6" fmla="*/ 4 w 8"/>
                <a:gd name="T7" fmla="*/ 1 h 3"/>
                <a:gd name="T8" fmla="*/ 1 w 8"/>
                <a:gd name="T9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3">
                  <a:moveTo>
                    <a:pt x="1" y="1"/>
                  </a:moveTo>
                  <a:cubicBezTo>
                    <a:pt x="2" y="2"/>
                    <a:pt x="2" y="3"/>
                    <a:pt x="2" y="3"/>
                  </a:cubicBezTo>
                  <a:cubicBezTo>
                    <a:pt x="2" y="3"/>
                    <a:pt x="5" y="3"/>
                    <a:pt x="7" y="2"/>
                  </a:cubicBezTo>
                  <a:cubicBezTo>
                    <a:pt x="8" y="2"/>
                    <a:pt x="6" y="1"/>
                    <a:pt x="4" y="1"/>
                  </a:cubicBezTo>
                  <a:cubicBezTo>
                    <a:pt x="2" y="0"/>
                    <a:pt x="0" y="1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70" name="Freeform 65"/>
            <p:cNvSpPr>
              <a:spLocks/>
            </p:cNvSpPr>
            <p:nvPr/>
          </p:nvSpPr>
          <p:spPr bwMode="auto">
            <a:xfrm>
              <a:off x="2496955" y="3913088"/>
              <a:ext cx="44205" cy="10525"/>
            </a:xfrm>
            <a:custGeom>
              <a:avLst/>
              <a:gdLst>
                <a:gd name="T0" fmla="*/ 1 w 9"/>
                <a:gd name="T1" fmla="*/ 1 h 2"/>
                <a:gd name="T2" fmla="*/ 7 w 9"/>
                <a:gd name="T3" fmla="*/ 2 h 2"/>
                <a:gd name="T4" fmla="*/ 4 w 9"/>
                <a:gd name="T5" fmla="*/ 0 h 2"/>
                <a:gd name="T6" fmla="*/ 1 w 9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2">
                  <a:moveTo>
                    <a:pt x="1" y="1"/>
                  </a:moveTo>
                  <a:cubicBezTo>
                    <a:pt x="3" y="2"/>
                    <a:pt x="6" y="2"/>
                    <a:pt x="7" y="2"/>
                  </a:cubicBezTo>
                  <a:cubicBezTo>
                    <a:pt x="9" y="1"/>
                    <a:pt x="6" y="0"/>
                    <a:pt x="4" y="0"/>
                  </a:cubicBezTo>
                  <a:cubicBezTo>
                    <a:pt x="2" y="0"/>
                    <a:pt x="0" y="0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71" name="Freeform 66"/>
            <p:cNvSpPr>
              <a:spLocks/>
            </p:cNvSpPr>
            <p:nvPr/>
          </p:nvSpPr>
          <p:spPr bwMode="auto">
            <a:xfrm>
              <a:off x="2522215" y="3883619"/>
              <a:ext cx="105251" cy="39995"/>
            </a:xfrm>
            <a:custGeom>
              <a:avLst/>
              <a:gdLst>
                <a:gd name="T0" fmla="*/ 3 w 21"/>
                <a:gd name="T1" fmla="*/ 5 h 8"/>
                <a:gd name="T2" fmla="*/ 3 w 21"/>
                <a:gd name="T3" fmla="*/ 5 h 8"/>
                <a:gd name="T4" fmla="*/ 3 w 21"/>
                <a:gd name="T5" fmla="*/ 6 h 8"/>
                <a:gd name="T6" fmla="*/ 4 w 21"/>
                <a:gd name="T7" fmla="*/ 6 h 8"/>
                <a:gd name="T8" fmla="*/ 4 w 21"/>
                <a:gd name="T9" fmla="*/ 6 h 8"/>
                <a:gd name="T10" fmla="*/ 5 w 21"/>
                <a:gd name="T11" fmla="*/ 6 h 8"/>
                <a:gd name="T12" fmla="*/ 5 w 21"/>
                <a:gd name="T13" fmla="*/ 7 h 8"/>
                <a:gd name="T14" fmla="*/ 5 w 21"/>
                <a:gd name="T15" fmla="*/ 7 h 8"/>
                <a:gd name="T16" fmla="*/ 5 w 21"/>
                <a:gd name="T17" fmla="*/ 7 h 8"/>
                <a:gd name="T18" fmla="*/ 6 w 21"/>
                <a:gd name="T19" fmla="*/ 8 h 8"/>
                <a:gd name="T20" fmla="*/ 7 w 21"/>
                <a:gd name="T21" fmla="*/ 8 h 8"/>
                <a:gd name="T22" fmla="*/ 7 w 21"/>
                <a:gd name="T23" fmla="*/ 8 h 8"/>
                <a:gd name="T24" fmla="*/ 10 w 21"/>
                <a:gd name="T25" fmla="*/ 7 h 8"/>
                <a:gd name="T26" fmla="*/ 12 w 21"/>
                <a:gd name="T27" fmla="*/ 8 h 8"/>
                <a:gd name="T28" fmla="*/ 15 w 21"/>
                <a:gd name="T29" fmla="*/ 7 h 8"/>
                <a:gd name="T30" fmla="*/ 20 w 21"/>
                <a:gd name="T31" fmla="*/ 7 h 8"/>
                <a:gd name="T32" fmla="*/ 19 w 21"/>
                <a:gd name="T33" fmla="*/ 5 h 8"/>
                <a:gd name="T34" fmla="*/ 17 w 21"/>
                <a:gd name="T35" fmla="*/ 2 h 8"/>
                <a:gd name="T36" fmla="*/ 11 w 21"/>
                <a:gd name="T37" fmla="*/ 1 h 8"/>
                <a:gd name="T38" fmla="*/ 10 w 21"/>
                <a:gd name="T39" fmla="*/ 1 h 8"/>
                <a:gd name="T40" fmla="*/ 10 w 21"/>
                <a:gd name="T41" fmla="*/ 1 h 8"/>
                <a:gd name="T42" fmla="*/ 9 w 21"/>
                <a:gd name="T43" fmla="*/ 1 h 8"/>
                <a:gd name="T44" fmla="*/ 9 w 21"/>
                <a:gd name="T45" fmla="*/ 1 h 8"/>
                <a:gd name="T46" fmla="*/ 8 w 21"/>
                <a:gd name="T47" fmla="*/ 1 h 8"/>
                <a:gd name="T48" fmla="*/ 8 w 21"/>
                <a:gd name="T49" fmla="*/ 1 h 8"/>
                <a:gd name="T50" fmla="*/ 7 w 21"/>
                <a:gd name="T51" fmla="*/ 1 h 8"/>
                <a:gd name="T52" fmla="*/ 6 w 21"/>
                <a:gd name="T53" fmla="*/ 1 h 8"/>
                <a:gd name="T54" fmla="*/ 6 w 21"/>
                <a:gd name="T55" fmla="*/ 1 h 8"/>
                <a:gd name="T56" fmla="*/ 5 w 21"/>
                <a:gd name="T57" fmla="*/ 1 h 8"/>
                <a:gd name="T58" fmla="*/ 5 w 21"/>
                <a:gd name="T59" fmla="*/ 1 h 8"/>
                <a:gd name="T60" fmla="*/ 4 w 21"/>
                <a:gd name="T61" fmla="*/ 1 h 8"/>
                <a:gd name="T62" fmla="*/ 4 w 21"/>
                <a:gd name="T63" fmla="*/ 1 h 8"/>
                <a:gd name="T64" fmla="*/ 3 w 21"/>
                <a:gd name="T65" fmla="*/ 0 h 8"/>
                <a:gd name="T66" fmla="*/ 1 w 21"/>
                <a:gd name="T67" fmla="*/ 2 h 8"/>
                <a:gd name="T68" fmla="*/ 2 w 21"/>
                <a:gd name="T69" fmla="*/ 4 h 8"/>
                <a:gd name="T70" fmla="*/ 3 w 21"/>
                <a:gd name="T7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1" h="8">
                  <a:moveTo>
                    <a:pt x="3" y="5"/>
                  </a:moveTo>
                  <a:cubicBezTo>
                    <a:pt x="3" y="5"/>
                    <a:pt x="3" y="5"/>
                    <a:pt x="3" y="5"/>
                  </a:cubicBezTo>
                  <a:cubicBezTo>
                    <a:pt x="3" y="5"/>
                    <a:pt x="3" y="5"/>
                    <a:pt x="3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6"/>
                    <a:pt x="4" y="6"/>
                    <a:pt x="5" y="6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6" y="7"/>
                    <a:pt x="6" y="7"/>
                    <a:pt x="6" y="8"/>
                  </a:cubicBezTo>
                  <a:cubicBezTo>
                    <a:pt x="6" y="8"/>
                    <a:pt x="6" y="8"/>
                    <a:pt x="7" y="8"/>
                  </a:cubicBezTo>
                  <a:cubicBezTo>
                    <a:pt x="7" y="8"/>
                    <a:pt x="7" y="8"/>
                    <a:pt x="7" y="8"/>
                  </a:cubicBezTo>
                  <a:cubicBezTo>
                    <a:pt x="8" y="8"/>
                    <a:pt x="9" y="7"/>
                    <a:pt x="10" y="7"/>
                  </a:cubicBezTo>
                  <a:cubicBezTo>
                    <a:pt x="11" y="6"/>
                    <a:pt x="11" y="7"/>
                    <a:pt x="12" y="8"/>
                  </a:cubicBezTo>
                  <a:cubicBezTo>
                    <a:pt x="12" y="8"/>
                    <a:pt x="14" y="7"/>
                    <a:pt x="15" y="7"/>
                  </a:cubicBezTo>
                  <a:cubicBezTo>
                    <a:pt x="17" y="6"/>
                    <a:pt x="19" y="7"/>
                    <a:pt x="20" y="7"/>
                  </a:cubicBezTo>
                  <a:cubicBezTo>
                    <a:pt x="21" y="7"/>
                    <a:pt x="20" y="6"/>
                    <a:pt x="19" y="5"/>
                  </a:cubicBezTo>
                  <a:cubicBezTo>
                    <a:pt x="18" y="5"/>
                    <a:pt x="18" y="3"/>
                    <a:pt x="17" y="2"/>
                  </a:cubicBezTo>
                  <a:cubicBezTo>
                    <a:pt x="16" y="1"/>
                    <a:pt x="13" y="1"/>
                    <a:pt x="11" y="1"/>
                  </a:cubicBezTo>
                  <a:cubicBezTo>
                    <a:pt x="11" y="1"/>
                    <a:pt x="11" y="1"/>
                    <a:pt x="10" y="1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1"/>
                    <a:pt x="10" y="1"/>
                    <a:pt x="9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"/>
                    <a:pt x="8" y="1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1"/>
                    <a:pt x="6" y="1"/>
                    <a:pt x="6" y="1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6" y="1"/>
                    <a:pt x="5" y="1"/>
                    <a:pt x="5" y="1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3" y="1"/>
                    <a:pt x="3" y="0"/>
                    <a:pt x="3" y="0"/>
                  </a:cubicBezTo>
                  <a:cubicBezTo>
                    <a:pt x="1" y="0"/>
                    <a:pt x="0" y="1"/>
                    <a:pt x="1" y="2"/>
                  </a:cubicBezTo>
                  <a:cubicBezTo>
                    <a:pt x="1" y="2"/>
                    <a:pt x="2" y="3"/>
                    <a:pt x="2" y="4"/>
                  </a:cubicBezTo>
                  <a:cubicBezTo>
                    <a:pt x="3" y="4"/>
                    <a:pt x="3" y="5"/>
                    <a:pt x="3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72" name="Freeform 67"/>
            <p:cNvSpPr>
              <a:spLocks/>
            </p:cNvSpPr>
            <p:nvPr/>
          </p:nvSpPr>
          <p:spPr bwMode="auto">
            <a:xfrm>
              <a:off x="2646411" y="3913088"/>
              <a:ext cx="50520" cy="21051"/>
            </a:xfrm>
            <a:custGeom>
              <a:avLst/>
              <a:gdLst>
                <a:gd name="T0" fmla="*/ 4 w 10"/>
                <a:gd name="T1" fmla="*/ 1 h 4"/>
                <a:gd name="T2" fmla="*/ 1 w 10"/>
                <a:gd name="T3" fmla="*/ 2 h 4"/>
                <a:gd name="T4" fmla="*/ 4 w 10"/>
                <a:gd name="T5" fmla="*/ 3 h 4"/>
                <a:gd name="T6" fmla="*/ 4 w 10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4">
                  <a:moveTo>
                    <a:pt x="4" y="1"/>
                  </a:moveTo>
                  <a:cubicBezTo>
                    <a:pt x="1" y="1"/>
                    <a:pt x="1" y="1"/>
                    <a:pt x="1" y="2"/>
                  </a:cubicBezTo>
                  <a:cubicBezTo>
                    <a:pt x="0" y="3"/>
                    <a:pt x="2" y="4"/>
                    <a:pt x="4" y="3"/>
                  </a:cubicBezTo>
                  <a:cubicBezTo>
                    <a:pt x="10" y="0"/>
                    <a:pt x="6" y="0"/>
                    <a:pt x="4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73" name="Freeform 68"/>
            <p:cNvSpPr>
              <a:spLocks/>
            </p:cNvSpPr>
            <p:nvPr/>
          </p:nvSpPr>
          <p:spPr bwMode="auto">
            <a:xfrm>
              <a:off x="2736925" y="3927824"/>
              <a:ext cx="4211" cy="10525"/>
            </a:xfrm>
            <a:custGeom>
              <a:avLst/>
              <a:gdLst>
                <a:gd name="T0" fmla="*/ 1 w 1"/>
                <a:gd name="T1" fmla="*/ 2 h 2"/>
                <a:gd name="T2" fmla="*/ 0 w 1"/>
                <a:gd name="T3" fmla="*/ 1 h 2"/>
                <a:gd name="T4" fmla="*/ 1 w 1"/>
                <a:gd name="T5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">
                  <a:moveTo>
                    <a:pt x="1" y="2"/>
                  </a:moveTo>
                  <a:cubicBezTo>
                    <a:pt x="1" y="1"/>
                    <a:pt x="1" y="0"/>
                    <a:pt x="0" y="1"/>
                  </a:cubicBezTo>
                  <a:cubicBezTo>
                    <a:pt x="0" y="1"/>
                    <a:pt x="0" y="2"/>
                    <a:pt x="1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74" name="Freeform 69"/>
            <p:cNvSpPr>
              <a:spLocks/>
            </p:cNvSpPr>
            <p:nvPr/>
          </p:nvSpPr>
          <p:spPr bwMode="auto">
            <a:xfrm>
              <a:off x="2751662" y="3938348"/>
              <a:ext cx="14735" cy="10525"/>
            </a:xfrm>
            <a:custGeom>
              <a:avLst/>
              <a:gdLst>
                <a:gd name="T0" fmla="*/ 1 w 3"/>
                <a:gd name="T1" fmla="*/ 2 h 2"/>
                <a:gd name="T2" fmla="*/ 3 w 3"/>
                <a:gd name="T3" fmla="*/ 1 h 2"/>
                <a:gd name="T4" fmla="*/ 1 w 3"/>
                <a:gd name="T5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2">
                  <a:moveTo>
                    <a:pt x="1" y="2"/>
                  </a:moveTo>
                  <a:cubicBezTo>
                    <a:pt x="2" y="2"/>
                    <a:pt x="3" y="1"/>
                    <a:pt x="3" y="1"/>
                  </a:cubicBezTo>
                  <a:cubicBezTo>
                    <a:pt x="2" y="0"/>
                    <a:pt x="0" y="2"/>
                    <a:pt x="1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75" name="Freeform 70"/>
            <p:cNvSpPr>
              <a:spLocks/>
            </p:cNvSpPr>
            <p:nvPr/>
          </p:nvSpPr>
          <p:spPr bwMode="auto">
            <a:xfrm>
              <a:off x="2762185" y="3978344"/>
              <a:ext cx="4211" cy="10525"/>
            </a:xfrm>
            <a:custGeom>
              <a:avLst/>
              <a:gdLst>
                <a:gd name="T0" fmla="*/ 0 w 1"/>
                <a:gd name="T1" fmla="*/ 1 h 2"/>
                <a:gd name="T2" fmla="*/ 0 w 1"/>
                <a:gd name="T3" fmla="*/ 0 h 2"/>
                <a:gd name="T4" fmla="*/ 0 w 1"/>
                <a:gd name="T5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">
                  <a:moveTo>
                    <a:pt x="0" y="1"/>
                  </a:moveTo>
                  <a:cubicBezTo>
                    <a:pt x="1" y="1"/>
                    <a:pt x="1" y="0"/>
                    <a:pt x="0" y="0"/>
                  </a:cubicBezTo>
                  <a:cubicBezTo>
                    <a:pt x="0" y="1"/>
                    <a:pt x="0" y="2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76" name="Freeform 71"/>
            <p:cNvSpPr>
              <a:spLocks/>
            </p:cNvSpPr>
            <p:nvPr/>
          </p:nvSpPr>
          <p:spPr bwMode="auto">
            <a:xfrm>
              <a:off x="2751662" y="4024655"/>
              <a:ext cx="10525" cy="8420"/>
            </a:xfrm>
            <a:custGeom>
              <a:avLst/>
              <a:gdLst>
                <a:gd name="T0" fmla="*/ 1 w 2"/>
                <a:gd name="T1" fmla="*/ 2 h 2"/>
                <a:gd name="T2" fmla="*/ 1 w 2"/>
                <a:gd name="T3" fmla="*/ 1 h 2"/>
                <a:gd name="T4" fmla="*/ 1 w 2"/>
                <a:gd name="T5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2">
                  <a:moveTo>
                    <a:pt x="1" y="2"/>
                  </a:moveTo>
                  <a:cubicBezTo>
                    <a:pt x="2" y="1"/>
                    <a:pt x="2" y="0"/>
                    <a:pt x="1" y="1"/>
                  </a:cubicBezTo>
                  <a:cubicBezTo>
                    <a:pt x="0" y="1"/>
                    <a:pt x="0" y="2"/>
                    <a:pt x="1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77" name="Freeform 72"/>
            <p:cNvSpPr>
              <a:spLocks/>
            </p:cNvSpPr>
            <p:nvPr/>
          </p:nvSpPr>
          <p:spPr bwMode="auto">
            <a:xfrm>
              <a:off x="2751662" y="4014129"/>
              <a:ext cx="10525" cy="4211"/>
            </a:xfrm>
            <a:custGeom>
              <a:avLst/>
              <a:gdLst>
                <a:gd name="T0" fmla="*/ 1 w 2"/>
                <a:gd name="T1" fmla="*/ 1 h 1"/>
                <a:gd name="T2" fmla="*/ 2 w 2"/>
                <a:gd name="T3" fmla="*/ 0 h 1"/>
                <a:gd name="T4" fmla="*/ 1 w 2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">
                  <a:moveTo>
                    <a:pt x="1" y="1"/>
                  </a:moveTo>
                  <a:cubicBezTo>
                    <a:pt x="2" y="1"/>
                    <a:pt x="2" y="0"/>
                    <a:pt x="2" y="0"/>
                  </a:cubicBezTo>
                  <a:cubicBezTo>
                    <a:pt x="1" y="0"/>
                    <a:pt x="0" y="1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78" name="Freeform 73"/>
            <p:cNvSpPr>
              <a:spLocks/>
            </p:cNvSpPr>
            <p:nvPr/>
          </p:nvSpPr>
          <p:spPr bwMode="auto">
            <a:xfrm>
              <a:off x="2730613" y="4047809"/>
              <a:ext cx="14735" cy="16840"/>
            </a:xfrm>
            <a:custGeom>
              <a:avLst/>
              <a:gdLst>
                <a:gd name="T0" fmla="*/ 2 w 3"/>
                <a:gd name="T1" fmla="*/ 2 h 3"/>
                <a:gd name="T2" fmla="*/ 1 w 3"/>
                <a:gd name="T3" fmla="*/ 1 h 3"/>
                <a:gd name="T4" fmla="*/ 2 w 3"/>
                <a:gd name="T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3">
                  <a:moveTo>
                    <a:pt x="2" y="2"/>
                  </a:moveTo>
                  <a:cubicBezTo>
                    <a:pt x="3" y="1"/>
                    <a:pt x="2" y="0"/>
                    <a:pt x="1" y="1"/>
                  </a:cubicBezTo>
                  <a:cubicBezTo>
                    <a:pt x="0" y="1"/>
                    <a:pt x="1" y="3"/>
                    <a:pt x="2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79" name="Freeform 74"/>
            <p:cNvSpPr>
              <a:spLocks/>
            </p:cNvSpPr>
            <p:nvPr/>
          </p:nvSpPr>
          <p:spPr bwMode="auto">
            <a:xfrm>
              <a:off x="2785342" y="4024655"/>
              <a:ext cx="14735" cy="14735"/>
            </a:xfrm>
            <a:custGeom>
              <a:avLst/>
              <a:gdLst>
                <a:gd name="T0" fmla="*/ 1 w 3"/>
                <a:gd name="T1" fmla="*/ 1 h 3"/>
                <a:gd name="T2" fmla="*/ 2 w 3"/>
                <a:gd name="T3" fmla="*/ 2 h 3"/>
                <a:gd name="T4" fmla="*/ 1 w 3"/>
                <a:gd name="T5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3">
                  <a:moveTo>
                    <a:pt x="1" y="1"/>
                  </a:moveTo>
                  <a:cubicBezTo>
                    <a:pt x="0" y="1"/>
                    <a:pt x="1" y="3"/>
                    <a:pt x="2" y="2"/>
                  </a:cubicBezTo>
                  <a:cubicBezTo>
                    <a:pt x="3" y="0"/>
                    <a:pt x="2" y="0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80" name="Freeform 75"/>
            <p:cNvSpPr>
              <a:spLocks/>
            </p:cNvSpPr>
            <p:nvPr/>
          </p:nvSpPr>
          <p:spPr bwMode="auto">
            <a:xfrm>
              <a:off x="2442225" y="3774158"/>
              <a:ext cx="14735" cy="10525"/>
            </a:xfrm>
            <a:custGeom>
              <a:avLst/>
              <a:gdLst>
                <a:gd name="T0" fmla="*/ 1 w 3"/>
                <a:gd name="T1" fmla="*/ 0 h 2"/>
                <a:gd name="T2" fmla="*/ 0 w 3"/>
                <a:gd name="T3" fmla="*/ 1 h 2"/>
                <a:gd name="T4" fmla="*/ 2 w 3"/>
                <a:gd name="T5" fmla="*/ 2 h 2"/>
                <a:gd name="T6" fmla="*/ 1 w 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2">
                  <a:moveTo>
                    <a:pt x="1" y="0"/>
                  </a:moveTo>
                  <a:cubicBezTo>
                    <a:pt x="0" y="0"/>
                    <a:pt x="0" y="0"/>
                    <a:pt x="0" y="1"/>
                  </a:cubicBezTo>
                  <a:cubicBezTo>
                    <a:pt x="0" y="2"/>
                    <a:pt x="1" y="2"/>
                    <a:pt x="2" y="2"/>
                  </a:cubicBezTo>
                  <a:cubicBezTo>
                    <a:pt x="3" y="1"/>
                    <a:pt x="3" y="0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81" name="Freeform 76"/>
            <p:cNvSpPr>
              <a:spLocks/>
            </p:cNvSpPr>
            <p:nvPr/>
          </p:nvSpPr>
          <p:spPr bwMode="auto">
            <a:xfrm>
              <a:off x="2442225" y="3788892"/>
              <a:ext cx="14735" cy="10525"/>
            </a:xfrm>
            <a:custGeom>
              <a:avLst/>
              <a:gdLst>
                <a:gd name="T0" fmla="*/ 2 w 3"/>
                <a:gd name="T1" fmla="*/ 1 h 2"/>
                <a:gd name="T2" fmla="*/ 2 w 3"/>
                <a:gd name="T3" fmla="*/ 0 h 2"/>
                <a:gd name="T4" fmla="*/ 2 w 3"/>
                <a:gd name="T5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2">
                  <a:moveTo>
                    <a:pt x="2" y="1"/>
                  </a:moveTo>
                  <a:cubicBezTo>
                    <a:pt x="2" y="1"/>
                    <a:pt x="3" y="0"/>
                    <a:pt x="2" y="0"/>
                  </a:cubicBezTo>
                  <a:cubicBezTo>
                    <a:pt x="1" y="0"/>
                    <a:pt x="0" y="2"/>
                    <a:pt x="2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82" name="Freeform 77"/>
            <p:cNvSpPr>
              <a:spLocks/>
            </p:cNvSpPr>
            <p:nvPr/>
          </p:nvSpPr>
          <p:spPr bwMode="auto">
            <a:xfrm>
              <a:off x="2755873" y="3603651"/>
              <a:ext cx="14735" cy="14735"/>
            </a:xfrm>
            <a:custGeom>
              <a:avLst/>
              <a:gdLst>
                <a:gd name="T0" fmla="*/ 2 w 3"/>
                <a:gd name="T1" fmla="*/ 1 h 3"/>
                <a:gd name="T2" fmla="*/ 1 w 3"/>
                <a:gd name="T3" fmla="*/ 2 h 3"/>
                <a:gd name="T4" fmla="*/ 2 w 3"/>
                <a:gd name="T5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3">
                  <a:moveTo>
                    <a:pt x="2" y="1"/>
                  </a:moveTo>
                  <a:cubicBezTo>
                    <a:pt x="1" y="1"/>
                    <a:pt x="0" y="3"/>
                    <a:pt x="1" y="2"/>
                  </a:cubicBezTo>
                  <a:cubicBezTo>
                    <a:pt x="2" y="2"/>
                    <a:pt x="3" y="0"/>
                    <a:pt x="2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83" name="Freeform 78"/>
            <p:cNvSpPr>
              <a:spLocks/>
            </p:cNvSpPr>
            <p:nvPr/>
          </p:nvSpPr>
          <p:spPr bwMode="auto">
            <a:xfrm>
              <a:off x="2865332" y="3170018"/>
              <a:ext cx="54731" cy="18945"/>
            </a:xfrm>
            <a:custGeom>
              <a:avLst/>
              <a:gdLst>
                <a:gd name="T0" fmla="*/ 7 w 11"/>
                <a:gd name="T1" fmla="*/ 1 h 4"/>
                <a:gd name="T2" fmla="*/ 1 w 11"/>
                <a:gd name="T3" fmla="*/ 0 h 4"/>
                <a:gd name="T4" fmla="*/ 10 w 11"/>
                <a:gd name="T5" fmla="*/ 4 h 4"/>
                <a:gd name="T6" fmla="*/ 7 w 11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4">
                  <a:moveTo>
                    <a:pt x="7" y="1"/>
                  </a:moveTo>
                  <a:cubicBezTo>
                    <a:pt x="4" y="0"/>
                    <a:pt x="0" y="0"/>
                    <a:pt x="1" y="0"/>
                  </a:cubicBezTo>
                  <a:cubicBezTo>
                    <a:pt x="3" y="1"/>
                    <a:pt x="7" y="4"/>
                    <a:pt x="10" y="4"/>
                  </a:cubicBezTo>
                  <a:cubicBezTo>
                    <a:pt x="11" y="3"/>
                    <a:pt x="9" y="2"/>
                    <a:pt x="7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84" name="Freeform 79"/>
            <p:cNvSpPr>
              <a:spLocks/>
            </p:cNvSpPr>
            <p:nvPr/>
          </p:nvSpPr>
          <p:spPr bwMode="auto">
            <a:xfrm>
              <a:off x="2905327" y="3245798"/>
              <a:ext cx="25260" cy="29471"/>
            </a:xfrm>
            <a:custGeom>
              <a:avLst/>
              <a:gdLst>
                <a:gd name="T0" fmla="*/ 1 w 5"/>
                <a:gd name="T1" fmla="*/ 6 h 6"/>
                <a:gd name="T2" fmla="*/ 4 w 5"/>
                <a:gd name="T3" fmla="*/ 3 h 6"/>
                <a:gd name="T4" fmla="*/ 4 w 5"/>
                <a:gd name="T5" fmla="*/ 1 h 6"/>
                <a:gd name="T6" fmla="*/ 1 w 5"/>
                <a:gd name="T7" fmla="*/ 3 h 6"/>
                <a:gd name="T8" fmla="*/ 1 w 5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6">
                  <a:moveTo>
                    <a:pt x="1" y="6"/>
                  </a:moveTo>
                  <a:cubicBezTo>
                    <a:pt x="1" y="6"/>
                    <a:pt x="5" y="4"/>
                    <a:pt x="4" y="3"/>
                  </a:cubicBezTo>
                  <a:cubicBezTo>
                    <a:pt x="4" y="3"/>
                    <a:pt x="4" y="2"/>
                    <a:pt x="4" y="1"/>
                  </a:cubicBezTo>
                  <a:cubicBezTo>
                    <a:pt x="4" y="0"/>
                    <a:pt x="3" y="2"/>
                    <a:pt x="1" y="3"/>
                  </a:cubicBezTo>
                  <a:cubicBezTo>
                    <a:pt x="0" y="5"/>
                    <a:pt x="0" y="6"/>
                    <a:pt x="1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85" name="Freeform 80"/>
            <p:cNvSpPr>
              <a:spLocks/>
            </p:cNvSpPr>
            <p:nvPr/>
          </p:nvSpPr>
          <p:spPr bwMode="auto">
            <a:xfrm>
              <a:off x="2955849" y="3115287"/>
              <a:ext cx="134721" cy="138931"/>
            </a:xfrm>
            <a:custGeom>
              <a:avLst/>
              <a:gdLst>
                <a:gd name="T0" fmla="*/ 16 w 27"/>
                <a:gd name="T1" fmla="*/ 11 h 28"/>
                <a:gd name="T2" fmla="*/ 16 w 27"/>
                <a:gd name="T3" fmla="*/ 9 h 28"/>
                <a:gd name="T4" fmla="*/ 12 w 27"/>
                <a:gd name="T5" fmla="*/ 11 h 28"/>
                <a:gd name="T6" fmla="*/ 14 w 27"/>
                <a:gd name="T7" fmla="*/ 7 h 28"/>
                <a:gd name="T8" fmla="*/ 17 w 27"/>
                <a:gd name="T9" fmla="*/ 4 h 28"/>
                <a:gd name="T10" fmla="*/ 17 w 27"/>
                <a:gd name="T11" fmla="*/ 2 h 28"/>
                <a:gd name="T12" fmla="*/ 19 w 27"/>
                <a:gd name="T13" fmla="*/ 0 h 28"/>
                <a:gd name="T14" fmla="*/ 14 w 27"/>
                <a:gd name="T15" fmla="*/ 2 h 28"/>
                <a:gd name="T16" fmla="*/ 10 w 27"/>
                <a:gd name="T17" fmla="*/ 6 h 28"/>
                <a:gd name="T18" fmla="*/ 7 w 27"/>
                <a:gd name="T19" fmla="*/ 12 h 28"/>
                <a:gd name="T20" fmla="*/ 7 w 27"/>
                <a:gd name="T21" fmla="*/ 14 h 28"/>
                <a:gd name="T22" fmla="*/ 5 w 27"/>
                <a:gd name="T23" fmla="*/ 15 h 28"/>
                <a:gd name="T24" fmla="*/ 2 w 27"/>
                <a:gd name="T25" fmla="*/ 18 h 28"/>
                <a:gd name="T26" fmla="*/ 3 w 27"/>
                <a:gd name="T27" fmla="*/ 18 h 28"/>
                <a:gd name="T28" fmla="*/ 1 w 27"/>
                <a:gd name="T29" fmla="*/ 21 h 28"/>
                <a:gd name="T30" fmla="*/ 4 w 27"/>
                <a:gd name="T31" fmla="*/ 23 h 28"/>
                <a:gd name="T32" fmla="*/ 12 w 27"/>
                <a:gd name="T33" fmla="*/ 22 h 28"/>
                <a:gd name="T34" fmla="*/ 12 w 27"/>
                <a:gd name="T35" fmla="*/ 24 h 28"/>
                <a:gd name="T36" fmla="*/ 12 w 27"/>
                <a:gd name="T37" fmla="*/ 26 h 28"/>
                <a:gd name="T38" fmla="*/ 15 w 27"/>
                <a:gd name="T39" fmla="*/ 27 h 28"/>
                <a:gd name="T40" fmla="*/ 17 w 27"/>
                <a:gd name="T41" fmla="*/ 24 h 28"/>
                <a:gd name="T42" fmla="*/ 19 w 27"/>
                <a:gd name="T43" fmla="*/ 23 h 28"/>
                <a:gd name="T44" fmla="*/ 21 w 27"/>
                <a:gd name="T45" fmla="*/ 21 h 28"/>
                <a:gd name="T46" fmla="*/ 21 w 27"/>
                <a:gd name="T47" fmla="*/ 23 h 28"/>
                <a:gd name="T48" fmla="*/ 20 w 27"/>
                <a:gd name="T49" fmla="*/ 26 h 28"/>
                <a:gd name="T50" fmla="*/ 23 w 27"/>
                <a:gd name="T51" fmla="*/ 25 h 28"/>
                <a:gd name="T52" fmla="*/ 24 w 27"/>
                <a:gd name="T53" fmla="*/ 28 h 28"/>
                <a:gd name="T54" fmla="*/ 26 w 27"/>
                <a:gd name="T55" fmla="*/ 23 h 28"/>
                <a:gd name="T56" fmla="*/ 25 w 27"/>
                <a:gd name="T57" fmla="*/ 23 h 28"/>
                <a:gd name="T58" fmla="*/ 26 w 27"/>
                <a:gd name="T59" fmla="*/ 20 h 28"/>
                <a:gd name="T60" fmla="*/ 23 w 27"/>
                <a:gd name="T61" fmla="*/ 21 h 28"/>
                <a:gd name="T62" fmla="*/ 25 w 27"/>
                <a:gd name="T63" fmla="*/ 18 h 28"/>
                <a:gd name="T64" fmla="*/ 24 w 27"/>
                <a:gd name="T65" fmla="*/ 18 h 28"/>
                <a:gd name="T66" fmla="*/ 24 w 27"/>
                <a:gd name="T67" fmla="*/ 16 h 28"/>
                <a:gd name="T68" fmla="*/ 25 w 27"/>
                <a:gd name="T69" fmla="*/ 13 h 28"/>
                <a:gd name="T70" fmla="*/ 21 w 27"/>
                <a:gd name="T71" fmla="*/ 13 h 28"/>
                <a:gd name="T72" fmla="*/ 18 w 27"/>
                <a:gd name="T73" fmla="*/ 13 h 28"/>
                <a:gd name="T74" fmla="*/ 16 w 27"/>
                <a:gd name="T75" fmla="*/ 1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7" h="28">
                  <a:moveTo>
                    <a:pt x="16" y="11"/>
                  </a:moveTo>
                  <a:cubicBezTo>
                    <a:pt x="17" y="10"/>
                    <a:pt x="16" y="9"/>
                    <a:pt x="16" y="9"/>
                  </a:cubicBezTo>
                  <a:cubicBezTo>
                    <a:pt x="15" y="9"/>
                    <a:pt x="13" y="11"/>
                    <a:pt x="12" y="11"/>
                  </a:cubicBezTo>
                  <a:cubicBezTo>
                    <a:pt x="12" y="12"/>
                    <a:pt x="14" y="8"/>
                    <a:pt x="14" y="7"/>
                  </a:cubicBezTo>
                  <a:cubicBezTo>
                    <a:pt x="14" y="7"/>
                    <a:pt x="17" y="4"/>
                    <a:pt x="17" y="4"/>
                  </a:cubicBezTo>
                  <a:cubicBezTo>
                    <a:pt x="17" y="3"/>
                    <a:pt x="17" y="2"/>
                    <a:pt x="17" y="2"/>
                  </a:cubicBezTo>
                  <a:cubicBezTo>
                    <a:pt x="17" y="2"/>
                    <a:pt x="19" y="1"/>
                    <a:pt x="19" y="0"/>
                  </a:cubicBezTo>
                  <a:cubicBezTo>
                    <a:pt x="19" y="0"/>
                    <a:pt x="15" y="1"/>
                    <a:pt x="14" y="2"/>
                  </a:cubicBezTo>
                  <a:cubicBezTo>
                    <a:pt x="14" y="3"/>
                    <a:pt x="12" y="5"/>
                    <a:pt x="10" y="6"/>
                  </a:cubicBezTo>
                  <a:cubicBezTo>
                    <a:pt x="9" y="8"/>
                    <a:pt x="7" y="11"/>
                    <a:pt x="7" y="12"/>
                  </a:cubicBezTo>
                  <a:cubicBezTo>
                    <a:pt x="6" y="13"/>
                    <a:pt x="6" y="13"/>
                    <a:pt x="7" y="14"/>
                  </a:cubicBezTo>
                  <a:cubicBezTo>
                    <a:pt x="7" y="15"/>
                    <a:pt x="5" y="15"/>
                    <a:pt x="5" y="15"/>
                  </a:cubicBezTo>
                  <a:cubicBezTo>
                    <a:pt x="5" y="15"/>
                    <a:pt x="3" y="16"/>
                    <a:pt x="2" y="18"/>
                  </a:cubicBezTo>
                  <a:cubicBezTo>
                    <a:pt x="0" y="19"/>
                    <a:pt x="2" y="18"/>
                    <a:pt x="3" y="18"/>
                  </a:cubicBezTo>
                  <a:cubicBezTo>
                    <a:pt x="4" y="18"/>
                    <a:pt x="2" y="20"/>
                    <a:pt x="1" y="21"/>
                  </a:cubicBezTo>
                  <a:cubicBezTo>
                    <a:pt x="0" y="22"/>
                    <a:pt x="2" y="23"/>
                    <a:pt x="4" y="23"/>
                  </a:cubicBezTo>
                  <a:cubicBezTo>
                    <a:pt x="5" y="23"/>
                    <a:pt x="10" y="22"/>
                    <a:pt x="12" y="22"/>
                  </a:cubicBezTo>
                  <a:cubicBezTo>
                    <a:pt x="13" y="22"/>
                    <a:pt x="13" y="23"/>
                    <a:pt x="12" y="24"/>
                  </a:cubicBezTo>
                  <a:cubicBezTo>
                    <a:pt x="11" y="24"/>
                    <a:pt x="12" y="25"/>
                    <a:pt x="12" y="26"/>
                  </a:cubicBezTo>
                  <a:cubicBezTo>
                    <a:pt x="12" y="27"/>
                    <a:pt x="14" y="27"/>
                    <a:pt x="15" y="27"/>
                  </a:cubicBezTo>
                  <a:cubicBezTo>
                    <a:pt x="15" y="27"/>
                    <a:pt x="17" y="25"/>
                    <a:pt x="17" y="24"/>
                  </a:cubicBezTo>
                  <a:cubicBezTo>
                    <a:pt x="17" y="24"/>
                    <a:pt x="18" y="23"/>
                    <a:pt x="19" y="23"/>
                  </a:cubicBezTo>
                  <a:cubicBezTo>
                    <a:pt x="19" y="23"/>
                    <a:pt x="20" y="22"/>
                    <a:pt x="21" y="21"/>
                  </a:cubicBezTo>
                  <a:cubicBezTo>
                    <a:pt x="21" y="21"/>
                    <a:pt x="21" y="22"/>
                    <a:pt x="21" y="23"/>
                  </a:cubicBezTo>
                  <a:cubicBezTo>
                    <a:pt x="22" y="24"/>
                    <a:pt x="20" y="25"/>
                    <a:pt x="20" y="26"/>
                  </a:cubicBezTo>
                  <a:cubicBezTo>
                    <a:pt x="20" y="27"/>
                    <a:pt x="22" y="25"/>
                    <a:pt x="23" y="25"/>
                  </a:cubicBezTo>
                  <a:cubicBezTo>
                    <a:pt x="23" y="25"/>
                    <a:pt x="23" y="27"/>
                    <a:pt x="24" y="28"/>
                  </a:cubicBezTo>
                  <a:cubicBezTo>
                    <a:pt x="25" y="28"/>
                    <a:pt x="26" y="23"/>
                    <a:pt x="26" y="23"/>
                  </a:cubicBezTo>
                  <a:cubicBezTo>
                    <a:pt x="27" y="22"/>
                    <a:pt x="25" y="22"/>
                    <a:pt x="25" y="23"/>
                  </a:cubicBezTo>
                  <a:cubicBezTo>
                    <a:pt x="24" y="23"/>
                    <a:pt x="25" y="21"/>
                    <a:pt x="26" y="20"/>
                  </a:cubicBezTo>
                  <a:cubicBezTo>
                    <a:pt x="26" y="20"/>
                    <a:pt x="23" y="22"/>
                    <a:pt x="23" y="21"/>
                  </a:cubicBezTo>
                  <a:cubicBezTo>
                    <a:pt x="23" y="21"/>
                    <a:pt x="24" y="19"/>
                    <a:pt x="25" y="18"/>
                  </a:cubicBezTo>
                  <a:cubicBezTo>
                    <a:pt x="26" y="18"/>
                    <a:pt x="25" y="18"/>
                    <a:pt x="24" y="18"/>
                  </a:cubicBezTo>
                  <a:cubicBezTo>
                    <a:pt x="24" y="19"/>
                    <a:pt x="24" y="17"/>
                    <a:pt x="24" y="16"/>
                  </a:cubicBezTo>
                  <a:cubicBezTo>
                    <a:pt x="23" y="15"/>
                    <a:pt x="25" y="14"/>
                    <a:pt x="25" y="13"/>
                  </a:cubicBezTo>
                  <a:cubicBezTo>
                    <a:pt x="25" y="13"/>
                    <a:pt x="21" y="12"/>
                    <a:pt x="21" y="13"/>
                  </a:cubicBezTo>
                  <a:cubicBezTo>
                    <a:pt x="20" y="13"/>
                    <a:pt x="19" y="13"/>
                    <a:pt x="18" y="13"/>
                  </a:cubicBezTo>
                  <a:cubicBezTo>
                    <a:pt x="17" y="13"/>
                    <a:pt x="16" y="11"/>
                    <a:pt x="16" y="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86" name="Freeform 81"/>
            <p:cNvSpPr>
              <a:spLocks/>
            </p:cNvSpPr>
            <p:nvPr/>
          </p:nvSpPr>
          <p:spPr bwMode="auto">
            <a:xfrm>
              <a:off x="2635886" y="2780590"/>
              <a:ext cx="25260" cy="29471"/>
            </a:xfrm>
            <a:custGeom>
              <a:avLst/>
              <a:gdLst>
                <a:gd name="T0" fmla="*/ 1 w 5"/>
                <a:gd name="T1" fmla="*/ 6 h 6"/>
                <a:gd name="T2" fmla="*/ 4 w 5"/>
                <a:gd name="T3" fmla="*/ 2 h 6"/>
                <a:gd name="T4" fmla="*/ 3 w 5"/>
                <a:gd name="T5" fmla="*/ 0 h 6"/>
                <a:gd name="T6" fmla="*/ 1 w 5"/>
                <a:gd name="T7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6">
                  <a:moveTo>
                    <a:pt x="1" y="6"/>
                  </a:moveTo>
                  <a:cubicBezTo>
                    <a:pt x="2" y="6"/>
                    <a:pt x="4" y="3"/>
                    <a:pt x="4" y="2"/>
                  </a:cubicBezTo>
                  <a:cubicBezTo>
                    <a:pt x="5" y="1"/>
                    <a:pt x="5" y="0"/>
                    <a:pt x="3" y="0"/>
                  </a:cubicBezTo>
                  <a:cubicBezTo>
                    <a:pt x="1" y="0"/>
                    <a:pt x="0" y="6"/>
                    <a:pt x="1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87" name="Freeform 82"/>
            <p:cNvSpPr>
              <a:spLocks/>
            </p:cNvSpPr>
            <p:nvPr/>
          </p:nvSpPr>
          <p:spPr bwMode="auto">
            <a:xfrm>
              <a:off x="2572733" y="2759540"/>
              <a:ext cx="54731" cy="39995"/>
            </a:xfrm>
            <a:custGeom>
              <a:avLst/>
              <a:gdLst>
                <a:gd name="T0" fmla="*/ 6 w 11"/>
                <a:gd name="T1" fmla="*/ 2 h 8"/>
                <a:gd name="T2" fmla="*/ 2 w 11"/>
                <a:gd name="T3" fmla="*/ 5 h 8"/>
                <a:gd name="T4" fmla="*/ 1 w 11"/>
                <a:gd name="T5" fmla="*/ 7 h 8"/>
                <a:gd name="T6" fmla="*/ 2 w 11"/>
                <a:gd name="T7" fmla="*/ 7 h 8"/>
                <a:gd name="T8" fmla="*/ 3 w 11"/>
                <a:gd name="T9" fmla="*/ 7 h 8"/>
                <a:gd name="T10" fmla="*/ 6 w 11"/>
                <a:gd name="T11" fmla="*/ 6 h 8"/>
                <a:gd name="T12" fmla="*/ 11 w 11"/>
                <a:gd name="T13" fmla="*/ 1 h 8"/>
                <a:gd name="T14" fmla="*/ 9 w 11"/>
                <a:gd name="T15" fmla="*/ 1 h 8"/>
                <a:gd name="T16" fmla="*/ 6 w 11"/>
                <a:gd name="T17" fmla="*/ 2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" h="8">
                  <a:moveTo>
                    <a:pt x="6" y="2"/>
                  </a:moveTo>
                  <a:cubicBezTo>
                    <a:pt x="5" y="2"/>
                    <a:pt x="3" y="4"/>
                    <a:pt x="2" y="5"/>
                  </a:cubicBezTo>
                  <a:cubicBezTo>
                    <a:pt x="1" y="6"/>
                    <a:pt x="0" y="7"/>
                    <a:pt x="1" y="7"/>
                  </a:cubicBezTo>
                  <a:cubicBezTo>
                    <a:pt x="1" y="8"/>
                    <a:pt x="1" y="7"/>
                    <a:pt x="2" y="7"/>
                  </a:cubicBezTo>
                  <a:cubicBezTo>
                    <a:pt x="2" y="6"/>
                    <a:pt x="2" y="7"/>
                    <a:pt x="3" y="7"/>
                  </a:cubicBezTo>
                  <a:cubicBezTo>
                    <a:pt x="4" y="7"/>
                    <a:pt x="4" y="6"/>
                    <a:pt x="6" y="6"/>
                  </a:cubicBezTo>
                  <a:cubicBezTo>
                    <a:pt x="8" y="5"/>
                    <a:pt x="11" y="2"/>
                    <a:pt x="11" y="1"/>
                  </a:cubicBezTo>
                  <a:cubicBezTo>
                    <a:pt x="11" y="0"/>
                    <a:pt x="10" y="1"/>
                    <a:pt x="9" y="1"/>
                  </a:cubicBezTo>
                  <a:cubicBezTo>
                    <a:pt x="8" y="2"/>
                    <a:pt x="8" y="1"/>
                    <a:pt x="6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88" name="Freeform 83"/>
            <p:cNvSpPr>
              <a:spLocks/>
            </p:cNvSpPr>
            <p:nvPr/>
          </p:nvSpPr>
          <p:spPr bwMode="auto">
            <a:xfrm>
              <a:off x="2522214" y="2660604"/>
              <a:ext cx="128407" cy="105251"/>
            </a:xfrm>
            <a:custGeom>
              <a:avLst/>
              <a:gdLst>
                <a:gd name="T0" fmla="*/ 26 w 26"/>
                <a:gd name="T1" fmla="*/ 15 h 21"/>
                <a:gd name="T2" fmla="*/ 23 w 26"/>
                <a:gd name="T3" fmla="*/ 13 h 21"/>
                <a:gd name="T4" fmla="*/ 21 w 26"/>
                <a:gd name="T5" fmla="*/ 14 h 21"/>
                <a:gd name="T6" fmla="*/ 21 w 26"/>
                <a:gd name="T7" fmla="*/ 9 h 21"/>
                <a:gd name="T8" fmla="*/ 18 w 26"/>
                <a:gd name="T9" fmla="*/ 7 h 21"/>
                <a:gd name="T10" fmla="*/ 16 w 26"/>
                <a:gd name="T11" fmla="*/ 5 h 21"/>
                <a:gd name="T12" fmla="*/ 14 w 26"/>
                <a:gd name="T13" fmla="*/ 3 h 21"/>
                <a:gd name="T14" fmla="*/ 12 w 26"/>
                <a:gd name="T15" fmla="*/ 5 h 21"/>
                <a:gd name="T16" fmla="*/ 13 w 26"/>
                <a:gd name="T17" fmla="*/ 2 h 21"/>
                <a:gd name="T18" fmla="*/ 12 w 26"/>
                <a:gd name="T19" fmla="*/ 0 h 21"/>
                <a:gd name="T20" fmla="*/ 10 w 26"/>
                <a:gd name="T21" fmla="*/ 2 h 21"/>
                <a:gd name="T22" fmla="*/ 7 w 26"/>
                <a:gd name="T23" fmla="*/ 11 h 21"/>
                <a:gd name="T24" fmla="*/ 3 w 26"/>
                <a:gd name="T25" fmla="*/ 14 h 21"/>
                <a:gd name="T26" fmla="*/ 1 w 26"/>
                <a:gd name="T27" fmla="*/ 16 h 21"/>
                <a:gd name="T28" fmla="*/ 5 w 26"/>
                <a:gd name="T29" fmla="*/ 17 h 21"/>
                <a:gd name="T30" fmla="*/ 5 w 26"/>
                <a:gd name="T31" fmla="*/ 21 h 21"/>
                <a:gd name="T32" fmla="*/ 10 w 26"/>
                <a:gd name="T33" fmla="*/ 20 h 21"/>
                <a:gd name="T34" fmla="*/ 13 w 26"/>
                <a:gd name="T35" fmla="*/ 16 h 21"/>
                <a:gd name="T36" fmla="*/ 13 w 26"/>
                <a:gd name="T37" fmla="*/ 15 h 21"/>
                <a:gd name="T38" fmla="*/ 17 w 26"/>
                <a:gd name="T39" fmla="*/ 12 h 21"/>
                <a:gd name="T40" fmla="*/ 17 w 26"/>
                <a:gd name="T41" fmla="*/ 14 h 21"/>
                <a:gd name="T42" fmla="*/ 18 w 26"/>
                <a:gd name="T43" fmla="*/ 16 h 21"/>
                <a:gd name="T44" fmla="*/ 23 w 26"/>
                <a:gd name="T45" fmla="*/ 17 h 21"/>
                <a:gd name="T46" fmla="*/ 26 w 26"/>
                <a:gd name="T47" fmla="*/ 15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6" h="21">
                  <a:moveTo>
                    <a:pt x="26" y="15"/>
                  </a:moveTo>
                  <a:cubicBezTo>
                    <a:pt x="26" y="14"/>
                    <a:pt x="25" y="13"/>
                    <a:pt x="23" y="13"/>
                  </a:cubicBezTo>
                  <a:cubicBezTo>
                    <a:pt x="22" y="13"/>
                    <a:pt x="22" y="14"/>
                    <a:pt x="21" y="14"/>
                  </a:cubicBezTo>
                  <a:cubicBezTo>
                    <a:pt x="20" y="15"/>
                    <a:pt x="22" y="9"/>
                    <a:pt x="21" y="9"/>
                  </a:cubicBezTo>
                  <a:cubicBezTo>
                    <a:pt x="20" y="8"/>
                    <a:pt x="18" y="8"/>
                    <a:pt x="18" y="7"/>
                  </a:cubicBezTo>
                  <a:cubicBezTo>
                    <a:pt x="17" y="6"/>
                    <a:pt x="17" y="5"/>
                    <a:pt x="16" y="5"/>
                  </a:cubicBezTo>
                  <a:cubicBezTo>
                    <a:pt x="15" y="4"/>
                    <a:pt x="15" y="3"/>
                    <a:pt x="14" y="3"/>
                  </a:cubicBezTo>
                  <a:cubicBezTo>
                    <a:pt x="13" y="2"/>
                    <a:pt x="14" y="4"/>
                    <a:pt x="12" y="5"/>
                  </a:cubicBezTo>
                  <a:cubicBezTo>
                    <a:pt x="11" y="5"/>
                    <a:pt x="13" y="2"/>
                    <a:pt x="13" y="2"/>
                  </a:cubicBezTo>
                  <a:cubicBezTo>
                    <a:pt x="13" y="1"/>
                    <a:pt x="13" y="0"/>
                    <a:pt x="12" y="0"/>
                  </a:cubicBezTo>
                  <a:cubicBezTo>
                    <a:pt x="11" y="0"/>
                    <a:pt x="10" y="1"/>
                    <a:pt x="10" y="2"/>
                  </a:cubicBezTo>
                  <a:cubicBezTo>
                    <a:pt x="9" y="3"/>
                    <a:pt x="7" y="10"/>
                    <a:pt x="7" y="11"/>
                  </a:cubicBezTo>
                  <a:cubicBezTo>
                    <a:pt x="7" y="13"/>
                    <a:pt x="5" y="13"/>
                    <a:pt x="3" y="14"/>
                  </a:cubicBezTo>
                  <a:cubicBezTo>
                    <a:pt x="0" y="15"/>
                    <a:pt x="0" y="15"/>
                    <a:pt x="1" y="16"/>
                  </a:cubicBezTo>
                  <a:cubicBezTo>
                    <a:pt x="1" y="17"/>
                    <a:pt x="4" y="17"/>
                    <a:pt x="5" y="17"/>
                  </a:cubicBezTo>
                  <a:cubicBezTo>
                    <a:pt x="6" y="17"/>
                    <a:pt x="3" y="21"/>
                    <a:pt x="5" y="21"/>
                  </a:cubicBezTo>
                  <a:cubicBezTo>
                    <a:pt x="6" y="21"/>
                    <a:pt x="10" y="20"/>
                    <a:pt x="10" y="20"/>
                  </a:cubicBezTo>
                  <a:cubicBezTo>
                    <a:pt x="10" y="20"/>
                    <a:pt x="12" y="17"/>
                    <a:pt x="13" y="16"/>
                  </a:cubicBezTo>
                  <a:cubicBezTo>
                    <a:pt x="14" y="16"/>
                    <a:pt x="13" y="15"/>
                    <a:pt x="13" y="15"/>
                  </a:cubicBezTo>
                  <a:cubicBezTo>
                    <a:pt x="13" y="14"/>
                    <a:pt x="16" y="12"/>
                    <a:pt x="17" y="12"/>
                  </a:cubicBezTo>
                  <a:cubicBezTo>
                    <a:pt x="18" y="12"/>
                    <a:pt x="17" y="14"/>
                    <a:pt x="17" y="14"/>
                  </a:cubicBezTo>
                  <a:cubicBezTo>
                    <a:pt x="16" y="15"/>
                    <a:pt x="17" y="15"/>
                    <a:pt x="18" y="16"/>
                  </a:cubicBezTo>
                  <a:cubicBezTo>
                    <a:pt x="20" y="16"/>
                    <a:pt x="21" y="17"/>
                    <a:pt x="23" y="17"/>
                  </a:cubicBezTo>
                  <a:cubicBezTo>
                    <a:pt x="24" y="17"/>
                    <a:pt x="26" y="15"/>
                    <a:pt x="26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89" name="Freeform 84"/>
            <p:cNvSpPr>
              <a:spLocks/>
            </p:cNvSpPr>
            <p:nvPr/>
          </p:nvSpPr>
          <p:spPr bwMode="auto">
            <a:xfrm>
              <a:off x="2686406" y="2744803"/>
              <a:ext cx="25260" cy="21051"/>
            </a:xfrm>
            <a:custGeom>
              <a:avLst/>
              <a:gdLst>
                <a:gd name="T0" fmla="*/ 1 w 5"/>
                <a:gd name="T1" fmla="*/ 0 h 4"/>
                <a:gd name="T2" fmla="*/ 1 w 5"/>
                <a:gd name="T3" fmla="*/ 3 h 4"/>
                <a:gd name="T4" fmla="*/ 4 w 5"/>
                <a:gd name="T5" fmla="*/ 2 h 4"/>
                <a:gd name="T6" fmla="*/ 3 w 5"/>
                <a:gd name="T7" fmla="*/ 1 h 4"/>
                <a:gd name="T8" fmla="*/ 1 w 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4">
                  <a:moveTo>
                    <a:pt x="1" y="0"/>
                  </a:moveTo>
                  <a:cubicBezTo>
                    <a:pt x="0" y="1"/>
                    <a:pt x="0" y="2"/>
                    <a:pt x="1" y="3"/>
                  </a:cubicBezTo>
                  <a:cubicBezTo>
                    <a:pt x="2" y="4"/>
                    <a:pt x="3" y="3"/>
                    <a:pt x="4" y="2"/>
                  </a:cubicBezTo>
                  <a:cubicBezTo>
                    <a:pt x="5" y="2"/>
                    <a:pt x="3" y="1"/>
                    <a:pt x="3" y="1"/>
                  </a:cubicBezTo>
                  <a:cubicBezTo>
                    <a:pt x="2" y="1"/>
                    <a:pt x="2" y="0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90" name="Freeform 85"/>
            <p:cNvSpPr>
              <a:spLocks/>
            </p:cNvSpPr>
            <p:nvPr/>
          </p:nvSpPr>
          <p:spPr bwMode="auto">
            <a:xfrm>
              <a:off x="2707457" y="2740594"/>
              <a:ext cx="18945" cy="10525"/>
            </a:xfrm>
            <a:custGeom>
              <a:avLst/>
              <a:gdLst>
                <a:gd name="T0" fmla="*/ 1 w 4"/>
                <a:gd name="T1" fmla="*/ 0 h 2"/>
                <a:gd name="T2" fmla="*/ 3 w 4"/>
                <a:gd name="T3" fmla="*/ 2 h 2"/>
                <a:gd name="T4" fmla="*/ 2 w 4"/>
                <a:gd name="T5" fmla="*/ 0 h 2"/>
                <a:gd name="T6" fmla="*/ 1 w 4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2">
                  <a:moveTo>
                    <a:pt x="1" y="0"/>
                  </a:moveTo>
                  <a:cubicBezTo>
                    <a:pt x="0" y="1"/>
                    <a:pt x="1" y="2"/>
                    <a:pt x="3" y="2"/>
                  </a:cubicBezTo>
                  <a:cubicBezTo>
                    <a:pt x="4" y="2"/>
                    <a:pt x="3" y="1"/>
                    <a:pt x="2" y="0"/>
                  </a:cubicBezTo>
                  <a:cubicBezTo>
                    <a:pt x="2" y="0"/>
                    <a:pt x="1" y="0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91" name="Freeform 86"/>
            <p:cNvSpPr>
              <a:spLocks/>
            </p:cNvSpPr>
            <p:nvPr/>
          </p:nvSpPr>
          <p:spPr bwMode="auto">
            <a:xfrm>
              <a:off x="2776922" y="2570087"/>
              <a:ext cx="29471" cy="25260"/>
            </a:xfrm>
            <a:custGeom>
              <a:avLst/>
              <a:gdLst>
                <a:gd name="T0" fmla="*/ 2 w 6"/>
                <a:gd name="T1" fmla="*/ 5 h 5"/>
                <a:gd name="T2" fmla="*/ 5 w 6"/>
                <a:gd name="T3" fmla="*/ 3 h 5"/>
                <a:gd name="T4" fmla="*/ 4 w 6"/>
                <a:gd name="T5" fmla="*/ 0 h 5"/>
                <a:gd name="T6" fmla="*/ 0 w 6"/>
                <a:gd name="T7" fmla="*/ 2 h 5"/>
                <a:gd name="T8" fmla="*/ 2 w 6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5">
                  <a:moveTo>
                    <a:pt x="2" y="5"/>
                  </a:moveTo>
                  <a:cubicBezTo>
                    <a:pt x="3" y="5"/>
                    <a:pt x="4" y="4"/>
                    <a:pt x="5" y="3"/>
                  </a:cubicBezTo>
                  <a:cubicBezTo>
                    <a:pt x="5" y="3"/>
                    <a:pt x="6" y="0"/>
                    <a:pt x="4" y="0"/>
                  </a:cubicBezTo>
                  <a:cubicBezTo>
                    <a:pt x="2" y="0"/>
                    <a:pt x="0" y="1"/>
                    <a:pt x="0" y="2"/>
                  </a:cubicBezTo>
                  <a:cubicBezTo>
                    <a:pt x="0" y="3"/>
                    <a:pt x="0" y="5"/>
                    <a:pt x="2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92" name="Freeform 87"/>
            <p:cNvSpPr>
              <a:spLocks/>
            </p:cNvSpPr>
            <p:nvPr/>
          </p:nvSpPr>
          <p:spPr bwMode="auto">
            <a:xfrm>
              <a:off x="2696931" y="2490096"/>
              <a:ext cx="33680" cy="21051"/>
            </a:xfrm>
            <a:custGeom>
              <a:avLst/>
              <a:gdLst>
                <a:gd name="T0" fmla="*/ 7 w 7"/>
                <a:gd name="T1" fmla="*/ 4 h 4"/>
                <a:gd name="T2" fmla="*/ 7 w 7"/>
                <a:gd name="T3" fmla="*/ 1 h 4"/>
                <a:gd name="T4" fmla="*/ 2 w 7"/>
                <a:gd name="T5" fmla="*/ 1 h 4"/>
                <a:gd name="T6" fmla="*/ 3 w 7"/>
                <a:gd name="T7" fmla="*/ 3 h 4"/>
                <a:gd name="T8" fmla="*/ 7 w 7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4">
                  <a:moveTo>
                    <a:pt x="7" y="4"/>
                  </a:moveTo>
                  <a:cubicBezTo>
                    <a:pt x="7" y="3"/>
                    <a:pt x="7" y="2"/>
                    <a:pt x="7" y="1"/>
                  </a:cubicBezTo>
                  <a:cubicBezTo>
                    <a:pt x="7" y="0"/>
                    <a:pt x="3" y="1"/>
                    <a:pt x="2" y="1"/>
                  </a:cubicBezTo>
                  <a:cubicBezTo>
                    <a:pt x="0" y="1"/>
                    <a:pt x="2" y="2"/>
                    <a:pt x="3" y="3"/>
                  </a:cubicBezTo>
                  <a:cubicBezTo>
                    <a:pt x="4" y="4"/>
                    <a:pt x="6" y="4"/>
                    <a:pt x="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93" name="Freeform 88"/>
            <p:cNvSpPr>
              <a:spLocks/>
            </p:cNvSpPr>
            <p:nvPr/>
          </p:nvSpPr>
          <p:spPr bwMode="auto">
            <a:xfrm>
              <a:off x="2915853" y="2799533"/>
              <a:ext cx="29471" cy="21051"/>
            </a:xfrm>
            <a:custGeom>
              <a:avLst/>
              <a:gdLst>
                <a:gd name="T0" fmla="*/ 3 w 6"/>
                <a:gd name="T1" fmla="*/ 0 h 4"/>
                <a:gd name="T2" fmla="*/ 1 w 6"/>
                <a:gd name="T3" fmla="*/ 1 h 4"/>
                <a:gd name="T4" fmla="*/ 2 w 6"/>
                <a:gd name="T5" fmla="*/ 4 h 4"/>
                <a:gd name="T6" fmla="*/ 5 w 6"/>
                <a:gd name="T7" fmla="*/ 2 h 4"/>
                <a:gd name="T8" fmla="*/ 3 w 6"/>
                <a:gd name="T9" fmla="*/ 2 h 4"/>
                <a:gd name="T10" fmla="*/ 3 w 6"/>
                <a:gd name="T1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4">
                  <a:moveTo>
                    <a:pt x="3" y="0"/>
                  </a:moveTo>
                  <a:cubicBezTo>
                    <a:pt x="3" y="0"/>
                    <a:pt x="1" y="1"/>
                    <a:pt x="1" y="1"/>
                  </a:cubicBezTo>
                  <a:cubicBezTo>
                    <a:pt x="0" y="2"/>
                    <a:pt x="1" y="4"/>
                    <a:pt x="2" y="4"/>
                  </a:cubicBezTo>
                  <a:cubicBezTo>
                    <a:pt x="4" y="4"/>
                    <a:pt x="4" y="3"/>
                    <a:pt x="5" y="2"/>
                  </a:cubicBezTo>
                  <a:cubicBezTo>
                    <a:pt x="6" y="2"/>
                    <a:pt x="4" y="2"/>
                    <a:pt x="3" y="2"/>
                  </a:cubicBezTo>
                  <a:cubicBezTo>
                    <a:pt x="3" y="2"/>
                    <a:pt x="3" y="1"/>
                    <a:pt x="3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94" name="Freeform 89"/>
            <p:cNvSpPr>
              <a:spLocks/>
            </p:cNvSpPr>
            <p:nvPr/>
          </p:nvSpPr>
          <p:spPr bwMode="auto">
            <a:xfrm>
              <a:off x="2566420" y="2296435"/>
              <a:ext cx="473629" cy="513624"/>
            </a:xfrm>
            <a:custGeom>
              <a:avLst/>
              <a:gdLst>
                <a:gd name="T0" fmla="*/ 5 w 95"/>
                <a:gd name="T1" fmla="*/ 27 h 103"/>
                <a:gd name="T2" fmla="*/ 8 w 95"/>
                <a:gd name="T3" fmla="*/ 32 h 103"/>
                <a:gd name="T4" fmla="*/ 11 w 95"/>
                <a:gd name="T5" fmla="*/ 36 h 103"/>
                <a:gd name="T6" fmla="*/ 23 w 95"/>
                <a:gd name="T7" fmla="*/ 39 h 103"/>
                <a:gd name="T8" fmla="*/ 33 w 95"/>
                <a:gd name="T9" fmla="*/ 38 h 103"/>
                <a:gd name="T10" fmla="*/ 43 w 95"/>
                <a:gd name="T11" fmla="*/ 39 h 103"/>
                <a:gd name="T12" fmla="*/ 50 w 95"/>
                <a:gd name="T13" fmla="*/ 46 h 103"/>
                <a:gd name="T14" fmla="*/ 52 w 95"/>
                <a:gd name="T15" fmla="*/ 55 h 103"/>
                <a:gd name="T16" fmla="*/ 49 w 95"/>
                <a:gd name="T17" fmla="*/ 64 h 103"/>
                <a:gd name="T18" fmla="*/ 42 w 95"/>
                <a:gd name="T19" fmla="*/ 74 h 103"/>
                <a:gd name="T20" fmla="*/ 30 w 95"/>
                <a:gd name="T21" fmla="*/ 74 h 103"/>
                <a:gd name="T22" fmla="*/ 29 w 95"/>
                <a:gd name="T23" fmla="*/ 85 h 103"/>
                <a:gd name="T24" fmla="*/ 44 w 95"/>
                <a:gd name="T25" fmla="*/ 84 h 103"/>
                <a:gd name="T26" fmla="*/ 51 w 95"/>
                <a:gd name="T27" fmla="*/ 90 h 103"/>
                <a:gd name="T28" fmla="*/ 54 w 95"/>
                <a:gd name="T29" fmla="*/ 97 h 103"/>
                <a:gd name="T30" fmla="*/ 63 w 95"/>
                <a:gd name="T31" fmla="*/ 99 h 103"/>
                <a:gd name="T32" fmla="*/ 69 w 95"/>
                <a:gd name="T33" fmla="*/ 96 h 103"/>
                <a:gd name="T34" fmla="*/ 63 w 95"/>
                <a:gd name="T35" fmla="*/ 91 h 103"/>
                <a:gd name="T36" fmla="*/ 66 w 95"/>
                <a:gd name="T37" fmla="*/ 90 h 103"/>
                <a:gd name="T38" fmla="*/ 74 w 95"/>
                <a:gd name="T39" fmla="*/ 95 h 103"/>
                <a:gd name="T40" fmla="*/ 78 w 95"/>
                <a:gd name="T41" fmla="*/ 97 h 103"/>
                <a:gd name="T42" fmla="*/ 78 w 95"/>
                <a:gd name="T43" fmla="*/ 92 h 103"/>
                <a:gd name="T44" fmla="*/ 77 w 95"/>
                <a:gd name="T45" fmla="*/ 86 h 103"/>
                <a:gd name="T46" fmla="*/ 72 w 95"/>
                <a:gd name="T47" fmla="*/ 80 h 103"/>
                <a:gd name="T48" fmla="*/ 70 w 95"/>
                <a:gd name="T49" fmla="*/ 75 h 103"/>
                <a:gd name="T50" fmla="*/ 70 w 95"/>
                <a:gd name="T51" fmla="*/ 71 h 103"/>
                <a:gd name="T52" fmla="*/ 75 w 95"/>
                <a:gd name="T53" fmla="*/ 69 h 103"/>
                <a:gd name="T54" fmla="*/ 79 w 95"/>
                <a:gd name="T55" fmla="*/ 72 h 103"/>
                <a:gd name="T56" fmla="*/ 80 w 95"/>
                <a:gd name="T57" fmla="*/ 76 h 103"/>
                <a:gd name="T58" fmla="*/ 84 w 95"/>
                <a:gd name="T59" fmla="*/ 77 h 103"/>
                <a:gd name="T60" fmla="*/ 89 w 95"/>
                <a:gd name="T61" fmla="*/ 74 h 103"/>
                <a:gd name="T62" fmla="*/ 92 w 95"/>
                <a:gd name="T63" fmla="*/ 67 h 103"/>
                <a:gd name="T64" fmla="*/ 91 w 95"/>
                <a:gd name="T65" fmla="*/ 65 h 103"/>
                <a:gd name="T66" fmla="*/ 86 w 95"/>
                <a:gd name="T67" fmla="*/ 63 h 103"/>
                <a:gd name="T68" fmla="*/ 85 w 95"/>
                <a:gd name="T69" fmla="*/ 62 h 103"/>
                <a:gd name="T70" fmla="*/ 81 w 95"/>
                <a:gd name="T71" fmla="*/ 56 h 103"/>
                <a:gd name="T72" fmla="*/ 76 w 95"/>
                <a:gd name="T73" fmla="*/ 52 h 103"/>
                <a:gd name="T74" fmla="*/ 72 w 95"/>
                <a:gd name="T75" fmla="*/ 49 h 103"/>
                <a:gd name="T76" fmla="*/ 76 w 95"/>
                <a:gd name="T77" fmla="*/ 46 h 103"/>
                <a:gd name="T78" fmla="*/ 78 w 95"/>
                <a:gd name="T79" fmla="*/ 41 h 103"/>
                <a:gd name="T80" fmla="*/ 73 w 95"/>
                <a:gd name="T81" fmla="*/ 35 h 103"/>
                <a:gd name="T82" fmla="*/ 69 w 95"/>
                <a:gd name="T83" fmla="*/ 30 h 103"/>
                <a:gd name="T84" fmla="*/ 63 w 95"/>
                <a:gd name="T85" fmla="*/ 26 h 103"/>
                <a:gd name="T86" fmla="*/ 56 w 95"/>
                <a:gd name="T87" fmla="*/ 21 h 103"/>
                <a:gd name="T88" fmla="*/ 50 w 95"/>
                <a:gd name="T89" fmla="*/ 15 h 103"/>
                <a:gd name="T90" fmla="*/ 40 w 95"/>
                <a:gd name="T91" fmla="*/ 17 h 103"/>
                <a:gd name="T92" fmla="*/ 35 w 95"/>
                <a:gd name="T93" fmla="*/ 16 h 103"/>
                <a:gd name="T94" fmla="*/ 30 w 95"/>
                <a:gd name="T95" fmla="*/ 16 h 103"/>
                <a:gd name="T96" fmla="*/ 35 w 95"/>
                <a:gd name="T97" fmla="*/ 7 h 103"/>
                <a:gd name="T98" fmla="*/ 31 w 95"/>
                <a:gd name="T99" fmla="*/ 2 h 103"/>
                <a:gd name="T100" fmla="*/ 29 w 95"/>
                <a:gd name="T101" fmla="*/ 5 h 103"/>
                <a:gd name="T102" fmla="*/ 23 w 95"/>
                <a:gd name="T103" fmla="*/ 8 h 103"/>
                <a:gd name="T104" fmla="*/ 20 w 95"/>
                <a:gd name="T105" fmla="*/ 16 h 103"/>
                <a:gd name="T106" fmla="*/ 27 w 95"/>
                <a:gd name="T107" fmla="*/ 26 h 103"/>
                <a:gd name="T108" fmla="*/ 22 w 95"/>
                <a:gd name="T109" fmla="*/ 27 h 103"/>
                <a:gd name="T110" fmla="*/ 19 w 95"/>
                <a:gd name="T111" fmla="*/ 23 h 103"/>
                <a:gd name="T112" fmla="*/ 24 w 95"/>
                <a:gd name="T113" fmla="*/ 3 h 103"/>
                <a:gd name="T114" fmla="*/ 12 w 95"/>
                <a:gd name="T115" fmla="*/ 3 h 103"/>
                <a:gd name="T116" fmla="*/ 1 w 95"/>
                <a:gd name="T117" fmla="*/ 17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95" h="103">
                  <a:moveTo>
                    <a:pt x="1" y="22"/>
                  </a:moveTo>
                  <a:cubicBezTo>
                    <a:pt x="2" y="23"/>
                    <a:pt x="2" y="23"/>
                    <a:pt x="2" y="23"/>
                  </a:cubicBezTo>
                  <a:cubicBezTo>
                    <a:pt x="2" y="24"/>
                    <a:pt x="2" y="25"/>
                    <a:pt x="2" y="26"/>
                  </a:cubicBezTo>
                  <a:cubicBezTo>
                    <a:pt x="3" y="27"/>
                    <a:pt x="4" y="27"/>
                    <a:pt x="5" y="27"/>
                  </a:cubicBezTo>
                  <a:cubicBezTo>
                    <a:pt x="7" y="28"/>
                    <a:pt x="8" y="29"/>
                    <a:pt x="8" y="29"/>
                  </a:cubicBezTo>
                  <a:cubicBezTo>
                    <a:pt x="8" y="30"/>
                    <a:pt x="5" y="29"/>
                    <a:pt x="4" y="29"/>
                  </a:cubicBezTo>
                  <a:cubicBezTo>
                    <a:pt x="4" y="29"/>
                    <a:pt x="4" y="30"/>
                    <a:pt x="5" y="32"/>
                  </a:cubicBezTo>
                  <a:cubicBezTo>
                    <a:pt x="6" y="33"/>
                    <a:pt x="6" y="32"/>
                    <a:pt x="8" y="32"/>
                  </a:cubicBezTo>
                  <a:cubicBezTo>
                    <a:pt x="9" y="33"/>
                    <a:pt x="9" y="34"/>
                    <a:pt x="9" y="34"/>
                  </a:cubicBezTo>
                  <a:cubicBezTo>
                    <a:pt x="9" y="35"/>
                    <a:pt x="6" y="33"/>
                    <a:pt x="7" y="34"/>
                  </a:cubicBezTo>
                  <a:cubicBezTo>
                    <a:pt x="7" y="34"/>
                    <a:pt x="8" y="36"/>
                    <a:pt x="9" y="36"/>
                  </a:cubicBezTo>
                  <a:cubicBezTo>
                    <a:pt x="10" y="37"/>
                    <a:pt x="10" y="36"/>
                    <a:pt x="11" y="36"/>
                  </a:cubicBezTo>
                  <a:cubicBezTo>
                    <a:pt x="12" y="36"/>
                    <a:pt x="12" y="37"/>
                    <a:pt x="13" y="37"/>
                  </a:cubicBezTo>
                  <a:cubicBezTo>
                    <a:pt x="13" y="37"/>
                    <a:pt x="14" y="36"/>
                    <a:pt x="15" y="36"/>
                  </a:cubicBezTo>
                  <a:cubicBezTo>
                    <a:pt x="16" y="36"/>
                    <a:pt x="16" y="38"/>
                    <a:pt x="17" y="38"/>
                  </a:cubicBezTo>
                  <a:cubicBezTo>
                    <a:pt x="18" y="39"/>
                    <a:pt x="22" y="39"/>
                    <a:pt x="23" y="39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5" y="39"/>
                    <a:pt x="25" y="39"/>
                    <a:pt x="26" y="39"/>
                  </a:cubicBezTo>
                  <a:cubicBezTo>
                    <a:pt x="27" y="38"/>
                    <a:pt x="26" y="39"/>
                    <a:pt x="27" y="39"/>
                  </a:cubicBezTo>
                  <a:cubicBezTo>
                    <a:pt x="27" y="39"/>
                    <a:pt x="32" y="38"/>
                    <a:pt x="33" y="38"/>
                  </a:cubicBezTo>
                  <a:cubicBezTo>
                    <a:pt x="34" y="38"/>
                    <a:pt x="37" y="38"/>
                    <a:pt x="37" y="38"/>
                  </a:cubicBezTo>
                  <a:cubicBezTo>
                    <a:pt x="38" y="38"/>
                    <a:pt x="39" y="40"/>
                    <a:pt x="40" y="41"/>
                  </a:cubicBezTo>
                  <a:cubicBezTo>
                    <a:pt x="41" y="41"/>
                    <a:pt x="41" y="40"/>
                    <a:pt x="41" y="40"/>
                  </a:cubicBezTo>
                  <a:cubicBezTo>
                    <a:pt x="41" y="39"/>
                    <a:pt x="43" y="39"/>
                    <a:pt x="43" y="39"/>
                  </a:cubicBezTo>
                  <a:cubicBezTo>
                    <a:pt x="44" y="39"/>
                    <a:pt x="44" y="39"/>
                    <a:pt x="43" y="40"/>
                  </a:cubicBezTo>
                  <a:cubicBezTo>
                    <a:pt x="43" y="41"/>
                    <a:pt x="43" y="42"/>
                    <a:pt x="43" y="43"/>
                  </a:cubicBezTo>
                  <a:cubicBezTo>
                    <a:pt x="44" y="44"/>
                    <a:pt x="45" y="44"/>
                    <a:pt x="46" y="45"/>
                  </a:cubicBezTo>
                  <a:cubicBezTo>
                    <a:pt x="47" y="45"/>
                    <a:pt x="49" y="46"/>
                    <a:pt x="50" y="46"/>
                  </a:cubicBezTo>
                  <a:cubicBezTo>
                    <a:pt x="51" y="46"/>
                    <a:pt x="52" y="46"/>
                    <a:pt x="51" y="47"/>
                  </a:cubicBezTo>
                  <a:cubicBezTo>
                    <a:pt x="50" y="47"/>
                    <a:pt x="50" y="50"/>
                    <a:pt x="50" y="51"/>
                  </a:cubicBezTo>
                  <a:cubicBezTo>
                    <a:pt x="51" y="52"/>
                    <a:pt x="51" y="53"/>
                    <a:pt x="52" y="53"/>
                  </a:cubicBezTo>
                  <a:cubicBezTo>
                    <a:pt x="53" y="53"/>
                    <a:pt x="53" y="53"/>
                    <a:pt x="52" y="55"/>
                  </a:cubicBezTo>
                  <a:cubicBezTo>
                    <a:pt x="52" y="57"/>
                    <a:pt x="54" y="59"/>
                    <a:pt x="53" y="60"/>
                  </a:cubicBezTo>
                  <a:cubicBezTo>
                    <a:pt x="53" y="61"/>
                    <a:pt x="52" y="61"/>
                    <a:pt x="51" y="61"/>
                  </a:cubicBezTo>
                  <a:cubicBezTo>
                    <a:pt x="51" y="61"/>
                    <a:pt x="52" y="62"/>
                    <a:pt x="52" y="63"/>
                  </a:cubicBezTo>
                  <a:cubicBezTo>
                    <a:pt x="53" y="63"/>
                    <a:pt x="50" y="64"/>
                    <a:pt x="49" y="64"/>
                  </a:cubicBezTo>
                  <a:cubicBezTo>
                    <a:pt x="48" y="64"/>
                    <a:pt x="45" y="66"/>
                    <a:pt x="45" y="67"/>
                  </a:cubicBezTo>
                  <a:cubicBezTo>
                    <a:pt x="45" y="68"/>
                    <a:pt x="46" y="71"/>
                    <a:pt x="47" y="72"/>
                  </a:cubicBezTo>
                  <a:cubicBezTo>
                    <a:pt x="47" y="73"/>
                    <a:pt x="45" y="73"/>
                    <a:pt x="44" y="74"/>
                  </a:cubicBezTo>
                  <a:cubicBezTo>
                    <a:pt x="42" y="74"/>
                    <a:pt x="43" y="74"/>
                    <a:pt x="42" y="74"/>
                  </a:cubicBezTo>
                  <a:cubicBezTo>
                    <a:pt x="41" y="73"/>
                    <a:pt x="40" y="74"/>
                    <a:pt x="39" y="74"/>
                  </a:cubicBezTo>
                  <a:cubicBezTo>
                    <a:pt x="38" y="74"/>
                    <a:pt x="37" y="73"/>
                    <a:pt x="36" y="73"/>
                  </a:cubicBezTo>
                  <a:cubicBezTo>
                    <a:pt x="36" y="72"/>
                    <a:pt x="33" y="73"/>
                    <a:pt x="32" y="73"/>
                  </a:cubicBezTo>
                  <a:cubicBezTo>
                    <a:pt x="32" y="73"/>
                    <a:pt x="31" y="74"/>
                    <a:pt x="30" y="74"/>
                  </a:cubicBezTo>
                  <a:cubicBezTo>
                    <a:pt x="29" y="75"/>
                    <a:pt x="31" y="75"/>
                    <a:pt x="31" y="76"/>
                  </a:cubicBezTo>
                  <a:cubicBezTo>
                    <a:pt x="32" y="76"/>
                    <a:pt x="31" y="78"/>
                    <a:pt x="30" y="79"/>
                  </a:cubicBezTo>
                  <a:cubicBezTo>
                    <a:pt x="30" y="79"/>
                    <a:pt x="28" y="80"/>
                    <a:pt x="27" y="81"/>
                  </a:cubicBezTo>
                  <a:cubicBezTo>
                    <a:pt x="27" y="81"/>
                    <a:pt x="28" y="84"/>
                    <a:pt x="29" y="85"/>
                  </a:cubicBezTo>
                  <a:cubicBezTo>
                    <a:pt x="29" y="85"/>
                    <a:pt x="32" y="86"/>
                    <a:pt x="33" y="85"/>
                  </a:cubicBezTo>
                  <a:cubicBezTo>
                    <a:pt x="34" y="85"/>
                    <a:pt x="38" y="83"/>
                    <a:pt x="39" y="83"/>
                  </a:cubicBezTo>
                  <a:cubicBezTo>
                    <a:pt x="40" y="83"/>
                    <a:pt x="41" y="84"/>
                    <a:pt x="42" y="84"/>
                  </a:cubicBezTo>
                  <a:cubicBezTo>
                    <a:pt x="43" y="85"/>
                    <a:pt x="43" y="85"/>
                    <a:pt x="44" y="84"/>
                  </a:cubicBezTo>
                  <a:cubicBezTo>
                    <a:pt x="44" y="83"/>
                    <a:pt x="46" y="85"/>
                    <a:pt x="47" y="85"/>
                  </a:cubicBezTo>
                  <a:cubicBezTo>
                    <a:pt x="47" y="86"/>
                    <a:pt x="46" y="88"/>
                    <a:pt x="46" y="88"/>
                  </a:cubicBezTo>
                  <a:cubicBezTo>
                    <a:pt x="47" y="89"/>
                    <a:pt x="48" y="89"/>
                    <a:pt x="49" y="89"/>
                  </a:cubicBezTo>
                  <a:cubicBezTo>
                    <a:pt x="50" y="89"/>
                    <a:pt x="51" y="89"/>
                    <a:pt x="51" y="90"/>
                  </a:cubicBezTo>
                  <a:cubicBezTo>
                    <a:pt x="52" y="90"/>
                    <a:pt x="50" y="91"/>
                    <a:pt x="49" y="91"/>
                  </a:cubicBezTo>
                  <a:cubicBezTo>
                    <a:pt x="48" y="92"/>
                    <a:pt x="49" y="93"/>
                    <a:pt x="51" y="93"/>
                  </a:cubicBezTo>
                  <a:cubicBezTo>
                    <a:pt x="52" y="94"/>
                    <a:pt x="51" y="95"/>
                    <a:pt x="52" y="95"/>
                  </a:cubicBezTo>
                  <a:cubicBezTo>
                    <a:pt x="52" y="96"/>
                    <a:pt x="53" y="97"/>
                    <a:pt x="54" y="97"/>
                  </a:cubicBezTo>
                  <a:cubicBezTo>
                    <a:pt x="55" y="97"/>
                    <a:pt x="54" y="96"/>
                    <a:pt x="54" y="95"/>
                  </a:cubicBezTo>
                  <a:cubicBezTo>
                    <a:pt x="54" y="95"/>
                    <a:pt x="56" y="96"/>
                    <a:pt x="57" y="97"/>
                  </a:cubicBezTo>
                  <a:cubicBezTo>
                    <a:pt x="59" y="97"/>
                    <a:pt x="58" y="97"/>
                    <a:pt x="58" y="98"/>
                  </a:cubicBezTo>
                  <a:cubicBezTo>
                    <a:pt x="59" y="98"/>
                    <a:pt x="62" y="99"/>
                    <a:pt x="63" y="99"/>
                  </a:cubicBezTo>
                  <a:cubicBezTo>
                    <a:pt x="64" y="99"/>
                    <a:pt x="66" y="102"/>
                    <a:pt x="68" y="103"/>
                  </a:cubicBezTo>
                  <a:cubicBezTo>
                    <a:pt x="69" y="103"/>
                    <a:pt x="70" y="101"/>
                    <a:pt x="70" y="101"/>
                  </a:cubicBezTo>
                  <a:cubicBezTo>
                    <a:pt x="71" y="100"/>
                    <a:pt x="70" y="99"/>
                    <a:pt x="70" y="99"/>
                  </a:cubicBezTo>
                  <a:cubicBezTo>
                    <a:pt x="71" y="98"/>
                    <a:pt x="70" y="96"/>
                    <a:pt x="69" y="96"/>
                  </a:cubicBezTo>
                  <a:cubicBezTo>
                    <a:pt x="68" y="96"/>
                    <a:pt x="67" y="95"/>
                    <a:pt x="66" y="94"/>
                  </a:cubicBezTo>
                  <a:cubicBezTo>
                    <a:pt x="64" y="92"/>
                    <a:pt x="65" y="92"/>
                    <a:pt x="66" y="92"/>
                  </a:cubicBezTo>
                  <a:cubicBezTo>
                    <a:pt x="66" y="91"/>
                    <a:pt x="65" y="91"/>
                    <a:pt x="64" y="92"/>
                  </a:cubicBezTo>
                  <a:cubicBezTo>
                    <a:pt x="64" y="92"/>
                    <a:pt x="63" y="92"/>
                    <a:pt x="63" y="91"/>
                  </a:cubicBezTo>
                  <a:cubicBezTo>
                    <a:pt x="62" y="90"/>
                    <a:pt x="62" y="88"/>
                    <a:pt x="62" y="88"/>
                  </a:cubicBezTo>
                  <a:cubicBezTo>
                    <a:pt x="62" y="88"/>
                    <a:pt x="62" y="88"/>
                    <a:pt x="63" y="88"/>
                  </a:cubicBezTo>
                  <a:cubicBezTo>
                    <a:pt x="63" y="89"/>
                    <a:pt x="63" y="88"/>
                    <a:pt x="64" y="88"/>
                  </a:cubicBezTo>
                  <a:cubicBezTo>
                    <a:pt x="64" y="88"/>
                    <a:pt x="65" y="90"/>
                    <a:pt x="66" y="90"/>
                  </a:cubicBezTo>
                  <a:cubicBezTo>
                    <a:pt x="66" y="91"/>
                    <a:pt x="67" y="90"/>
                    <a:pt x="67" y="90"/>
                  </a:cubicBezTo>
                  <a:cubicBezTo>
                    <a:pt x="67" y="89"/>
                    <a:pt x="68" y="91"/>
                    <a:pt x="68" y="92"/>
                  </a:cubicBezTo>
                  <a:cubicBezTo>
                    <a:pt x="69" y="93"/>
                    <a:pt x="71" y="93"/>
                    <a:pt x="71" y="94"/>
                  </a:cubicBezTo>
                  <a:cubicBezTo>
                    <a:pt x="71" y="95"/>
                    <a:pt x="73" y="95"/>
                    <a:pt x="74" y="95"/>
                  </a:cubicBezTo>
                  <a:cubicBezTo>
                    <a:pt x="74" y="96"/>
                    <a:pt x="73" y="97"/>
                    <a:pt x="73" y="98"/>
                  </a:cubicBezTo>
                  <a:cubicBezTo>
                    <a:pt x="73" y="98"/>
                    <a:pt x="74" y="98"/>
                    <a:pt x="74" y="98"/>
                  </a:cubicBezTo>
                  <a:cubicBezTo>
                    <a:pt x="75" y="98"/>
                    <a:pt x="75" y="98"/>
                    <a:pt x="76" y="99"/>
                  </a:cubicBezTo>
                  <a:cubicBezTo>
                    <a:pt x="76" y="99"/>
                    <a:pt x="77" y="98"/>
                    <a:pt x="78" y="97"/>
                  </a:cubicBezTo>
                  <a:cubicBezTo>
                    <a:pt x="78" y="97"/>
                    <a:pt x="76" y="97"/>
                    <a:pt x="76" y="96"/>
                  </a:cubicBezTo>
                  <a:cubicBezTo>
                    <a:pt x="76" y="96"/>
                    <a:pt x="76" y="95"/>
                    <a:pt x="77" y="94"/>
                  </a:cubicBezTo>
                  <a:cubicBezTo>
                    <a:pt x="77" y="93"/>
                    <a:pt x="77" y="92"/>
                    <a:pt x="77" y="92"/>
                  </a:cubicBezTo>
                  <a:cubicBezTo>
                    <a:pt x="77" y="91"/>
                    <a:pt x="77" y="92"/>
                    <a:pt x="78" y="92"/>
                  </a:cubicBezTo>
                  <a:cubicBezTo>
                    <a:pt x="78" y="93"/>
                    <a:pt x="79" y="92"/>
                    <a:pt x="79" y="92"/>
                  </a:cubicBezTo>
                  <a:cubicBezTo>
                    <a:pt x="80" y="92"/>
                    <a:pt x="79" y="91"/>
                    <a:pt x="79" y="90"/>
                  </a:cubicBezTo>
                  <a:cubicBezTo>
                    <a:pt x="80" y="90"/>
                    <a:pt x="79" y="89"/>
                    <a:pt x="78" y="89"/>
                  </a:cubicBezTo>
                  <a:cubicBezTo>
                    <a:pt x="78" y="88"/>
                    <a:pt x="78" y="87"/>
                    <a:pt x="77" y="86"/>
                  </a:cubicBezTo>
                  <a:cubicBezTo>
                    <a:pt x="77" y="86"/>
                    <a:pt x="77" y="84"/>
                    <a:pt x="76" y="83"/>
                  </a:cubicBezTo>
                  <a:cubicBezTo>
                    <a:pt x="75" y="82"/>
                    <a:pt x="75" y="81"/>
                    <a:pt x="75" y="80"/>
                  </a:cubicBezTo>
                  <a:cubicBezTo>
                    <a:pt x="74" y="80"/>
                    <a:pt x="74" y="81"/>
                    <a:pt x="74" y="81"/>
                  </a:cubicBezTo>
                  <a:cubicBezTo>
                    <a:pt x="73" y="81"/>
                    <a:pt x="73" y="80"/>
                    <a:pt x="72" y="80"/>
                  </a:cubicBezTo>
                  <a:cubicBezTo>
                    <a:pt x="72" y="80"/>
                    <a:pt x="71" y="80"/>
                    <a:pt x="71" y="80"/>
                  </a:cubicBezTo>
                  <a:cubicBezTo>
                    <a:pt x="70" y="80"/>
                    <a:pt x="70" y="78"/>
                    <a:pt x="71" y="78"/>
                  </a:cubicBezTo>
                  <a:cubicBezTo>
                    <a:pt x="72" y="78"/>
                    <a:pt x="72" y="77"/>
                    <a:pt x="71" y="77"/>
                  </a:cubicBezTo>
                  <a:cubicBezTo>
                    <a:pt x="71" y="76"/>
                    <a:pt x="71" y="76"/>
                    <a:pt x="70" y="75"/>
                  </a:cubicBezTo>
                  <a:cubicBezTo>
                    <a:pt x="70" y="75"/>
                    <a:pt x="70" y="75"/>
                    <a:pt x="70" y="74"/>
                  </a:cubicBezTo>
                  <a:cubicBezTo>
                    <a:pt x="71" y="74"/>
                    <a:pt x="69" y="74"/>
                    <a:pt x="69" y="74"/>
                  </a:cubicBezTo>
                  <a:cubicBezTo>
                    <a:pt x="69" y="73"/>
                    <a:pt x="69" y="72"/>
                    <a:pt x="70" y="72"/>
                  </a:cubicBezTo>
                  <a:cubicBezTo>
                    <a:pt x="71" y="72"/>
                    <a:pt x="70" y="71"/>
                    <a:pt x="70" y="71"/>
                  </a:cubicBezTo>
                  <a:cubicBezTo>
                    <a:pt x="69" y="71"/>
                    <a:pt x="70" y="70"/>
                    <a:pt x="70" y="70"/>
                  </a:cubicBezTo>
                  <a:cubicBezTo>
                    <a:pt x="71" y="70"/>
                    <a:pt x="71" y="69"/>
                    <a:pt x="72" y="68"/>
                  </a:cubicBezTo>
                  <a:cubicBezTo>
                    <a:pt x="73" y="68"/>
                    <a:pt x="73" y="68"/>
                    <a:pt x="74" y="68"/>
                  </a:cubicBezTo>
                  <a:cubicBezTo>
                    <a:pt x="74" y="68"/>
                    <a:pt x="74" y="69"/>
                    <a:pt x="75" y="69"/>
                  </a:cubicBezTo>
                  <a:cubicBezTo>
                    <a:pt x="75" y="70"/>
                    <a:pt x="75" y="71"/>
                    <a:pt x="76" y="71"/>
                  </a:cubicBezTo>
                  <a:cubicBezTo>
                    <a:pt x="76" y="72"/>
                    <a:pt x="77" y="71"/>
                    <a:pt x="77" y="71"/>
                  </a:cubicBezTo>
                  <a:cubicBezTo>
                    <a:pt x="78" y="70"/>
                    <a:pt x="77" y="71"/>
                    <a:pt x="77" y="72"/>
                  </a:cubicBezTo>
                  <a:cubicBezTo>
                    <a:pt x="77" y="73"/>
                    <a:pt x="78" y="72"/>
                    <a:pt x="79" y="72"/>
                  </a:cubicBezTo>
                  <a:cubicBezTo>
                    <a:pt x="80" y="72"/>
                    <a:pt x="78" y="73"/>
                    <a:pt x="78" y="73"/>
                  </a:cubicBezTo>
                  <a:cubicBezTo>
                    <a:pt x="77" y="74"/>
                    <a:pt x="78" y="74"/>
                    <a:pt x="79" y="75"/>
                  </a:cubicBezTo>
                  <a:cubicBezTo>
                    <a:pt x="80" y="75"/>
                    <a:pt x="80" y="75"/>
                    <a:pt x="79" y="75"/>
                  </a:cubicBezTo>
                  <a:cubicBezTo>
                    <a:pt x="78" y="76"/>
                    <a:pt x="79" y="76"/>
                    <a:pt x="80" y="76"/>
                  </a:cubicBezTo>
                  <a:cubicBezTo>
                    <a:pt x="81" y="76"/>
                    <a:pt x="79" y="78"/>
                    <a:pt x="79" y="78"/>
                  </a:cubicBezTo>
                  <a:cubicBezTo>
                    <a:pt x="79" y="78"/>
                    <a:pt x="81" y="78"/>
                    <a:pt x="82" y="77"/>
                  </a:cubicBezTo>
                  <a:cubicBezTo>
                    <a:pt x="83" y="77"/>
                    <a:pt x="84" y="79"/>
                    <a:pt x="85" y="79"/>
                  </a:cubicBezTo>
                  <a:cubicBezTo>
                    <a:pt x="86" y="79"/>
                    <a:pt x="83" y="77"/>
                    <a:pt x="84" y="77"/>
                  </a:cubicBezTo>
                  <a:cubicBezTo>
                    <a:pt x="84" y="77"/>
                    <a:pt x="84" y="75"/>
                    <a:pt x="85" y="75"/>
                  </a:cubicBezTo>
                  <a:cubicBezTo>
                    <a:pt x="85" y="75"/>
                    <a:pt x="85" y="74"/>
                    <a:pt x="86" y="73"/>
                  </a:cubicBezTo>
                  <a:cubicBezTo>
                    <a:pt x="86" y="73"/>
                    <a:pt x="87" y="74"/>
                    <a:pt x="87" y="75"/>
                  </a:cubicBezTo>
                  <a:cubicBezTo>
                    <a:pt x="88" y="76"/>
                    <a:pt x="88" y="74"/>
                    <a:pt x="89" y="74"/>
                  </a:cubicBezTo>
                  <a:cubicBezTo>
                    <a:pt x="90" y="73"/>
                    <a:pt x="91" y="74"/>
                    <a:pt x="92" y="74"/>
                  </a:cubicBezTo>
                  <a:cubicBezTo>
                    <a:pt x="93" y="74"/>
                    <a:pt x="93" y="72"/>
                    <a:pt x="92" y="72"/>
                  </a:cubicBezTo>
                  <a:cubicBezTo>
                    <a:pt x="91" y="71"/>
                    <a:pt x="90" y="69"/>
                    <a:pt x="90" y="68"/>
                  </a:cubicBezTo>
                  <a:cubicBezTo>
                    <a:pt x="90" y="67"/>
                    <a:pt x="91" y="67"/>
                    <a:pt x="92" y="67"/>
                  </a:cubicBezTo>
                  <a:cubicBezTo>
                    <a:pt x="93" y="67"/>
                    <a:pt x="94" y="67"/>
                    <a:pt x="94" y="66"/>
                  </a:cubicBezTo>
                  <a:cubicBezTo>
                    <a:pt x="95" y="66"/>
                    <a:pt x="94" y="65"/>
                    <a:pt x="94" y="65"/>
                  </a:cubicBezTo>
                  <a:cubicBezTo>
                    <a:pt x="93" y="65"/>
                    <a:pt x="93" y="63"/>
                    <a:pt x="92" y="63"/>
                  </a:cubicBezTo>
                  <a:cubicBezTo>
                    <a:pt x="92" y="63"/>
                    <a:pt x="92" y="64"/>
                    <a:pt x="91" y="65"/>
                  </a:cubicBezTo>
                  <a:cubicBezTo>
                    <a:pt x="91" y="65"/>
                    <a:pt x="89" y="65"/>
                    <a:pt x="89" y="65"/>
                  </a:cubicBezTo>
                  <a:cubicBezTo>
                    <a:pt x="88" y="64"/>
                    <a:pt x="89" y="63"/>
                    <a:pt x="89" y="62"/>
                  </a:cubicBezTo>
                  <a:cubicBezTo>
                    <a:pt x="89" y="62"/>
                    <a:pt x="88" y="63"/>
                    <a:pt x="87" y="64"/>
                  </a:cubicBezTo>
                  <a:cubicBezTo>
                    <a:pt x="87" y="64"/>
                    <a:pt x="87" y="63"/>
                    <a:pt x="86" y="63"/>
                  </a:cubicBezTo>
                  <a:cubicBezTo>
                    <a:pt x="86" y="63"/>
                    <a:pt x="84" y="64"/>
                    <a:pt x="83" y="65"/>
                  </a:cubicBezTo>
                  <a:cubicBezTo>
                    <a:pt x="81" y="65"/>
                    <a:pt x="83" y="63"/>
                    <a:pt x="83" y="63"/>
                  </a:cubicBezTo>
                  <a:cubicBezTo>
                    <a:pt x="84" y="63"/>
                    <a:pt x="83" y="62"/>
                    <a:pt x="83" y="62"/>
                  </a:cubicBezTo>
                  <a:cubicBezTo>
                    <a:pt x="83" y="61"/>
                    <a:pt x="85" y="62"/>
                    <a:pt x="85" y="62"/>
                  </a:cubicBezTo>
                  <a:cubicBezTo>
                    <a:pt x="85" y="61"/>
                    <a:pt x="85" y="59"/>
                    <a:pt x="84" y="58"/>
                  </a:cubicBezTo>
                  <a:cubicBezTo>
                    <a:pt x="84" y="57"/>
                    <a:pt x="83" y="58"/>
                    <a:pt x="82" y="58"/>
                  </a:cubicBezTo>
                  <a:cubicBezTo>
                    <a:pt x="81" y="57"/>
                    <a:pt x="83" y="56"/>
                    <a:pt x="83" y="55"/>
                  </a:cubicBezTo>
                  <a:cubicBezTo>
                    <a:pt x="83" y="55"/>
                    <a:pt x="82" y="55"/>
                    <a:pt x="81" y="56"/>
                  </a:cubicBezTo>
                  <a:cubicBezTo>
                    <a:pt x="80" y="57"/>
                    <a:pt x="81" y="56"/>
                    <a:pt x="79" y="56"/>
                  </a:cubicBezTo>
                  <a:cubicBezTo>
                    <a:pt x="78" y="56"/>
                    <a:pt x="78" y="55"/>
                    <a:pt x="77" y="54"/>
                  </a:cubicBezTo>
                  <a:cubicBezTo>
                    <a:pt x="76" y="54"/>
                    <a:pt x="77" y="54"/>
                    <a:pt x="78" y="53"/>
                  </a:cubicBezTo>
                  <a:cubicBezTo>
                    <a:pt x="79" y="53"/>
                    <a:pt x="77" y="52"/>
                    <a:pt x="76" y="52"/>
                  </a:cubicBezTo>
                  <a:cubicBezTo>
                    <a:pt x="75" y="52"/>
                    <a:pt x="74" y="52"/>
                    <a:pt x="73" y="51"/>
                  </a:cubicBezTo>
                  <a:cubicBezTo>
                    <a:pt x="72" y="51"/>
                    <a:pt x="71" y="51"/>
                    <a:pt x="71" y="51"/>
                  </a:cubicBezTo>
                  <a:cubicBezTo>
                    <a:pt x="71" y="50"/>
                    <a:pt x="73" y="50"/>
                    <a:pt x="74" y="51"/>
                  </a:cubicBezTo>
                  <a:cubicBezTo>
                    <a:pt x="75" y="51"/>
                    <a:pt x="73" y="49"/>
                    <a:pt x="72" y="49"/>
                  </a:cubicBezTo>
                  <a:cubicBezTo>
                    <a:pt x="72" y="49"/>
                    <a:pt x="73" y="49"/>
                    <a:pt x="74" y="48"/>
                  </a:cubicBezTo>
                  <a:cubicBezTo>
                    <a:pt x="75" y="48"/>
                    <a:pt x="73" y="48"/>
                    <a:pt x="74" y="47"/>
                  </a:cubicBezTo>
                  <a:cubicBezTo>
                    <a:pt x="74" y="47"/>
                    <a:pt x="73" y="46"/>
                    <a:pt x="72" y="46"/>
                  </a:cubicBezTo>
                  <a:cubicBezTo>
                    <a:pt x="71" y="46"/>
                    <a:pt x="75" y="46"/>
                    <a:pt x="76" y="46"/>
                  </a:cubicBezTo>
                  <a:cubicBezTo>
                    <a:pt x="77" y="46"/>
                    <a:pt x="78" y="46"/>
                    <a:pt x="78" y="45"/>
                  </a:cubicBezTo>
                  <a:cubicBezTo>
                    <a:pt x="78" y="44"/>
                    <a:pt x="75" y="44"/>
                    <a:pt x="74" y="44"/>
                  </a:cubicBezTo>
                  <a:cubicBezTo>
                    <a:pt x="72" y="43"/>
                    <a:pt x="75" y="42"/>
                    <a:pt x="76" y="42"/>
                  </a:cubicBezTo>
                  <a:cubicBezTo>
                    <a:pt x="76" y="41"/>
                    <a:pt x="77" y="41"/>
                    <a:pt x="78" y="41"/>
                  </a:cubicBezTo>
                  <a:cubicBezTo>
                    <a:pt x="78" y="41"/>
                    <a:pt x="78" y="37"/>
                    <a:pt x="78" y="36"/>
                  </a:cubicBezTo>
                  <a:cubicBezTo>
                    <a:pt x="78" y="35"/>
                    <a:pt x="77" y="36"/>
                    <a:pt x="76" y="36"/>
                  </a:cubicBezTo>
                  <a:cubicBezTo>
                    <a:pt x="74" y="37"/>
                    <a:pt x="73" y="37"/>
                    <a:pt x="71" y="37"/>
                  </a:cubicBezTo>
                  <a:cubicBezTo>
                    <a:pt x="70" y="37"/>
                    <a:pt x="71" y="36"/>
                    <a:pt x="73" y="35"/>
                  </a:cubicBezTo>
                  <a:cubicBezTo>
                    <a:pt x="74" y="35"/>
                    <a:pt x="76" y="34"/>
                    <a:pt x="76" y="33"/>
                  </a:cubicBezTo>
                  <a:cubicBezTo>
                    <a:pt x="77" y="33"/>
                    <a:pt x="76" y="32"/>
                    <a:pt x="75" y="32"/>
                  </a:cubicBezTo>
                  <a:cubicBezTo>
                    <a:pt x="74" y="32"/>
                    <a:pt x="73" y="31"/>
                    <a:pt x="72" y="31"/>
                  </a:cubicBezTo>
                  <a:cubicBezTo>
                    <a:pt x="71" y="30"/>
                    <a:pt x="70" y="30"/>
                    <a:pt x="69" y="30"/>
                  </a:cubicBezTo>
                  <a:cubicBezTo>
                    <a:pt x="68" y="29"/>
                    <a:pt x="69" y="29"/>
                    <a:pt x="68" y="29"/>
                  </a:cubicBezTo>
                  <a:cubicBezTo>
                    <a:pt x="67" y="29"/>
                    <a:pt x="67" y="28"/>
                    <a:pt x="67" y="27"/>
                  </a:cubicBezTo>
                  <a:cubicBezTo>
                    <a:pt x="67" y="27"/>
                    <a:pt x="68" y="26"/>
                    <a:pt x="67" y="26"/>
                  </a:cubicBezTo>
                  <a:cubicBezTo>
                    <a:pt x="66" y="25"/>
                    <a:pt x="65" y="25"/>
                    <a:pt x="63" y="26"/>
                  </a:cubicBezTo>
                  <a:cubicBezTo>
                    <a:pt x="62" y="26"/>
                    <a:pt x="60" y="24"/>
                    <a:pt x="59" y="24"/>
                  </a:cubicBezTo>
                  <a:cubicBezTo>
                    <a:pt x="58" y="24"/>
                    <a:pt x="58" y="24"/>
                    <a:pt x="58" y="23"/>
                  </a:cubicBezTo>
                  <a:cubicBezTo>
                    <a:pt x="57" y="23"/>
                    <a:pt x="57" y="23"/>
                    <a:pt x="56" y="23"/>
                  </a:cubicBezTo>
                  <a:cubicBezTo>
                    <a:pt x="56" y="23"/>
                    <a:pt x="56" y="22"/>
                    <a:pt x="56" y="21"/>
                  </a:cubicBezTo>
                  <a:cubicBezTo>
                    <a:pt x="56" y="21"/>
                    <a:pt x="55" y="21"/>
                    <a:pt x="54" y="20"/>
                  </a:cubicBezTo>
                  <a:cubicBezTo>
                    <a:pt x="54" y="20"/>
                    <a:pt x="55" y="19"/>
                    <a:pt x="54" y="18"/>
                  </a:cubicBezTo>
                  <a:cubicBezTo>
                    <a:pt x="54" y="18"/>
                    <a:pt x="53" y="16"/>
                    <a:pt x="52" y="16"/>
                  </a:cubicBezTo>
                  <a:cubicBezTo>
                    <a:pt x="51" y="16"/>
                    <a:pt x="51" y="15"/>
                    <a:pt x="50" y="15"/>
                  </a:cubicBezTo>
                  <a:cubicBezTo>
                    <a:pt x="49" y="15"/>
                    <a:pt x="44" y="14"/>
                    <a:pt x="43" y="15"/>
                  </a:cubicBezTo>
                  <a:cubicBezTo>
                    <a:pt x="43" y="15"/>
                    <a:pt x="42" y="15"/>
                    <a:pt x="42" y="16"/>
                  </a:cubicBezTo>
                  <a:cubicBezTo>
                    <a:pt x="41" y="16"/>
                    <a:pt x="43" y="17"/>
                    <a:pt x="43" y="17"/>
                  </a:cubicBezTo>
                  <a:cubicBezTo>
                    <a:pt x="43" y="18"/>
                    <a:pt x="41" y="17"/>
                    <a:pt x="40" y="17"/>
                  </a:cubicBezTo>
                  <a:cubicBezTo>
                    <a:pt x="40" y="17"/>
                    <a:pt x="39" y="19"/>
                    <a:pt x="38" y="20"/>
                  </a:cubicBezTo>
                  <a:cubicBezTo>
                    <a:pt x="37" y="20"/>
                    <a:pt x="38" y="16"/>
                    <a:pt x="39" y="16"/>
                  </a:cubicBezTo>
                  <a:cubicBezTo>
                    <a:pt x="39" y="15"/>
                    <a:pt x="38" y="14"/>
                    <a:pt x="37" y="14"/>
                  </a:cubicBezTo>
                  <a:cubicBezTo>
                    <a:pt x="37" y="14"/>
                    <a:pt x="35" y="15"/>
                    <a:pt x="35" y="16"/>
                  </a:cubicBezTo>
                  <a:cubicBezTo>
                    <a:pt x="35" y="16"/>
                    <a:pt x="34" y="16"/>
                    <a:pt x="33" y="16"/>
                  </a:cubicBezTo>
                  <a:cubicBezTo>
                    <a:pt x="33" y="16"/>
                    <a:pt x="32" y="17"/>
                    <a:pt x="31" y="19"/>
                  </a:cubicBezTo>
                  <a:cubicBezTo>
                    <a:pt x="30" y="20"/>
                    <a:pt x="29" y="20"/>
                    <a:pt x="28" y="20"/>
                  </a:cubicBezTo>
                  <a:cubicBezTo>
                    <a:pt x="27" y="20"/>
                    <a:pt x="30" y="17"/>
                    <a:pt x="30" y="16"/>
                  </a:cubicBezTo>
                  <a:cubicBezTo>
                    <a:pt x="31" y="14"/>
                    <a:pt x="32" y="14"/>
                    <a:pt x="33" y="13"/>
                  </a:cubicBezTo>
                  <a:cubicBezTo>
                    <a:pt x="34" y="13"/>
                    <a:pt x="34" y="10"/>
                    <a:pt x="33" y="9"/>
                  </a:cubicBezTo>
                  <a:cubicBezTo>
                    <a:pt x="33" y="9"/>
                    <a:pt x="34" y="8"/>
                    <a:pt x="35" y="8"/>
                  </a:cubicBezTo>
                  <a:cubicBezTo>
                    <a:pt x="35" y="7"/>
                    <a:pt x="35" y="7"/>
                    <a:pt x="35" y="7"/>
                  </a:cubicBezTo>
                  <a:cubicBezTo>
                    <a:pt x="34" y="6"/>
                    <a:pt x="36" y="6"/>
                    <a:pt x="36" y="5"/>
                  </a:cubicBezTo>
                  <a:cubicBezTo>
                    <a:pt x="36" y="3"/>
                    <a:pt x="36" y="2"/>
                    <a:pt x="37" y="2"/>
                  </a:cubicBezTo>
                  <a:cubicBezTo>
                    <a:pt x="37" y="1"/>
                    <a:pt x="34" y="1"/>
                    <a:pt x="33" y="1"/>
                  </a:cubicBezTo>
                  <a:cubicBezTo>
                    <a:pt x="33" y="2"/>
                    <a:pt x="31" y="2"/>
                    <a:pt x="31" y="2"/>
                  </a:cubicBezTo>
                  <a:cubicBezTo>
                    <a:pt x="30" y="3"/>
                    <a:pt x="31" y="4"/>
                    <a:pt x="31" y="4"/>
                  </a:cubicBezTo>
                  <a:cubicBezTo>
                    <a:pt x="31" y="4"/>
                    <a:pt x="30" y="4"/>
                    <a:pt x="29" y="3"/>
                  </a:cubicBezTo>
                  <a:cubicBezTo>
                    <a:pt x="28" y="3"/>
                    <a:pt x="27" y="4"/>
                    <a:pt x="27" y="4"/>
                  </a:cubicBezTo>
                  <a:cubicBezTo>
                    <a:pt x="27" y="4"/>
                    <a:pt x="29" y="5"/>
                    <a:pt x="29" y="5"/>
                  </a:cubicBezTo>
                  <a:cubicBezTo>
                    <a:pt x="29" y="6"/>
                    <a:pt x="30" y="6"/>
                    <a:pt x="30" y="7"/>
                  </a:cubicBezTo>
                  <a:cubicBezTo>
                    <a:pt x="31" y="7"/>
                    <a:pt x="28" y="9"/>
                    <a:pt x="27" y="9"/>
                  </a:cubicBezTo>
                  <a:cubicBezTo>
                    <a:pt x="26" y="9"/>
                    <a:pt x="26" y="8"/>
                    <a:pt x="25" y="8"/>
                  </a:cubicBezTo>
                  <a:cubicBezTo>
                    <a:pt x="23" y="9"/>
                    <a:pt x="24" y="8"/>
                    <a:pt x="23" y="8"/>
                  </a:cubicBezTo>
                  <a:cubicBezTo>
                    <a:pt x="22" y="8"/>
                    <a:pt x="22" y="11"/>
                    <a:pt x="21" y="13"/>
                  </a:cubicBezTo>
                  <a:cubicBezTo>
                    <a:pt x="21" y="14"/>
                    <a:pt x="22" y="14"/>
                    <a:pt x="23" y="15"/>
                  </a:cubicBezTo>
                  <a:cubicBezTo>
                    <a:pt x="23" y="16"/>
                    <a:pt x="23" y="16"/>
                    <a:pt x="22" y="17"/>
                  </a:cubicBezTo>
                  <a:cubicBezTo>
                    <a:pt x="22" y="17"/>
                    <a:pt x="20" y="16"/>
                    <a:pt x="20" y="16"/>
                  </a:cubicBezTo>
                  <a:cubicBezTo>
                    <a:pt x="20" y="16"/>
                    <a:pt x="20" y="18"/>
                    <a:pt x="20" y="19"/>
                  </a:cubicBezTo>
                  <a:cubicBezTo>
                    <a:pt x="20" y="20"/>
                    <a:pt x="21" y="21"/>
                    <a:pt x="22" y="22"/>
                  </a:cubicBezTo>
                  <a:cubicBezTo>
                    <a:pt x="23" y="22"/>
                    <a:pt x="23" y="22"/>
                    <a:pt x="23" y="23"/>
                  </a:cubicBezTo>
                  <a:cubicBezTo>
                    <a:pt x="23" y="24"/>
                    <a:pt x="26" y="25"/>
                    <a:pt x="27" y="26"/>
                  </a:cubicBezTo>
                  <a:cubicBezTo>
                    <a:pt x="27" y="27"/>
                    <a:pt x="26" y="27"/>
                    <a:pt x="25" y="27"/>
                  </a:cubicBezTo>
                  <a:cubicBezTo>
                    <a:pt x="24" y="28"/>
                    <a:pt x="24" y="27"/>
                    <a:pt x="24" y="27"/>
                  </a:cubicBezTo>
                  <a:cubicBezTo>
                    <a:pt x="23" y="27"/>
                    <a:pt x="23" y="28"/>
                    <a:pt x="22" y="29"/>
                  </a:cubicBezTo>
                  <a:cubicBezTo>
                    <a:pt x="21" y="29"/>
                    <a:pt x="22" y="27"/>
                    <a:pt x="22" y="27"/>
                  </a:cubicBezTo>
                  <a:cubicBezTo>
                    <a:pt x="22" y="26"/>
                    <a:pt x="19" y="28"/>
                    <a:pt x="18" y="28"/>
                  </a:cubicBezTo>
                  <a:cubicBezTo>
                    <a:pt x="17" y="29"/>
                    <a:pt x="19" y="26"/>
                    <a:pt x="20" y="26"/>
                  </a:cubicBezTo>
                  <a:cubicBezTo>
                    <a:pt x="20" y="25"/>
                    <a:pt x="20" y="25"/>
                    <a:pt x="20" y="25"/>
                  </a:cubicBezTo>
                  <a:cubicBezTo>
                    <a:pt x="19" y="25"/>
                    <a:pt x="20" y="24"/>
                    <a:pt x="19" y="23"/>
                  </a:cubicBezTo>
                  <a:cubicBezTo>
                    <a:pt x="18" y="22"/>
                    <a:pt x="16" y="21"/>
                    <a:pt x="16" y="19"/>
                  </a:cubicBezTo>
                  <a:cubicBezTo>
                    <a:pt x="15" y="17"/>
                    <a:pt x="18" y="15"/>
                    <a:pt x="18" y="14"/>
                  </a:cubicBezTo>
                  <a:cubicBezTo>
                    <a:pt x="19" y="13"/>
                    <a:pt x="18" y="11"/>
                    <a:pt x="19" y="9"/>
                  </a:cubicBezTo>
                  <a:cubicBezTo>
                    <a:pt x="19" y="7"/>
                    <a:pt x="23" y="4"/>
                    <a:pt x="24" y="3"/>
                  </a:cubicBezTo>
                  <a:cubicBezTo>
                    <a:pt x="25" y="3"/>
                    <a:pt x="27" y="1"/>
                    <a:pt x="27" y="1"/>
                  </a:cubicBezTo>
                  <a:cubicBezTo>
                    <a:pt x="27" y="0"/>
                    <a:pt x="27" y="0"/>
                    <a:pt x="26" y="1"/>
                  </a:cubicBezTo>
                  <a:cubicBezTo>
                    <a:pt x="25" y="1"/>
                    <a:pt x="19" y="1"/>
                    <a:pt x="18" y="1"/>
                  </a:cubicBezTo>
                  <a:cubicBezTo>
                    <a:pt x="17" y="1"/>
                    <a:pt x="13" y="3"/>
                    <a:pt x="12" y="3"/>
                  </a:cubicBezTo>
                  <a:cubicBezTo>
                    <a:pt x="12" y="3"/>
                    <a:pt x="10" y="4"/>
                    <a:pt x="9" y="5"/>
                  </a:cubicBezTo>
                  <a:cubicBezTo>
                    <a:pt x="9" y="6"/>
                    <a:pt x="7" y="7"/>
                    <a:pt x="6" y="7"/>
                  </a:cubicBezTo>
                  <a:cubicBezTo>
                    <a:pt x="5" y="7"/>
                    <a:pt x="5" y="10"/>
                    <a:pt x="5" y="11"/>
                  </a:cubicBezTo>
                  <a:cubicBezTo>
                    <a:pt x="5" y="13"/>
                    <a:pt x="2" y="16"/>
                    <a:pt x="1" y="17"/>
                  </a:cubicBezTo>
                  <a:cubicBezTo>
                    <a:pt x="0" y="18"/>
                    <a:pt x="0" y="21"/>
                    <a:pt x="1" y="2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95" name="Freeform 90"/>
            <p:cNvSpPr>
              <a:spLocks/>
            </p:cNvSpPr>
            <p:nvPr/>
          </p:nvSpPr>
          <p:spPr bwMode="auto">
            <a:xfrm>
              <a:off x="2745345" y="2296435"/>
              <a:ext cx="86307" cy="65256"/>
            </a:xfrm>
            <a:custGeom>
              <a:avLst/>
              <a:gdLst>
                <a:gd name="T0" fmla="*/ 0 w 17"/>
                <a:gd name="T1" fmla="*/ 13 h 13"/>
                <a:gd name="T2" fmla="*/ 9 w 17"/>
                <a:gd name="T3" fmla="*/ 12 h 13"/>
                <a:gd name="T4" fmla="*/ 13 w 17"/>
                <a:gd name="T5" fmla="*/ 13 h 13"/>
                <a:gd name="T6" fmla="*/ 16 w 17"/>
                <a:gd name="T7" fmla="*/ 9 h 13"/>
                <a:gd name="T8" fmla="*/ 15 w 17"/>
                <a:gd name="T9" fmla="*/ 6 h 13"/>
                <a:gd name="T10" fmla="*/ 16 w 17"/>
                <a:gd name="T11" fmla="*/ 4 h 13"/>
                <a:gd name="T12" fmla="*/ 14 w 17"/>
                <a:gd name="T13" fmla="*/ 3 h 13"/>
                <a:gd name="T14" fmla="*/ 9 w 17"/>
                <a:gd name="T15" fmla="*/ 3 h 13"/>
                <a:gd name="T16" fmla="*/ 7 w 17"/>
                <a:gd name="T17" fmla="*/ 1 h 13"/>
                <a:gd name="T18" fmla="*/ 3 w 17"/>
                <a:gd name="T19" fmla="*/ 2 h 13"/>
                <a:gd name="T20" fmla="*/ 2 w 17"/>
                <a:gd name="T21" fmla="*/ 3 h 13"/>
                <a:gd name="T22" fmla="*/ 1 w 17"/>
                <a:gd name="T23" fmla="*/ 9 h 13"/>
                <a:gd name="T24" fmla="*/ 0 w 17"/>
                <a:gd name="T25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" h="13">
                  <a:moveTo>
                    <a:pt x="0" y="13"/>
                  </a:moveTo>
                  <a:cubicBezTo>
                    <a:pt x="1" y="13"/>
                    <a:pt x="8" y="12"/>
                    <a:pt x="9" y="12"/>
                  </a:cubicBezTo>
                  <a:cubicBezTo>
                    <a:pt x="11" y="12"/>
                    <a:pt x="11" y="13"/>
                    <a:pt x="13" y="13"/>
                  </a:cubicBezTo>
                  <a:cubicBezTo>
                    <a:pt x="17" y="13"/>
                    <a:pt x="16" y="11"/>
                    <a:pt x="16" y="9"/>
                  </a:cubicBezTo>
                  <a:cubicBezTo>
                    <a:pt x="15" y="8"/>
                    <a:pt x="16" y="7"/>
                    <a:pt x="15" y="6"/>
                  </a:cubicBezTo>
                  <a:cubicBezTo>
                    <a:pt x="15" y="5"/>
                    <a:pt x="15" y="4"/>
                    <a:pt x="16" y="4"/>
                  </a:cubicBezTo>
                  <a:cubicBezTo>
                    <a:pt x="16" y="3"/>
                    <a:pt x="15" y="3"/>
                    <a:pt x="14" y="3"/>
                  </a:cubicBezTo>
                  <a:cubicBezTo>
                    <a:pt x="13" y="2"/>
                    <a:pt x="10" y="3"/>
                    <a:pt x="9" y="3"/>
                  </a:cubicBezTo>
                  <a:cubicBezTo>
                    <a:pt x="9" y="3"/>
                    <a:pt x="7" y="2"/>
                    <a:pt x="7" y="1"/>
                  </a:cubicBezTo>
                  <a:cubicBezTo>
                    <a:pt x="6" y="0"/>
                    <a:pt x="5" y="1"/>
                    <a:pt x="3" y="2"/>
                  </a:cubicBezTo>
                  <a:cubicBezTo>
                    <a:pt x="2" y="2"/>
                    <a:pt x="2" y="3"/>
                    <a:pt x="2" y="3"/>
                  </a:cubicBezTo>
                  <a:cubicBezTo>
                    <a:pt x="1" y="4"/>
                    <a:pt x="1" y="7"/>
                    <a:pt x="1" y="9"/>
                  </a:cubicBezTo>
                  <a:cubicBezTo>
                    <a:pt x="1" y="10"/>
                    <a:pt x="0" y="12"/>
                    <a:pt x="0" y="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96" name="Freeform 91"/>
            <p:cNvSpPr>
              <a:spLocks/>
            </p:cNvSpPr>
            <p:nvPr/>
          </p:nvSpPr>
          <p:spPr bwMode="auto">
            <a:xfrm>
              <a:off x="2347499" y="2490096"/>
              <a:ext cx="79991" cy="65256"/>
            </a:xfrm>
            <a:custGeom>
              <a:avLst/>
              <a:gdLst>
                <a:gd name="T0" fmla="*/ 14 w 16"/>
                <a:gd name="T1" fmla="*/ 6 h 13"/>
                <a:gd name="T2" fmla="*/ 13 w 16"/>
                <a:gd name="T3" fmla="*/ 3 h 13"/>
                <a:gd name="T4" fmla="*/ 12 w 16"/>
                <a:gd name="T5" fmla="*/ 3 h 13"/>
                <a:gd name="T6" fmla="*/ 11 w 16"/>
                <a:gd name="T7" fmla="*/ 2 h 13"/>
                <a:gd name="T8" fmla="*/ 9 w 16"/>
                <a:gd name="T9" fmla="*/ 0 h 13"/>
                <a:gd name="T10" fmla="*/ 7 w 16"/>
                <a:gd name="T11" fmla="*/ 1 h 13"/>
                <a:gd name="T12" fmla="*/ 6 w 16"/>
                <a:gd name="T13" fmla="*/ 3 h 13"/>
                <a:gd name="T14" fmla="*/ 6 w 16"/>
                <a:gd name="T15" fmla="*/ 4 h 13"/>
                <a:gd name="T16" fmla="*/ 4 w 16"/>
                <a:gd name="T17" fmla="*/ 7 h 13"/>
                <a:gd name="T18" fmla="*/ 1 w 16"/>
                <a:gd name="T19" fmla="*/ 7 h 13"/>
                <a:gd name="T20" fmla="*/ 1 w 16"/>
                <a:gd name="T21" fmla="*/ 9 h 13"/>
                <a:gd name="T22" fmla="*/ 3 w 16"/>
                <a:gd name="T23" fmla="*/ 10 h 13"/>
                <a:gd name="T24" fmla="*/ 7 w 16"/>
                <a:gd name="T25" fmla="*/ 11 h 13"/>
                <a:gd name="T26" fmla="*/ 11 w 16"/>
                <a:gd name="T27" fmla="*/ 12 h 13"/>
                <a:gd name="T28" fmla="*/ 16 w 16"/>
                <a:gd name="T29" fmla="*/ 10 h 13"/>
                <a:gd name="T30" fmla="*/ 15 w 16"/>
                <a:gd name="T31" fmla="*/ 9 h 13"/>
                <a:gd name="T32" fmla="*/ 14 w 16"/>
                <a:gd name="T33" fmla="*/ 7 h 13"/>
                <a:gd name="T34" fmla="*/ 14 w 16"/>
                <a:gd name="T35" fmla="*/ 6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6" h="13">
                  <a:moveTo>
                    <a:pt x="14" y="6"/>
                  </a:moveTo>
                  <a:cubicBezTo>
                    <a:pt x="15" y="6"/>
                    <a:pt x="14" y="4"/>
                    <a:pt x="13" y="3"/>
                  </a:cubicBezTo>
                  <a:cubicBezTo>
                    <a:pt x="13" y="3"/>
                    <a:pt x="12" y="3"/>
                    <a:pt x="12" y="3"/>
                  </a:cubicBezTo>
                  <a:cubicBezTo>
                    <a:pt x="11" y="3"/>
                    <a:pt x="11" y="2"/>
                    <a:pt x="11" y="2"/>
                  </a:cubicBezTo>
                  <a:cubicBezTo>
                    <a:pt x="11" y="1"/>
                    <a:pt x="9" y="0"/>
                    <a:pt x="9" y="0"/>
                  </a:cubicBezTo>
                  <a:cubicBezTo>
                    <a:pt x="9" y="0"/>
                    <a:pt x="8" y="1"/>
                    <a:pt x="7" y="1"/>
                  </a:cubicBezTo>
                  <a:cubicBezTo>
                    <a:pt x="7" y="2"/>
                    <a:pt x="7" y="3"/>
                    <a:pt x="6" y="3"/>
                  </a:cubicBezTo>
                  <a:cubicBezTo>
                    <a:pt x="6" y="4"/>
                    <a:pt x="5" y="4"/>
                    <a:pt x="6" y="4"/>
                  </a:cubicBezTo>
                  <a:cubicBezTo>
                    <a:pt x="6" y="5"/>
                    <a:pt x="5" y="7"/>
                    <a:pt x="4" y="7"/>
                  </a:cubicBezTo>
                  <a:cubicBezTo>
                    <a:pt x="3" y="7"/>
                    <a:pt x="1" y="7"/>
                    <a:pt x="1" y="7"/>
                  </a:cubicBezTo>
                  <a:cubicBezTo>
                    <a:pt x="0" y="7"/>
                    <a:pt x="0" y="9"/>
                    <a:pt x="1" y="9"/>
                  </a:cubicBezTo>
                  <a:cubicBezTo>
                    <a:pt x="1" y="10"/>
                    <a:pt x="3" y="10"/>
                    <a:pt x="3" y="10"/>
                  </a:cubicBezTo>
                  <a:cubicBezTo>
                    <a:pt x="4" y="11"/>
                    <a:pt x="6" y="11"/>
                    <a:pt x="7" y="11"/>
                  </a:cubicBezTo>
                  <a:cubicBezTo>
                    <a:pt x="8" y="12"/>
                    <a:pt x="10" y="12"/>
                    <a:pt x="11" y="12"/>
                  </a:cubicBezTo>
                  <a:cubicBezTo>
                    <a:pt x="12" y="13"/>
                    <a:pt x="15" y="11"/>
                    <a:pt x="16" y="10"/>
                  </a:cubicBezTo>
                  <a:cubicBezTo>
                    <a:pt x="16" y="10"/>
                    <a:pt x="16" y="10"/>
                    <a:pt x="15" y="9"/>
                  </a:cubicBezTo>
                  <a:cubicBezTo>
                    <a:pt x="14" y="9"/>
                    <a:pt x="15" y="7"/>
                    <a:pt x="14" y="7"/>
                  </a:cubicBezTo>
                  <a:cubicBezTo>
                    <a:pt x="13" y="7"/>
                    <a:pt x="14" y="6"/>
                    <a:pt x="14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97" name="Freeform 92"/>
            <p:cNvSpPr>
              <a:spLocks/>
            </p:cNvSpPr>
            <p:nvPr/>
          </p:nvSpPr>
          <p:spPr bwMode="auto">
            <a:xfrm>
              <a:off x="1928599" y="2266965"/>
              <a:ext cx="210503" cy="174716"/>
            </a:xfrm>
            <a:custGeom>
              <a:avLst/>
              <a:gdLst>
                <a:gd name="T0" fmla="*/ 3 w 42"/>
                <a:gd name="T1" fmla="*/ 28 h 35"/>
                <a:gd name="T2" fmla="*/ 4 w 42"/>
                <a:gd name="T3" fmla="*/ 34 h 35"/>
                <a:gd name="T4" fmla="*/ 7 w 42"/>
                <a:gd name="T5" fmla="*/ 34 h 35"/>
                <a:gd name="T6" fmla="*/ 9 w 42"/>
                <a:gd name="T7" fmla="*/ 34 h 35"/>
                <a:gd name="T8" fmla="*/ 10 w 42"/>
                <a:gd name="T9" fmla="*/ 32 h 35"/>
                <a:gd name="T10" fmla="*/ 13 w 42"/>
                <a:gd name="T11" fmla="*/ 32 h 35"/>
                <a:gd name="T12" fmla="*/ 19 w 42"/>
                <a:gd name="T13" fmla="*/ 29 h 35"/>
                <a:gd name="T14" fmla="*/ 24 w 42"/>
                <a:gd name="T15" fmla="*/ 20 h 35"/>
                <a:gd name="T16" fmla="*/ 28 w 42"/>
                <a:gd name="T17" fmla="*/ 17 h 35"/>
                <a:gd name="T18" fmla="*/ 31 w 42"/>
                <a:gd name="T19" fmla="*/ 16 h 35"/>
                <a:gd name="T20" fmla="*/ 36 w 42"/>
                <a:gd name="T21" fmla="*/ 15 h 35"/>
                <a:gd name="T22" fmla="*/ 42 w 42"/>
                <a:gd name="T23" fmla="*/ 10 h 35"/>
                <a:gd name="T24" fmla="*/ 40 w 42"/>
                <a:gd name="T25" fmla="*/ 9 h 35"/>
                <a:gd name="T26" fmla="*/ 39 w 42"/>
                <a:gd name="T27" fmla="*/ 8 h 35"/>
                <a:gd name="T28" fmla="*/ 36 w 42"/>
                <a:gd name="T29" fmla="*/ 5 h 35"/>
                <a:gd name="T30" fmla="*/ 33 w 42"/>
                <a:gd name="T31" fmla="*/ 4 h 35"/>
                <a:gd name="T32" fmla="*/ 32 w 42"/>
                <a:gd name="T33" fmla="*/ 6 h 35"/>
                <a:gd name="T34" fmla="*/ 31 w 42"/>
                <a:gd name="T35" fmla="*/ 5 h 35"/>
                <a:gd name="T36" fmla="*/ 30 w 42"/>
                <a:gd name="T37" fmla="*/ 4 h 35"/>
                <a:gd name="T38" fmla="*/ 27 w 42"/>
                <a:gd name="T39" fmla="*/ 3 h 35"/>
                <a:gd name="T40" fmla="*/ 24 w 42"/>
                <a:gd name="T41" fmla="*/ 3 h 35"/>
                <a:gd name="T42" fmla="*/ 25 w 42"/>
                <a:gd name="T43" fmla="*/ 1 h 35"/>
                <a:gd name="T44" fmla="*/ 25 w 42"/>
                <a:gd name="T45" fmla="*/ 1 h 35"/>
                <a:gd name="T46" fmla="*/ 19 w 42"/>
                <a:gd name="T47" fmla="*/ 1 h 35"/>
                <a:gd name="T48" fmla="*/ 15 w 42"/>
                <a:gd name="T49" fmla="*/ 2 h 35"/>
                <a:gd name="T50" fmla="*/ 11 w 42"/>
                <a:gd name="T51" fmla="*/ 5 h 35"/>
                <a:gd name="T52" fmla="*/ 12 w 42"/>
                <a:gd name="T53" fmla="*/ 6 h 35"/>
                <a:gd name="T54" fmla="*/ 11 w 42"/>
                <a:gd name="T55" fmla="*/ 7 h 35"/>
                <a:gd name="T56" fmla="*/ 12 w 42"/>
                <a:gd name="T57" fmla="*/ 8 h 35"/>
                <a:gd name="T58" fmla="*/ 11 w 42"/>
                <a:gd name="T59" fmla="*/ 10 h 35"/>
                <a:gd name="T60" fmla="*/ 9 w 42"/>
                <a:gd name="T61" fmla="*/ 11 h 35"/>
                <a:gd name="T62" fmla="*/ 6 w 42"/>
                <a:gd name="T63" fmla="*/ 17 h 35"/>
                <a:gd name="T64" fmla="*/ 4 w 42"/>
                <a:gd name="T65" fmla="*/ 18 h 35"/>
                <a:gd name="T66" fmla="*/ 4 w 42"/>
                <a:gd name="T67" fmla="*/ 20 h 35"/>
                <a:gd name="T68" fmla="*/ 1 w 42"/>
                <a:gd name="T69" fmla="*/ 24 h 35"/>
                <a:gd name="T70" fmla="*/ 0 w 42"/>
                <a:gd name="T71" fmla="*/ 26 h 35"/>
                <a:gd name="T72" fmla="*/ 3 w 42"/>
                <a:gd name="T73" fmla="*/ 28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2" h="35">
                  <a:moveTo>
                    <a:pt x="3" y="28"/>
                  </a:moveTo>
                  <a:cubicBezTo>
                    <a:pt x="4" y="29"/>
                    <a:pt x="4" y="33"/>
                    <a:pt x="4" y="34"/>
                  </a:cubicBezTo>
                  <a:cubicBezTo>
                    <a:pt x="4" y="35"/>
                    <a:pt x="6" y="34"/>
                    <a:pt x="7" y="34"/>
                  </a:cubicBezTo>
                  <a:cubicBezTo>
                    <a:pt x="7" y="34"/>
                    <a:pt x="8" y="34"/>
                    <a:pt x="9" y="34"/>
                  </a:cubicBezTo>
                  <a:cubicBezTo>
                    <a:pt x="9" y="34"/>
                    <a:pt x="10" y="33"/>
                    <a:pt x="10" y="32"/>
                  </a:cubicBezTo>
                  <a:cubicBezTo>
                    <a:pt x="11" y="31"/>
                    <a:pt x="11" y="32"/>
                    <a:pt x="13" y="32"/>
                  </a:cubicBezTo>
                  <a:cubicBezTo>
                    <a:pt x="16" y="31"/>
                    <a:pt x="18" y="30"/>
                    <a:pt x="19" y="29"/>
                  </a:cubicBezTo>
                  <a:cubicBezTo>
                    <a:pt x="21" y="27"/>
                    <a:pt x="24" y="20"/>
                    <a:pt x="24" y="20"/>
                  </a:cubicBezTo>
                  <a:cubicBezTo>
                    <a:pt x="25" y="19"/>
                    <a:pt x="27" y="17"/>
                    <a:pt x="28" y="17"/>
                  </a:cubicBezTo>
                  <a:cubicBezTo>
                    <a:pt x="29" y="17"/>
                    <a:pt x="30" y="17"/>
                    <a:pt x="31" y="16"/>
                  </a:cubicBezTo>
                  <a:cubicBezTo>
                    <a:pt x="33" y="15"/>
                    <a:pt x="35" y="15"/>
                    <a:pt x="36" y="15"/>
                  </a:cubicBezTo>
                  <a:cubicBezTo>
                    <a:pt x="38" y="14"/>
                    <a:pt x="41" y="11"/>
                    <a:pt x="42" y="10"/>
                  </a:cubicBezTo>
                  <a:cubicBezTo>
                    <a:pt x="42" y="10"/>
                    <a:pt x="41" y="9"/>
                    <a:pt x="40" y="9"/>
                  </a:cubicBezTo>
                  <a:cubicBezTo>
                    <a:pt x="39" y="9"/>
                    <a:pt x="39" y="8"/>
                    <a:pt x="39" y="8"/>
                  </a:cubicBezTo>
                  <a:cubicBezTo>
                    <a:pt x="39" y="8"/>
                    <a:pt x="37" y="6"/>
                    <a:pt x="36" y="5"/>
                  </a:cubicBezTo>
                  <a:cubicBezTo>
                    <a:pt x="36" y="4"/>
                    <a:pt x="34" y="4"/>
                    <a:pt x="33" y="4"/>
                  </a:cubicBezTo>
                  <a:cubicBezTo>
                    <a:pt x="32" y="5"/>
                    <a:pt x="33" y="5"/>
                    <a:pt x="32" y="6"/>
                  </a:cubicBezTo>
                  <a:cubicBezTo>
                    <a:pt x="31" y="6"/>
                    <a:pt x="31" y="5"/>
                    <a:pt x="31" y="5"/>
                  </a:cubicBezTo>
                  <a:cubicBezTo>
                    <a:pt x="31" y="4"/>
                    <a:pt x="31" y="4"/>
                    <a:pt x="30" y="4"/>
                  </a:cubicBezTo>
                  <a:cubicBezTo>
                    <a:pt x="29" y="4"/>
                    <a:pt x="28" y="3"/>
                    <a:pt x="27" y="3"/>
                  </a:cubicBezTo>
                  <a:cubicBezTo>
                    <a:pt x="26" y="2"/>
                    <a:pt x="25" y="3"/>
                    <a:pt x="24" y="3"/>
                  </a:cubicBezTo>
                  <a:cubicBezTo>
                    <a:pt x="22" y="3"/>
                    <a:pt x="25" y="2"/>
                    <a:pt x="25" y="1"/>
                  </a:cubicBezTo>
                  <a:cubicBezTo>
                    <a:pt x="26" y="1"/>
                    <a:pt x="26" y="0"/>
                    <a:pt x="25" y="1"/>
                  </a:cubicBezTo>
                  <a:cubicBezTo>
                    <a:pt x="23" y="1"/>
                    <a:pt x="21" y="1"/>
                    <a:pt x="19" y="1"/>
                  </a:cubicBezTo>
                  <a:cubicBezTo>
                    <a:pt x="18" y="1"/>
                    <a:pt x="17" y="2"/>
                    <a:pt x="15" y="2"/>
                  </a:cubicBezTo>
                  <a:cubicBezTo>
                    <a:pt x="13" y="3"/>
                    <a:pt x="12" y="4"/>
                    <a:pt x="11" y="5"/>
                  </a:cubicBezTo>
                  <a:cubicBezTo>
                    <a:pt x="10" y="6"/>
                    <a:pt x="12" y="6"/>
                    <a:pt x="12" y="6"/>
                  </a:cubicBezTo>
                  <a:cubicBezTo>
                    <a:pt x="12" y="6"/>
                    <a:pt x="12" y="7"/>
                    <a:pt x="11" y="7"/>
                  </a:cubicBezTo>
                  <a:cubicBezTo>
                    <a:pt x="11" y="8"/>
                    <a:pt x="12" y="8"/>
                    <a:pt x="12" y="8"/>
                  </a:cubicBezTo>
                  <a:cubicBezTo>
                    <a:pt x="12" y="8"/>
                    <a:pt x="12" y="10"/>
                    <a:pt x="11" y="10"/>
                  </a:cubicBezTo>
                  <a:cubicBezTo>
                    <a:pt x="10" y="10"/>
                    <a:pt x="10" y="10"/>
                    <a:pt x="9" y="11"/>
                  </a:cubicBezTo>
                  <a:cubicBezTo>
                    <a:pt x="8" y="13"/>
                    <a:pt x="6" y="16"/>
                    <a:pt x="6" y="17"/>
                  </a:cubicBezTo>
                  <a:cubicBezTo>
                    <a:pt x="6" y="17"/>
                    <a:pt x="5" y="18"/>
                    <a:pt x="4" y="18"/>
                  </a:cubicBezTo>
                  <a:cubicBezTo>
                    <a:pt x="3" y="19"/>
                    <a:pt x="4" y="19"/>
                    <a:pt x="4" y="20"/>
                  </a:cubicBezTo>
                  <a:cubicBezTo>
                    <a:pt x="4" y="20"/>
                    <a:pt x="2" y="24"/>
                    <a:pt x="1" y="24"/>
                  </a:cubicBezTo>
                  <a:cubicBezTo>
                    <a:pt x="0" y="25"/>
                    <a:pt x="0" y="25"/>
                    <a:pt x="0" y="26"/>
                  </a:cubicBezTo>
                  <a:cubicBezTo>
                    <a:pt x="0" y="27"/>
                    <a:pt x="2" y="27"/>
                    <a:pt x="3" y="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98" name="Freeform 93"/>
            <p:cNvSpPr>
              <a:spLocks/>
            </p:cNvSpPr>
            <p:nvPr/>
          </p:nvSpPr>
          <p:spPr bwMode="auto">
            <a:xfrm>
              <a:off x="2033850" y="2325906"/>
              <a:ext cx="309439" cy="225237"/>
            </a:xfrm>
            <a:custGeom>
              <a:avLst/>
              <a:gdLst>
                <a:gd name="T0" fmla="*/ 10 w 62"/>
                <a:gd name="T1" fmla="*/ 6 h 45"/>
                <a:gd name="T2" fmla="*/ 5 w 62"/>
                <a:gd name="T3" fmla="*/ 9 h 45"/>
                <a:gd name="T4" fmla="*/ 6 w 62"/>
                <a:gd name="T5" fmla="*/ 11 h 45"/>
                <a:gd name="T6" fmla="*/ 1 w 62"/>
                <a:gd name="T7" fmla="*/ 16 h 45"/>
                <a:gd name="T8" fmla="*/ 2 w 62"/>
                <a:gd name="T9" fmla="*/ 18 h 45"/>
                <a:gd name="T10" fmla="*/ 4 w 62"/>
                <a:gd name="T11" fmla="*/ 20 h 45"/>
                <a:gd name="T12" fmla="*/ 11 w 62"/>
                <a:gd name="T13" fmla="*/ 19 h 45"/>
                <a:gd name="T14" fmla="*/ 9 w 62"/>
                <a:gd name="T15" fmla="*/ 20 h 45"/>
                <a:gd name="T16" fmla="*/ 2 w 62"/>
                <a:gd name="T17" fmla="*/ 22 h 45"/>
                <a:gd name="T18" fmla="*/ 4 w 62"/>
                <a:gd name="T19" fmla="*/ 27 h 45"/>
                <a:gd name="T20" fmla="*/ 8 w 62"/>
                <a:gd name="T21" fmla="*/ 27 h 45"/>
                <a:gd name="T22" fmla="*/ 17 w 62"/>
                <a:gd name="T23" fmla="*/ 26 h 45"/>
                <a:gd name="T24" fmla="*/ 25 w 62"/>
                <a:gd name="T25" fmla="*/ 28 h 45"/>
                <a:gd name="T26" fmla="*/ 22 w 62"/>
                <a:gd name="T27" fmla="*/ 30 h 45"/>
                <a:gd name="T28" fmla="*/ 17 w 62"/>
                <a:gd name="T29" fmla="*/ 31 h 45"/>
                <a:gd name="T30" fmla="*/ 7 w 62"/>
                <a:gd name="T31" fmla="*/ 31 h 45"/>
                <a:gd name="T32" fmla="*/ 2 w 62"/>
                <a:gd name="T33" fmla="*/ 35 h 45"/>
                <a:gd name="T34" fmla="*/ 5 w 62"/>
                <a:gd name="T35" fmla="*/ 39 h 45"/>
                <a:gd name="T36" fmla="*/ 12 w 62"/>
                <a:gd name="T37" fmla="*/ 41 h 45"/>
                <a:gd name="T38" fmla="*/ 14 w 62"/>
                <a:gd name="T39" fmla="*/ 45 h 45"/>
                <a:gd name="T40" fmla="*/ 24 w 62"/>
                <a:gd name="T41" fmla="*/ 44 h 45"/>
                <a:gd name="T42" fmla="*/ 35 w 62"/>
                <a:gd name="T43" fmla="*/ 41 h 45"/>
                <a:gd name="T44" fmla="*/ 40 w 62"/>
                <a:gd name="T45" fmla="*/ 41 h 45"/>
                <a:gd name="T46" fmla="*/ 43 w 62"/>
                <a:gd name="T47" fmla="*/ 42 h 45"/>
                <a:gd name="T48" fmla="*/ 51 w 62"/>
                <a:gd name="T49" fmla="*/ 43 h 45"/>
                <a:gd name="T50" fmla="*/ 57 w 62"/>
                <a:gd name="T51" fmla="*/ 39 h 45"/>
                <a:gd name="T52" fmla="*/ 55 w 62"/>
                <a:gd name="T53" fmla="*/ 37 h 45"/>
                <a:gd name="T54" fmla="*/ 51 w 62"/>
                <a:gd name="T55" fmla="*/ 38 h 45"/>
                <a:gd name="T56" fmla="*/ 51 w 62"/>
                <a:gd name="T57" fmla="*/ 36 h 45"/>
                <a:gd name="T58" fmla="*/ 51 w 62"/>
                <a:gd name="T59" fmla="*/ 34 h 45"/>
                <a:gd name="T60" fmla="*/ 54 w 62"/>
                <a:gd name="T61" fmla="*/ 36 h 45"/>
                <a:gd name="T62" fmla="*/ 56 w 62"/>
                <a:gd name="T63" fmla="*/ 34 h 45"/>
                <a:gd name="T64" fmla="*/ 60 w 62"/>
                <a:gd name="T65" fmla="*/ 35 h 45"/>
                <a:gd name="T66" fmla="*/ 60 w 62"/>
                <a:gd name="T67" fmla="*/ 33 h 45"/>
                <a:gd name="T68" fmla="*/ 60 w 62"/>
                <a:gd name="T69" fmla="*/ 31 h 45"/>
                <a:gd name="T70" fmla="*/ 56 w 62"/>
                <a:gd name="T71" fmla="*/ 30 h 45"/>
                <a:gd name="T72" fmla="*/ 51 w 62"/>
                <a:gd name="T73" fmla="*/ 24 h 45"/>
                <a:gd name="T74" fmla="*/ 54 w 62"/>
                <a:gd name="T75" fmla="*/ 8 h 45"/>
                <a:gd name="T76" fmla="*/ 52 w 62"/>
                <a:gd name="T77" fmla="*/ 3 h 45"/>
                <a:gd name="T78" fmla="*/ 48 w 62"/>
                <a:gd name="T79" fmla="*/ 2 h 45"/>
                <a:gd name="T80" fmla="*/ 46 w 62"/>
                <a:gd name="T81" fmla="*/ 3 h 45"/>
                <a:gd name="T82" fmla="*/ 45 w 62"/>
                <a:gd name="T83" fmla="*/ 7 h 45"/>
                <a:gd name="T84" fmla="*/ 43 w 62"/>
                <a:gd name="T85" fmla="*/ 17 h 45"/>
                <a:gd name="T86" fmla="*/ 40 w 62"/>
                <a:gd name="T87" fmla="*/ 17 h 45"/>
                <a:gd name="T88" fmla="*/ 39 w 62"/>
                <a:gd name="T89" fmla="*/ 4 h 45"/>
                <a:gd name="T90" fmla="*/ 35 w 62"/>
                <a:gd name="T91" fmla="*/ 4 h 45"/>
                <a:gd name="T92" fmla="*/ 37 w 62"/>
                <a:gd name="T93" fmla="*/ 8 h 45"/>
                <a:gd name="T94" fmla="*/ 29 w 62"/>
                <a:gd name="T95" fmla="*/ 9 h 45"/>
                <a:gd name="T96" fmla="*/ 31 w 62"/>
                <a:gd name="T97" fmla="*/ 4 h 45"/>
                <a:gd name="T98" fmla="*/ 28 w 62"/>
                <a:gd name="T99" fmla="*/ 4 h 45"/>
                <a:gd name="T100" fmla="*/ 23 w 62"/>
                <a:gd name="T101" fmla="*/ 7 h 45"/>
                <a:gd name="T102" fmla="*/ 23 w 62"/>
                <a:gd name="T103" fmla="*/ 5 h 45"/>
                <a:gd name="T104" fmla="*/ 24 w 62"/>
                <a:gd name="T105" fmla="*/ 1 h 45"/>
                <a:gd name="T106" fmla="*/ 18 w 62"/>
                <a:gd name="T107" fmla="*/ 3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2" h="45">
                  <a:moveTo>
                    <a:pt x="13" y="5"/>
                  </a:moveTo>
                  <a:cubicBezTo>
                    <a:pt x="12" y="5"/>
                    <a:pt x="11" y="6"/>
                    <a:pt x="10" y="6"/>
                  </a:cubicBezTo>
                  <a:cubicBezTo>
                    <a:pt x="10" y="7"/>
                    <a:pt x="9" y="7"/>
                    <a:pt x="8" y="7"/>
                  </a:cubicBezTo>
                  <a:cubicBezTo>
                    <a:pt x="7" y="7"/>
                    <a:pt x="5" y="8"/>
                    <a:pt x="5" y="9"/>
                  </a:cubicBezTo>
                  <a:cubicBezTo>
                    <a:pt x="5" y="9"/>
                    <a:pt x="5" y="10"/>
                    <a:pt x="5" y="10"/>
                  </a:cubicBezTo>
                  <a:cubicBezTo>
                    <a:pt x="5" y="11"/>
                    <a:pt x="6" y="11"/>
                    <a:pt x="6" y="11"/>
                  </a:cubicBezTo>
                  <a:cubicBezTo>
                    <a:pt x="5" y="12"/>
                    <a:pt x="3" y="13"/>
                    <a:pt x="2" y="13"/>
                  </a:cubicBezTo>
                  <a:cubicBezTo>
                    <a:pt x="2" y="14"/>
                    <a:pt x="1" y="15"/>
                    <a:pt x="1" y="16"/>
                  </a:cubicBezTo>
                  <a:cubicBezTo>
                    <a:pt x="0" y="17"/>
                    <a:pt x="0" y="17"/>
                    <a:pt x="1" y="17"/>
                  </a:cubicBezTo>
                  <a:cubicBezTo>
                    <a:pt x="2" y="17"/>
                    <a:pt x="0" y="18"/>
                    <a:pt x="2" y="18"/>
                  </a:cubicBezTo>
                  <a:cubicBezTo>
                    <a:pt x="3" y="18"/>
                    <a:pt x="4" y="18"/>
                    <a:pt x="4" y="18"/>
                  </a:cubicBezTo>
                  <a:cubicBezTo>
                    <a:pt x="4" y="19"/>
                    <a:pt x="3" y="20"/>
                    <a:pt x="4" y="20"/>
                  </a:cubicBezTo>
                  <a:cubicBezTo>
                    <a:pt x="5" y="19"/>
                    <a:pt x="7" y="20"/>
                    <a:pt x="8" y="20"/>
                  </a:cubicBezTo>
                  <a:cubicBezTo>
                    <a:pt x="9" y="19"/>
                    <a:pt x="9" y="19"/>
                    <a:pt x="11" y="19"/>
                  </a:cubicBezTo>
                  <a:cubicBezTo>
                    <a:pt x="12" y="19"/>
                    <a:pt x="14" y="20"/>
                    <a:pt x="13" y="20"/>
                  </a:cubicBezTo>
                  <a:cubicBezTo>
                    <a:pt x="13" y="20"/>
                    <a:pt x="10" y="20"/>
                    <a:pt x="9" y="20"/>
                  </a:cubicBezTo>
                  <a:cubicBezTo>
                    <a:pt x="9" y="20"/>
                    <a:pt x="8" y="21"/>
                    <a:pt x="6" y="21"/>
                  </a:cubicBezTo>
                  <a:cubicBezTo>
                    <a:pt x="5" y="21"/>
                    <a:pt x="2" y="22"/>
                    <a:pt x="2" y="22"/>
                  </a:cubicBezTo>
                  <a:cubicBezTo>
                    <a:pt x="2" y="22"/>
                    <a:pt x="1" y="25"/>
                    <a:pt x="2" y="26"/>
                  </a:cubicBezTo>
                  <a:cubicBezTo>
                    <a:pt x="2" y="26"/>
                    <a:pt x="3" y="27"/>
                    <a:pt x="4" y="27"/>
                  </a:cubicBezTo>
                  <a:cubicBezTo>
                    <a:pt x="6" y="27"/>
                    <a:pt x="6" y="28"/>
                    <a:pt x="7" y="27"/>
                  </a:cubicBezTo>
                  <a:cubicBezTo>
                    <a:pt x="7" y="27"/>
                    <a:pt x="7" y="27"/>
                    <a:pt x="8" y="27"/>
                  </a:cubicBezTo>
                  <a:cubicBezTo>
                    <a:pt x="10" y="27"/>
                    <a:pt x="10" y="27"/>
                    <a:pt x="12" y="27"/>
                  </a:cubicBezTo>
                  <a:cubicBezTo>
                    <a:pt x="13" y="26"/>
                    <a:pt x="17" y="25"/>
                    <a:pt x="17" y="26"/>
                  </a:cubicBezTo>
                  <a:cubicBezTo>
                    <a:pt x="18" y="26"/>
                    <a:pt x="19" y="27"/>
                    <a:pt x="20" y="27"/>
                  </a:cubicBezTo>
                  <a:cubicBezTo>
                    <a:pt x="22" y="27"/>
                    <a:pt x="26" y="27"/>
                    <a:pt x="25" y="28"/>
                  </a:cubicBezTo>
                  <a:cubicBezTo>
                    <a:pt x="24" y="28"/>
                    <a:pt x="21" y="29"/>
                    <a:pt x="21" y="29"/>
                  </a:cubicBezTo>
                  <a:cubicBezTo>
                    <a:pt x="22" y="29"/>
                    <a:pt x="23" y="30"/>
                    <a:pt x="22" y="30"/>
                  </a:cubicBezTo>
                  <a:cubicBezTo>
                    <a:pt x="22" y="30"/>
                    <a:pt x="21" y="31"/>
                    <a:pt x="21" y="31"/>
                  </a:cubicBezTo>
                  <a:cubicBezTo>
                    <a:pt x="20" y="31"/>
                    <a:pt x="18" y="31"/>
                    <a:pt x="17" y="31"/>
                  </a:cubicBezTo>
                  <a:cubicBezTo>
                    <a:pt x="16" y="31"/>
                    <a:pt x="12" y="32"/>
                    <a:pt x="11" y="32"/>
                  </a:cubicBezTo>
                  <a:cubicBezTo>
                    <a:pt x="10" y="32"/>
                    <a:pt x="9" y="31"/>
                    <a:pt x="7" y="31"/>
                  </a:cubicBezTo>
                  <a:cubicBezTo>
                    <a:pt x="5" y="31"/>
                    <a:pt x="2" y="32"/>
                    <a:pt x="3" y="32"/>
                  </a:cubicBezTo>
                  <a:cubicBezTo>
                    <a:pt x="3" y="33"/>
                    <a:pt x="2" y="35"/>
                    <a:pt x="2" y="35"/>
                  </a:cubicBezTo>
                  <a:cubicBezTo>
                    <a:pt x="3" y="35"/>
                    <a:pt x="4" y="36"/>
                    <a:pt x="4" y="37"/>
                  </a:cubicBezTo>
                  <a:cubicBezTo>
                    <a:pt x="3" y="38"/>
                    <a:pt x="4" y="39"/>
                    <a:pt x="5" y="39"/>
                  </a:cubicBezTo>
                  <a:cubicBezTo>
                    <a:pt x="7" y="40"/>
                    <a:pt x="10" y="39"/>
                    <a:pt x="11" y="40"/>
                  </a:cubicBezTo>
                  <a:cubicBezTo>
                    <a:pt x="11" y="40"/>
                    <a:pt x="13" y="40"/>
                    <a:pt x="12" y="41"/>
                  </a:cubicBezTo>
                  <a:cubicBezTo>
                    <a:pt x="12" y="42"/>
                    <a:pt x="11" y="42"/>
                    <a:pt x="12" y="43"/>
                  </a:cubicBezTo>
                  <a:cubicBezTo>
                    <a:pt x="12" y="44"/>
                    <a:pt x="13" y="45"/>
                    <a:pt x="14" y="45"/>
                  </a:cubicBezTo>
                  <a:cubicBezTo>
                    <a:pt x="16" y="45"/>
                    <a:pt x="20" y="43"/>
                    <a:pt x="21" y="44"/>
                  </a:cubicBezTo>
                  <a:cubicBezTo>
                    <a:pt x="22" y="44"/>
                    <a:pt x="23" y="44"/>
                    <a:pt x="24" y="44"/>
                  </a:cubicBezTo>
                  <a:cubicBezTo>
                    <a:pt x="26" y="44"/>
                    <a:pt x="28" y="42"/>
                    <a:pt x="29" y="42"/>
                  </a:cubicBezTo>
                  <a:cubicBezTo>
                    <a:pt x="30" y="42"/>
                    <a:pt x="35" y="41"/>
                    <a:pt x="35" y="41"/>
                  </a:cubicBezTo>
                  <a:cubicBezTo>
                    <a:pt x="36" y="41"/>
                    <a:pt x="37" y="40"/>
                    <a:pt x="38" y="40"/>
                  </a:cubicBezTo>
                  <a:cubicBezTo>
                    <a:pt x="39" y="40"/>
                    <a:pt x="39" y="41"/>
                    <a:pt x="40" y="41"/>
                  </a:cubicBezTo>
                  <a:cubicBezTo>
                    <a:pt x="42" y="41"/>
                    <a:pt x="45" y="41"/>
                    <a:pt x="44" y="41"/>
                  </a:cubicBezTo>
                  <a:cubicBezTo>
                    <a:pt x="44" y="41"/>
                    <a:pt x="42" y="42"/>
                    <a:pt x="43" y="42"/>
                  </a:cubicBezTo>
                  <a:cubicBezTo>
                    <a:pt x="44" y="42"/>
                    <a:pt x="46" y="42"/>
                    <a:pt x="47" y="42"/>
                  </a:cubicBezTo>
                  <a:cubicBezTo>
                    <a:pt x="49" y="43"/>
                    <a:pt x="50" y="43"/>
                    <a:pt x="51" y="43"/>
                  </a:cubicBezTo>
                  <a:cubicBezTo>
                    <a:pt x="52" y="43"/>
                    <a:pt x="56" y="41"/>
                    <a:pt x="56" y="41"/>
                  </a:cubicBezTo>
                  <a:cubicBezTo>
                    <a:pt x="56" y="40"/>
                    <a:pt x="57" y="39"/>
                    <a:pt x="57" y="39"/>
                  </a:cubicBezTo>
                  <a:cubicBezTo>
                    <a:pt x="57" y="39"/>
                    <a:pt x="56" y="40"/>
                    <a:pt x="56" y="39"/>
                  </a:cubicBezTo>
                  <a:cubicBezTo>
                    <a:pt x="56" y="38"/>
                    <a:pt x="56" y="37"/>
                    <a:pt x="55" y="37"/>
                  </a:cubicBezTo>
                  <a:cubicBezTo>
                    <a:pt x="55" y="37"/>
                    <a:pt x="53" y="38"/>
                    <a:pt x="52" y="38"/>
                  </a:cubicBezTo>
                  <a:cubicBezTo>
                    <a:pt x="52" y="38"/>
                    <a:pt x="52" y="38"/>
                    <a:pt x="51" y="38"/>
                  </a:cubicBezTo>
                  <a:cubicBezTo>
                    <a:pt x="50" y="38"/>
                    <a:pt x="49" y="39"/>
                    <a:pt x="49" y="38"/>
                  </a:cubicBezTo>
                  <a:cubicBezTo>
                    <a:pt x="50" y="37"/>
                    <a:pt x="51" y="37"/>
                    <a:pt x="51" y="36"/>
                  </a:cubicBezTo>
                  <a:cubicBezTo>
                    <a:pt x="50" y="36"/>
                    <a:pt x="49" y="37"/>
                    <a:pt x="49" y="36"/>
                  </a:cubicBezTo>
                  <a:cubicBezTo>
                    <a:pt x="50" y="35"/>
                    <a:pt x="51" y="34"/>
                    <a:pt x="51" y="34"/>
                  </a:cubicBezTo>
                  <a:cubicBezTo>
                    <a:pt x="51" y="35"/>
                    <a:pt x="51" y="36"/>
                    <a:pt x="52" y="36"/>
                  </a:cubicBezTo>
                  <a:cubicBezTo>
                    <a:pt x="53" y="36"/>
                    <a:pt x="55" y="36"/>
                    <a:pt x="54" y="36"/>
                  </a:cubicBezTo>
                  <a:cubicBezTo>
                    <a:pt x="53" y="35"/>
                    <a:pt x="52" y="35"/>
                    <a:pt x="54" y="35"/>
                  </a:cubicBezTo>
                  <a:cubicBezTo>
                    <a:pt x="55" y="35"/>
                    <a:pt x="55" y="34"/>
                    <a:pt x="56" y="34"/>
                  </a:cubicBezTo>
                  <a:cubicBezTo>
                    <a:pt x="57" y="35"/>
                    <a:pt x="58" y="34"/>
                    <a:pt x="59" y="35"/>
                  </a:cubicBezTo>
                  <a:cubicBezTo>
                    <a:pt x="59" y="35"/>
                    <a:pt x="60" y="36"/>
                    <a:pt x="60" y="35"/>
                  </a:cubicBezTo>
                  <a:cubicBezTo>
                    <a:pt x="61" y="35"/>
                    <a:pt x="62" y="34"/>
                    <a:pt x="61" y="34"/>
                  </a:cubicBezTo>
                  <a:cubicBezTo>
                    <a:pt x="61" y="33"/>
                    <a:pt x="60" y="33"/>
                    <a:pt x="60" y="33"/>
                  </a:cubicBezTo>
                  <a:cubicBezTo>
                    <a:pt x="61" y="32"/>
                    <a:pt x="62" y="32"/>
                    <a:pt x="62" y="32"/>
                  </a:cubicBezTo>
                  <a:cubicBezTo>
                    <a:pt x="61" y="31"/>
                    <a:pt x="60" y="31"/>
                    <a:pt x="60" y="31"/>
                  </a:cubicBezTo>
                  <a:cubicBezTo>
                    <a:pt x="59" y="31"/>
                    <a:pt x="58" y="32"/>
                    <a:pt x="57" y="32"/>
                  </a:cubicBezTo>
                  <a:cubicBezTo>
                    <a:pt x="57" y="31"/>
                    <a:pt x="57" y="31"/>
                    <a:pt x="56" y="30"/>
                  </a:cubicBezTo>
                  <a:cubicBezTo>
                    <a:pt x="55" y="28"/>
                    <a:pt x="55" y="28"/>
                    <a:pt x="54" y="27"/>
                  </a:cubicBezTo>
                  <a:cubicBezTo>
                    <a:pt x="53" y="27"/>
                    <a:pt x="51" y="25"/>
                    <a:pt x="51" y="24"/>
                  </a:cubicBezTo>
                  <a:cubicBezTo>
                    <a:pt x="50" y="23"/>
                    <a:pt x="53" y="14"/>
                    <a:pt x="53" y="13"/>
                  </a:cubicBezTo>
                  <a:cubicBezTo>
                    <a:pt x="54" y="12"/>
                    <a:pt x="54" y="9"/>
                    <a:pt x="54" y="8"/>
                  </a:cubicBezTo>
                  <a:cubicBezTo>
                    <a:pt x="55" y="8"/>
                    <a:pt x="54" y="7"/>
                    <a:pt x="54" y="6"/>
                  </a:cubicBezTo>
                  <a:cubicBezTo>
                    <a:pt x="53" y="5"/>
                    <a:pt x="52" y="4"/>
                    <a:pt x="52" y="3"/>
                  </a:cubicBezTo>
                  <a:cubicBezTo>
                    <a:pt x="51" y="2"/>
                    <a:pt x="50" y="1"/>
                    <a:pt x="50" y="1"/>
                  </a:cubicBezTo>
                  <a:cubicBezTo>
                    <a:pt x="49" y="1"/>
                    <a:pt x="49" y="3"/>
                    <a:pt x="48" y="2"/>
                  </a:cubicBezTo>
                  <a:cubicBezTo>
                    <a:pt x="47" y="2"/>
                    <a:pt x="46" y="1"/>
                    <a:pt x="46" y="1"/>
                  </a:cubicBezTo>
                  <a:cubicBezTo>
                    <a:pt x="45" y="2"/>
                    <a:pt x="46" y="3"/>
                    <a:pt x="46" y="3"/>
                  </a:cubicBezTo>
                  <a:cubicBezTo>
                    <a:pt x="45" y="3"/>
                    <a:pt x="45" y="3"/>
                    <a:pt x="44" y="4"/>
                  </a:cubicBezTo>
                  <a:cubicBezTo>
                    <a:pt x="44" y="5"/>
                    <a:pt x="45" y="7"/>
                    <a:pt x="45" y="7"/>
                  </a:cubicBezTo>
                  <a:cubicBezTo>
                    <a:pt x="45" y="8"/>
                    <a:pt x="44" y="12"/>
                    <a:pt x="44" y="13"/>
                  </a:cubicBezTo>
                  <a:cubicBezTo>
                    <a:pt x="43" y="14"/>
                    <a:pt x="43" y="17"/>
                    <a:pt x="43" y="17"/>
                  </a:cubicBezTo>
                  <a:cubicBezTo>
                    <a:pt x="43" y="18"/>
                    <a:pt x="42" y="18"/>
                    <a:pt x="41" y="18"/>
                  </a:cubicBezTo>
                  <a:cubicBezTo>
                    <a:pt x="41" y="18"/>
                    <a:pt x="40" y="17"/>
                    <a:pt x="40" y="17"/>
                  </a:cubicBezTo>
                  <a:cubicBezTo>
                    <a:pt x="40" y="17"/>
                    <a:pt x="41" y="9"/>
                    <a:pt x="41" y="8"/>
                  </a:cubicBezTo>
                  <a:cubicBezTo>
                    <a:pt x="41" y="8"/>
                    <a:pt x="38" y="5"/>
                    <a:pt x="39" y="4"/>
                  </a:cubicBezTo>
                  <a:cubicBezTo>
                    <a:pt x="39" y="3"/>
                    <a:pt x="35" y="2"/>
                    <a:pt x="35" y="2"/>
                  </a:cubicBezTo>
                  <a:cubicBezTo>
                    <a:pt x="35" y="2"/>
                    <a:pt x="35" y="4"/>
                    <a:pt x="35" y="4"/>
                  </a:cubicBezTo>
                  <a:cubicBezTo>
                    <a:pt x="36" y="5"/>
                    <a:pt x="37" y="5"/>
                    <a:pt x="37" y="6"/>
                  </a:cubicBezTo>
                  <a:cubicBezTo>
                    <a:pt x="37" y="7"/>
                    <a:pt x="38" y="8"/>
                    <a:pt x="37" y="8"/>
                  </a:cubicBezTo>
                  <a:cubicBezTo>
                    <a:pt x="35" y="8"/>
                    <a:pt x="35" y="8"/>
                    <a:pt x="34" y="8"/>
                  </a:cubicBezTo>
                  <a:cubicBezTo>
                    <a:pt x="32" y="8"/>
                    <a:pt x="29" y="10"/>
                    <a:pt x="29" y="9"/>
                  </a:cubicBezTo>
                  <a:cubicBezTo>
                    <a:pt x="28" y="9"/>
                    <a:pt x="33" y="7"/>
                    <a:pt x="33" y="6"/>
                  </a:cubicBezTo>
                  <a:cubicBezTo>
                    <a:pt x="33" y="4"/>
                    <a:pt x="31" y="4"/>
                    <a:pt x="31" y="4"/>
                  </a:cubicBezTo>
                  <a:cubicBezTo>
                    <a:pt x="31" y="3"/>
                    <a:pt x="29" y="2"/>
                    <a:pt x="28" y="2"/>
                  </a:cubicBezTo>
                  <a:cubicBezTo>
                    <a:pt x="28" y="3"/>
                    <a:pt x="28" y="4"/>
                    <a:pt x="28" y="4"/>
                  </a:cubicBezTo>
                  <a:cubicBezTo>
                    <a:pt x="27" y="5"/>
                    <a:pt x="26" y="8"/>
                    <a:pt x="25" y="8"/>
                  </a:cubicBezTo>
                  <a:cubicBezTo>
                    <a:pt x="24" y="8"/>
                    <a:pt x="24" y="7"/>
                    <a:pt x="23" y="7"/>
                  </a:cubicBezTo>
                  <a:cubicBezTo>
                    <a:pt x="23" y="7"/>
                    <a:pt x="21" y="8"/>
                    <a:pt x="21" y="8"/>
                  </a:cubicBezTo>
                  <a:cubicBezTo>
                    <a:pt x="20" y="7"/>
                    <a:pt x="22" y="5"/>
                    <a:pt x="23" y="5"/>
                  </a:cubicBezTo>
                  <a:cubicBezTo>
                    <a:pt x="24" y="4"/>
                    <a:pt x="24" y="4"/>
                    <a:pt x="25" y="3"/>
                  </a:cubicBezTo>
                  <a:cubicBezTo>
                    <a:pt x="25" y="2"/>
                    <a:pt x="25" y="1"/>
                    <a:pt x="24" y="1"/>
                  </a:cubicBezTo>
                  <a:cubicBezTo>
                    <a:pt x="24" y="0"/>
                    <a:pt x="22" y="0"/>
                    <a:pt x="22" y="0"/>
                  </a:cubicBezTo>
                  <a:cubicBezTo>
                    <a:pt x="21" y="1"/>
                    <a:pt x="19" y="2"/>
                    <a:pt x="18" y="3"/>
                  </a:cubicBezTo>
                  <a:cubicBezTo>
                    <a:pt x="17" y="3"/>
                    <a:pt x="13" y="5"/>
                    <a:pt x="13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99" name="Freeform 94"/>
            <p:cNvSpPr>
              <a:spLocks/>
            </p:cNvSpPr>
            <p:nvPr/>
          </p:nvSpPr>
          <p:spPr bwMode="auto">
            <a:xfrm>
              <a:off x="2282242" y="2300645"/>
              <a:ext cx="61047" cy="50520"/>
            </a:xfrm>
            <a:custGeom>
              <a:avLst/>
              <a:gdLst>
                <a:gd name="T0" fmla="*/ 3 w 12"/>
                <a:gd name="T1" fmla="*/ 6 h 10"/>
                <a:gd name="T2" fmla="*/ 5 w 12"/>
                <a:gd name="T3" fmla="*/ 9 h 10"/>
                <a:gd name="T4" fmla="*/ 6 w 12"/>
                <a:gd name="T5" fmla="*/ 8 h 10"/>
                <a:gd name="T6" fmla="*/ 8 w 12"/>
                <a:gd name="T7" fmla="*/ 7 h 10"/>
                <a:gd name="T8" fmla="*/ 10 w 12"/>
                <a:gd name="T9" fmla="*/ 3 h 10"/>
                <a:gd name="T10" fmla="*/ 11 w 12"/>
                <a:gd name="T11" fmla="*/ 1 h 10"/>
                <a:gd name="T12" fmla="*/ 3 w 12"/>
                <a:gd name="T13" fmla="*/ 0 h 10"/>
                <a:gd name="T14" fmla="*/ 1 w 12"/>
                <a:gd name="T15" fmla="*/ 3 h 10"/>
                <a:gd name="T16" fmla="*/ 3 w 12"/>
                <a:gd name="T17" fmla="*/ 6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" h="10">
                  <a:moveTo>
                    <a:pt x="3" y="6"/>
                  </a:moveTo>
                  <a:cubicBezTo>
                    <a:pt x="4" y="6"/>
                    <a:pt x="4" y="7"/>
                    <a:pt x="5" y="9"/>
                  </a:cubicBezTo>
                  <a:cubicBezTo>
                    <a:pt x="5" y="10"/>
                    <a:pt x="6" y="8"/>
                    <a:pt x="6" y="8"/>
                  </a:cubicBezTo>
                  <a:cubicBezTo>
                    <a:pt x="7" y="7"/>
                    <a:pt x="7" y="7"/>
                    <a:pt x="8" y="7"/>
                  </a:cubicBezTo>
                  <a:cubicBezTo>
                    <a:pt x="8" y="6"/>
                    <a:pt x="9" y="5"/>
                    <a:pt x="10" y="3"/>
                  </a:cubicBezTo>
                  <a:cubicBezTo>
                    <a:pt x="11" y="2"/>
                    <a:pt x="12" y="1"/>
                    <a:pt x="11" y="1"/>
                  </a:cubicBezTo>
                  <a:cubicBezTo>
                    <a:pt x="10" y="0"/>
                    <a:pt x="3" y="0"/>
                    <a:pt x="3" y="0"/>
                  </a:cubicBezTo>
                  <a:cubicBezTo>
                    <a:pt x="2" y="1"/>
                    <a:pt x="1" y="2"/>
                    <a:pt x="1" y="3"/>
                  </a:cubicBezTo>
                  <a:cubicBezTo>
                    <a:pt x="0" y="4"/>
                    <a:pt x="2" y="5"/>
                    <a:pt x="3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00" name="Freeform 95"/>
            <p:cNvSpPr>
              <a:spLocks/>
            </p:cNvSpPr>
            <p:nvPr/>
          </p:nvSpPr>
          <p:spPr bwMode="auto">
            <a:xfrm>
              <a:off x="1720203" y="2504831"/>
              <a:ext cx="14735" cy="16840"/>
            </a:xfrm>
            <a:custGeom>
              <a:avLst/>
              <a:gdLst>
                <a:gd name="T0" fmla="*/ 2 w 3"/>
                <a:gd name="T1" fmla="*/ 3 h 3"/>
                <a:gd name="T2" fmla="*/ 2 w 3"/>
                <a:gd name="T3" fmla="*/ 0 h 3"/>
                <a:gd name="T4" fmla="*/ 0 w 3"/>
                <a:gd name="T5" fmla="*/ 2 h 3"/>
                <a:gd name="T6" fmla="*/ 2 w 3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3">
                  <a:moveTo>
                    <a:pt x="2" y="3"/>
                  </a:moveTo>
                  <a:cubicBezTo>
                    <a:pt x="3" y="3"/>
                    <a:pt x="2" y="0"/>
                    <a:pt x="2" y="0"/>
                  </a:cubicBezTo>
                  <a:cubicBezTo>
                    <a:pt x="1" y="0"/>
                    <a:pt x="0" y="2"/>
                    <a:pt x="0" y="2"/>
                  </a:cubicBezTo>
                  <a:cubicBezTo>
                    <a:pt x="0" y="3"/>
                    <a:pt x="1" y="3"/>
                    <a:pt x="2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01" name="Freeform 96"/>
            <p:cNvSpPr>
              <a:spLocks/>
            </p:cNvSpPr>
            <p:nvPr/>
          </p:nvSpPr>
          <p:spPr bwMode="auto">
            <a:xfrm>
              <a:off x="2467484" y="2285911"/>
              <a:ext cx="119987" cy="115776"/>
            </a:xfrm>
            <a:custGeom>
              <a:avLst/>
              <a:gdLst>
                <a:gd name="T0" fmla="*/ 1 w 24"/>
                <a:gd name="T1" fmla="*/ 16 h 23"/>
                <a:gd name="T2" fmla="*/ 3 w 24"/>
                <a:gd name="T3" fmla="*/ 18 h 23"/>
                <a:gd name="T4" fmla="*/ 2 w 24"/>
                <a:gd name="T5" fmla="*/ 20 h 23"/>
                <a:gd name="T6" fmla="*/ 3 w 24"/>
                <a:gd name="T7" fmla="*/ 22 h 23"/>
                <a:gd name="T8" fmla="*/ 2 w 24"/>
                <a:gd name="T9" fmla="*/ 22 h 23"/>
                <a:gd name="T10" fmla="*/ 5 w 24"/>
                <a:gd name="T11" fmla="*/ 23 h 23"/>
                <a:gd name="T12" fmla="*/ 7 w 24"/>
                <a:gd name="T13" fmla="*/ 20 h 23"/>
                <a:gd name="T14" fmla="*/ 6 w 24"/>
                <a:gd name="T15" fmla="*/ 18 h 23"/>
                <a:gd name="T16" fmla="*/ 6 w 24"/>
                <a:gd name="T17" fmla="*/ 16 h 23"/>
                <a:gd name="T18" fmla="*/ 10 w 24"/>
                <a:gd name="T19" fmla="*/ 15 h 23"/>
                <a:gd name="T20" fmla="*/ 11 w 24"/>
                <a:gd name="T21" fmla="*/ 15 h 23"/>
                <a:gd name="T22" fmla="*/ 14 w 24"/>
                <a:gd name="T23" fmla="*/ 14 h 23"/>
                <a:gd name="T24" fmla="*/ 17 w 24"/>
                <a:gd name="T25" fmla="*/ 12 h 23"/>
                <a:gd name="T26" fmla="*/ 18 w 24"/>
                <a:gd name="T27" fmla="*/ 9 h 23"/>
                <a:gd name="T28" fmla="*/ 21 w 24"/>
                <a:gd name="T29" fmla="*/ 6 h 23"/>
                <a:gd name="T30" fmla="*/ 24 w 24"/>
                <a:gd name="T31" fmla="*/ 3 h 23"/>
                <a:gd name="T32" fmla="*/ 23 w 24"/>
                <a:gd name="T33" fmla="*/ 2 h 23"/>
                <a:gd name="T34" fmla="*/ 21 w 24"/>
                <a:gd name="T35" fmla="*/ 1 h 23"/>
                <a:gd name="T36" fmla="*/ 19 w 24"/>
                <a:gd name="T37" fmla="*/ 2 h 23"/>
                <a:gd name="T38" fmla="*/ 17 w 24"/>
                <a:gd name="T39" fmla="*/ 2 h 23"/>
                <a:gd name="T40" fmla="*/ 16 w 24"/>
                <a:gd name="T41" fmla="*/ 1 h 23"/>
                <a:gd name="T42" fmla="*/ 12 w 24"/>
                <a:gd name="T43" fmla="*/ 0 h 23"/>
                <a:gd name="T44" fmla="*/ 11 w 24"/>
                <a:gd name="T45" fmla="*/ 1 h 23"/>
                <a:gd name="T46" fmla="*/ 7 w 24"/>
                <a:gd name="T47" fmla="*/ 1 h 23"/>
                <a:gd name="T48" fmla="*/ 7 w 24"/>
                <a:gd name="T49" fmla="*/ 3 h 23"/>
                <a:gd name="T50" fmla="*/ 5 w 24"/>
                <a:gd name="T51" fmla="*/ 5 h 23"/>
                <a:gd name="T52" fmla="*/ 4 w 24"/>
                <a:gd name="T53" fmla="*/ 4 h 23"/>
                <a:gd name="T54" fmla="*/ 3 w 24"/>
                <a:gd name="T55" fmla="*/ 7 h 23"/>
                <a:gd name="T56" fmla="*/ 3 w 24"/>
                <a:gd name="T57" fmla="*/ 10 h 23"/>
                <a:gd name="T58" fmla="*/ 1 w 24"/>
                <a:gd name="T59" fmla="*/ 11 h 23"/>
                <a:gd name="T60" fmla="*/ 2 w 24"/>
                <a:gd name="T61" fmla="*/ 15 h 23"/>
                <a:gd name="T62" fmla="*/ 0 w 24"/>
                <a:gd name="T63" fmla="*/ 15 h 23"/>
                <a:gd name="T64" fmla="*/ 1 w 24"/>
                <a:gd name="T65" fmla="*/ 16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3">
                  <a:moveTo>
                    <a:pt x="1" y="16"/>
                  </a:moveTo>
                  <a:cubicBezTo>
                    <a:pt x="2" y="17"/>
                    <a:pt x="2" y="17"/>
                    <a:pt x="3" y="18"/>
                  </a:cubicBezTo>
                  <a:cubicBezTo>
                    <a:pt x="3" y="19"/>
                    <a:pt x="2" y="20"/>
                    <a:pt x="2" y="20"/>
                  </a:cubicBezTo>
                  <a:cubicBezTo>
                    <a:pt x="2" y="21"/>
                    <a:pt x="2" y="21"/>
                    <a:pt x="3" y="22"/>
                  </a:cubicBezTo>
                  <a:cubicBezTo>
                    <a:pt x="4" y="22"/>
                    <a:pt x="3" y="22"/>
                    <a:pt x="2" y="22"/>
                  </a:cubicBezTo>
                  <a:cubicBezTo>
                    <a:pt x="2" y="23"/>
                    <a:pt x="5" y="23"/>
                    <a:pt x="5" y="23"/>
                  </a:cubicBezTo>
                  <a:cubicBezTo>
                    <a:pt x="7" y="22"/>
                    <a:pt x="7" y="21"/>
                    <a:pt x="7" y="20"/>
                  </a:cubicBezTo>
                  <a:cubicBezTo>
                    <a:pt x="7" y="20"/>
                    <a:pt x="7" y="19"/>
                    <a:pt x="6" y="18"/>
                  </a:cubicBezTo>
                  <a:cubicBezTo>
                    <a:pt x="6" y="17"/>
                    <a:pt x="6" y="16"/>
                    <a:pt x="6" y="16"/>
                  </a:cubicBezTo>
                  <a:cubicBezTo>
                    <a:pt x="7" y="16"/>
                    <a:pt x="9" y="15"/>
                    <a:pt x="10" y="15"/>
                  </a:cubicBezTo>
                  <a:cubicBezTo>
                    <a:pt x="10" y="14"/>
                    <a:pt x="10" y="15"/>
                    <a:pt x="11" y="15"/>
                  </a:cubicBezTo>
                  <a:cubicBezTo>
                    <a:pt x="11" y="15"/>
                    <a:pt x="13" y="14"/>
                    <a:pt x="14" y="14"/>
                  </a:cubicBezTo>
                  <a:cubicBezTo>
                    <a:pt x="15" y="14"/>
                    <a:pt x="17" y="12"/>
                    <a:pt x="17" y="12"/>
                  </a:cubicBezTo>
                  <a:cubicBezTo>
                    <a:pt x="18" y="11"/>
                    <a:pt x="18" y="10"/>
                    <a:pt x="18" y="9"/>
                  </a:cubicBezTo>
                  <a:cubicBezTo>
                    <a:pt x="19" y="9"/>
                    <a:pt x="20" y="7"/>
                    <a:pt x="21" y="6"/>
                  </a:cubicBezTo>
                  <a:cubicBezTo>
                    <a:pt x="22" y="5"/>
                    <a:pt x="23" y="4"/>
                    <a:pt x="24" y="3"/>
                  </a:cubicBezTo>
                  <a:cubicBezTo>
                    <a:pt x="24" y="3"/>
                    <a:pt x="24" y="2"/>
                    <a:pt x="23" y="2"/>
                  </a:cubicBezTo>
                  <a:cubicBezTo>
                    <a:pt x="22" y="1"/>
                    <a:pt x="21" y="1"/>
                    <a:pt x="21" y="1"/>
                  </a:cubicBezTo>
                  <a:cubicBezTo>
                    <a:pt x="20" y="1"/>
                    <a:pt x="21" y="2"/>
                    <a:pt x="19" y="2"/>
                  </a:cubicBezTo>
                  <a:cubicBezTo>
                    <a:pt x="17" y="1"/>
                    <a:pt x="18" y="2"/>
                    <a:pt x="17" y="2"/>
                  </a:cubicBezTo>
                  <a:cubicBezTo>
                    <a:pt x="17" y="2"/>
                    <a:pt x="17" y="1"/>
                    <a:pt x="16" y="1"/>
                  </a:cubicBezTo>
                  <a:cubicBezTo>
                    <a:pt x="16" y="0"/>
                    <a:pt x="13" y="1"/>
                    <a:pt x="12" y="0"/>
                  </a:cubicBezTo>
                  <a:cubicBezTo>
                    <a:pt x="11" y="0"/>
                    <a:pt x="11" y="1"/>
                    <a:pt x="11" y="1"/>
                  </a:cubicBezTo>
                  <a:cubicBezTo>
                    <a:pt x="11" y="2"/>
                    <a:pt x="8" y="1"/>
                    <a:pt x="7" y="1"/>
                  </a:cubicBezTo>
                  <a:cubicBezTo>
                    <a:pt x="6" y="1"/>
                    <a:pt x="6" y="3"/>
                    <a:pt x="7" y="3"/>
                  </a:cubicBezTo>
                  <a:cubicBezTo>
                    <a:pt x="7" y="4"/>
                    <a:pt x="6" y="5"/>
                    <a:pt x="5" y="5"/>
                  </a:cubicBezTo>
                  <a:cubicBezTo>
                    <a:pt x="4" y="5"/>
                    <a:pt x="5" y="5"/>
                    <a:pt x="4" y="4"/>
                  </a:cubicBezTo>
                  <a:cubicBezTo>
                    <a:pt x="4" y="4"/>
                    <a:pt x="4" y="6"/>
                    <a:pt x="3" y="7"/>
                  </a:cubicBezTo>
                  <a:cubicBezTo>
                    <a:pt x="3" y="8"/>
                    <a:pt x="3" y="9"/>
                    <a:pt x="3" y="10"/>
                  </a:cubicBezTo>
                  <a:cubicBezTo>
                    <a:pt x="2" y="11"/>
                    <a:pt x="2" y="11"/>
                    <a:pt x="1" y="11"/>
                  </a:cubicBezTo>
                  <a:cubicBezTo>
                    <a:pt x="1" y="12"/>
                    <a:pt x="2" y="14"/>
                    <a:pt x="2" y="15"/>
                  </a:cubicBezTo>
                  <a:cubicBezTo>
                    <a:pt x="1" y="15"/>
                    <a:pt x="1" y="15"/>
                    <a:pt x="0" y="15"/>
                  </a:cubicBezTo>
                  <a:cubicBezTo>
                    <a:pt x="0" y="16"/>
                    <a:pt x="0" y="16"/>
                    <a:pt x="1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02" name="Freeform 97"/>
            <p:cNvSpPr>
              <a:spLocks/>
            </p:cNvSpPr>
            <p:nvPr/>
          </p:nvSpPr>
          <p:spPr bwMode="auto">
            <a:xfrm>
              <a:off x="2347499" y="2290121"/>
              <a:ext cx="115776" cy="141036"/>
            </a:xfrm>
            <a:custGeom>
              <a:avLst/>
              <a:gdLst>
                <a:gd name="T0" fmla="*/ 1 w 23"/>
                <a:gd name="T1" fmla="*/ 10 h 28"/>
                <a:gd name="T2" fmla="*/ 0 w 23"/>
                <a:gd name="T3" fmla="*/ 12 h 28"/>
                <a:gd name="T4" fmla="*/ 0 w 23"/>
                <a:gd name="T5" fmla="*/ 15 h 28"/>
                <a:gd name="T6" fmla="*/ 0 w 23"/>
                <a:gd name="T7" fmla="*/ 17 h 28"/>
                <a:gd name="T8" fmla="*/ 2 w 23"/>
                <a:gd name="T9" fmla="*/ 20 h 28"/>
                <a:gd name="T10" fmla="*/ 4 w 23"/>
                <a:gd name="T11" fmla="*/ 20 h 28"/>
                <a:gd name="T12" fmla="*/ 4 w 23"/>
                <a:gd name="T13" fmla="*/ 22 h 28"/>
                <a:gd name="T14" fmla="*/ 6 w 23"/>
                <a:gd name="T15" fmla="*/ 22 h 28"/>
                <a:gd name="T16" fmla="*/ 7 w 23"/>
                <a:gd name="T17" fmla="*/ 25 h 28"/>
                <a:gd name="T18" fmla="*/ 8 w 23"/>
                <a:gd name="T19" fmla="*/ 28 h 28"/>
                <a:gd name="T20" fmla="*/ 10 w 23"/>
                <a:gd name="T21" fmla="*/ 27 h 28"/>
                <a:gd name="T22" fmla="*/ 12 w 23"/>
                <a:gd name="T23" fmla="*/ 26 h 28"/>
                <a:gd name="T24" fmla="*/ 15 w 23"/>
                <a:gd name="T25" fmla="*/ 25 h 28"/>
                <a:gd name="T26" fmla="*/ 17 w 23"/>
                <a:gd name="T27" fmla="*/ 24 h 28"/>
                <a:gd name="T28" fmla="*/ 19 w 23"/>
                <a:gd name="T29" fmla="*/ 23 h 28"/>
                <a:gd name="T30" fmla="*/ 20 w 23"/>
                <a:gd name="T31" fmla="*/ 22 h 28"/>
                <a:gd name="T32" fmla="*/ 20 w 23"/>
                <a:gd name="T33" fmla="*/ 19 h 28"/>
                <a:gd name="T34" fmla="*/ 22 w 23"/>
                <a:gd name="T35" fmla="*/ 18 h 28"/>
                <a:gd name="T36" fmla="*/ 22 w 23"/>
                <a:gd name="T37" fmla="*/ 14 h 28"/>
                <a:gd name="T38" fmla="*/ 20 w 23"/>
                <a:gd name="T39" fmla="*/ 13 h 28"/>
                <a:gd name="T40" fmla="*/ 19 w 23"/>
                <a:gd name="T41" fmla="*/ 11 h 28"/>
                <a:gd name="T42" fmla="*/ 18 w 23"/>
                <a:gd name="T43" fmla="*/ 13 h 28"/>
                <a:gd name="T44" fmla="*/ 16 w 23"/>
                <a:gd name="T45" fmla="*/ 11 h 28"/>
                <a:gd name="T46" fmla="*/ 17 w 23"/>
                <a:gd name="T47" fmla="*/ 10 h 28"/>
                <a:gd name="T48" fmla="*/ 19 w 23"/>
                <a:gd name="T49" fmla="*/ 7 h 28"/>
                <a:gd name="T50" fmla="*/ 20 w 23"/>
                <a:gd name="T51" fmla="*/ 7 h 28"/>
                <a:gd name="T52" fmla="*/ 21 w 23"/>
                <a:gd name="T53" fmla="*/ 6 h 28"/>
                <a:gd name="T54" fmla="*/ 20 w 23"/>
                <a:gd name="T55" fmla="*/ 4 h 28"/>
                <a:gd name="T56" fmla="*/ 22 w 23"/>
                <a:gd name="T57" fmla="*/ 4 h 28"/>
                <a:gd name="T58" fmla="*/ 21 w 23"/>
                <a:gd name="T59" fmla="*/ 1 h 28"/>
                <a:gd name="T60" fmla="*/ 19 w 23"/>
                <a:gd name="T61" fmla="*/ 2 h 28"/>
                <a:gd name="T62" fmla="*/ 16 w 23"/>
                <a:gd name="T63" fmla="*/ 3 h 28"/>
                <a:gd name="T64" fmla="*/ 13 w 23"/>
                <a:gd name="T65" fmla="*/ 2 h 28"/>
                <a:gd name="T66" fmla="*/ 14 w 23"/>
                <a:gd name="T67" fmla="*/ 1 h 28"/>
                <a:gd name="T68" fmla="*/ 11 w 23"/>
                <a:gd name="T69" fmla="*/ 1 h 28"/>
                <a:gd name="T70" fmla="*/ 9 w 23"/>
                <a:gd name="T71" fmla="*/ 1 h 28"/>
                <a:gd name="T72" fmla="*/ 6 w 23"/>
                <a:gd name="T73" fmla="*/ 5 h 28"/>
                <a:gd name="T74" fmla="*/ 7 w 23"/>
                <a:gd name="T75" fmla="*/ 7 h 28"/>
                <a:gd name="T76" fmla="*/ 9 w 23"/>
                <a:gd name="T77" fmla="*/ 8 h 28"/>
                <a:gd name="T78" fmla="*/ 8 w 23"/>
                <a:gd name="T79" fmla="*/ 11 h 28"/>
                <a:gd name="T80" fmla="*/ 9 w 23"/>
                <a:gd name="T81" fmla="*/ 12 h 28"/>
                <a:gd name="T82" fmla="*/ 7 w 23"/>
                <a:gd name="T83" fmla="*/ 14 h 28"/>
                <a:gd name="T84" fmla="*/ 5 w 23"/>
                <a:gd name="T85" fmla="*/ 13 h 28"/>
                <a:gd name="T86" fmla="*/ 4 w 23"/>
                <a:gd name="T87" fmla="*/ 12 h 28"/>
                <a:gd name="T88" fmla="*/ 5 w 23"/>
                <a:gd name="T89" fmla="*/ 10 h 28"/>
                <a:gd name="T90" fmla="*/ 3 w 23"/>
                <a:gd name="T91" fmla="*/ 9 h 28"/>
                <a:gd name="T92" fmla="*/ 1 w 23"/>
                <a:gd name="T93" fmla="*/ 1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3" h="28">
                  <a:moveTo>
                    <a:pt x="1" y="10"/>
                  </a:moveTo>
                  <a:cubicBezTo>
                    <a:pt x="1" y="11"/>
                    <a:pt x="0" y="11"/>
                    <a:pt x="0" y="12"/>
                  </a:cubicBezTo>
                  <a:cubicBezTo>
                    <a:pt x="0" y="13"/>
                    <a:pt x="0" y="15"/>
                    <a:pt x="0" y="15"/>
                  </a:cubicBezTo>
                  <a:cubicBezTo>
                    <a:pt x="1" y="16"/>
                    <a:pt x="0" y="16"/>
                    <a:pt x="0" y="17"/>
                  </a:cubicBezTo>
                  <a:cubicBezTo>
                    <a:pt x="0" y="18"/>
                    <a:pt x="1" y="20"/>
                    <a:pt x="2" y="20"/>
                  </a:cubicBezTo>
                  <a:cubicBezTo>
                    <a:pt x="2" y="21"/>
                    <a:pt x="3" y="20"/>
                    <a:pt x="4" y="20"/>
                  </a:cubicBezTo>
                  <a:cubicBezTo>
                    <a:pt x="4" y="20"/>
                    <a:pt x="4" y="22"/>
                    <a:pt x="4" y="22"/>
                  </a:cubicBezTo>
                  <a:cubicBezTo>
                    <a:pt x="5" y="23"/>
                    <a:pt x="5" y="22"/>
                    <a:pt x="6" y="22"/>
                  </a:cubicBezTo>
                  <a:cubicBezTo>
                    <a:pt x="6" y="22"/>
                    <a:pt x="7" y="24"/>
                    <a:pt x="7" y="25"/>
                  </a:cubicBezTo>
                  <a:cubicBezTo>
                    <a:pt x="8" y="26"/>
                    <a:pt x="7" y="27"/>
                    <a:pt x="8" y="28"/>
                  </a:cubicBezTo>
                  <a:cubicBezTo>
                    <a:pt x="8" y="28"/>
                    <a:pt x="9" y="28"/>
                    <a:pt x="10" y="27"/>
                  </a:cubicBezTo>
                  <a:cubicBezTo>
                    <a:pt x="11" y="27"/>
                    <a:pt x="11" y="27"/>
                    <a:pt x="12" y="26"/>
                  </a:cubicBezTo>
                  <a:cubicBezTo>
                    <a:pt x="13" y="25"/>
                    <a:pt x="14" y="26"/>
                    <a:pt x="15" y="25"/>
                  </a:cubicBezTo>
                  <a:cubicBezTo>
                    <a:pt x="16" y="24"/>
                    <a:pt x="16" y="24"/>
                    <a:pt x="17" y="24"/>
                  </a:cubicBezTo>
                  <a:cubicBezTo>
                    <a:pt x="17" y="23"/>
                    <a:pt x="18" y="23"/>
                    <a:pt x="19" y="23"/>
                  </a:cubicBezTo>
                  <a:cubicBezTo>
                    <a:pt x="19" y="23"/>
                    <a:pt x="20" y="22"/>
                    <a:pt x="20" y="22"/>
                  </a:cubicBezTo>
                  <a:cubicBezTo>
                    <a:pt x="21" y="21"/>
                    <a:pt x="20" y="20"/>
                    <a:pt x="20" y="19"/>
                  </a:cubicBezTo>
                  <a:cubicBezTo>
                    <a:pt x="20" y="18"/>
                    <a:pt x="22" y="18"/>
                    <a:pt x="22" y="18"/>
                  </a:cubicBezTo>
                  <a:cubicBezTo>
                    <a:pt x="23" y="17"/>
                    <a:pt x="23" y="15"/>
                    <a:pt x="22" y="14"/>
                  </a:cubicBezTo>
                  <a:cubicBezTo>
                    <a:pt x="21" y="13"/>
                    <a:pt x="21" y="13"/>
                    <a:pt x="20" y="13"/>
                  </a:cubicBezTo>
                  <a:cubicBezTo>
                    <a:pt x="19" y="13"/>
                    <a:pt x="20" y="11"/>
                    <a:pt x="19" y="11"/>
                  </a:cubicBezTo>
                  <a:cubicBezTo>
                    <a:pt x="18" y="10"/>
                    <a:pt x="19" y="12"/>
                    <a:pt x="18" y="13"/>
                  </a:cubicBezTo>
                  <a:cubicBezTo>
                    <a:pt x="18" y="14"/>
                    <a:pt x="17" y="11"/>
                    <a:pt x="16" y="11"/>
                  </a:cubicBezTo>
                  <a:cubicBezTo>
                    <a:pt x="16" y="10"/>
                    <a:pt x="16" y="10"/>
                    <a:pt x="17" y="10"/>
                  </a:cubicBezTo>
                  <a:cubicBezTo>
                    <a:pt x="18" y="10"/>
                    <a:pt x="18" y="8"/>
                    <a:pt x="19" y="7"/>
                  </a:cubicBezTo>
                  <a:cubicBezTo>
                    <a:pt x="19" y="7"/>
                    <a:pt x="19" y="7"/>
                    <a:pt x="20" y="7"/>
                  </a:cubicBezTo>
                  <a:cubicBezTo>
                    <a:pt x="21" y="7"/>
                    <a:pt x="21" y="7"/>
                    <a:pt x="21" y="6"/>
                  </a:cubicBezTo>
                  <a:cubicBezTo>
                    <a:pt x="21" y="6"/>
                    <a:pt x="20" y="5"/>
                    <a:pt x="20" y="4"/>
                  </a:cubicBezTo>
                  <a:cubicBezTo>
                    <a:pt x="21" y="4"/>
                    <a:pt x="22" y="4"/>
                    <a:pt x="22" y="4"/>
                  </a:cubicBezTo>
                  <a:cubicBezTo>
                    <a:pt x="23" y="4"/>
                    <a:pt x="21" y="2"/>
                    <a:pt x="21" y="1"/>
                  </a:cubicBezTo>
                  <a:cubicBezTo>
                    <a:pt x="20" y="1"/>
                    <a:pt x="20" y="2"/>
                    <a:pt x="19" y="2"/>
                  </a:cubicBezTo>
                  <a:cubicBezTo>
                    <a:pt x="19" y="3"/>
                    <a:pt x="17" y="3"/>
                    <a:pt x="16" y="3"/>
                  </a:cubicBezTo>
                  <a:cubicBezTo>
                    <a:pt x="15" y="3"/>
                    <a:pt x="14" y="3"/>
                    <a:pt x="13" y="2"/>
                  </a:cubicBezTo>
                  <a:cubicBezTo>
                    <a:pt x="12" y="1"/>
                    <a:pt x="13" y="1"/>
                    <a:pt x="14" y="1"/>
                  </a:cubicBezTo>
                  <a:cubicBezTo>
                    <a:pt x="14" y="0"/>
                    <a:pt x="12" y="1"/>
                    <a:pt x="11" y="1"/>
                  </a:cubicBezTo>
                  <a:cubicBezTo>
                    <a:pt x="10" y="1"/>
                    <a:pt x="10" y="1"/>
                    <a:pt x="9" y="1"/>
                  </a:cubicBezTo>
                  <a:cubicBezTo>
                    <a:pt x="7" y="1"/>
                    <a:pt x="6" y="5"/>
                    <a:pt x="6" y="5"/>
                  </a:cubicBezTo>
                  <a:cubicBezTo>
                    <a:pt x="6" y="6"/>
                    <a:pt x="7" y="6"/>
                    <a:pt x="7" y="7"/>
                  </a:cubicBezTo>
                  <a:cubicBezTo>
                    <a:pt x="6" y="8"/>
                    <a:pt x="8" y="8"/>
                    <a:pt x="9" y="8"/>
                  </a:cubicBezTo>
                  <a:cubicBezTo>
                    <a:pt x="10" y="8"/>
                    <a:pt x="9" y="10"/>
                    <a:pt x="8" y="11"/>
                  </a:cubicBezTo>
                  <a:cubicBezTo>
                    <a:pt x="8" y="11"/>
                    <a:pt x="9" y="12"/>
                    <a:pt x="9" y="12"/>
                  </a:cubicBezTo>
                  <a:cubicBezTo>
                    <a:pt x="9" y="12"/>
                    <a:pt x="8" y="13"/>
                    <a:pt x="7" y="14"/>
                  </a:cubicBezTo>
                  <a:cubicBezTo>
                    <a:pt x="7" y="14"/>
                    <a:pt x="6" y="13"/>
                    <a:pt x="5" y="13"/>
                  </a:cubicBezTo>
                  <a:cubicBezTo>
                    <a:pt x="5" y="13"/>
                    <a:pt x="4" y="12"/>
                    <a:pt x="4" y="12"/>
                  </a:cubicBezTo>
                  <a:cubicBezTo>
                    <a:pt x="4" y="11"/>
                    <a:pt x="4" y="11"/>
                    <a:pt x="5" y="10"/>
                  </a:cubicBezTo>
                  <a:cubicBezTo>
                    <a:pt x="5" y="10"/>
                    <a:pt x="4" y="9"/>
                    <a:pt x="3" y="9"/>
                  </a:cubicBezTo>
                  <a:cubicBezTo>
                    <a:pt x="3" y="8"/>
                    <a:pt x="1" y="10"/>
                    <a:pt x="1" y="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03" name="Freeform 98"/>
            <p:cNvSpPr>
              <a:spLocks/>
            </p:cNvSpPr>
            <p:nvPr/>
          </p:nvSpPr>
          <p:spPr bwMode="auto">
            <a:xfrm>
              <a:off x="2347497" y="2216445"/>
              <a:ext cx="21051" cy="18945"/>
            </a:xfrm>
            <a:custGeom>
              <a:avLst/>
              <a:gdLst>
                <a:gd name="T0" fmla="*/ 1 w 4"/>
                <a:gd name="T1" fmla="*/ 2 h 4"/>
                <a:gd name="T2" fmla="*/ 1 w 4"/>
                <a:gd name="T3" fmla="*/ 4 h 4"/>
                <a:gd name="T4" fmla="*/ 3 w 4"/>
                <a:gd name="T5" fmla="*/ 2 h 4"/>
                <a:gd name="T6" fmla="*/ 3 w 4"/>
                <a:gd name="T7" fmla="*/ 0 h 4"/>
                <a:gd name="T8" fmla="*/ 2 w 4"/>
                <a:gd name="T9" fmla="*/ 0 h 4"/>
                <a:gd name="T10" fmla="*/ 0 w 4"/>
                <a:gd name="T11" fmla="*/ 3 h 4"/>
                <a:gd name="T12" fmla="*/ 1 w 4"/>
                <a:gd name="T13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4">
                  <a:moveTo>
                    <a:pt x="1" y="2"/>
                  </a:moveTo>
                  <a:cubicBezTo>
                    <a:pt x="1" y="2"/>
                    <a:pt x="0" y="4"/>
                    <a:pt x="1" y="4"/>
                  </a:cubicBezTo>
                  <a:cubicBezTo>
                    <a:pt x="2" y="4"/>
                    <a:pt x="3" y="3"/>
                    <a:pt x="3" y="2"/>
                  </a:cubicBezTo>
                  <a:cubicBezTo>
                    <a:pt x="4" y="2"/>
                    <a:pt x="3" y="0"/>
                    <a:pt x="3" y="0"/>
                  </a:cubicBezTo>
                  <a:cubicBezTo>
                    <a:pt x="3" y="0"/>
                    <a:pt x="2" y="0"/>
                    <a:pt x="2" y="0"/>
                  </a:cubicBezTo>
                  <a:cubicBezTo>
                    <a:pt x="1" y="0"/>
                    <a:pt x="0" y="2"/>
                    <a:pt x="0" y="3"/>
                  </a:cubicBezTo>
                  <a:cubicBezTo>
                    <a:pt x="0" y="3"/>
                    <a:pt x="0" y="2"/>
                    <a:pt x="1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04" name="Freeform 99"/>
            <p:cNvSpPr>
              <a:spLocks/>
            </p:cNvSpPr>
            <p:nvPr/>
          </p:nvSpPr>
          <p:spPr bwMode="auto">
            <a:xfrm>
              <a:off x="5890243" y="2165926"/>
              <a:ext cx="33680" cy="14735"/>
            </a:xfrm>
            <a:custGeom>
              <a:avLst/>
              <a:gdLst>
                <a:gd name="T0" fmla="*/ 1 w 7"/>
                <a:gd name="T1" fmla="*/ 2 h 3"/>
                <a:gd name="T2" fmla="*/ 6 w 7"/>
                <a:gd name="T3" fmla="*/ 2 h 3"/>
                <a:gd name="T4" fmla="*/ 6 w 7"/>
                <a:gd name="T5" fmla="*/ 0 h 3"/>
                <a:gd name="T6" fmla="*/ 2 w 7"/>
                <a:gd name="T7" fmla="*/ 1 h 3"/>
                <a:gd name="T8" fmla="*/ 1 w 7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3">
                  <a:moveTo>
                    <a:pt x="1" y="2"/>
                  </a:moveTo>
                  <a:cubicBezTo>
                    <a:pt x="0" y="3"/>
                    <a:pt x="4" y="2"/>
                    <a:pt x="6" y="2"/>
                  </a:cubicBezTo>
                  <a:cubicBezTo>
                    <a:pt x="7" y="2"/>
                    <a:pt x="7" y="0"/>
                    <a:pt x="6" y="0"/>
                  </a:cubicBezTo>
                  <a:cubicBezTo>
                    <a:pt x="5" y="0"/>
                    <a:pt x="3" y="1"/>
                    <a:pt x="2" y="1"/>
                  </a:cubicBezTo>
                  <a:cubicBezTo>
                    <a:pt x="1" y="1"/>
                    <a:pt x="1" y="1"/>
                    <a:pt x="1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05" name="Freeform 100"/>
            <p:cNvSpPr>
              <a:spLocks/>
            </p:cNvSpPr>
            <p:nvPr/>
          </p:nvSpPr>
          <p:spPr bwMode="auto">
            <a:xfrm>
              <a:off x="5879718" y="2125930"/>
              <a:ext cx="29471" cy="14735"/>
            </a:xfrm>
            <a:custGeom>
              <a:avLst/>
              <a:gdLst>
                <a:gd name="T0" fmla="*/ 5 w 6"/>
                <a:gd name="T1" fmla="*/ 2 h 3"/>
                <a:gd name="T2" fmla="*/ 6 w 6"/>
                <a:gd name="T3" fmla="*/ 0 h 3"/>
                <a:gd name="T4" fmla="*/ 4 w 6"/>
                <a:gd name="T5" fmla="*/ 1 h 3"/>
                <a:gd name="T6" fmla="*/ 1 w 6"/>
                <a:gd name="T7" fmla="*/ 2 h 3"/>
                <a:gd name="T8" fmla="*/ 5 w 6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3">
                  <a:moveTo>
                    <a:pt x="5" y="2"/>
                  </a:moveTo>
                  <a:cubicBezTo>
                    <a:pt x="6" y="2"/>
                    <a:pt x="6" y="1"/>
                    <a:pt x="6" y="0"/>
                  </a:cubicBezTo>
                  <a:cubicBezTo>
                    <a:pt x="5" y="0"/>
                    <a:pt x="5" y="1"/>
                    <a:pt x="4" y="1"/>
                  </a:cubicBezTo>
                  <a:cubicBezTo>
                    <a:pt x="3" y="2"/>
                    <a:pt x="2" y="2"/>
                    <a:pt x="1" y="2"/>
                  </a:cubicBezTo>
                  <a:cubicBezTo>
                    <a:pt x="0" y="3"/>
                    <a:pt x="4" y="2"/>
                    <a:pt x="5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06" name="Freeform 101"/>
            <p:cNvSpPr>
              <a:spLocks/>
            </p:cNvSpPr>
            <p:nvPr/>
          </p:nvSpPr>
          <p:spPr bwMode="auto">
            <a:xfrm>
              <a:off x="5081917" y="2511146"/>
              <a:ext cx="35785" cy="29471"/>
            </a:xfrm>
            <a:custGeom>
              <a:avLst/>
              <a:gdLst>
                <a:gd name="T0" fmla="*/ 3 w 7"/>
                <a:gd name="T1" fmla="*/ 6 h 6"/>
                <a:gd name="T2" fmla="*/ 7 w 7"/>
                <a:gd name="T3" fmla="*/ 2 h 6"/>
                <a:gd name="T4" fmla="*/ 4 w 7"/>
                <a:gd name="T5" fmla="*/ 0 h 6"/>
                <a:gd name="T6" fmla="*/ 1 w 7"/>
                <a:gd name="T7" fmla="*/ 1 h 6"/>
                <a:gd name="T8" fmla="*/ 3 w 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6">
                  <a:moveTo>
                    <a:pt x="3" y="6"/>
                  </a:moveTo>
                  <a:cubicBezTo>
                    <a:pt x="4" y="6"/>
                    <a:pt x="7" y="3"/>
                    <a:pt x="7" y="2"/>
                  </a:cubicBezTo>
                  <a:cubicBezTo>
                    <a:pt x="7" y="2"/>
                    <a:pt x="5" y="0"/>
                    <a:pt x="4" y="0"/>
                  </a:cubicBezTo>
                  <a:cubicBezTo>
                    <a:pt x="3" y="0"/>
                    <a:pt x="1" y="0"/>
                    <a:pt x="1" y="1"/>
                  </a:cubicBezTo>
                  <a:cubicBezTo>
                    <a:pt x="1" y="2"/>
                    <a:pt x="0" y="6"/>
                    <a:pt x="3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07" name="Freeform 102"/>
            <p:cNvSpPr>
              <a:spLocks/>
            </p:cNvSpPr>
            <p:nvPr/>
          </p:nvSpPr>
          <p:spPr bwMode="auto">
            <a:xfrm>
              <a:off x="5267157" y="2460627"/>
              <a:ext cx="33680" cy="39995"/>
            </a:xfrm>
            <a:custGeom>
              <a:avLst/>
              <a:gdLst>
                <a:gd name="T0" fmla="*/ 5 w 7"/>
                <a:gd name="T1" fmla="*/ 4 h 8"/>
                <a:gd name="T2" fmla="*/ 2 w 7"/>
                <a:gd name="T3" fmla="*/ 1 h 8"/>
                <a:gd name="T4" fmla="*/ 0 w 7"/>
                <a:gd name="T5" fmla="*/ 3 h 8"/>
                <a:gd name="T6" fmla="*/ 3 w 7"/>
                <a:gd name="T7" fmla="*/ 6 h 8"/>
                <a:gd name="T8" fmla="*/ 5 w 7"/>
                <a:gd name="T9" fmla="*/ 8 h 8"/>
                <a:gd name="T10" fmla="*/ 7 w 7"/>
                <a:gd name="T11" fmla="*/ 6 h 8"/>
                <a:gd name="T12" fmla="*/ 5 w 7"/>
                <a:gd name="T13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8">
                  <a:moveTo>
                    <a:pt x="5" y="4"/>
                  </a:moveTo>
                  <a:cubicBezTo>
                    <a:pt x="4" y="3"/>
                    <a:pt x="3" y="2"/>
                    <a:pt x="2" y="1"/>
                  </a:cubicBezTo>
                  <a:cubicBezTo>
                    <a:pt x="2" y="0"/>
                    <a:pt x="1" y="2"/>
                    <a:pt x="0" y="3"/>
                  </a:cubicBezTo>
                  <a:cubicBezTo>
                    <a:pt x="0" y="4"/>
                    <a:pt x="2" y="6"/>
                    <a:pt x="3" y="6"/>
                  </a:cubicBezTo>
                  <a:cubicBezTo>
                    <a:pt x="4" y="7"/>
                    <a:pt x="4" y="8"/>
                    <a:pt x="5" y="8"/>
                  </a:cubicBezTo>
                  <a:cubicBezTo>
                    <a:pt x="7" y="8"/>
                    <a:pt x="7" y="7"/>
                    <a:pt x="7" y="6"/>
                  </a:cubicBezTo>
                  <a:cubicBezTo>
                    <a:pt x="7" y="5"/>
                    <a:pt x="6" y="4"/>
                    <a:pt x="5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08" name="Freeform 103"/>
            <p:cNvSpPr>
              <a:spLocks/>
            </p:cNvSpPr>
            <p:nvPr/>
          </p:nvSpPr>
          <p:spPr bwMode="auto">
            <a:xfrm>
              <a:off x="5471345" y="2321695"/>
              <a:ext cx="29471" cy="29471"/>
            </a:xfrm>
            <a:custGeom>
              <a:avLst/>
              <a:gdLst>
                <a:gd name="T0" fmla="*/ 1 w 6"/>
                <a:gd name="T1" fmla="*/ 5 h 6"/>
                <a:gd name="T2" fmla="*/ 3 w 6"/>
                <a:gd name="T3" fmla="*/ 5 h 6"/>
                <a:gd name="T4" fmla="*/ 5 w 6"/>
                <a:gd name="T5" fmla="*/ 2 h 6"/>
                <a:gd name="T6" fmla="*/ 4 w 6"/>
                <a:gd name="T7" fmla="*/ 0 h 6"/>
                <a:gd name="T8" fmla="*/ 1 w 6"/>
                <a:gd name="T9" fmla="*/ 1 h 6"/>
                <a:gd name="T10" fmla="*/ 0 w 6"/>
                <a:gd name="T11" fmla="*/ 6 h 6"/>
                <a:gd name="T12" fmla="*/ 1 w 6"/>
                <a:gd name="T13" fmla="*/ 5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6">
                  <a:moveTo>
                    <a:pt x="1" y="5"/>
                  </a:moveTo>
                  <a:cubicBezTo>
                    <a:pt x="2" y="4"/>
                    <a:pt x="2" y="5"/>
                    <a:pt x="3" y="5"/>
                  </a:cubicBezTo>
                  <a:cubicBezTo>
                    <a:pt x="6" y="5"/>
                    <a:pt x="6" y="3"/>
                    <a:pt x="5" y="2"/>
                  </a:cubicBezTo>
                  <a:cubicBezTo>
                    <a:pt x="5" y="1"/>
                    <a:pt x="4" y="1"/>
                    <a:pt x="4" y="0"/>
                  </a:cubicBezTo>
                  <a:cubicBezTo>
                    <a:pt x="3" y="0"/>
                    <a:pt x="1" y="1"/>
                    <a:pt x="1" y="1"/>
                  </a:cubicBezTo>
                  <a:cubicBezTo>
                    <a:pt x="0" y="2"/>
                    <a:pt x="0" y="5"/>
                    <a:pt x="0" y="6"/>
                  </a:cubicBezTo>
                  <a:cubicBezTo>
                    <a:pt x="1" y="6"/>
                    <a:pt x="1" y="5"/>
                    <a:pt x="1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09" name="Freeform 104"/>
            <p:cNvSpPr>
              <a:spLocks/>
            </p:cNvSpPr>
            <p:nvPr/>
          </p:nvSpPr>
          <p:spPr bwMode="auto">
            <a:xfrm>
              <a:off x="5540810" y="2330115"/>
              <a:ext cx="14735" cy="21051"/>
            </a:xfrm>
            <a:custGeom>
              <a:avLst/>
              <a:gdLst>
                <a:gd name="T0" fmla="*/ 2 w 3"/>
                <a:gd name="T1" fmla="*/ 3 h 4"/>
                <a:gd name="T2" fmla="*/ 3 w 3"/>
                <a:gd name="T3" fmla="*/ 1 h 4"/>
                <a:gd name="T4" fmla="*/ 1 w 3"/>
                <a:gd name="T5" fmla="*/ 1 h 4"/>
                <a:gd name="T6" fmla="*/ 2 w 3"/>
                <a:gd name="T7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4">
                  <a:moveTo>
                    <a:pt x="2" y="3"/>
                  </a:moveTo>
                  <a:cubicBezTo>
                    <a:pt x="3" y="3"/>
                    <a:pt x="3" y="2"/>
                    <a:pt x="3" y="1"/>
                  </a:cubicBezTo>
                  <a:cubicBezTo>
                    <a:pt x="3" y="0"/>
                    <a:pt x="2" y="0"/>
                    <a:pt x="1" y="1"/>
                  </a:cubicBezTo>
                  <a:cubicBezTo>
                    <a:pt x="0" y="2"/>
                    <a:pt x="1" y="4"/>
                    <a:pt x="2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10" name="Freeform 105"/>
            <p:cNvSpPr>
              <a:spLocks/>
            </p:cNvSpPr>
            <p:nvPr/>
          </p:nvSpPr>
          <p:spPr bwMode="auto">
            <a:xfrm>
              <a:off x="5599749" y="2346955"/>
              <a:ext cx="21051" cy="8420"/>
            </a:xfrm>
            <a:custGeom>
              <a:avLst/>
              <a:gdLst>
                <a:gd name="T0" fmla="*/ 3 w 4"/>
                <a:gd name="T1" fmla="*/ 2 h 2"/>
                <a:gd name="T2" fmla="*/ 2 w 4"/>
                <a:gd name="T3" fmla="*/ 0 h 2"/>
                <a:gd name="T4" fmla="*/ 0 w 4"/>
                <a:gd name="T5" fmla="*/ 1 h 2"/>
                <a:gd name="T6" fmla="*/ 3 w 4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2">
                  <a:moveTo>
                    <a:pt x="3" y="2"/>
                  </a:moveTo>
                  <a:cubicBezTo>
                    <a:pt x="4" y="2"/>
                    <a:pt x="2" y="0"/>
                    <a:pt x="2" y="0"/>
                  </a:cubicBezTo>
                  <a:cubicBezTo>
                    <a:pt x="1" y="0"/>
                    <a:pt x="0" y="1"/>
                    <a:pt x="0" y="1"/>
                  </a:cubicBezTo>
                  <a:cubicBezTo>
                    <a:pt x="0" y="2"/>
                    <a:pt x="2" y="2"/>
                    <a:pt x="3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11" name="Freeform 106"/>
            <p:cNvSpPr>
              <a:spLocks/>
            </p:cNvSpPr>
            <p:nvPr/>
          </p:nvSpPr>
          <p:spPr bwMode="auto">
            <a:xfrm>
              <a:off x="5620801" y="2325906"/>
              <a:ext cx="18945" cy="14735"/>
            </a:xfrm>
            <a:custGeom>
              <a:avLst/>
              <a:gdLst>
                <a:gd name="T0" fmla="*/ 3 w 4"/>
                <a:gd name="T1" fmla="*/ 0 h 3"/>
                <a:gd name="T2" fmla="*/ 1 w 4"/>
                <a:gd name="T3" fmla="*/ 2 h 3"/>
                <a:gd name="T4" fmla="*/ 2 w 4"/>
                <a:gd name="T5" fmla="*/ 3 h 3"/>
                <a:gd name="T6" fmla="*/ 3 w 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3">
                  <a:moveTo>
                    <a:pt x="3" y="0"/>
                  </a:moveTo>
                  <a:cubicBezTo>
                    <a:pt x="3" y="0"/>
                    <a:pt x="1" y="1"/>
                    <a:pt x="1" y="2"/>
                  </a:cubicBezTo>
                  <a:cubicBezTo>
                    <a:pt x="0" y="3"/>
                    <a:pt x="2" y="3"/>
                    <a:pt x="2" y="3"/>
                  </a:cubicBezTo>
                  <a:cubicBezTo>
                    <a:pt x="4" y="3"/>
                    <a:pt x="3" y="1"/>
                    <a:pt x="3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12" name="Freeform 107"/>
            <p:cNvSpPr>
              <a:spLocks/>
            </p:cNvSpPr>
            <p:nvPr/>
          </p:nvSpPr>
          <p:spPr bwMode="auto">
            <a:xfrm>
              <a:off x="6197575" y="2266965"/>
              <a:ext cx="29471" cy="18945"/>
            </a:xfrm>
            <a:custGeom>
              <a:avLst/>
              <a:gdLst>
                <a:gd name="T0" fmla="*/ 1 w 6"/>
                <a:gd name="T1" fmla="*/ 1 h 4"/>
                <a:gd name="T2" fmla="*/ 0 w 6"/>
                <a:gd name="T3" fmla="*/ 3 h 4"/>
                <a:gd name="T4" fmla="*/ 5 w 6"/>
                <a:gd name="T5" fmla="*/ 3 h 4"/>
                <a:gd name="T6" fmla="*/ 4 w 6"/>
                <a:gd name="T7" fmla="*/ 1 h 4"/>
                <a:gd name="T8" fmla="*/ 1 w 6"/>
                <a:gd name="T9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4">
                  <a:moveTo>
                    <a:pt x="1" y="1"/>
                  </a:moveTo>
                  <a:cubicBezTo>
                    <a:pt x="0" y="1"/>
                    <a:pt x="0" y="2"/>
                    <a:pt x="0" y="3"/>
                  </a:cubicBezTo>
                  <a:cubicBezTo>
                    <a:pt x="0" y="4"/>
                    <a:pt x="4" y="3"/>
                    <a:pt x="5" y="3"/>
                  </a:cubicBezTo>
                  <a:cubicBezTo>
                    <a:pt x="6" y="3"/>
                    <a:pt x="5" y="2"/>
                    <a:pt x="4" y="1"/>
                  </a:cubicBezTo>
                  <a:cubicBezTo>
                    <a:pt x="4" y="0"/>
                    <a:pt x="1" y="0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13" name="Freeform 108"/>
            <p:cNvSpPr>
              <a:spLocks/>
            </p:cNvSpPr>
            <p:nvPr/>
          </p:nvSpPr>
          <p:spPr bwMode="auto">
            <a:xfrm>
              <a:off x="6704885" y="2311172"/>
              <a:ext cx="71571" cy="35785"/>
            </a:xfrm>
            <a:custGeom>
              <a:avLst/>
              <a:gdLst>
                <a:gd name="T0" fmla="*/ 3 w 14"/>
                <a:gd name="T1" fmla="*/ 5 h 7"/>
                <a:gd name="T2" fmla="*/ 13 w 14"/>
                <a:gd name="T3" fmla="*/ 7 h 7"/>
                <a:gd name="T4" fmla="*/ 10 w 14"/>
                <a:gd name="T5" fmla="*/ 1 h 7"/>
                <a:gd name="T6" fmla="*/ 6 w 14"/>
                <a:gd name="T7" fmla="*/ 0 h 7"/>
                <a:gd name="T8" fmla="*/ 3 w 14"/>
                <a:gd name="T9" fmla="*/ 0 h 7"/>
                <a:gd name="T10" fmla="*/ 3 w 14"/>
                <a:gd name="T11" fmla="*/ 3 h 7"/>
                <a:gd name="T12" fmla="*/ 1 w 14"/>
                <a:gd name="T13" fmla="*/ 5 h 7"/>
                <a:gd name="T14" fmla="*/ 3 w 14"/>
                <a:gd name="T1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" h="7">
                  <a:moveTo>
                    <a:pt x="3" y="5"/>
                  </a:moveTo>
                  <a:cubicBezTo>
                    <a:pt x="4" y="5"/>
                    <a:pt x="11" y="6"/>
                    <a:pt x="13" y="7"/>
                  </a:cubicBezTo>
                  <a:cubicBezTo>
                    <a:pt x="14" y="7"/>
                    <a:pt x="12" y="2"/>
                    <a:pt x="10" y="1"/>
                  </a:cubicBezTo>
                  <a:cubicBezTo>
                    <a:pt x="9" y="0"/>
                    <a:pt x="7" y="0"/>
                    <a:pt x="6" y="0"/>
                  </a:cubicBezTo>
                  <a:cubicBezTo>
                    <a:pt x="5" y="0"/>
                    <a:pt x="4" y="0"/>
                    <a:pt x="3" y="0"/>
                  </a:cubicBezTo>
                  <a:cubicBezTo>
                    <a:pt x="3" y="0"/>
                    <a:pt x="3" y="2"/>
                    <a:pt x="3" y="3"/>
                  </a:cubicBezTo>
                  <a:cubicBezTo>
                    <a:pt x="3" y="3"/>
                    <a:pt x="1" y="4"/>
                    <a:pt x="1" y="5"/>
                  </a:cubicBezTo>
                  <a:cubicBezTo>
                    <a:pt x="0" y="6"/>
                    <a:pt x="2" y="5"/>
                    <a:pt x="3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14" name="Freeform 109"/>
            <p:cNvSpPr>
              <a:spLocks/>
            </p:cNvSpPr>
            <p:nvPr/>
          </p:nvSpPr>
          <p:spPr bwMode="auto">
            <a:xfrm>
              <a:off x="6696465" y="2290121"/>
              <a:ext cx="18945" cy="25260"/>
            </a:xfrm>
            <a:custGeom>
              <a:avLst/>
              <a:gdLst>
                <a:gd name="T0" fmla="*/ 4 w 4"/>
                <a:gd name="T1" fmla="*/ 1 h 5"/>
                <a:gd name="T2" fmla="*/ 2 w 4"/>
                <a:gd name="T3" fmla="*/ 0 h 5"/>
                <a:gd name="T4" fmla="*/ 2 w 4"/>
                <a:gd name="T5" fmla="*/ 4 h 5"/>
                <a:gd name="T6" fmla="*/ 4 w 4"/>
                <a:gd name="T7" fmla="*/ 1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5">
                  <a:moveTo>
                    <a:pt x="4" y="1"/>
                  </a:moveTo>
                  <a:cubicBezTo>
                    <a:pt x="4" y="1"/>
                    <a:pt x="3" y="0"/>
                    <a:pt x="2" y="0"/>
                  </a:cubicBezTo>
                  <a:cubicBezTo>
                    <a:pt x="2" y="0"/>
                    <a:pt x="0" y="3"/>
                    <a:pt x="2" y="4"/>
                  </a:cubicBezTo>
                  <a:cubicBezTo>
                    <a:pt x="4" y="5"/>
                    <a:pt x="4" y="2"/>
                    <a:pt x="4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15" name="Freeform 110"/>
            <p:cNvSpPr>
              <a:spLocks/>
            </p:cNvSpPr>
            <p:nvPr/>
          </p:nvSpPr>
          <p:spPr bwMode="auto">
            <a:xfrm>
              <a:off x="6620684" y="2186976"/>
              <a:ext cx="159981" cy="84201"/>
            </a:xfrm>
            <a:custGeom>
              <a:avLst/>
              <a:gdLst>
                <a:gd name="T0" fmla="*/ 4 w 32"/>
                <a:gd name="T1" fmla="*/ 12 h 17"/>
                <a:gd name="T2" fmla="*/ 7 w 32"/>
                <a:gd name="T3" fmla="*/ 15 h 17"/>
                <a:gd name="T4" fmla="*/ 11 w 32"/>
                <a:gd name="T5" fmla="*/ 17 h 17"/>
                <a:gd name="T6" fmla="*/ 12 w 32"/>
                <a:gd name="T7" fmla="*/ 15 h 17"/>
                <a:gd name="T8" fmla="*/ 12 w 32"/>
                <a:gd name="T9" fmla="*/ 13 h 17"/>
                <a:gd name="T10" fmla="*/ 14 w 32"/>
                <a:gd name="T11" fmla="*/ 14 h 17"/>
                <a:gd name="T12" fmla="*/ 20 w 32"/>
                <a:gd name="T13" fmla="*/ 14 h 17"/>
                <a:gd name="T14" fmla="*/ 21 w 32"/>
                <a:gd name="T15" fmla="*/ 14 h 17"/>
                <a:gd name="T16" fmla="*/ 22 w 32"/>
                <a:gd name="T17" fmla="*/ 15 h 17"/>
                <a:gd name="T18" fmla="*/ 26 w 32"/>
                <a:gd name="T19" fmla="*/ 14 h 17"/>
                <a:gd name="T20" fmla="*/ 24 w 32"/>
                <a:gd name="T21" fmla="*/ 13 h 17"/>
                <a:gd name="T22" fmla="*/ 20 w 32"/>
                <a:gd name="T23" fmla="*/ 9 h 17"/>
                <a:gd name="T24" fmla="*/ 20 w 32"/>
                <a:gd name="T25" fmla="*/ 6 h 17"/>
                <a:gd name="T26" fmla="*/ 22 w 32"/>
                <a:gd name="T27" fmla="*/ 6 h 17"/>
                <a:gd name="T28" fmla="*/ 21 w 32"/>
                <a:gd name="T29" fmla="*/ 8 h 17"/>
                <a:gd name="T30" fmla="*/ 24 w 32"/>
                <a:gd name="T31" fmla="*/ 12 h 17"/>
                <a:gd name="T32" fmla="*/ 28 w 32"/>
                <a:gd name="T33" fmla="*/ 13 h 17"/>
                <a:gd name="T34" fmla="*/ 30 w 32"/>
                <a:gd name="T35" fmla="*/ 11 h 17"/>
                <a:gd name="T36" fmla="*/ 29 w 32"/>
                <a:gd name="T37" fmla="*/ 9 h 17"/>
                <a:gd name="T38" fmla="*/ 31 w 32"/>
                <a:gd name="T39" fmla="*/ 8 h 17"/>
                <a:gd name="T40" fmla="*/ 26 w 32"/>
                <a:gd name="T41" fmla="*/ 5 h 17"/>
                <a:gd name="T42" fmla="*/ 22 w 32"/>
                <a:gd name="T43" fmla="*/ 4 h 17"/>
                <a:gd name="T44" fmla="*/ 18 w 32"/>
                <a:gd name="T45" fmla="*/ 3 h 17"/>
                <a:gd name="T46" fmla="*/ 16 w 32"/>
                <a:gd name="T47" fmla="*/ 1 h 17"/>
                <a:gd name="T48" fmla="*/ 15 w 32"/>
                <a:gd name="T49" fmla="*/ 2 h 17"/>
                <a:gd name="T50" fmla="*/ 15 w 32"/>
                <a:gd name="T51" fmla="*/ 5 h 17"/>
                <a:gd name="T52" fmla="*/ 15 w 32"/>
                <a:gd name="T53" fmla="*/ 6 h 17"/>
                <a:gd name="T54" fmla="*/ 13 w 32"/>
                <a:gd name="T55" fmla="*/ 5 h 17"/>
                <a:gd name="T56" fmla="*/ 12 w 32"/>
                <a:gd name="T57" fmla="*/ 5 h 17"/>
                <a:gd name="T58" fmla="*/ 10 w 32"/>
                <a:gd name="T59" fmla="*/ 3 h 17"/>
                <a:gd name="T60" fmla="*/ 7 w 32"/>
                <a:gd name="T61" fmla="*/ 1 h 17"/>
                <a:gd name="T62" fmla="*/ 5 w 32"/>
                <a:gd name="T63" fmla="*/ 1 h 17"/>
                <a:gd name="T64" fmla="*/ 2 w 32"/>
                <a:gd name="T65" fmla="*/ 3 h 17"/>
                <a:gd name="T66" fmla="*/ 2 w 32"/>
                <a:gd name="T67" fmla="*/ 5 h 17"/>
                <a:gd name="T68" fmla="*/ 2 w 32"/>
                <a:gd name="T69" fmla="*/ 6 h 17"/>
                <a:gd name="T70" fmla="*/ 3 w 32"/>
                <a:gd name="T71" fmla="*/ 9 h 17"/>
                <a:gd name="T72" fmla="*/ 1 w 32"/>
                <a:gd name="T73" fmla="*/ 9 h 17"/>
                <a:gd name="T74" fmla="*/ 4 w 32"/>
                <a:gd name="T75" fmla="*/ 1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32" h="17">
                  <a:moveTo>
                    <a:pt x="4" y="12"/>
                  </a:moveTo>
                  <a:cubicBezTo>
                    <a:pt x="5" y="14"/>
                    <a:pt x="6" y="14"/>
                    <a:pt x="7" y="15"/>
                  </a:cubicBezTo>
                  <a:cubicBezTo>
                    <a:pt x="8" y="16"/>
                    <a:pt x="9" y="17"/>
                    <a:pt x="11" y="17"/>
                  </a:cubicBezTo>
                  <a:cubicBezTo>
                    <a:pt x="12" y="17"/>
                    <a:pt x="12" y="16"/>
                    <a:pt x="12" y="15"/>
                  </a:cubicBezTo>
                  <a:cubicBezTo>
                    <a:pt x="12" y="14"/>
                    <a:pt x="11" y="14"/>
                    <a:pt x="12" y="13"/>
                  </a:cubicBezTo>
                  <a:cubicBezTo>
                    <a:pt x="13" y="13"/>
                    <a:pt x="13" y="14"/>
                    <a:pt x="14" y="14"/>
                  </a:cubicBezTo>
                  <a:cubicBezTo>
                    <a:pt x="15" y="15"/>
                    <a:pt x="18" y="14"/>
                    <a:pt x="20" y="14"/>
                  </a:cubicBezTo>
                  <a:cubicBezTo>
                    <a:pt x="21" y="13"/>
                    <a:pt x="21" y="13"/>
                    <a:pt x="21" y="14"/>
                  </a:cubicBezTo>
                  <a:cubicBezTo>
                    <a:pt x="21" y="14"/>
                    <a:pt x="21" y="15"/>
                    <a:pt x="22" y="15"/>
                  </a:cubicBezTo>
                  <a:cubicBezTo>
                    <a:pt x="23" y="15"/>
                    <a:pt x="26" y="15"/>
                    <a:pt x="26" y="14"/>
                  </a:cubicBezTo>
                  <a:cubicBezTo>
                    <a:pt x="27" y="14"/>
                    <a:pt x="27" y="14"/>
                    <a:pt x="24" y="13"/>
                  </a:cubicBezTo>
                  <a:cubicBezTo>
                    <a:pt x="22" y="13"/>
                    <a:pt x="20" y="9"/>
                    <a:pt x="20" y="9"/>
                  </a:cubicBezTo>
                  <a:cubicBezTo>
                    <a:pt x="19" y="8"/>
                    <a:pt x="19" y="7"/>
                    <a:pt x="20" y="6"/>
                  </a:cubicBezTo>
                  <a:cubicBezTo>
                    <a:pt x="20" y="6"/>
                    <a:pt x="22" y="6"/>
                    <a:pt x="22" y="6"/>
                  </a:cubicBezTo>
                  <a:cubicBezTo>
                    <a:pt x="23" y="6"/>
                    <a:pt x="22" y="8"/>
                    <a:pt x="21" y="8"/>
                  </a:cubicBezTo>
                  <a:cubicBezTo>
                    <a:pt x="21" y="9"/>
                    <a:pt x="23" y="11"/>
                    <a:pt x="24" y="12"/>
                  </a:cubicBezTo>
                  <a:cubicBezTo>
                    <a:pt x="25" y="13"/>
                    <a:pt x="27" y="13"/>
                    <a:pt x="28" y="13"/>
                  </a:cubicBezTo>
                  <a:cubicBezTo>
                    <a:pt x="29" y="13"/>
                    <a:pt x="29" y="12"/>
                    <a:pt x="30" y="11"/>
                  </a:cubicBezTo>
                  <a:cubicBezTo>
                    <a:pt x="31" y="11"/>
                    <a:pt x="30" y="9"/>
                    <a:pt x="29" y="9"/>
                  </a:cubicBezTo>
                  <a:cubicBezTo>
                    <a:pt x="29" y="8"/>
                    <a:pt x="31" y="8"/>
                    <a:pt x="31" y="8"/>
                  </a:cubicBezTo>
                  <a:cubicBezTo>
                    <a:pt x="32" y="7"/>
                    <a:pt x="28" y="6"/>
                    <a:pt x="26" y="5"/>
                  </a:cubicBezTo>
                  <a:cubicBezTo>
                    <a:pt x="25" y="4"/>
                    <a:pt x="23" y="4"/>
                    <a:pt x="22" y="4"/>
                  </a:cubicBezTo>
                  <a:cubicBezTo>
                    <a:pt x="21" y="4"/>
                    <a:pt x="20" y="3"/>
                    <a:pt x="18" y="3"/>
                  </a:cubicBezTo>
                  <a:cubicBezTo>
                    <a:pt x="17" y="2"/>
                    <a:pt x="17" y="1"/>
                    <a:pt x="16" y="1"/>
                  </a:cubicBezTo>
                  <a:cubicBezTo>
                    <a:pt x="15" y="1"/>
                    <a:pt x="16" y="2"/>
                    <a:pt x="15" y="2"/>
                  </a:cubicBezTo>
                  <a:cubicBezTo>
                    <a:pt x="15" y="2"/>
                    <a:pt x="15" y="4"/>
                    <a:pt x="15" y="5"/>
                  </a:cubicBezTo>
                  <a:cubicBezTo>
                    <a:pt x="15" y="6"/>
                    <a:pt x="16" y="6"/>
                    <a:pt x="15" y="6"/>
                  </a:cubicBezTo>
                  <a:cubicBezTo>
                    <a:pt x="14" y="7"/>
                    <a:pt x="14" y="5"/>
                    <a:pt x="13" y="5"/>
                  </a:cubicBezTo>
                  <a:cubicBezTo>
                    <a:pt x="13" y="4"/>
                    <a:pt x="13" y="4"/>
                    <a:pt x="12" y="5"/>
                  </a:cubicBezTo>
                  <a:cubicBezTo>
                    <a:pt x="11" y="5"/>
                    <a:pt x="10" y="4"/>
                    <a:pt x="10" y="3"/>
                  </a:cubicBezTo>
                  <a:cubicBezTo>
                    <a:pt x="10" y="3"/>
                    <a:pt x="9" y="2"/>
                    <a:pt x="7" y="1"/>
                  </a:cubicBezTo>
                  <a:cubicBezTo>
                    <a:pt x="6" y="0"/>
                    <a:pt x="6" y="1"/>
                    <a:pt x="5" y="1"/>
                  </a:cubicBezTo>
                  <a:cubicBezTo>
                    <a:pt x="4" y="2"/>
                    <a:pt x="2" y="3"/>
                    <a:pt x="2" y="3"/>
                  </a:cubicBezTo>
                  <a:cubicBezTo>
                    <a:pt x="1" y="3"/>
                    <a:pt x="2" y="4"/>
                    <a:pt x="2" y="5"/>
                  </a:cubicBezTo>
                  <a:cubicBezTo>
                    <a:pt x="3" y="6"/>
                    <a:pt x="2" y="5"/>
                    <a:pt x="2" y="6"/>
                  </a:cubicBezTo>
                  <a:cubicBezTo>
                    <a:pt x="1" y="6"/>
                    <a:pt x="3" y="9"/>
                    <a:pt x="3" y="9"/>
                  </a:cubicBezTo>
                  <a:cubicBezTo>
                    <a:pt x="3" y="10"/>
                    <a:pt x="2" y="9"/>
                    <a:pt x="1" y="9"/>
                  </a:cubicBezTo>
                  <a:cubicBezTo>
                    <a:pt x="0" y="10"/>
                    <a:pt x="2" y="11"/>
                    <a:pt x="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16" name="Freeform 111"/>
            <p:cNvSpPr>
              <a:spLocks/>
            </p:cNvSpPr>
            <p:nvPr/>
          </p:nvSpPr>
          <p:spPr bwMode="auto">
            <a:xfrm>
              <a:off x="6791191" y="2226970"/>
              <a:ext cx="88411" cy="44205"/>
            </a:xfrm>
            <a:custGeom>
              <a:avLst/>
              <a:gdLst>
                <a:gd name="T0" fmla="*/ 3 w 18"/>
                <a:gd name="T1" fmla="*/ 3 h 9"/>
                <a:gd name="T2" fmla="*/ 6 w 18"/>
                <a:gd name="T3" fmla="*/ 5 h 9"/>
                <a:gd name="T4" fmla="*/ 10 w 18"/>
                <a:gd name="T5" fmla="*/ 7 h 9"/>
                <a:gd name="T6" fmla="*/ 13 w 18"/>
                <a:gd name="T7" fmla="*/ 9 h 9"/>
                <a:gd name="T8" fmla="*/ 13 w 18"/>
                <a:gd name="T9" fmla="*/ 8 h 9"/>
                <a:gd name="T10" fmla="*/ 15 w 18"/>
                <a:gd name="T11" fmla="*/ 8 h 9"/>
                <a:gd name="T12" fmla="*/ 18 w 18"/>
                <a:gd name="T13" fmla="*/ 6 h 9"/>
                <a:gd name="T14" fmla="*/ 16 w 18"/>
                <a:gd name="T15" fmla="*/ 4 h 9"/>
                <a:gd name="T16" fmla="*/ 12 w 18"/>
                <a:gd name="T17" fmla="*/ 3 h 9"/>
                <a:gd name="T18" fmla="*/ 9 w 18"/>
                <a:gd name="T19" fmla="*/ 3 h 9"/>
                <a:gd name="T20" fmla="*/ 9 w 18"/>
                <a:gd name="T21" fmla="*/ 2 h 9"/>
                <a:gd name="T22" fmla="*/ 7 w 18"/>
                <a:gd name="T23" fmla="*/ 1 h 9"/>
                <a:gd name="T24" fmla="*/ 4 w 18"/>
                <a:gd name="T25" fmla="*/ 2 h 9"/>
                <a:gd name="T26" fmla="*/ 1 w 18"/>
                <a:gd name="T27" fmla="*/ 0 h 9"/>
                <a:gd name="T28" fmla="*/ 3 w 18"/>
                <a:gd name="T29" fmla="*/ 3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8" h="9">
                  <a:moveTo>
                    <a:pt x="3" y="3"/>
                  </a:moveTo>
                  <a:cubicBezTo>
                    <a:pt x="4" y="3"/>
                    <a:pt x="5" y="5"/>
                    <a:pt x="6" y="5"/>
                  </a:cubicBezTo>
                  <a:cubicBezTo>
                    <a:pt x="6" y="5"/>
                    <a:pt x="9" y="7"/>
                    <a:pt x="10" y="7"/>
                  </a:cubicBezTo>
                  <a:cubicBezTo>
                    <a:pt x="12" y="8"/>
                    <a:pt x="12" y="9"/>
                    <a:pt x="13" y="9"/>
                  </a:cubicBezTo>
                  <a:cubicBezTo>
                    <a:pt x="14" y="9"/>
                    <a:pt x="13" y="8"/>
                    <a:pt x="13" y="8"/>
                  </a:cubicBezTo>
                  <a:cubicBezTo>
                    <a:pt x="14" y="8"/>
                    <a:pt x="14" y="8"/>
                    <a:pt x="15" y="8"/>
                  </a:cubicBezTo>
                  <a:cubicBezTo>
                    <a:pt x="16" y="8"/>
                    <a:pt x="17" y="6"/>
                    <a:pt x="18" y="6"/>
                  </a:cubicBezTo>
                  <a:cubicBezTo>
                    <a:pt x="18" y="5"/>
                    <a:pt x="17" y="4"/>
                    <a:pt x="16" y="4"/>
                  </a:cubicBezTo>
                  <a:cubicBezTo>
                    <a:pt x="16" y="4"/>
                    <a:pt x="14" y="4"/>
                    <a:pt x="12" y="3"/>
                  </a:cubicBezTo>
                  <a:cubicBezTo>
                    <a:pt x="10" y="2"/>
                    <a:pt x="11" y="3"/>
                    <a:pt x="9" y="3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1"/>
                    <a:pt x="9" y="1"/>
                    <a:pt x="7" y="1"/>
                  </a:cubicBezTo>
                  <a:cubicBezTo>
                    <a:pt x="5" y="1"/>
                    <a:pt x="5" y="2"/>
                    <a:pt x="4" y="2"/>
                  </a:cubicBezTo>
                  <a:cubicBezTo>
                    <a:pt x="2" y="2"/>
                    <a:pt x="1" y="0"/>
                    <a:pt x="1" y="0"/>
                  </a:cubicBezTo>
                  <a:cubicBezTo>
                    <a:pt x="0" y="0"/>
                    <a:pt x="2" y="2"/>
                    <a:pt x="3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17" name="Freeform 112"/>
            <p:cNvSpPr>
              <a:spLocks/>
            </p:cNvSpPr>
            <p:nvPr/>
          </p:nvSpPr>
          <p:spPr bwMode="auto">
            <a:xfrm>
              <a:off x="6616474" y="2296437"/>
              <a:ext cx="25260" cy="18945"/>
            </a:xfrm>
            <a:custGeom>
              <a:avLst/>
              <a:gdLst>
                <a:gd name="T0" fmla="*/ 4 w 5"/>
                <a:gd name="T1" fmla="*/ 3 h 4"/>
                <a:gd name="T2" fmla="*/ 1 w 5"/>
                <a:gd name="T3" fmla="*/ 0 h 4"/>
                <a:gd name="T4" fmla="*/ 4 w 5"/>
                <a:gd name="T5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" h="4">
                  <a:moveTo>
                    <a:pt x="4" y="3"/>
                  </a:moveTo>
                  <a:cubicBezTo>
                    <a:pt x="5" y="3"/>
                    <a:pt x="2" y="0"/>
                    <a:pt x="1" y="0"/>
                  </a:cubicBezTo>
                  <a:cubicBezTo>
                    <a:pt x="0" y="0"/>
                    <a:pt x="2" y="4"/>
                    <a:pt x="4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18" name="Freeform 113"/>
            <p:cNvSpPr>
              <a:spLocks/>
            </p:cNvSpPr>
            <p:nvPr/>
          </p:nvSpPr>
          <p:spPr bwMode="auto">
            <a:xfrm>
              <a:off x="7264821" y="2490096"/>
              <a:ext cx="18945" cy="21051"/>
            </a:xfrm>
            <a:custGeom>
              <a:avLst/>
              <a:gdLst>
                <a:gd name="T0" fmla="*/ 0 w 4"/>
                <a:gd name="T1" fmla="*/ 1 h 4"/>
                <a:gd name="T2" fmla="*/ 3 w 4"/>
                <a:gd name="T3" fmla="*/ 4 h 4"/>
                <a:gd name="T4" fmla="*/ 4 w 4"/>
                <a:gd name="T5" fmla="*/ 0 h 4"/>
                <a:gd name="T6" fmla="*/ 1 w 4"/>
                <a:gd name="T7" fmla="*/ 0 h 4"/>
                <a:gd name="T8" fmla="*/ 0 w 4"/>
                <a:gd name="T9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4">
                  <a:moveTo>
                    <a:pt x="0" y="1"/>
                  </a:moveTo>
                  <a:cubicBezTo>
                    <a:pt x="1" y="1"/>
                    <a:pt x="2" y="3"/>
                    <a:pt x="3" y="4"/>
                  </a:cubicBezTo>
                  <a:cubicBezTo>
                    <a:pt x="4" y="4"/>
                    <a:pt x="4" y="1"/>
                    <a:pt x="4" y="0"/>
                  </a:cubicBezTo>
                  <a:cubicBezTo>
                    <a:pt x="4" y="0"/>
                    <a:pt x="3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19" name="Freeform 114"/>
            <p:cNvSpPr>
              <a:spLocks/>
            </p:cNvSpPr>
            <p:nvPr/>
          </p:nvSpPr>
          <p:spPr bwMode="auto">
            <a:xfrm>
              <a:off x="7443746" y="2431158"/>
              <a:ext cx="58940" cy="14735"/>
            </a:xfrm>
            <a:custGeom>
              <a:avLst/>
              <a:gdLst>
                <a:gd name="T0" fmla="*/ 3 w 12"/>
                <a:gd name="T1" fmla="*/ 3 h 3"/>
                <a:gd name="T2" fmla="*/ 11 w 12"/>
                <a:gd name="T3" fmla="*/ 3 h 3"/>
                <a:gd name="T4" fmla="*/ 12 w 12"/>
                <a:gd name="T5" fmla="*/ 1 h 3"/>
                <a:gd name="T6" fmla="*/ 7 w 12"/>
                <a:gd name="T7" fmla="*/ 0 h 3"/>
                <a:gd name="T8" fmla="*/ 2 w 12"/>
                <a:gd name="T9" fmla="*/ 1 h 3"/>
                <a:gd name="T10" fmla="*/ 3 w 12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" h="3">
                  <a:moveTo>
                    <a:pt x="3" y="3"/>
                  </a:moveTo>
                  <a:cubicBezTo>
                    <a:pt x="5" y="3"/>
                    <a:pt x="10" y="3"/>
                    <a:pt x="11" y="3"/>
                  </a:cubicBezTo>
                  <a:cubicBezTo>
                    <a:pt x="12" y="3"/>
                    <a:pt x="12" y="2"/>
                    <a:pt x="12" y="1"/>
                  </a:cubicBezTo>
                  <a:cubicBezTo>
                    <a:pt x="12" y="1"/>
                    <a:pt x="10" y="1"/>
                    <a:pt x="7" y="0"/>
                  </a:cubicBezTo>
                  <a:cubicBezTo>
                    <a:pt x="5" y="0"/>
                    <a:pt x="4" y="0"/>
                    <a:pt x="2" y="1"/>
                  </a:cubicBezTo>
                  <a:cubicBezTo>
                    <a:pt x="0" y="1"/>
                    <a:pt x="1" y="2"/>
                    <a:pt x="3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20" name="Freeform 115"/>
            <p:cNvSpPr>
              <a:spLocks/>
            </p:cNvSpPr>
            <p:nvPr/>
          </p:nvSpPr>
          <p:spPr bwMode="auto">
            <a:xfrm>
              <a:off x="5136647" y="2321696"/>
              <a:ext cx="115776" cy="138931"/>
            </a:xfrm>
            <a:custGeom>
              <a:avLst/>
              <a:gdLst>
                <a:gd name="T0" fmla="*/ 2 w 23"/>
                <a:gd name="T1" fmla="*/ 19 h 28"/>
                <a:gd name="T2" fmla="*/ 5 w 23"/>
                <a:gd name="T3" fmla="*/ 20 h 28"/>
                <a:gd name="T4" fmla="*/ 6 w 23"/>
                <a:gd name="T5" fmla="*/ 21 h 28"/>
                <a:gd name="T6" fmla="*/ 7 w 23"/>
                <a:gd name="T7" fmla="*/ 20 h 28"/>
                <a:gd name="T8" fmla="*/ 8 w 23"/>
                <a:gd name="T9" fmla="*/ 21 h 28"/>
                <a:gd name="T10" fmla="*/ 8 w 23"/>
                <a:gd name="T11" fmla="*/ 23 h 28"/>
                <a:gd name="T12" fmla="*/ 8 w 23"/>
                <a:gd name="T13" fmla="*/ 25 h 28"/>
                <a:gd name="T14" fmla="*/ 13 w 23"/>
                <a:gd name="T15" fmla="*/ 26 h 28"/>
                <a:gd name="T16" fmla="*/ 15 w 23"/>
                <a:gd name="T17" fmla="*/ 27 h 28"/>
                <a:gd name="T18" fmla="*/ 16 w 23"/>
                <a:gd name="T19" fmla="*/ 26 h 28"/>
                <a:gd name="T20" fmla="*/ 17 w 23"/>
                <a:gd name="T21" fmla="*/ 28 h 28"/>
                <a:gd name="T22" fmla="*/ 19 w 23"/>
                <a:gd name="T23" fmla="*/ 27 h 28"/>
                <a:gd name="T24" fmla="*/ 21 w 23"/>
                <a:gd name="T25" fmla="*/ 27 h 28"/>
                <a:gd name="T26" fmla="*/ 22 w 23"/>
                <a:gd name="T27" fmla="*/ 27 h 28"/>
                <a:gd name="T28" fmla="*/ 22 w 23"/>
                <a:gd name="T29" fmla="*/ 26 h 28"/>
                <a:gd name="T30" fmla="*/ 21 w 23"/>
                <a:gd name="T31" fmla="*/ 25 h 28"/>
                <a:gd name="T32" fmla="*/ 20 w 23"/>
                <a:gd name="T33" fmla="*/ 24 h 28"/>
                <a:gd name="T34" fmla="*/ 17 w 23"/>
                <a:gd name="T35" fmla="*/ 22 h 28"/>
                <a:gd name="T36" fmla="*/ 17 w 23"/>
                <a:gd name="T37" fmla="*/ 20 h 28"/>
                <a:gd name="T38" fmla="*/ 15 w 23"/>
                <a:gd name="T39" fmla="*/ 18 h 28"/>
                <a:gd name="T40" fmla="*/ 14 w 23"/>
                <a:gd name="T41" fmla="*/ 16 h 28"/>
                <a:gd name="T42" fmla="*/ 15 w 23"/>
                <a:gd name="T43" fmla="*/ 13 h 28"/>
                <a:gd name="T44" fmla="*/ 14 w 23"/>
                <a:gd name="T45" fmla="*/ 12 h 28"/>
                <a:gd name="T46" fmla="*/ 14 w 23"/>
                <a:gd name="T47" fmla="*/ 10 h 28"/>
                <a:gd name="T48" fmla="*/ 14 w 23"/>
                <a:gd name="T49" fmla="*/ 9 h 28"/>
                <a:gd name="T50" fmla="*/ 15 w 23"/>
                <a:gd name="T51" fmla="*/ 7 h 28"/>
                <a:gd name="T52" fmla="*/ 15 w 23"/>
                <a:gd name="T53" fmla="*/ 6 h 28"/>
                <a:gd name="T54" fmla="*/ 16 w 23"/>
                <a:gd name="T55" fmla="*/ 6 h 28"/>
                <a:gd name="T56" fmla="*/ 16 w 23"/>
                <a:gd name="T57" fmla="*/ 5 h 28"/>
                <a:gd name="T58" fmla="*/ 17 w 23"/>
                <a:gd name="T59" fmla="*/ 4 h 28"/>
                <a:gd name="T60" fmla="*/ 17 w 23"/>
                <a:gd name="T61" fmla="*/ 2 h 28"/>
                <a:gd name="T62" fmla="*/ 15 w 23"/>
                <a:gd name="T63" fmla="*/ 1 h 28"/>
                <a:gd name="T64" fmla="*/ 13 w 23"/>
                <a:gd name="T65" fmla="*/ 1 h 28"/>
                <a:gd name="T66" fmla="*/ 11 w 23"/>
                <a:gd name="T67" fmla="*/ 0 h 28"/>
                <a:gd name="T68" fmla="*/ 11 w 23"/>
                <a:gd name="T69" fmla="*/ 1 h 28"/>
                <a:gd name="T70" fmla="*/ 9 w 23"/>
                <a:gd name="T71" fmla="*/ 1 h 28"/>
                <a:gd name="T72" fmla="*/ 7 w 23"/>
                <a:gd name="T73" fmla="*/ 4 h 28"/>
                <a:gd name="T74" fmla="*/ 5 w 23"/>
                <a:gd name="T75" fmla="*/ 4 h 28"/>
                <a:gd name="T76" fmla="*/ 5 w 23"/>
                <a:gd name="T77" fmla="*/ 6 h 28"/>
                <a:gd name="T78" fmla="*/ 4 w 23"/>
                <a:gd name="T79" fmla="*/ 6 h 28"/>
                <a:gd name="T80" fmla="*/ 3 w 23"/>
                <a:gd name="T81" fmla="*/ 7 h 28"/>
                <a:gd name="T82" fmla="*/ 5 w 23"/>
                <a:gd name="T83" fmla="*/ 8 h 28"/>
                <a:gd name="T84" fmla="*/ 5 w 23"/>
                <a:gd name="T85" fmla="*/ 9 h 28"/>
                <a:gd name="T86" fmla="*/ 4 w 23"/>
                <a:gd name="T87" fmla="*/ 12 h 28"/>
                <a:gd name="T88" fmla="*/ 4 w 23"/>
                <a:gd name="T89" fmla="*/ 13 h 28"/>
                <a:gd name="T90" fmla="*/ 3 w 23"/>
                <a:gd name="T91" fmla="*/ 13 h 28"/>
                <a:gd name="T92" fmla="*/ 2 w 23"/>
                <a:gd name="T93" fmla="*/ 14 h 28"/>
                <a:gd name="T94" fmla="*/ 1 w 23"/>
                <a:gd name="T95" fmla="*/ 14 h 28"/>
                <a:gd name="T96" fmla="*/ 0 w 23"/>
                <a:gd name="T97" fmla="*/ 17 h 28"/>
                <a:gd name="T98" fmla="*/ 2 w 23"/>
                <a:gd name="T99" fmla="*/ 19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3" h="28">
                  <a:moveTo>
                    <a:pt x="2" y="19"/>
                  </a:moveTo>
                  <a:cubicBezTo>
                    <a:pt x="2" y="19"/>
                    <a:pt x="4" y="20"/>
                    <a:pt x="5" y="20"/>
                  </a:cubicBezTo>
                  <a:cubicBezTo>
                    <a:pt x="5" y="20"/>
                    <a:pt x="5" y="20"/>
                    <a:pt x="6" y="21"/>
                  </a:cubicBezTo>
                  <a:cubicBezTo>
                    <a:pt x="6" y="21"/>
                    <a:pt x="7" y="21"/>
                    <a:pt x="7" y="20"/>
                  </a:cubicBezTo>
                  <a:cubicBezTo>
                    <a:pt x="8" y="20"/>
                    <a:pt x="8" y="21"/>
                    <a:pt x="8" y="21"/>
                  </a:cubicBezTo>
                  <a:cubicBezTo>
                    <a:pt x="9" y="22"/>
                    <a:pt x="8" y="22"/>
                    <a:pt x="8" y="23"/>
                  </a:cubicBezTo>
                  <a:cubicBezTo>
                    <a:pt x="9" y="24"/>
                    <a:pt x="8" y="25"/>
                    <a:pt x="8" y="25"/>
                  </a:cubicBezTo>
                  <a:cubicBezTo>
                    <a:pt x="8" y="26"/>
                    <a:pt x="12" y="26"/>
                    <a:pt x="13" y="26"/>
                  </a:cubicBezTo>
                  <a:cubicBezTo>
                    <a:pt x="13" y="26"/>
                    <a:pt x="14" y="27"/>
                    <a:pt x="15" y="27"/>
                  </a:cubicBezTo>
                  <a:cubicBezTo>
                    <a:pt x="16" y="27"/>
                    <a:pt x="15" y="26"/>
                    <a:pt x="16" y="26"/>
                  </a:cubicBezTo>
                  <a:cubicBezTo>
                    <a:pt x="16" y="26"/>
                    <a:pt x="17" y="27"/>
                    <a:pt x="17" y="28"/>
                  </a:cubicBezTo>
                  <a:cubicBezTo>
                    <a:pt x="18" y="28"/>
                    <a:pt x="19" y="27"/>
                    <a:pt x="19" y="27"/>
                  </a:cubicBezTo>
                  <a:cubicBezTo>
                    <a:pt x="19" y="27"/>
                    <a:pt x="20" y="27"/>
                    <a:pt x="21" y="27"/>
                  </a:cubicBezTo>
                  <a:cubicBezTo>
                    <a:pt x="21" y="27"/>
                    <a:pt x="21" y="27"/>
                    <a:pt x="22" y="27"/>
                  </a:cubicBezTo>
                  <a:cubicBezTo>
                    <a:pt x="23" y="26"/>
                    <a:pt x="22" y="25"/>
                    <a:pt x="22" y="26"/>
                  </a:cubicBezTo>
                  <a:cubicBezTo>
                    <a:pt x="21" y="26"/>
                    <a:pt x="21" y="25"/>
                    <a:pt x="21" y="25"/>
                  </a:cubicBezTo>
                  <a:cubicBezTo>
                    <a:pt x="21" y="24"/>
                    <a:pt x="20" y="25"/>
                    <a:pt x="20" y="24"/>
                  </a:cubicBezTo>
                  <a:cubicBezTo>
                    <a:pt x="19" y="23"/>
                    <a:pt x="17" y="22"/>
                    <a:pt x="17" y="22"/>
                  </a:cubicBezTo>
                  <a:cubicBezTo>
                    <a:pt x="17" y="22"/>
                    <a:pt x="17" y="21"/>
                    <a:pt x="17" y="20"/>
                  </a:cubicBezTo>
                  <a:cubicBezTo>
                    <a:pt x="17" y="20"/>
                    <a:pt x="15" y="18"/>
                    <a:pt x="15" y="18"/>
                  </a:cubicBezTo>
                  <a:cubicBezTo>
                    <a:pt x="15" y="17"/>
                    <a:pt x="14" y="16"/>
                    <a:pt x="14" y="16"/>
                  </a:cubicBezTo>
                  <a:cubicBezTo>
                    <a:pt x="14" y="15"/>
                    <a:pt x="14" y="14"/>
                    <a:pt x="15" y="13"/>
                  </a:cubicBezTo>
                  <a:cubicBezTo>
                    <a:pt x="15" y="13"/>
                    <a:pt x="15" y="13"/>
                    <a:pt x="14" y="12"/>
                  </a:cubicBezTo>
                  <a:cubicBezTo>
                    <a:pt x="13" y="12"/>
                    <a:pt x="14" y="11"/>
                    <a:pt x="14" y="10"/>
                  </a:cubicBezTo>
                  <a:cubicBezTo>
                    <a:pt x="14" y="10"/>
                    <a:pt x="14" y="10"/>
                    <a:pt x="14" y="9"/>
                  </a:cubicBezTo>
                  <a:cubicBezTo>
                    <a:pt x="14" y="9"/>
                    <a:pt x="15" y="8"/>
                    <a:pt x="15" y="7"/>
                  </a:cubicBezTo>
                  <a:cubicBezTo>
                    <a:pt x="15" y="7"/>
                    <a:pt x="14" y="6"/>
                    <a:pt x="15" y="6"/>
                  </a:cubicBezTo>
                  <a:cubicBezTo>
                    <a:pt x="15" y="5"/>
                    <a:pt x="16" y="6"/>
                    <a:pt x="16" y="6"/>
                  </a:cubicBezTo>
                  <a:cubicBezTo>
                    <a:pt x="17" y="6"/>
                    <a:pt x="16" y="5"/>
                    <a:pt x="16" y="5"/>
                  </a:cubicBezTo>
                  <a:cubicBezTo>
                    <a:pt x="16" y="5"/>
                    <a:pt x="17" y="4"/>
                    <a:pt x="17" y="4"/>
                  </a:cubicBezTo>
                  <a:cubicBezTo>
                    <a:pt x="18" y="4"/>
                    <a:pt x="18" y="2"/>
                    <a:pt x="17" y="2"/>
                  </a:cubicBezTo>
                  <a:cubicBezTo>
                    <a:pt x="17" y="2"/>
                    <a:pt x="16" y="2"/>
                    <a:pt x="15" y="1"/>
                  </a:cubicBezTo>
                  <a:cubicBezTo>
                    <a:pt x="15" y="1"/>
                    <a:pt x="14" y="1"/>
                    <a:pt x="13" y="1"/>
                  </a:cubicBezTo>
                  <a:cubicBezTo>
                    <a:pt x="13" y="1"/>
                    <a:pt x="12" y="0"/>
                    <a:pt x="11" y="0"/>
                  </a:cubicBezTo>
                  <a:cubicBezTo>
                    <a:pt x="10" y="0"/>
                    <a:pt x="11" y="1"/>
                    <a:pt x="11" y="1"/>
                  </a:cubicBezTo>
                  <a:cubicBezTo>
                    <a:pt x="11" y="1"/>
                    <a:pt x="9" y="1"/>
                    <a:pt x="9" y="1"/>
                  </a:cubicBezTo>
                  <a:cubicBezTo>
                    <a:pt x="8" y="1"/>
                    <a:pt x="8" y="4"/>
                    <a:pt x="7" y="4"/>
                  </a:cubicBezTo>
                  <a:cubicBezTo>
                    <a:pt x="7" y="5"/>
                    <a:pt x="6" y="4"/>
                    <a:pt x="5" y="4"/>
                  </a:cubicBezTo>
                  <a:cubicBezTo>
                    <a:pt x="5" y="4"/>
                    <a:pt x="5" y="5"/>
                    <a:pt x="5" y="6"/>
                  </a:cubicBezTo>
                  <a:cubicBezTo>
                    <a:pt x="5" y="6"/>
                    <a:pt x="5" y="6"/>
                    <a:pt x="4" y="6"/>
                  </a:cubicBezTo>
                  <a:cubicBezTo>
                    <a:pt x="3" y="6"/>
                    <a:pt x="3" y="7"/>
                    <a:pt x="3" y="7"/>
                  </a:cubicBezTo>
                  <a:cubicBezTo>
                    <a:pt x="4" y="8"/>
                    <a:pt x="5" y="8"/>
                    <a:pt x="5" y="8"/>
                  </a:cubicBezTo>
                  <a:cubicBezTo>
                    <a:pt x="6" y="8"/>
                    <a:pt x="5" y="8"/>
                    <a:pt x="5" y="9"/>
                  </a:cubicBezTo>
                  <a:cubicBezTo>
                    <a:pt x="4" y="9"/>
                    <a:pt x="4" y="11"/>
                    <a:pt x="4" y="12"/>
                  </a:cubicBezTo>
                  <a:cubicBezTo>
                    <a:pt x="4" y="13"/>
                    <a:pt x="4" y="13"/>
                    <a:pt x="4" y="13"/>
                  </a:cubicBezTo>
                  <a:cubicBezTo>
                    <a:pt x="4" y="14"/>
                    <a:pt x="4" y="13"/>
                    <a:pt x="3" y="13"/>
                  </a:cubicBezTo>
                  <a:cubicBezTo>
                    <a:pt x="2" y="13"/>
                    <a:pt x="2" y="13"/>
                    <a:pt x="2" y="14"/>
                  </a:cubicBezTo>
                  <a:cubicBezTo>
                    <a:pt x="2" y="14"/>
                    <a:pt x="2" y="14"/>
                    <a:pt x="1" y="14"/>
                  </a:cubicBezTo>
                  <a:cubicBezTo>
                    <a:pt x="1" y="14"/>
                    <a:pt x="0" y="16"/>
                    <a:pt x="0" y="17"/>
                  </a:cubicBezTo>
                  <a:cubicBezTo>
                    <a:pt x="0" y="18"/>
                    <a:pt x="1" y="19"/>
                    <a:pt x="2" y="1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21" name="Freeform 116"/>
            <p:cNvSpPr>
              <a:spLocks/>
            </p:cNvSpPr>
            <p:nvPr/>
          </p:nvSpPr>
          <p:spPr bwMode="auto">
            <a:xfrm>
              <a:off x="5151381" y="2426947"/>
              <a:ext cx="21051" cy="14735"/>
            </a:xfrm>
            <a:custGeom>
              <a:avLst/>
              <a:gdLst>
                <a:gd name="T0" fmla="*/ 1 w 4"/>
                <a:gd name="T1" fmla="*/ 0 h 3"/>
                <a:gd name="T2" fmla="*/ 1 w 4"/>
                <a:gd name="T3" fmla="*/ 1 h 3"/>
                <a:gd name="T4" fmla="*/ 3 w 4"/>
                <a:gd name="T5" fmla="*/ 3 h 3"/>
                <a:gd name="T6" fmla="*/ 3 w 4"/>
                <a:gd name="T7" fmla="*/ 1 h 3"/>
                <a:gd name="T8" fmla="*/ 1 w 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3">
                  <a:moveTo>
                    <a:pt x="1" y="0"/>
                  </a:moveTo>
                  <a:cubicBezTo>
                    <a:pt x="0" y="0"/>
                    <a:pt x="0" y="1"/>
                    <a:pt x="1" y="1"/>
                  </a:cubicBezTo>
                  <a:cubicBezTo>
                    <a:pt x="2" y="2"/>
                    <a:pt x="2" y="3"/>
                    <a:pt x="3" y="3"/>
                  </a:cubicBezTo>
                  <a:cubicBezTo>
                    <a:pt x="4" y="3"/>
                    <a:pt x="3" y="2"/>
                    <a:pt x="3" y="1"/>
                  </a:cubicBezTo>
                  <a:cubicBezTo>
                    <a:pt x="3" y="1"/>
                    <a:pt x="2" y="0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22" name="Freeform 117"/>
            <p:cNvSpPr>
              <a:spLocks/>
            </p:cNvSpPr>
            <p:nvPr/>
          </p:nvSpPr>
          <p:spPr bwMode="auto">
            <a:xfrm>
              <a:off x="5161905" y="2125929"/>
              <a:ext cx="269443" cy="199977"/>
            </a:xfrm>
            <a:custGeom>
              <a:avLst/>
              <a:gdLst>
                <a:gd name="T0" fmla="*/ 4 w 54"/>
                <a:gd name="T1" fmla="*/ 37 h 40"/>
                <a:gd name="T2" fmla="*/ 9 w 54"/>
                <a:gd name="T3" fmla="*/ 39 h 40"/>
                <a:gd name="T4" fmla="*/ 14 w 54"/>
                <a:gd name="T5" fmla="*/ 40 h 40"/>
                <a:gd name="T6" fmla="*/ 15 w 54"/>
                <a:gd name="T7" fmla="*/ 37 h 40"/>
                <a:gd name="T8" fmla="*/ 17 w 54"/>
                <a:gd name="T9" fmla="*/ 36 h 40"/>
                <a:gd name="T10" fmla="*/ 17 w 54"/>
                <a:gd name="T11" fmla="*/ 34 h 40"/>
                <a:gd name="T12" fmla="*/ 18 w 54"/>
                <a:gd name="T13" fmla="*/ 32 h 40"/>
                <a:gd name="T14" fmla="*/ 19 w 54"/>
                <a:gd name="T15" fmla="*/ 31 h 40"/>
                <a:gd name="T16" fmla="*/ 20 w 54"/>
                <a:gd name="T17" fmla="*/ 28 h 40"/>
                <a:gd name="T18" fmla="*/ 20 w 54"/>
                <a:gd name="T19" fmla="*/ 27 h 40"/>
                <a:gd name="T20" fmla="*/ 23 w 54"/>
                <a:gd name="T21" fmla="*/ 26 h 40"/>
                <a:gd name="T22" fmla="*/ 23 w 54"/>
                <a:gd name="T23" fmla="*/ 24 h 40"/>
                <a:gd name="T24" fmla="*/ 27 w 54"/>
                <a:gd name="T25" fmla="*/ 24 h 40"/>
                <a:gd name="T26" fmla="*/ 29 w 54"/>
                <a:gd name="T27" fmla="*/ 21 h 40"/>
                <a:gd name="T28" fmla="*/ 31 w 54"/>
                <a:gd name="T29" fmla="*/ 21 h 40"/>
                <a:gd name="T30" fmla="*/ 35 w 54"/>
                <a:gd name="T31" fmla="*/ 18 h 40"/>
                <a:gd name="T32" fmla="*/ 41 w 54"/>
                <a:gd name="T33" fmla="*/ 15 h 40"/>
                <a:gd name="T34" fmla="*/ 48 w 54"/>
                <a:gd name="T35" fmla="*/ 15 h 40"/>
                <a:gd name="T36" fmla="*/ 52 w 54"/>
                <a:gd name="T37" fmla="*/ 12 h 40"/>
                <a:gd name="T38" fmla="*/ 53 w 54"/>
                <a:gd name="T39" fmla="*/ 10 h 40"/>
                <a:gd name="T40" fmla="*/ 54 w 54"/>
                <a:gd name="T41" fmla="*/ 8 h 40"/>
                <a:gd name="T42" fmla="*/ 54 w 54"/>
                <a:gd name="T43" fmla="*/ 4 h 40"/>
                <a:gd name="T44" fmla="*/ 52 w 54"/>
                <a:gd name="T45" fmla="*/ 1 h 40"/>
                <a:gd name="T46" fmla="*/ 49 w 54"/>
                <a:gd name="T47" fmla="*/ 1 h 40"/>
                <a:gd name="T48" fmla="*/ 46 w 54"/>
                <a:gd name="T49" fmla="*/ 1 h 40"/>
                <a:gd name="T50" fmla="*/ 44 w 54"/>
                <a:gd name="T51" fmla="*/ 5 h 40"/>
                <a:gd name="T52" fmla="*/ 40 w 54"/>
                <a:gd name="T53" fmla="*/ 9 h 40"/>
                <a:gd name="T54" fmla="*/ 34 w 54"/>
                <a:gd name="T55" fmla="*/ 10 h 40"/>
                <a:gd name="T56" fmla="*/ 31 w 54"/>
                <a:gd name="T57" fmla="*/ 9 h 40"/>
                <a:gd name="T58" fmla="*/ 28 w 54"/>
                <a:gd name="T59" fmla="*/ 9 h 40"/>
                <a:gd name="T60" fmla="*/ 25 w 54"/>
                <a:gd name="T61" fmla="*/ 9 h 40"/>
                <a:gd name="T62" fmla="*/ 24 w 54"/>
                <a:gd name="T63" fmla="*/ 11 h 40"/>
                <a:gd name="T64" fmla="*/ 20 w 54"/>
                <a:gd name="T65" fmla="*/ 15 h 40"/>
                <a:gd name="T66" fmla="*/ 18 w 54"/>
                <a:gd name="T67" fmla="*/ 15 h 40"/>
                <a:gd name="T68" fmla="*/ 15 w 54"/>
                <a:gd name="T69" fmla="*/ 18 h 40"/>
                <a:gd name="T70" fmla="*/ 14 w 54"/>
                <a:gd name="T71" fmla="*/ 19 h 40"/>
                <a:gd name="T72" fmla="*/ 11 w 54"/>
                <a:gd name="T73" fmla="*/ 23 h 40"/>
                <a:gd name="T74" fmla="*/ 8 w 54"/>
                <a:gd name="T75" fmla="*/ 24 h 40"/>
                <a:gd name="T76" fmla="*/ 9 w 54"/>
                <a:gd name="T77" fmla="*/ 25 h 40"/>
                <a:gd name="T78" fmla="*/ 8 w 54"/>
                <a:gd name="T79" fmla="*/ 27 h 40"/>
                <a:gd name="T80" fmla="*/ 7 w 54"/>
                <a:gd name="T81" fmla="*/ 29 h 40"/>
                <a:gd name="T82" fmla="*/ 8 w 54"/>
                <a:gd name="T83" fmla="*/ 32 h 40"/>
                <a:gd name="T84" fmla="*/ 4 w 54"/>
                <a:gd name="T85" fmla="*/ 33 h 40"/>
                <a:gd name="T86" fmla="*/ 1 w 54"/>
                <a:gd name="T87" fmla="*/ 3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4" h="40">
                  <a:moveTo>
                    <a:pt x="4" y="35"/>
                  </a:moveTo>
                  <a:cubicBezTo>
                    <a:pt x="4" y="35"/>
                    <a:pt x="4" y="37"/>
                    <a:pt x="4" y="37"/>
                  </a:cubicBezTo>
                  <a:cubicBezTo>
                    <a:pt x="4" y="37"/>
                    <a:pt x="6" y="37"/>
                    <a:pt x="7" y="38"/>
                  </a:cubicBezTo>
                  <a:cubicBezTo>
                    <a:pt x="7" y="38"/>
                    <a:pt x="8" y="38"/>
                    <a:pt x="9" y="39"/>
                  </a:cubicBezTo>
                  <a:cubicBezTo>
                    <a:pt x="9" y="39"/>
                    <a:pt x="11" y="39"/>
                    <a:pt x="11" y="39"/>
                  </a:cubicBezTo>
                  <a:cubicBezTo>
                    <a:pt x="11" y="40"/>
                    <a:pt x="13" y="40"/>
                    <a:pt x="14" y="40"/>
                  </a:cubicBezTo>
                  <a:cubicBezTo>
                    <a:pt x="14" y="40"/>
                    <a:pt x="15" y="39"/>
                    <a:pt x="15" y="39"/>
                  </a:cubicBezTo>
                  <a:cubicBezTo>
                    <a:pt x="15" y="38"/>
                    <a:pt x="16" y="37"/>
                    <a:pt x="15" y="37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6"/>
                    <a:pt x="16" y="36"/>
                    <a:pt x="17" y="36"/>
                  </a:cubicBezTo>
                  <a:cubicBezTo>
                    <a:pt x="17" y="35"/>
                    <a:pt x="16" y="35"/>
                    <a:pt x="16" y="34"/>
                  </a:cubicBezTo>
                  <a:cubicBezTo>
                    <a:pt x="16" y="34"/>
                    <a:pt x="17" y="35"/>
                    <a:pt x="17" y="34"/>
                  </a:cubicBezTo>
                  <a:cubicBezTo>
                    <a:pt x="17" y="34"/>
                    <a:pt x="17" y="33"/>
                    <a:pt x="16" y="33"/>
                  </a:cubicBezTo>
                  <a:cubicBezTo>
                    <a:pt x="16" y="32"/>
                    <a:pt x="17" y="32"/>
                    <a:pt x="18" y="32"/>
                  </a:cubicBezTo>
                  <a:cubicBezTo>
                    <a:pt x="19" y="32"/>
                    <a:pt x="18" y="32"/>
                    <a:pt x="18" y="31"/>
                  </a:cubicBezTo>
                  <a:cubicBezTo>
                    <a:pt x="17" y="31"/>
                    <a:pt x="18" y="31"/>
                    <a:pt x="19" y="31"/>
                  </a:cubicBezTo>
                  <a:cubicBezTo>
                    <a:pt x="19" y="31"/>
                    <a:pt x="20" y="31"/>
                    <a:pt x="20" y="30"/>
                  </a:cubicBezTo>
                  <a:cubicBezTo>
                    <a:pt x="20" y="29"/>
                    <a:pt x="20" y="28"/>
                    <a:pt x="20" y="28"/>
                  </a:cubicBezTo>
                  <a:cubicBezTo>
                    <a:pt x="21" y="28"/>
                    <a:pt x="22" y="28"/>
                    <a:pt x="22" y="28"/>
                  </a:cubicBezTo>
                  <a:cubicBezTo>
                    <a:pt x="22" y="28"/>
                    <a:pt x="20" y="28"/>
                    <a:pt x="20" y="27"/>
                  </a:cubicBezTo>
                  <a:cubicBezTo>
                    <a:pt x="20" y="27"/>
                    <a:pt x="21" y="27"/>
                    <a:pt x="21" y="27"/>
                  </a:cubicBezTo>
                  <a:cubicBezTo>
                    <a:pt x="22" y="27"/>
                    <a:pt x="22" y="27"/>
                    <a:pt x="23" y="26"/>
                  </a:cubicBezTo>
                  <a:cubicBezTo>
                    <a:pt x="23" y="26"/>
                    <a:pt x="23" y="26"/>
                    <a:pt x="24" y="26"/>
                  </a:cubicBezTo>
                  <a:cubicBezTo>
                    <a:pt x="24" y="25"/>
                    <a:pt x="24" y="25"/>
                    <a:pt x="23" y="24"/>
                  </a:cubicBezTo>
                  <a:cubicBezTo>
                    <a:pt x="23" y="24"/>
                    <a:pt x="25" y="25"/>
                    <a:pt x="26" y="25"/>
                  </a:cubicBezTo>
                  <a:cubicBezTo>
                    <a:pt x="27" y="25"/>
                    <a:pt x="27" y="24"/>
                    <a:pt x="27" y="24"/>
                  </a:cubicBezTo>
                  <a:cubicBezTo>
                    <a:pt x="27" y="24"/>
                    <a:pt x="28" y="24"/>
                    <a:pt x="28" y="24"/>
                  </a:cubicBezTo>
                  <a:cubicBezTo>
                    <a:pt x="29" y="24"/>
                    <a:pt x="29" y="22"/>
                    <a:pt x="29" y="21"/>
                  </a:cubicBezTo>
                  <a:cubicBezTo>
                    <a:pt x="29" y="21"/>
                    <a:pt x="29" y="21"/>
                    <a:pt x="30" y="22"/>
                  </a:cubicBezTo>
                  <a:cubicBezTo>
                    <a:pt x="30" y="22"/>
                    <a:pt x="31" y="22"/>
                    <a:pt x="31" y="21"/>
                  </a:cubicBezTo>
                  <a:cubicBezTo>
                    <a:pt x="32" y="21"/>
                    <a:pt x="32" y="21"/>
                    <a:pt x="32" y="20"/>
                  </a:cubicBezTo>
                  <a:cubicBezTo>
                    <a:pt x="33" y="20"/>
                    <a:pt x="35" y="19"/>
                    <a:pt x="35" y="18"/>
                  </a:cubicBezTo>
                  <a:cubicBezTo>
                    <a:pt x="36" y="18"/>
                    <a:pt x="38" y="17"/>
                    <a:pt x="38" y="16"/>
                  </a:cubicBezTo>
                  <a:cubicBezTo>
                    <a:pt x="39" y="15"/>
                    <a:pt x="41" y="15"/>
                    <a:pt x="41" y="15"/>
                  </a:cubicBezTo>
                  <a:cubicBezTo>
                    <a:pt x="42" y="15"/>
                    <a:pt x="43" y="15"/>
                    <a:pt x="45" y="16"/>
                  </a:cubicBezTo>
                  <a:cubicBezTo>
                    <a:pt x="46" y="16"/>
                    <a:pt x="47" y="16"/>
                    <a:pt x="48" y="15"/>
                  </a:cubicBezTo>
                  <a:cubicBezTo>
                    <a:pt x="49" y="15"/>
                    <a:pt x="49" y="14"/>
                    <a:pt x="49" y="14"/>
                  </a:cubicBezTo>
                  <a:cubicBezTo>
                    <a:pt x="50" y="13"/>
                    <a:pt x="52" y="13"/>
                    <a:pt x="52" y="12"/>
                  </a:cubicBezTo>
                  <a:cubicBezTo>
                    <a:pt x="53" y="12"/>
                    <a:pt x="54" y="11"/>
                    <a:pt x="54" y="11"/>
                  </a:cubicBezTo>
                  <a:cubicBezTo>
                    <a:pt x="53" y="11"/>
                    <a:pt x="53" y="11"/>
                    <a:pt x="53" y="10"/>
                  </a:cubicBezTo>
                  <a:cubicBezTo>
                    <a:pt x="53" y="10"/>
                    <a:pt x="53" y="9"/>
                    <a:pt x="54" y="8"/>
                  </a:cubicBezTo>
                  <a:cubicBezTo>
                    <a:pt x="54" y="8"/>
                    <a:pt x="54" y="8"/>
                    <a:pt x="54" y="8"/>
                  </a:cubicBezTo>
                  <a:cubicBezTo>
                    <a:pt x="53" y="7"/>
                    <a:pt x="53" y="6"/>
                    <a:pt x="53" y="5"/>
                  </a:cubicBezTo>
                  <a:cubicBezTo>
                    <a:pt x="53" y="5"/>
                    <a:pt x="54" y="5"/>
                    <a:pt x="54" y="4"/>
                  </a:cubicBezTo>
                  <a:cubicBezTo>
                    <a:pt x="54" y="4"/>
                    <a:pt x="53" y="3"/>
                    <a:pt x="53" y="3"/>
                  </a:cubicBezTo>
                  <a:cubicBezTo>
                    <a:pt x="52" y="2"/>
                    <a:pt x="52" y="2"/>
                    <a:pt x="52" y="1"/>
                  </a:cubicBezTo>
                  <a:cubicBezTo>
                    <a:pt x="52" y="1"/>
                    <a:pt x="51" y="1"/>
                    <a:pt x="50" y="0"/>
                  </a:cubicBezTo>
                  <a:cubicBezTo>
                    <a:pt x="49" y="0"/>
                    <a:pt x="49" y="0"/>
                    <a:pt x="49" y="1"/>
                  </a:cubicBezTo>
                  <a:cubicBezTo>
                    <a:pt x="49" y="1"/>
                    <a:pt x="48" y="1"/>
                    <a:pt x="48" y="0"/>
                  </a:cubicBezTo>
                  <a:cubicBezTo>
                    <a:pt x="48" y="0"/>
                    <a:pt x="46" y="1"/>
                    <a:pt x="46" y="1"/>
                  </a:cubicBezTo>
                  <a:cubicBezTo>
                    <a:pt x="45" y="1"/>
                    <a:pt x="46" y="2"/>
                    <a:pt x="46" y="2"/>
                  </a:cubicBezTo>
                  <a:cubicBezTo>
                    <a:pt x="46" y="3"/>
                    <a:pt x="45" y="4"/>
                    <a:pt x="44" y="5"/>
                  </a:cubicBezTo>
                  <a:cubicBezTo>
                    <a:pt x="44" y="6"/>
                    <a:pt x="43" y="7"/>
                    <a:pt x="42" y="7"/>
                  </a:cubicBezTo>
                  <a:cubicBezTo>
                    <a:pt x="41" y="7"/>
                    <a:pt x="41" y="8"/>
                    <a:pt x="40" y="9"/>
                  </a:cubicBezTo>
                  <a:cubicBezTo>
                    <a:pt x="39" y="9"/>
                    <a:pt x="37" y="10"/>
                    <a:pt x="36" y="10"/>
                  </a:cubicBezTo>
                  <a:cubicBezTo>
                    <a:pt x="34" y="10"/>
                    <a:pt x="35" y="10"/>
                    <a:pt x="34" y="10"/>
                  </a:cubicBezTo>
                  <a:cubicBezTo>
                    <a:pt x="33" y="11"/>
                    <a:pt x="33" y="9"/>
                    <a:pt x="32" y="9"/>
                  </a:cubicBezTo>
                  <a:cubicBezTo>
                    <a:pt x="32" y="8"/>
                    <a:pt x="32" y="9"/>
                    <a:pt x="31" y="9"/>
                  </a:cubicBezTo>
                  <a:cubicBezTo>
                    <a:pt x="31" y="10"/>
                    <a:pt x="31" y="10"/>
                    <a:pt x="30" y="10"/>
                  </a:cubicBezTo>
                  <a:cubicBezTo>
                    <a:pt x="30" y="10"/>
                    <a:pt x="28" y="9"/>
                    <a:pt x="28" y="9"/>
                  </a:cubicBezTo>
                  <a:cubicBezTo>
                    <a:pt x="28" y="8"/>
                    <a:pt x="27" y="9"/>
                    <a:pt x="26" y="9"/>
                  </a:cubicBezTo>
                  <a:cubicBezTo>
                    <a:pt x="26" y="10"/>
                    <a:pt x="26" y="9"/>
                    <a:pt x="25" y="9"/>
                  </a:cubicBezTo>
                  <a:cubicBezTo>
                    <a:pt x="24" y="9"/>
                    <a:pt x="25" y="10"/>
                    <a:pt x="25" y="10"/>
                  </a:cubicBezTo>
                  <a:cubicBezTo>
                    <a:pt x="26" y="10"/>
                    <a:pt x="25" y="11"/>
                    <a:pt x="24" y="11"/>
                  </a:cubicBezTo>
                  <a:cubicBezTo>
                    <a:pt x="24" y="12"/>
                    <a:pt x="22" y="14"/>
                    <a:pt x="21" y="14"/>
                  </a:cubicBezTo>
                  <a:cubicBezTo>
                    <a:pt x="20" y="14"/>
                    <a:pt x="20" y="15"/>
                    <a:pt x="20" y="15"/>
                  </a:cubicBezTo>
                  <a:cubicBezTo>
                    <a:pt x="19" y="15"/>
                    <a:pt x="19" y="14"/>
                    <a:pt x="19" y="14"/>
                  </a:cubicBezTo>
                  <a:cubicBezTo>
                    <a:pt x="18" y="14"/>
                    <a:pt x="18" y="15"/>
                    <a:pt x="18" y="15"/>
                  </a:cubicBezTo>
                  <a:cubicBezTo>
                    <a:pt x="19" y="16"/>
                    <a:pt x="18" y="16"/>
                    <a:pt x="17" y="16"/>
                  </a:cubicBezTo>
                  <a:cubicBezTo>
                    <a:pt x="16" y="17"/>
                    <a:pt x="16" y="17"/>
                    <a:pt x="15" y="18"/>
                  </a:cubicBezTo>
                  <a:cubicBezTo>
                    <a:pt x="14" y="18"/>
                    <a:pt x="15" y="19"/>
                    <a:pt x="15" y="19"/>
                  </a:cubicBezTo>
                  <a:cubicBezTo>
                    <a:pt x="15" y="20"/>
                    <a:pt x="14" y="19"/>
                    <a:pt x="14" y="19"/>
                  </a:cubicBezTo>
                  <a:cubicBezTo>
                    <a:pt x="13" y="19"/>
                    <a:pt x="12" y="20"/>
                    <a:pt x="13" y="20"/>
                  </a:cubicBezTo>
                  <a:cubicBezTo>
                    <a:pt x="13" y="20"/>
                    <a:pt x="11" y="22"/>
                    <a:pt x="11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9" y="23"/>
                    <a:pt x="8" y="23"/>
                    <a:pt x="8" y="24"/>
                  </a:cubicBezTo>
                  <a:cubicBezTo>
                    <a:pt x="8" y="24"/>
                    <a:pt x="9" y="24"/>
                    <a:pt x="9" y="24"/>
                  </a:cubicBezTo>
                  <a:cubicBezTo>
                    <a:pt x="10" y="24"/>
                    <a:pt x="9" y="25"/>
                    <a:pt x="9" y="25"/>
                  </a:cubicBezTo>
                  <a:cubicBezTo>
                    <a:pt x="8" y="26"/>
                    <a:pt x="10" y="26"/>
                    <a:pt x="10" y="27"/>
                  </a:cubicBezTo>
                  <a:cubicBezTo>
                    <a:pt x="10" y="27"/>
                    <a:pt x="9" y="27"/>
                    <a:pt x="8" y="27"/>
                  </a:cubicBezTo>
                  <a:cubicBezTo>
                    <a:pt x="7" y="27"/>
                    <a:pt x="8" y="28"/>
                    <a:pt x="9" y="29"/>
                  </a:cubicBezTo>
                  <a:cubicBezTo>
                    <a:pt x="10" y="29"/>
                    <a:pt x="8" y="29"/>
                    <a:pt x="7" y="29"/>
                  </a:cubicBezTo>
                  <a:cubicBezTo>
                    <a:pt x="6" y="29"/>
                    <a:pt x="8" y="30"/>
                    <a:pt x="7" y="31"/>
                  </a:cubicBezTo>
                  <a:cubicBezTo>
                    <a:pt x="7" y="31"/>
                    <a:pt x="8" y="32"/>
                    <a:pt x="8" y="32"/>
                  </a:cubicBezTo>
                  <a:cubicBezTo>
                    <a:pt x="8" y="33"/>
                    <a:pt x="7" y="32"/>
                    <a:pt x="6" y="32"/>
                  </a:cubicBezTo>
                  <a:cubicBezTo>
                    <a:pt x="5" y="32"/>
                    <a:pt x="5" y="32"/>
                    <a:pt x="4" y="33"/>
                  </a:cubicBezTo>
                  <a:cubicBezTo>
                    <a:pt x="4" y="33"/>
                    <a:pt x="5" y="34"/>
                    <a:pt x="4" y="34"/>
                  </a:cubicBezTo>
                  <a:cubicBezTo>
                    <a:pt x="2" y="34"/>
                    <a:pt x="2" y="34"/>
                    <a:pt x="1" y="36"/>
                  </a:cubicBezTo>
                  <a:cubicBezTo>
                    <a:pt x="0" y="37"/>
                    <a:pt x="3" y="35"/>
                    <a:pt x="4" y="3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23" name="Freeform 118"/>
            <p:cNvSpPr>
              <a:spLocks/>
            </p:cNvSpPr>
            <p:nvPr/>
          </p:nvSpPr>
          <p:spPr bwMode="auto">
            <a:xfrm>
              <a:off x="4593551" y="2441681"/>
              <a:ext cx="29471" cy="23155"/>
            </a:xfrm>
            <a:custGeom>
              <a:avLst/>
              <a:gdLst>
                <a:gd name="T0" fmla="*/ 1 w 6"/>
                <a:gd name="T1" fmla="*/ 5 h 5"/>
                <a:gd name="T2" fmla="*/ 6 w 6"/>
                <a:gd name="T3" fmla="*/ 2 h 5"/>
                <a:gd name="T4" fmla="*/ 5 w 6"/>
                <a:gd name="T5" fmla="*/ 1 h 5"/>
                <a:gd name="T6" fmla="*/ 1 w 6"/>
                <a:gd name="T7" fmla="*/ 3 h 5"/>
                <a:gd name="T8" fmla="*/ 1 w 6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5">
                  <a:moveTo>
                    <a:pt x="1" y="5"/>
                  </a:moveTo>
                  <a:cubicBezTo>
                    <a:pt x="2" y="4"/>
                    <a:pt x="6" y="3"/>
                    <a:pt x="6" y="2"/>
                  </a:cubicBezTo>
                  <a:cubicBezTo>
                    <a:pt x="6" y="1"/>
                    <a:pt x="6" y="0"/>
                    <a:pt x="5" y="1"/>
                  </a:cubicBezTo>
                  <a:cubicBezTo>
                    <a:pt x="4" y="1"/>
                    <a:pt x="1" y="2"/>
                    <a:pt x="1" y="3"/>
                  </a:cubicBezTo>
                  <a:cubicBezTo>
                    <a:pt x="1" y="3"/>
                    <a:pt x="0" y="5"/>
                    <a:pt x="1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24" name="Freeform 119"/>
            <p:cNvSpPr>
              <a:spLocks/>
            </p:cNvSpPr>
            <p:nvPr/>
          </p:nvSpPr>
          <p:spPr bwMode="auto">
            <a:xfrm>
              <a:off x="4498827" y="2504833"/>
              <a:ext cx="25260" cy="31575"/>
            </a:xfrm>
            <a:custGeom>
              <a:avLst/>
              <a:gdLst>
                <a:gd name="T0" fmla="*/ 1 w 5"/>
                <a:gd name="T1" fmla="*/ 5 h 6"/>
                <a:gd name="T2" fmla="*/ 5 w 5"/>
                <a:gd name="T3" fmla="*/ 2 h 6"/>
                <a:gd name="T4" fmla="*/ 3 w 5"/>
                <a:gd name="T5" fmla="*/ 1 h 6"/>
                <a:gd name="T6" fmla="*/ 2 w 5"/>
                <a:gd name="T7" fmla="*/ 3 h 6"/>
                <a:gd name="T8" fmla="*/ 1 w 5"/>
                <a:gd name="T9" fmla="*/ 5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6">
                  <a:moveTo>
                    <a:pt x="1" y="5"/>
                  </a:moveTo>
                  <a:cubicBezTo>
                    <a:pt x="2" y="4"/>
                    <a:pt x="5" y="3"/>
                    <a:pt x="5" y="2"/>
                  </a:cubicBezTo>
                  <a:cubicBezTo>
                    <a:pt x="4" y="2"/>
                    <a:pt x="4" y="0"/>
                    <a:pt x="3" y="1"/>
                  </a:cubicBezTo>
                  <a:cubicBezTo>
                    <a:pt x="2" y="1"/>
                    <a:pt x="3" y="3"/>
                    <a:pt x="2" y="3"/>
                  </a:cubicBezTo>
                  <a:cubicBezTo>
                    <a:pt x="2" y="4"/>
                    <a:pt x="0" y="6"/>
                    <a:pt x="1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25" name="Freeform 120"/>
            <p:cNvSpPr>
              <a:spLocks/>
            </p:cNvSpPr>
            <p:nvPr/>
          </p:nvSpPr>
          <p:spPr bwMode="auto">
            <a:xfrm>
              <a:off x="4804054" y="3529975"/>
              <a:ext cx="44205" cy="25260"/>
            </a:xfrm>
            <a:custGeom>
              <a:avLst/>
              <a:gdLst>
                <a:gd name="T0" fmla="*/ 7 w 9"/>
                <a:gd name="T1" fmla="*/ 4 h 5"/>
                <a:gd name="T2" fmla="*/ 8 w 9"/>
                <a:gd name="T3" fmla="*/ 0 h 5"/>
                <a:gd name="T4" fmla="*/ 3 w 9"/>
                <a:gd name="T5" fmla="*/ 2 h 5"/>
                <a:gd name="T6" fmla="*/ 0 w 9"/>
                <a:gd name="T7" fmla="*/ 4 h 5"/>
                <a:gd name="T8" fmla="*/ 7 w 9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5">
                  <a:moveTo>
                    <a:pt x="7" y="4"/>
                  </a:moveTo>
                  <a:cubicBezTo>
                    <a:pt x="8" y="4"/>
                    <a:pt x="8" y="0"/>
                    <a:pt x="8" y="0"/>
                  </a:cubicBezTo>
                  <a:cubicBezTo>
                    <a:pt x="9" y="0"/>
                    <a:pt x="5" y="2"/>
                    <a:pt x="3" y="2"/>
                  </a:cubicBezTo>
                  <a:cubicBezTo>
                    <a:pt x="0" y="2"/>
                    <a:pt x="0" y="3"/>
                    <a:pt x="0" y="4"/>
                  </a:cubicBezTo>
                  <a:cubicBezTo>
                    <a:pt x="0" y="5"/>
                    <a:pt x="6" y="4"/>
                    <a:pt x="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26" name="Freeform 121"/>
            <p:cNvSpPr>
              <a:spLocks/>
            </p:cNvSpPr>
            <p:nvPr/>
          </p:nvSpPr>
          <p:spPr bwMode="auto">
            <a:xfrm>
              <a:off x="1600217" y="3140547"/>
              <a:ext cx="90516" cy="65256"/>
            </a:xfrm>
            <a:custGeom>
              <a:avLst/>
              <a:gdLst>
                <a:gd name="T0" fmla="*/ 9 w 18"/>
                <a:gd name="T1" fmla="*/ 9 h 13"/>
                <a:gd name="T2" fmla="*/ 11 w 18"/>
                <a:gd name="T3" fmla="*/ 11 h 13"/>
                <a:gd name="T4" fmla="*/ 16 w 18"/>
                <a:gd name="T5" fmla="*/ 13 h 13"/>
                <a:gd name="T6" fmla="*/ 15 w 18"/>
                <a:gd name="T7" fmla="*/ 8 h 13"/>
                <a:gd name="T8" fmla="*/ 12 w 18"/>
                <a:gd name="T9" fmla="*/ 6 h 13"/>
                <a:gd name="T10" fmla="*/ 8 w 18"/>
                <a:gd name="T11" fmla="*/ 2 h 13"/>
                <a:gd name="T12" fmla="*/ 2 w 18"/>
                <a:gd name="T13" fmla="*/ 0 h 13"/>
                <a:gd name="T14" fmla="*/ 1 w 18"/>
                <a:gd name="T15" fmla="*/ 2 h 13"/>
                <a:gd name="T16" fmla="*/ 7 w 18"/>
                <a:gd name="T17" fmla="*/ 8 h 13"/>
                <a:gd name="T18" fmla="*/ 9 w 18"/>
                <a:gd name="T19" fmla="*/ 9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8" h="13">
                  <a:moveTo>
                    <a:pt x="9" y="9"/>
                  </a:moveTo>
                  <a:cubicBezTo>
                    <a:pt x="10" y="9"/>
                    <a:pt x="11" y="9"/>
                    <a:pt x="11" y="11"/>
                  </a:cubicBezTo>
                  <a:cubicBezTo>
                    <a:pt x="11" y="12"/>
                    <a:pt x="14" y="13"/>
                    <a:pt x="16" y="13"/>
                  </a:cubicBezTo>
                  <a:cubicBezTo>
                    <a:pt x="18" y="12"/>
                    <a:pt x="16" y="10"/>
                    <a:pt x="15" y="8"/>
                  </a:cubicBezTo>
                  <a:cubicBezTo>
                    <a:pt x="14" y="7"/>
                    <a:pt x="12" y="6"/>
                    <a:pt x="12" y="6"/>
                  </a:cubicBezTo>
                  <a:cubicBezTo>
                    <a:pt x="12" y="5"/>
                    <a:pt x="10" y="3"/>
                    <a:pt x="8" y="2"/>
                  </a:cubicBezTo>
                  <a:cubicBezTo>
                    <a:pt x="7" y="2"/>
                    <a:pt x="3" y="0"/>
                    <a:pt x="2" y="0"/>
                  </a:cubicBezTo>
                  <a:cubicBezTo>
                    <a:pt x="1" y="0"/>
                    <a:pt x="0" y="1"/>
                    <a:pt x="1" y="2"/>
                  </a:cubicBezTo>
                  <a:cubicBezTo>
                    <a:pt x="2" y="3"/>
                    <a:pt x="6" y="6"/>
                    <a:pt x="7" y="8"/>
                  </a:cubicBezTo>
                  <a:cubicBezTo>
                    <a:pt x="9" y="9"/>
                    <a:pt x="9" y="9"/>
                    <a:pt x="9" y="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27" name="Freeform 122"/>
            <p:cNvSpPr>
              <a:spLocks/>
            </p:cNvSpPr>
            <p:nvPr/>
          </p:nvSpPr>
          <p:spPr bwMode="auto">
            <a:xfrm>
              <a:off x="1560221" y="2980565"/>
              <a:ext cx="39995" cy="39995"/>
            </a:xfrm>
            <a:custGeom>
              <a:avLst/>
              <a:gdLst>
                <a:gd name="T0" fmla="*/ 8 w 8"/>
                <a:gd name="T1" fmla="*/ 6 h 8"/>
                <a:gd name="T2" fmla="*/ 6 w 8"/>
                <a:gd name="T3" fmla="*/ 5 h 8"/>
                <a:gd name="T4" fmla="*/ 4 w 8"/>
                <a:gd name="T5" fmla="*/ 4 h 8"/>
                <a:gd name="T6" fmla="*/ 2 w 8"/>
                <a:gd name="T7" fmla="*/ 0 h 8"/>
                <a:gd name="T8" fmla="*/ 1 w 8"/>
                <a:gd name="T9" fmla="*/ 4 h 8"/>
                <a:gd name="T10" fmla="*/ 0 w 8"/>
                <a:gd name="T11" fmla="*/ 7 h 8"/>
                <a:gd name="T12" fmla="*/ 4 w 8"/>
                <a:gd name="T13" fmla="*/ 8 h 8"/>
                <a:gd name="T14" fmla="*/ 8 w 8"/>
                <a:gd name="T15" fmla="*/ 6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" h="8">
                  <a:moveTo>
                    <a:pt x="8" y="6"/>
                  </a:moveTo>
                  <a:cubicBezTo>
                    <a:pt x="8" y="5"/>
                    <a:pt x="7" y="4"/>
                    <a:pt x="6" y="5"/>
                  </a:cubicBezTo>
                  <a:cubicBezTo>
                    <a:pt x="5" y="5"/>
                    <a:pt x="5" y="5"/>
                    <a:pt x="4" y="4"/>
                  </a:cubicBezTo>
                  <a:cubicBezTo>
                    <a:pt x="3" y="2"/>
                    <a:pt x="3" y="0"/>
                    <a:pt x="2" y="0"/>
                  </a:cubicBezTo>
                  <a:cubicBezTo>
                    <a:pt x="1" y="0"/>
                    <a:pt x="0" y="2"/>
                    <a:pt x="1" y="4"/>
                  </a:cubicBezTo>
                  <a:cubicBezTo>
                    <a:pt x="1" y="6"/>
                    <a:pt x="1" y="6"/>
                    <a:pt x="0" y="7"/>
                  </a:cubicBezTo>
                  <a:cubicBezTo>
                    <a:pt x="0" y="8"/>
                    <a:pt x="2" y="8"/>
                    <a:pt x="4" y="8"/>
                  </a:cubicBezTo>
                  <a:cubicBezTo>
                    <a:pt x="5" y="8"/>
                    <a:pt x="8" y="7"/>
                    <a:pt x="8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28" name="Freeform 123"/>
            <p:cNvSpPr>
              <a:spLocks/>
            </p:cNvSpPr>
            <p:nvPr/>
          </p:nvSpPr>
          <p:spPr bwMode="auto">
            <a:xfrm>
              <a:off x="1551802" y="3035296"/>
              <a:ext cx="29471" cy="54731"/>
            </a:xfrm>
            <a:custGeom>
              <a:avLst/>
              <a:gdLst>
                <a:gd name="T0" fmla="*/ 3 w 6"/>
                <a:gd name="T1" fmla="*/ 1 h 11"/>
                <a:gd name="T2" fmla="*/ 2 w 6"/>
                <a:gd name="T3" fmla="*/ 1 h 11"/>
                <a:gd name="T4" fmla="*/ 0 w 6"/>
                <a:gd name="T5" fmla="*/ 6 h 11"/>
                <a:gd name="T6" fmla="*/ 1 w 6"/>
                <a:gd name="T7" fmla="*/ 10 h 11"/>
                <a:gd name="T8" fmla="*/ 3 w 6"/>
                <a:gd name="T9" fmla="*/ 6 h 11"/>
                <a:gd name="T10" fmla="*/ 5 w 6"/>
                <a:gd name="T11" fmla="*/ 2 h 11"/>
                <a:gd name="T12" fmla="*/ 3 w 6"/>
                <a:gd name="T13" fmla="*/ 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11">
                  <a:moveTo>
                    <a:pt x="3" y="1"/>
                  </a:moveTo>
                  <a:cubicBezTo>
                    <a:pt x="2" y="1"/>
                    <a:pt x="2" y="0"/>
                    <a:pt x="2" y="1"/>
                  </a:cubicBezTo>
                  <a:cubicBezTo>
                    <a:pt x="1" y="1"/>
                    <a:pt x="0" y="4"/>
                    <a:pt x="0" y="6"/>
                  </a:cubicBezTo>
                  <a:cubicBezTo>
                    <a:pt x="1" y="8"/>
                    <a:pt x="0" y="11"/>
                    <a:pt x="1" y="10"/>
                  </a:cubicBezTo>
                  <a:cubicBezTo>
                    <a:pt x="2" y="10"/>
                    <a:pt x="3" y="7"/>
                    <a:pt x="3" y="6"/>
                  </a:cubicBezTo>
                  <a:cubicBezTo>
                    <a:pt x="3" y="5"/>
                    <a:pt x="6" y="2"/>
                    <a:pt x="5" y="2"/>
                  </a:cubicBezTo>
                  <a:cubicBezTo>
                    <a:pt x="5" y="2"/>
                    <a:pt x="3" y="2"/>
                    <a:pt x="3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29" name="Freeform 124"/>
            <p:cNvSpPr>
              <a:spLocks/>
            </p:cNvSpPr>
            <p:nvPr/>
          </p:nvSpPr>
          <p:spPr bwMode="auto">
            <a:xfrm>
              <a:off x="1526542" y="2925835"/>
              <a:ext cx="25260" cy="58940"/>
            </a:xfrm>
            <a:custGeom>
              <a:avLst/>
              <a:gdLst>
                <a:gd name="T0" fmla="*/ 3 w 5"/>
                <a:gd name="T1" fmla="*/ 2 h 12"/>
                <a:gd name="T2" fmla="*/ 1 w 5"/>
                <a:gd name="T3" fmla="*/ 0 h 12"/>
                <a:gd name="T4" fmla="*/ 3 w 5"/>
                <a:gd name="T5" fmla="*/ 4 h 12"/>
                <a:gd name="T6" fmla="*/ 3 w 5"/>
                <a:gd name="T7" fmla="*/ 11 h 12"/>
                <a:gd name="T8" fmla="*/ 5 w 5"/>
                <a:gd name="T9" fmla="*/ 6 h 12"/>
                <a:gd name="T10" fmla="*/ 4 w 5"/>
                <a:gd name="T11" fmla="*/ 4 h 12"/>
                <a:gd name="T12" fmla="*/ 3 w 5"/>
                <a:gd name="T13" fmla="*/ 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12">
                  <a:moveTo>
                    <a:pt x="3" y="2"/>
                  </a:moveTo>
                  <a:cubicBezTo>
                    <a:pt x="2" y="1"/>
                    <a:pt x="2" y="0"/>
                    <a:pt x="1" y="0"/>
                  </a:cubicBezTo>
                  <a:cubicBezTo>
                    <a:pt x="0" y="1"/>
                    <a:pt x="2" y="3"/>
                    <a:pt x="3" y="4"/>
                  </a:cubicBezTo>
                  <a:cubicBezTo>
                    <a:pt x="3" y="5"/>
                    <a:pt x="3" y="9"/>
                    <a:pt x="3" y="11"/>
                  </a:cubicBezTo>
                  <a:cubicBezTo>
                    <a:pt x="4" y="12"/>
                    <a:pt x="5" y="7"/>
                    <a:pt x="5" y="6"/>
                  </a:cubicBezTo>
                  <a:cubicBezTo>
                    <a:pt x="5" y="6"/>
                    <a:pt x="4" y="4"/>
                    <a:pt x="4" y="4"/>
                  </a:cubicBezTo>
                  <a:cubicBezTo>
                    <a:pt x="4" y="3"/>
                    <a:pt x="4" y="3"/>
                    <a:pt x="3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30" name="Freeform 125"/>
            <p:cNvSpPr>
              <a:spLocks/>
            </p:cNvSpPr>
            <p:nvPr/>
          </p:nvSpPr>
          <p:spPr bwMode="auto">
            <a:xfrm>
              <a:off x="1556013" y="2930046"/>
              <a:ext cx="18945" cy="29471"/>
            </a:xfrm>
            <a:custGeom>
              <a:avLst/>
              <a:gdLst>
                <a:gd name="T0" fmla="*/ 0 w 4"/>
                <a:gd name="T1" fmla="*/ 0 h 6"/>
                <a:gd name="T2" fmla="*/ 1 w 4"/>
                <a:gd name="T3" fmla="*/ 3 h 6"/>
                <a:gd name="T4" fmla="*/ 1 w 4"/>
                <a:gd name="T5" fmla="*/ 5 h 6"/>
                <a:gd name="T6" fmla="*/ 4 w 4"/>
                <a:gd name="T7" fmla="*/ 2 h 6"/>
                <a:gd name="T8" fmla="*/ 0 w 4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6">
                  <a:moveTo>
                    <a:pt x="0" y="0"/>
                  </a:moveTo>
                  <a:cubicBezTo>
                    <a:pt x="0" y="0"/>
                    <a:pt x="1" y="1"/>
                    <a:pt x="1" y="3"/>
                  </a:cubicBezTo>
                  <a:cubicBezTo>
                    <a:pt x="2" y="4"/>
                    <a:pt x="1" y="4"/>
                    <a:pt x="1" y="5"/>
                  </a:cubicBezTo>
                  <a:cubicBezTo>
                    <a:pt x="1" y="6"/>
                    <a:pt x="4" y="3"/>
                    <a:pt x="4" y="2"/>
                  </a:cubicBezTo>
                  <a:cubicBezTo>
                    <a:pt x="4" y="1"/>
                    <a:pt x="1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31" name="Freeform 126"/>
            <p:cNvSpPr>
              <a:spLocks/>
            </p:cNvSpPr>
            <p:nvPr/>
          </p:nvSpPr>
          <p:spPr bwMode="auto">
            <a:xfrm>
              <a:off x="1566538" y="2951096"/>
              <a:ext cx="14735" cy="23155"/>
            </a:xfrm>
            <a:custGeom>
              <a:avLst/>
              <a:gdLst>
                <a:gd name="T0" fmla="*/ 2 w 3"/>
                <a:gd name="T1" fmla="*/ 4 h 5"/>
                <a:gd name="T2" fmla="*/ 1 w 3"/>
                <a:gd name="T3" fmla="*/ 2 h 5"/>
                <a:gd name="T4" fmla="*/ 0 w 3"/>
                <a:gd name="T5" fmla="*/ 4 h 5"/>
                <a:gd name="T6" fmla="*/ 2 w 3"/>
                <a:gd name="T7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5">
                  <a:moveTo>
                    <a:pt x="2" y="4"/>
                  </a:moveTo>
                  <a:cubicBezTo>
                    <a:pt x="2" y="4"/>
                    <a:pt x="3" y="0"/>
                    <a:pt x="1" y="2"/>
                  </a:cubicBezTo>
                  <a:cubicBezTo>
                    <a:pt x="0" y="2"/>
                    <a:pt x="1" y="4"/>
                    <a:pt x="0" y="4"/>
                  </a:cubicBezTo>
                  <a:cubicBezTo>
                    <a:pt x="0" y="4"/>
                    <a:pt x="1" y="5"/>
                    <a:pt x="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32" name="Freeform 127"/>
            <p:cNvSpPr>
              <a:spLocks/>
            </p:cNvSpPr>
            <p:nvPr/>
          </p:nvSpPr>
          <p:spPr bwMode="auto">
            <a:xfrm>
              <a:off x="1158163" y="2930045"/>
              <a:ext cx="54731" cy="50520"/>
            </a:xfrm>
            <a:custGeom>
              <a:avLst/>
              <a:gdLst>
                <a:gd name="T0" fmla="*/ 10 w 11"/>
                <a:gd name="T1" fmla="*/ 2 h 10"/>
                <a:gd name="T2" fmla="*/ 9 w 11"/>
                <a:gd name="T3" fmla="*/ 0 h 10"/>
                <a:gd name="T4" fmla="*/ 9 w 11"/>
                <a:gd name="T5" fmla="*/ 2 h 10"/>
                <a:gd name="T6" fmla="*/ 6 w 11"/>
                <a:gd name="T7" fmla="*/ 2 h 10"/>
                <a:gd name="T8" fmla="*/ 5 w 11"/>
                <a:gd name="T9" fmla="*/ 3 h 10"/>
                <a:gd name="T10" fmla="*/ 3 w 11"/>
                <a:gd name="T11" fmla="*/ 3 h 10"/>
                <a:gd name="T12" fmla="*/ 0 w 11"/>
                <a:gd name="T13" fmla="*/ 6 h 10"/>
                <a:gd name="T14" fmla="*/ 2 w 11"/>
                <a:gd name="T15" fmla="*/ 7 h 10"/>
                <a:gd name="T16" fmla="*/ 2 w 11"/>
                <a:gd name="T17" fmla="*/ 9 h 10"/>
                <a:gd name="T18" fmla="*/ 5 w 11"/>
                <a:gd name="T19" fmla="*/ 6 h 10"/>
                <a:gd name="T20" fmla="*/ 6 w 11"/>
                <a:gd name="T21" fmla="*/ 7 h 10"/>
                <a:gd name="T22" fmla="*/ 10 w 11"/>
                <a:gd name="T23" fmla="*/ 4 h 10"/>
                <a:gd name="T24" fmla="*/ 10 w 11"/>
                <a:gd name="T25" fmla="*/ 2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" h="10">
                  <a:moveTo>
                    <a:pt x="10" y="2"/>
                  </a:moveTo>
                  <a:cubicBezTo>
                    <a:pt x="9" y="2"/>
                    <a:pt x="10" y="1"/>
                    <a:pt x="9" y="0"/>
                  </a:cubicBezTo>
                  <a:cubicBezTo>
                    <a:pt x="8" y="0"/>
                    <a:pt x="9" y="1"/>
                    <a:pt x="9" y="2"/>
                  </a:cubicBezTo>
                  <a:cubicBezTo>
                    <a:pt x="8" y="2"/>
                    <a:pt x="7" y="2"/>
                    <a:pt x="6" y="2"/>
                  </a:cubicBezTo>
                  <a:cubicBezTo>
                    <a:pt x="5" y="2"/>
                    <a:pt x="5" y="3"/>
                    <a:pt x="5" y="3"/>
                  </a:cubicBezTo>
                  <a:cubicBezTo>
                    <a:pt x="5" y="4"/>
                    <a:pt x="4" y="3"/>
                    <a:pt x="3" y="3"/>
                  </a:cubicBezTo>
                  <a:cubicBezTo>
                    <a:pt x="2" y="3"/>
                    <a:pt x="1" y="5"/>
                    <a:pt x="0" y="6"/>
                  </a:cubicBezTo>
                  <a:cubicBezTo>
                    <a:pt x="0" y="7"/>
                    <a:pt x="1" y="7"/>
                    <a:pt x="2" y="7"/>
                  </a:cubicBezTo>
                  <a:cubicBezTo>
                    <a:pt x="3" y="7"/>
                    <a:pt x="2" y="8"/>
                    <a:pt x="2" y="9"/>
                  </a:cubicBezTo>
                  <a:cubicBezTo>
                    <a:pt x="2" y="10"/>
                    <a:pt x="5" y="7"/>
                    <a:pt x="5" y="6"/>
                  </a:cubicBezTo>
                  <a:cubicBezTo>
                    <a:pt x="6" y="6"/>
                    <a:pt x="6" y="7"/>
                    <a:pt x="6" y="7"/>
                  </a:cubicBezTo>
                  <a:cubicBezTo>
                    <a:pt x="7" y="7"/>
                    <a:pt x="9" y="5"/>
                    <a:pt x="10" y="4"/>
                  </a:cubicBezTo>
                  <a:cubicBezTo>
                    <a:pt x="11" y="4"/>
                    <a:pt x="11" y="2"/>
                    <a:pt x="10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33" name="Freeform 128"/>
            <p:cNvSpPr>
              <a:spLocks/>
            </p:cNvSpPr>
            <p:nvPr/>
          </p:nvSpPr>
          <p:spPr bwMode="auto">
            <a:xfrm>
              <a:off x="1206579" y="2919520"/>
              <a:ext cx="25260" cy="10525"/>
            </a:xfrm>
            <a:custGeom>
              <a:avLst/>
              <a:gdLst>
                <a:gd name="T0" fmla="*/ 1 w 5"/>
                <a:gd name="T1" fmla="*/ 0 h 2"/>
                <a:gd name="T2" fmla="*/ 2 w 5"/>
                <a:gd name="T3" fmla="*/ 2 h 2"/>
                <a:gd name="T4" fmla="*/ 5 w 5"/>
                <a:gd name="T5" fmla="*/ 2 h 2"/>
                <a:gd name="T6" fmla="*/ 1 w 5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2">
                  <a:moveTo>
                    <a:pt x="1" y="0"/>
                  </a:moveTo>
                  <a:cubicBezTo>
                    <a:pt x="0" y="1"/>
                    <a:pt x="1" y="2"/>
                    <a:pt x="2" y="2"/>
                  </a:cubicBezTo>
                  <a:cubicBezTo>
                    <a:pt x="3" y="2"/>
                    <a:pt x="5" y="2"/>
                    <a:pt x="5" y="2"/>
                  </a:cubicBezTo>
                  <a:cubicBezTo>
                    <a:pt x="4" y="2"/>
                    <a:pt x="2" y="0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34" name="Freeform 129"/>
            <p:cNvSpPr>
              <a:spLocks/>
            </p:cNvSpPr>
            <p:nvPr/>
          </p:nvSpPr>
          <p:spPr bwMode="auto">
            <a:xfrm>
              <a:off x="932926" y="3020562"/>
              <a:ext cx="29471" cy="14735"/>
            </a:xfrm>
            <a:custGeom>
              <a:avLst/>
              <a:gdLst>
                <a:gd name="T0" fmla="*/ 3 w 6"/>
                <a:gd name="T1" fmla="*/ 1 h 3"/>
                <a:gd name="T2" fmla="*/ 0 w 6"/>
                <a:gd name="T3" fmla="*/ 3 h 3"/>
                <a:gd name="T4" fmla="*/ 5 w 6"/>
                <a:gd name="T5" fmla="*/ 2 h 3"/>
                <a:gd name="T6" fmla="*/ 6 w 6"/>
                <a:gd name="T7" fmla="*/ 0 h 3"/>
                <a:gd name="T8" fmla="*/ 3 w 6"/>
                <a:gd name="T9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3">
                  <a:moveTo>
                    <a:pt x="3" y="1"/>
                  </a:moveTo>
                  <a:cubicBezTo>
                    <a:pt x="2" y="1"/>
                    <a:pt x="0" y="2"/>
                    <a:pt x="0" y="3"/>
                  </a:cubicBezTo>
                  <a:cubicBezTo>
                    <a:pt x="0" y="3"/>
                    <a:pt x="4" y="2"/>
                    <a:pt x="5" y="2"/>
                  </a:cubicBezTo>
                  <a:cubicBezTo>
                    <a:pt x="6" y="2"/>
                    <a:pt x="6" y="1"/>
                    <a:pt x="6" y="0"/>
                  </a:cubicBezTo>
                  <a:cubicBezTo>
                    <a:pt x="5" y="0"/>
                    <a:pt x="4" y="1"/>
                    <a:pt x="3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35" name="Freeform 130"/>
            <p:cNvSpPr>
              <a:spLocks/>
            </p:cNvSpPr>
            <p:nvPr/>
          </p:nvSpPr>
          <p:spPr bwMode="auto">
            <a:xfrm>
              <a:off x="873986" y="3050031"/>
              <a:ext cx="18945" cy="21051"/>
            </a:xfrm>
            <a:custGeom>
              <a:avLst/>
              <a:gdLst>
                <a:gd name="T0" fmla="*/ 3 w 4"/>
                <a:gd name="T1" fmla="*/ 1 h 4"/>
                <a:gd name="T2" fmla="*/ 0 w 4"/>
                <a:gd name="T3" fmla="*/ 3 h 4"/>
                <a:gd name="T4" fmla="*/ 3 w 4"/>
                <a:gd name="T5" fmla="*/ 2 h 4"/>
                <a:gd name="T6" fmla="*/ 3 w 4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4">
                  <a:moveTo>
                    <a:pt x="3" y="1"/>
                  </a:moveTo>
                  <a:cubicBezTo>
                    <a:pt x="2" y="0"/>
                    <a:pt x="0" y="3"/>
                    <a:pt x="0" y="3"/>
                  </a:cubicBezTo>
                  <a:cubicBezTo>
                    <a:pt x="0" y="4"/>
                    <a:pt x="3" y="2"/>
                    <a:pt x="3" y="2"/>
                  </a:cubicBezTo>
                  <a:cubicBezTo>
                    <a:pt x="4" y="1"/>
                    <a:pt x="4" y="1"/>
                    <a:pt x="3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36" name="Freeform 131"/>
            <p:cNvSpPr>
              <a:spLocks/>
            </p:cNvSpPr>
            <p:nvPr/>
          </p:nvSpPr>
          <p:spPr bwMode="auto">
            <a:xfrm>
              <a:off x="833990" y="3064765"/>
              <a:ext cx="29471" cy="21051"/>
            </a:xfrm>
            <a:custGeom>
              <a:avLst/>
              <a:gdLst>
                <a:gd name="T0" fmla="*/ 1 w 6"/>
                <a:gd name="T1" fmla="*/ 3 h 4"/>
                <a:gd name="T2" fmla="*/ 5 w 6"/>
                <a:gd name="T3" fmla="*/ 0 h 4"/>
                <a:gd name="T4" fmla="*/ 1 w 6"/>
                <a:gd name="T5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" h="4">
                  <a:moveTo>
                    <a:pt x="1" y="3"/>
                  </a:moveTo>
                  <a:cubicBezTo>
                    <a:pt x="1" y="4"/>
                    <a:pt x="6" y="0"/>
                    <a:pt x="5" y="0"/>
                  </a:cubicBezTo>
                  <a:cubicBezTo>
                    <a:pt x="4" y="0"/>
                    <a:pt x="0" y="2"/>
                    <a:pt x="1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37" name="Freeform 132"/>
            <p:cNvSpPr>
              <a:spLocks/>
            </p:cNvSpPr>
            <p:nvPr/>
          </p:nvSpPr>
          <p:spPr bwMode="auto">
            <a:xfrm>
              <a:off x="953976" y="2850055"/>
              <a:ext cx="33680" cy="25260"/>
            </a:xfrm>
            <a:custGeom>
              <a:avLst/>
              <a:gdLst>
                <a:gd name="T0" fmla="*/ 6 w 7"/>
                <a:gd name="T1" fmla="*/ 1 h 5"/>
                <a:gd name="T2" fmla="*/ 1 w 7"/>
                <a:gd name="T3" fmla="*/ 2 h 5"/>
                <a:gd name="T4" fmla="*/ 3 w 7"/>
                <a:gd name="T5" fmla="*/ 4 h 5"/>
                <a:gd name="T6" fmla="*/ 6 w 7"/>
                <a:gd name="T7" fmla="*/ 4 h 5"/>
                <a:gd name="T8" fmla="*/ 6 w 7"/>
                <a:gd name="T9" fmla="*/ 1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5">
                  <a:moveTo>
                    <a:pt x="6" y="1"/>
                  </a:moveTo>
                  <a:cubicBezTo>
                    <a:pt x="6" y="0"/>
                    <a:pt x="2" y="2"/>
                    <a:pt x="1" y="2"/>
                  </a:cubicBezTo>
                  <a:cubicBezTo>
                    <a:pt x="0" y="3"/>
                    <a:pt x="2" y="4"/>
                    <a:pt x="3" y="4"/>
                  </a:cubicBezTo>
                  <a:cubicBezTo>
                    <a:pt x="3" y="5"/>
                    <a:pt x="5" y="4"/>
                    <a:pt x="6" y="4"/>
                  </a:cubicBezTo>
                  <a:cubicBezTo>
                    <a:pt x="7" y="4"/>
                    <a:pt x="6" y="2"/>
                    <a:pt x="6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38" name="Freeform 133"/>
            <p:cNvSpPr>
              <a:spLocks/>
            </p:cNvSpPr>
            <p:nvPr/>
          </p:nvSpPr>
          <p:spPr bwMode="auto">
            <a:xfrm>
              <a:off x="2526425" y="3071082"/>
              <a:ext cx="39995" cy="18945"/>
            </a:xfrm>
            <a:custGeom>
              <a:avLst/>
              <a:gdLst>
                <a:gd name="T0" fmla="*/ 1 w 8"/>
                <a:gd name="T1" fmla="*/ 0 h 4"/>
                <a:gd name="T2" fmla="*/ 1 w 8"/>
                <a:gd name="T3" fmla="*/ 2 h 4"/>
                <a:gd name="T4" fmla="*/ 6 w 8"/>
                <a:gd name="T5" fmla="*/ 3 h 4"/>
                <a:gd name="T6" fmla="*/ 5 w 8"/>
                <a:gd name="T7" fmla="*/ 1 h 4"/>
                <a:gd name="T8" fmla="*/ 1 w 8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4">
                  <a:moveTo>
                    <a:pt x="1" y="0"/>
                  </a:moveTo>
                  <a:cubicBezTo>
                    <a:pt x="1" y="0"/>
                    <a:pt x="0" y="1"/>
                    <a:pt x="1" y="2"/>
                  </a:cubicBezTo>
                  <a:cubicBezTo>
                    <a:pt x="2" y="3"/>
                    <a:pt x="5" y="4"/>
                    <a:pt x="6" y="3"/>
                  </a:cubicBezTo>
                  <a:cubicBezTo>
                    <a:pt x="8" y="3"/>
                    <a:pt x="7" y="2"/>
                    <a:pt x="5" y="1"/>
                  </a:cubicBezTo>
                  <a:cubicBezTo>
                    <a:pt x="3" y="1"/>
                    <a:pt x="2" y="0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39" name="Freeform 134"/>
            <p:cNvSpPr>
              <a:spLocks/>
            </p:cNvSpPr>
            <p:nvPr/>
          </p:nvSpPr>
          <p:spPr bwMode="auto">
            <a:xfrm>
              <a:off x="4370420" y="2995301"/>
              <a:ext cx="39995" cy="29471"/>
            </a:xfrm>
            <a:custGeom>
              <a:avLst/>
              <a:gdLst>
                <a:gd name="T0" fmla="*/ 4 w 8"/>
                <a:gd name="T1" fmla="*/ 1 h 6"/>
                <a:gd name="T2" fmla="*/ 1 w 8"/>
                <a:gd name="T3" fmla="*/ 2 h 6"/>
                <a:gd name="T4" fmla="*/ 2 w 8"/>
                <a:gd name="T5" fmla="*/ 4 h 6"/>
                <a:gd name="T6" fmla="*/ 4 w 8"/>
                <a:gd name="T7" fmla="*/ 6 h 6"/>
                <a:gd name="T8" fmla="*/ 7 w 8"/>
                <a:gd name="T9" fmla="*/ 6 h 6"/>
                <a:gd name="T10" fmla="*/ 6 w 8"/>
                <a:gd name="T11" fmla="*/ 3 h 6"/>
                <a:gd name="T12" fmla="*/ 7 w 8"/>
                <a:gd name="T13" fmla="*/ 0 h 6"/>
                <a:gd name="T14" fmla="*/ 4 w 8"/>
                <a:gd name="T15" fmla="*/ 1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" h="6">
                  <a:moveTo>
                    <a:pt x="4" y="1"/>
                  </a:moveTo>
                  <a:cubicBezTo>
                    <a:pt x="3" y="2"/>
                    <a:pt x="1" y="2"/>
                    <a:pt x="1" y="2"/>
                  </a:cubicBezTo>
                  <a:cubicBezTo>
                    <a:pt x="0" y="2"/>
                    <a:pt x="1" y="3"/>
                    <a:pt x="2" y="4"/>
                  </a:cubicBezTo>
                  <a:cubicBezTo>
                    <a:pt x="4" y="5"/>
                    <a:pt x="3" y="6"/>
                    <a:pt x="4" y="6"/>
                  </a:cubicBezTo>
                  <a:cubicBezTo>
                    <a:pt x="6" y="6"/>
                    <a:pt x="6" y="6"/>
                    <a:pt x="7" y="6"/>
                  </a:cubicBezTo>
                  <a:cubicBezTo>
                    <a:pt x="8" y="6"/>
                    <a:pt x="6" y="4"/>
                    <a:pt x="6" y="3"/>
                  </a:cubicBezTo>
                  <a:cubicBezTo>
                    <a:pt x="6" y="2"/>
                    <a:pt x="7" y="1"/>
                    <a:pt x="7" y="0"/>
                  </a:cubicBezTo>
                  <a:cubicBezTo>
                    <a:pt x="8" y="0"/>
                    <a:pt x="5" y="1"/>
                    <a:pt x="4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40" name="Freeform 135"/>
            <p:cNvSpPr>
              <a:spLocks/>
            </p:cNvSpPr>
            <p:nvPr/>
          </p:nvSpPr>
          <p:spPr bwMode="auto">
            <a:xfrm>
              <a:off x="4519877" y="2934257"/>
              <a:ext cx="25260" cy="35785"/>
            </a:xfrm>
            <a:custGeom>
              <a:avLst/>
              <a:gdLst>
                <a:gd name="T0" fmla="*/ 3 w 5"/>
                <a:gd name="T1" fmla="*/ 4 h 7"/>
                <a:gd name="T2" fmla="*/ 5 w 5"/>
                <a:gd name="T3" fmla="*/ 1 h 7"/>
                <a:gd name="T4" fmla="*/ 1 w 5"/>
                <a:gd name="T5" fmla="*/ 3 h 7"/>
                <a:gd name="T6" fmla="*/ 1 w 5"/>
                <a:gd name="T7" fmla="*/ 7 h 7"/>
                <a:gd name="T8" fmla="*/ 3 w 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7">
                  <a:moveTo>
                    <a:pt x="3" y="4"/>
                  </a:moveTo>
                  <a:cubicBezTo>
                    <a:pt x="4" y="4"/>
                    <a:pt x="4" y="2"/>
                    <a:pt x="5" y="1"/>
                  </a:cubicBezTo>
                  <a:cubicBezTo>
                    <a:pt x="5" y="0"/>
                    <a:pt x="3" y="2"/>
                    <a:pt x="1" y="3"/>
                  </a:cubicBezTo>
                  <a:cubicBezTo>
                    <a:pt x="0" y="4"/>
                    <a:pt x="0" y="6"/>
                    <a:pt x="1" y="7"/>
                  </a:cubicBezTo>
                  <a:cubicBezTo>
                    <a:pt x="1" y="7"/>
                    <a:pt x="3" y="5"/>
                    <a:pt x="3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41" name="Freeform 136"/>
            <p:cNvSpPr>
              <a:spLocks/>
            </p:cNvSpPr>
            <p:nvPr/>
          </p:nvSpPr>
          <p:spPr bwMode="auto">
            <a:xfrm>
              <a:off x="4589342" y="2915312"/>
              <a:ext cx="25260" cy="18945"/>
            </a:xfrm>
            <a:custGeom>
              <a:avLst/>
              <a:gdLst>
                <a:gd name="T0" fmla="*/ 2 w 5"/>
                <a:gd name="T1" fmla="*/ 4 h 4"/>
                <a:gd name="T2" fmla="*/ 5 w 5"/>
                <a:gd name="T3" fmla="*/ 1 h 4"/>
                <a:gd name="T4" fmla="*/ 4 w 5"/>
                <a:gd name="T5" fmla="*/ 0 h 4"/>
                <a:gd name="T6" fmla="*/ 1 w 5"/>
                <a:gd name="T7" fmla="*/ 1 h 4"/>
                <a:gd name="T8" fmla="*/ 2 w 5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4">
                  <a:moveTo>
                    <a:pt x="2" y="4"/>
                  </a:moveTo>
                  <a:cubicBezTo>
                    <a:pt x="3" y="3"/>
                    <a:pt x="5" y="2"/>
                    <a:pt x="5" y="1"/>
                  </a:cubicBezTo>
                  <a:cubicBezTo>
                    <a:pt x="5" y="1"/>
                    <a:pt x="5" y="0"/>
                    <a:pt x="4" y="0"/>
                  </a:cubicBezTo>
                  <a:cubicBezTo>
                    <a:pt x="2" y="1"/>
                    <a:pt x="1" y="1"/>
                    <a:pt x="1" y="1"/>
                  </a:cubicBezTo>
                  <a:cubicBezTo>
                    <a:pt x="0" y="1"/>
                    <a:pt x="1" y="4"/>
                    <a:pt x="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42" name="Freeform 137"/>
            <p:cNvSpPr>
              <a:spLocks/>
            </p:cNvSpPr>
            <p:nvPr/>
          </p:nvSpPr>
          <p:spPr bwMode="auto">
            <a:xfrm>
              <a:off x="4593553" y="2900576"/>
              <a:ext cx="14735" cy="10525"/>
            </a:xfrm>
            <a:custGeom>
              <a:avLst/>
              <a:gdLst>
                <a:gd name="T0" fmla="*/ 2 w 3"/>
                <a:gd name="T1" fmla="*/ 1 h 2"/>
                <a:gd name="T2" fmla="*/ 1 w 3"/>
                <a:gd name="T3" fmla="*/ 2 h 2"/>
                <a:gd name="T4" fmla="*/ 2 w 3"/>
                <a:gd name="T5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2">
                  <a:moveTo>
                    <a:pt x="2" y="1"/>
                  </a:moveTo>
                  <a:cubicBezTo>
                    <a:pt x="1" y="1"/>
                    <a:pt x="0" y="2"/>
                    <a:pt x="1" y="2"/>
                  </a:cubicBezTo>
                  <a:cubicBezTo>
                    <a:pt x="3" y="2"/>
                    <a:pt x="3" y="0"/>
                    <a:pt x="2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43" name="Freeform 138"/>
            <p:cNvSpPr>
              <a:spLocks/>
            </p:cNvSpPr>
            <p:nvPr/>
          </p:nvSpPr>
          <p:spPr bwMode="auto">
            <a:xfrm>
              <a:off x="5361885" y="4822457"/>
              <a:ext cx="18945" cy="25260"/>
            </a:xfrm>
            <a:custGeom>
              <a:avLst/>
              <a:gdLst>
                <a:gd name="T0" fmla="*/ 1 w 4"/>
                <a:gd name="T1" fmla="*/ 1 h 5"/>
                <a:gd name="T2" fmla="*/ 3 w 4"/>
                <a:gd name="T3" fmla="*/ 4 h 5"/>
                <a:gd name="T4" fmla="*/ 1 w 4"/>
                <a:gd name="T5" fmla="*/ 1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" h="5">
                  <a:moveTo>
                    <a:pt x="1" y="1"/>
                  </a:moveTo>
                  <a:cubicBezTo>
                    <a:pt x="0" y="2"/>
                    <a:pt x="2" y="5"/>
                    <a:pt x="3" y="4"/>
                  </a:cubicBezTo>
                  <a:cubicBezTo>
                    <a:pt x="4" y="3"/>
                    <a:pt x="3" y="0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44" name="Freeform 139"/>
            <p:cNvSpPr>
              <a:spLocks/>
            </p:cNvSpPr>
            <p:nvPr/>
          </p:nvSpPr>
          <p:spPr bwMode="auto">
            <a:xfrm>
              <a:off x="7736344" y="4538279"/>
              <a:ext cx="35785" cy="14735"/>
            </a:xfrm>
            <a:custGeom>
              <a:avLst/>
              <a:gdLst>
                <a:gd name="T0" fmla="*/ 0 w 7"/>
                <a:gd name="T1" fmla="*/ 0 h 3"/>
                <a:gd name="T2" fmla="*/ 3 w 7"/>
                <a:gd name="T3" fmla="*/ 2 h 3"/>
                <a:gd name="T4" fmla="*/ 6 w 7"/>
                <a:gd name="T5" fmla="*/ 2 h 3"/>
                <a:gd name="T6" fmla="*/ 0 w 7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" h="3">
                  <a:moveTo>
                    <a:pt x="0" y="0"/>
                  </a:moveTo>
                  <a:cubicBezTo>
                    <a:pt x="0" y="0"/>
                    <a:pt x="1" y="1"/>
                    <a:pt x="3" y="2"/>
                  </a:cubicBezTo>
                  <a:cubicBezTo>
                    <a:pt x="4" y="3"/>
                    <a:pt x="6" y="3"/>
                    <a:pt x="6" y="2"/>
                  </a:cubicBezTo>
                  <a:cubicBezTo>
                    <a:pt x="7" y="1"/>
                    <a:pt x="1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45" name="Freeform 140"/>
            <p:cNvSpPr>
              <a:spLocks/>
            </p:cNvSpPr>
            <p:nvPr/>
          </p:nvSpPr>
          <p:spPr bwMode="auto">
            <a:xfrm>
              <a:off x="7801597" y="4563539"/>
              <a:ext cx="21051" cy="8420"/>
            </a:xfrm>
            <a:custGeom>
              <a:avLst/>
              <a:gdLst>
                <a:gd name="T0" fmla="*/ 0 w 4"/>
                <a:gd name="T1" fmla="*/ 1 h 2"/>
                <a:gd name="T2" fmla="*/ 4 w 4"/>
                <a:gd name="T3" fmla="*/ 2 h 2"/>
                <a:gd name="T4" fmla="*/ 0 w 4"/>
                <a:gd name="T5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" h="2">
                  <a:moveTo>
                    <a:pt x="0" y="1"/>
                  </a:moveTo>
                  <a:cubicBezTo>
                    <a:pt x="0" y="2"/>
                    <a:pt x="4" y="2"/>
                    <a:pt x="4" y="2"/>
                  </a:cubicBezTo>
                  <a:cubicBezTo>
                    <a:pt x="4" y="1"/>
                    <a:pt x="0" y="0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46" name="Freeform 141"/>
            <p:cNvSpPr>
              <a:spLocks/>
            </p:cNvSpPr>
            <p:nvPr/>
          </p:nvSpPr>
          <p:spPr bwMode="auto">
            <a:xfrm>
              <a:off x="7687929" y="4494074"/>
              <a:ext cx="48415" cy="29471"/>
            </a:xfrm>
            <a:custGeom>
              <a:avLst/>
              <a:gdLst>
                <a:gd name="T0" fmla="*/ 9 w 10"/>
                <a:gd name="T1" fmla="*/ 4 h 6"/>
                <a:gd name="T2" fmla="*/ 3 w 10"/>
                <a:gd name="T3" fmla="*/ 0 h 6"/>
                <a:gd name="T4" fmla="*/ 9 w 10"/>
                <a:gd name="T5" fmla="*/ 4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" h="6">
                  <a:moveTo>
                    <a:pt x="9" y="4"/>
                  </a:moveTo>
                  <a:cubicBezTo>
                    <a:pt x="10" y="2"/>
                    <a:pt x="5" y="0"/>
                    <a:pt x="3" y="0"/>
                  </a:cubicBezTo>
                  <a:cubicBezTo>
                    <a:pt x="0" y="0"/>
                    <a:pt x="8" y="6"/>
                    <a:pt x="9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47" name="Freeform 142"/>
            <p:cNvSpPr>
              <a:spLocks/>
            </p:cNvSpPr>
            <p:nvPr/>
          </p:nvSpPr>
          <p:spPr bwMode="auto">
            <a:xfrm>
              <a:off x="4429360" y="3523660"/>
              <a:ext cx="10525" cy="10525"/>
            </a:xfrm>
            <a:custGeom>
              <a:avLst/>
              <a:gdLst>
                <a:gd name="T0" fmla="*/ 0 w 2"/>
                <a:gd name="T1" fmla="*/ 1 h 2"/>
                <a:gd name="T2" fmla="*/ 2 w 2"/>
                <a:gd name="T3" fmla="*/ 1 h 2"/>
                <a:gd name="T4" fmla="*/ 0 w 2"/>
                <a:gd name="T5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2">
                  <a:moveTo>
                    <a:pt x="0" y="1"/>
                  </a:moveTo>
                  <a:cubicBezTo>
                    <a:pt x="0" y="2"/>
                    <a:pt x="2" y="1"/>
                    <a:pt x="2" y="1"/>
                  </a:cubicBezTo>
                  <a:cubicBezTo>
                    <a:pt x="1" y="0"/>
                    <a:pt x="0" y="0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48" name="Freeform 143"/>
            <p:cNvSpPr>
              <a:spLocks/>
            </p:cNvSpPr>
            <p:nvPr/>
          </p:nvSpPr>
          <p:spPr bwMode="auto">
            <a:xfrm>
              <a:off x="3583145" y="3999395"/>
              <a:ext cx="18945" cy="8420"/>
            </a:xfrm>
            <a:custGeom>
              <a:avLst/>
              <a:gdLst>
                <a:gd name="T0" fmla="*/ 2 w 4"/>
                <a:gd name="T1" fmla="*/ 0 h 2"/>
                <a:gd name="T2" fmla="*/ 3 w 4"/>
                <a:gd name="T3" fmla="*/ 1 h 2"/>
                <a:gd name="T4" fmla="*/ 2 w 4"/>
                <a:gd name="T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" h="2">
                  <a:moveTo>
                    <a:pt x="2" y="0"/>
                  </a:moveTo>
                  <a:cubicBezTo>
                    <a:pt x="0" y="1"/>
                    <a:pt x="2" y="2"/>
                    <a:pt x="3" y="1"/>
                  </a:cubicBezTo>
                  <a:cubicBezTo>
                    <a:pt x="4" y="0"/>
                    <a:pt x="3" y="0"/>
                    <a:pt x="2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49" name="Freeform 144"/>
            <p:cNvSpPr>
              <a:spLocks/>
            </p:cNvSpPr>
            <p:nvPr/>
          </p:nvSpPr>
          <p:spPr bwMode="auto">
            <a:xfrm>
              <a:off x="4269379" y="4254102"/>
              <a:ext cx="21051" cy="8420"/>
            </a:xfrm>
            <a:custGeom>
              <a:avLst/>
              <a:gdLst>
                <a:gd name="T0" fmla="*/ 3 w 4"/>
                <a:gd name="T1" fmla="*/ 1 h 2"/>
                <a:gd name="T2" fmla="*/ 2 w 4"/>
                <a:gd name="T3" fmla="*/ 0 h 2"/>
                <a:gd name="T4" fmla="*/ 3 w 4"/>
                <a:gd name="T5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" h="2">
                  <a:moveTo>
                    <a:pt x="3" y="1"/>
                  </a:moveTo>
                  <a:cubicBezTo>
                    <a:pt x="3" y="1"/>
                    <a:pt x="4" y="0"/>
                    <a:pt x="2" y="0"/>
                  </a:cubicBezTo>
                  <a:cubicBezTo>
                    <a:pt x="0" y="1"/>
                    <a:pt x="2" y="2"/>
                    <a:pt x="3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50" name="Freeform 145"/>
            <p:cNvSpPr>
              <a:spLocks/>
            </p:cNvSpPr>
            <p:nvPr/>
          </p:nvSpPr>
          <p:spPr bwMode="auto">
            <a:xfrm>
              <a:off x="4235699" y="4313041"/>
              <a:ext cx="10525" cy="4211"/>
            </a:xfrm>
            <a:custGeom>
              <a:avLst/>
              <a:gdLst>
                <a:gd name="T0" fmla="*/ 0 w 2"/>
                <a:gd name="T1" fmla="*/ 0 h 1"/>
                <a:gd name="T2" fmla="*/ 1 w 2"/>
                <a:gd name="T3" fmla="*/ 1 h 1"/>
                <a:gd name="T4" fmla="*/ 0 w 2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cubicBezTo>
                    <a:pt x="0" y="1"/>
                    <a:pt x="0" y="1"/>
                    <a:pt x="1" y="1"/>
                  </a:cubicBezTo>
                  <a:cubicBezTo>
                    <a:pt x="2" y="1"/>
                    <a:pt x="1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51" name="Freeform 146"/>
            <p:cNvSpPr>
              <a:spLocks/>
            </p:cNvSpPr>
            <p:nvPr/>
          </p:nvSpPr>
          <p:spPr bwMode="auto">
            <a:xfrm>
              <a:off x="5336623" y="4414083"/>
              <a:ext cx="14735" cy="14735"/>
            </a:xfrm>
            <a:custGeom>
              <a:avLst/>
              <a:gdLst>
                <a:gd name="T0" fmla="*/ 1 w 3"/>
                <a:gd name="T1" fmla="*/ 1 h 3"/>
                <a:gd name="T2" fmla="*/ 2 w 3"/>
                <a:gd name="T3" fmla="*/ 2 h 3"/>
                <a:gd name="T4" fmla="*/ 1 w 3"/>
                <a:gd name="T5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3">
                  <a:moveTo>
                    <a:pt x="1" y="1"/>
                  </a:moveTo>
                  <a:cubicBezTo>
                    <a:pt x="0" y="2"/>
                    <a:pt x="2" y="3"/>
                    <a:pt x="2" y="2"/>
                  </a:cubicBezTo>
                  <a:cubicBezTo>
                    <a:pt x="3" y="1"/>
                    <a:pt x="3" y="0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52" name="Freeform 147"/>
            <p:cNvSpPr>
              <a:spLocks/>
            </p:cNvSpPr>
            <p:nvPr/>
          </p:nvSpPr>
          <p:spPr bwMode="auto">
            <a:xfrm>
              <a:off x="5191376" y="3738372"/>
              <a:ext cx="10525" cy="10525"/>
            </a:xfrm>
            <a:custGeom>
              <a:avLst/>
              <a:gdLst>
                <a:gd name="T0" fmla="*/ 0 w 2"/>
                <a:gd name="T1" fmla="*/ 0 h 2"/>
                <a:gd name="T2" fmla="*/ 1 w 2"/>
                <a:gd name="T3" fmla="*/ 1 h 2"/>
                <a:gd name="T4" fmla="*/ 0 w 2"/>
                <a:gd name="T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cubicBezTo>
                    <a:pt x="0" y="1"/>
                    <a:pt x="1" y="2"/>
                    <a:pt x="1" y="1"/>
                  </a:cubicBezTo>
                  <a:cubicBezTo>
                    <a:pt x="2" y="1"/>
                    <a:pt x="1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53" name="Freeform 148"/>
            <p:cNvSpPr>
              <a:spLocks/>
            </p:cNvSpPr>
            <p:nvPr/>
          </p:nvSpPr>
          <p:spPr bwMode="auto">
            <a:xfrm>
              <a:off x="5062971" y="4597221"/>
              <a:ext cx="25260" cy="14735"/>
            </a:xfrm>
            <a:custGeom>
              <a:avLst/>
              <a:gdLst>
                <a:gd name="T0" fmla="*/ 2 w 5"/>
                <a:gd name="T1" fmla="*/ 0 h 3"/>
                <a:gd name="T2" fmla="*/ 3 w 5"/>
                <a:gd name="T3" fmla="*/ 3 h 3"/>
                <a:gd name="T4" fmla="*/ 2 w 5"/>
                <a:gd name="T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" h="3">
                  <a:moveTo>
                    <a:pt x="2" y="0"/>
                  </a:moveTo>
                  <a:cubicBezTo>
                    <a:pt x="0" y="0"/>
                    <a:pt x="1" y="3"/>
                    <a:pt x="3" y="3"/>
                  </a:cubicBezTo>
                  <a:cubicBezTo>
                    <a:pt x="5" y="3"/>
                    <a:pt x="3" y="0"/>
                    <a:pt x="2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54" name="Freeform 149"/>
            <p:cNvSpPr>
              <a:spLocks/>
            </p:cNvSpPr>
            <p:nvPr/>
          </p:nvSpPr>
          <p:spPr bwMode="auto">
            <a:xfrm>
              <a:off x="2755871" y="4083595"/>
              <a:ext cx="21051" cy="25260"/>
            </a:xfrm>
            <a:custGeom>
              <a:avLst/>
              <a:gdLst>
                <a:gd name="T0" fmla="*/ 3 w 4"/>
                <a:gd name="T1" fmla="*/ 3 h 5"/>
                <a:gd name="T2" fmla="*/ 0 w 4"/>
                <a:gd name="T3" fmla="*/ 2 h 5"/>
                <a:gd name="T4" fmla="*/ 3 w 4"/>
                <a:gd name="T5" fmla="*/ 3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" h="5">
                  <a:moveTo>
                    <a:pt x="3" y="3"/>
                  </a:moveTo>
                  <a:cubicBezTo>
                    <a:pt x="4" y="1"/>
                    <a:pt x="1" y="0"/>
                    <a:pt x="0" y="2"/>
                  </a:cubicBezTo>
                  <a:cubicBezTo>
                    <a:pt x="0" y="5"/>
                    <a:pt x="2" y="4"/>
                    <a:pt x="3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55" name="Freeform 150"/>
            <p:cNvSpPr>
              <a:spLocks/>
            </p:cNvSpPr>
            <p:nvPr/>
          </p:nvSpPr>
          <p:spPr bwMode="auto">
            <a:xfrm>
              <a:off x="7090104" y="3315265"/>
              <a:ext cx="18945" cy="18945"/>
            </a:xfrm>
            <a:custGeom>
              <a:avLst/>
              <a:gdLst>
                <a:gd name="T0" fmla="*/ 4 w 4"/>
                <a:gd name="T1" fmla="*/ 1 h 4"/>
                <a:gd name="T2" fmla="*/ 1 w 4"/>
                <a:gd name="T3" fmla="*/ 4 h 4"/>
                <a:gd name="T4" fmla="*/ 4 w 4"/>
                <a:gd name="T5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" h="4">
                  <a:moveTo>
                    <a:pt x="4" y="1"/>
                  </a:moveTo>
                  <a:cubicBezTo>
                    <a:pt x="3" y="0"/>
                    <a:pt x="0" y="3"/>
                    <a:pt x="1" y="4"/>
                  </a:cubicBezTo>
                  <a:cubicBezTo>
                    <a:pt x="1" y="4"/>
                    <a:pt x="4" y="1"/>
                    <a:pt x="4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56" name="Freeform 151"/>
            <p:cNvSpPr>
              <a:spLocks/>
            </p:cNvSpPr>
            <p:nvPr/>
          </p:nvSpPr>
          <p:spPr bwMode="auto">
            <a:xfrm>
              <a:off x="7109048" y="3290003"/>
              <a:ext cx="39995" cy="29471"/>
            </a:xfrm>
            <a:custGeom>
              <a:avLst/>
              <a:gdLst>
                <a:gd name="T0" fmla="*/ 7 w 8"/>
                <a:gd name="T1" fmla="*/ 0 h 6"/>
                <a:gd name="T2" fmla="*/ 5 w 8"/>
                <a:gd name="T3" fmla="*/ 2 h 6"/>
                <a:gd name="T4" fmla="*/ 2 w 8"/>
                <a:gd name="T5" fmla="*/ 5 h 6"/>
                <a:gd name="T6" fmla="*/ 7 w 8"/>
                <a:gd name="T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6">
                  <a:moveTo>
                    <a:pt x="7" y="0"/>
                  </a:moveTo>
                  <a:cubicBezTo>
                    <a:pt x="7" y="0"/>
                    <a:pt x="5" y="2"/>
                    <a:pt x="5" y="2"/>
                  </a:cubicBezTo>
                  <a:cubicBezTo>
                    <a:pt x="4" y="2"/>
                    <a:pt x="0" y="4"/>
                    <a:pt x="2" y="5"/>
                  </a:cubicBezTo>
                  <a:cubicBezTo>
                    <a:pt x="3" y="6"/>
                    <a:pt x="8" y="0"/>
                    <a:pt x="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57" name="Freeform 152"/>
            <p:cNvSpPr>
              <a:spLocks/>
            </p:cNvSpPr>
            <p:nvPr/>
          </p:nvSpPr>
          <p:spPr bwMode="auto">
            <a:xfrm>
              <a:off x="7153253" y="3264745"/>
              <a:ext cx="21051" cy="18945"/>
            </a:xfrm>
            <a:custGeom>
              <a:avLst/>
              <a:gdLst>
                <a:gd name="T0" fmla="*/ 3 w 4"/>
                <a:gd name="T1" fmla="*/ 1 h 4"/>
                <a:gd name="T2" fmla="*/ 1 w 4"/>
                <a:gd name="T3" fmla="*/ 4 h 4"/>
                <a:gd name="T4" fmla="*/ 3 w 4"/>
                <a:gd name="T5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" h="4">
                  <a:moveTo>
                    <a:pt x="3" y="1"/>
                  </a:moveTo>
                  <a:cubicBezTo>
                    <a:pt x="2" y="0"/>
                    <a:pt x="0" y="4"/>
                    <a:pt x="1" y="4"/>
                  </a:cubicBezTo>
                  <a:cubicBezTo>
                    <a:pt x="2" y="4"/>
                    <a:pt x="4" y="2"/>
                    <a:pt x="3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58" name="Freeform 153"/>
            <p:cNvSpPr>
              <a:spLocks/>
            </p:cNvSpPr>
            <p:nvPr/>
          </p:nvSpPr>
          <p:spPr bwMode="auto">
            <a:xfrm>
              <a:off x="7184830" y="3245799"/>
              <a:ext cx="14735" cy="14735"/>
            </a:xfrm>
            <a:custGeom>
              <a:avLst/>
              <a:gdLst>
                <a:gd name="T0" fmla="*/ 3 w 3"/>
                <a:gd name="T1" fmla="*/ 0 h 3"/>
                <a:gd name="T2" fmla="*/ 1 w 3"/>
                <a:gd name="T3" fmla="*/ 2 h 3"/>
                <a:gd name="T4" fmla="*/ 3 w 3"/>
                <a:gd name="T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3">
                  <a:moveTo>
                    <a:pt x="3" y="0"/>
                  </a:moveTo>
                  <a:cubicBezTo>
                    <a:pt x="2" y="0"/>
                    <a:pt x="0" y="1"/>
                    <a:pt x="1" y="2"/>
                  </a:cubicBezTo>
                  <a:cubicBezTo>
                    <a:pt x="2" y="3"/>
                    <a:pt x="3" y="0"/>
                    <a:pt x="3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59" name="Freeform 154"/>
            <p:cNvSpPr>
              <a:spLocks/>
            </p:cNvSpPr>
            <p:nvPr/>
          </p:nvSpPr>
          <p:spPr bwMode="auto">
            <a:xfrm>
              <a:off x="7233243" y="3148967"/>
              <a:ext cx="21051" cy="21051"/>
            </a:xfrm>
            <a:custGeom>
              <a:avLst/>
              <a:gdLst>
                <a:gd name="T0" fmla="*/ 3 w 4"/>
                <a:gd name="T1" fmla="*/ 0 h 4"/>
                <a:gd name="T2" fmla="*/ 1 w 4"/>
                <a:gd name="T3" fmla="*/ 2 h 4"/>
                <a:gd name="T4" fmla="*/ 1 w 4"/>
                <a:gd name="T5" fmla="*/ 4 h 4"/>
                <a:gd name="T6" fmla="*/ 3 w 4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4">
                  <a:moveTo>
                    <a:pt x="3" y="0"/>
                  </a:moveTo>
                  <a:cubicBezTo>
                    <a:pt x="2" y="0"/>
                    <a:pt x="2" y="1"/>
                    <a:pt x="1" y="2"/>
                  </a:cubicBezTo>
                  <a:cubicBezTo>
                    <a:pt x="0" y="2"/>
                    <a:pt x="0" y="4"/>
                    <a:pt x="1" y="4"/>
                  </a:cubicBezTo>
                  <a:cubicBezTo>
                    <a:pt x="2" y="4"/>
                    <a:pt x="4" y="0"/>
                    <a:pt x="3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60" name="Freeform 155"/>
            <p:cNvSpPr>
              <a:spLocks/>
            </p:cNvSpPr>
            <p:nvPr/>
          </p:nvSpPr>
          <p:spPr bwMode="auto">
            <a:xfrm>
              <a:off x="7224823" y="3199488"/>
              <a:ext cx="4211" cy="6315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1 h 1"/>
                <a:gd name="T4" fmla="*/ 0 w 1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cubicBezTo>
                    <a:pt x="0" y="0"/>
                    <a:pt x="0" y="1"/>
                    <a:pt x="0" y="1"/>
                  </a:cubicBezTo>
                  <a:cubicBezTo>
                    <a:pt x="1" y="1"/>
                    <a:pt x="1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61" name="Freeform 156"/>
            <p:cNvSpPr>
              <a:spLocks/>
            </p:cNvSpPr>
            <p:nvPr/>
          </p:nvSpPr>
          <p:spPr bwMode="auto">
            <a:xfrm>
              <a:off x="6736459" y="3788892"/>
              <a:ext cx="8420" cy="4211"/>
            </a:xfrm>
            <a:custGeom>
              <a:avLst/>
              <a:gdLst>
                <a:gd name="T0" fmla="*/ 1 w 2"/>
                <a:gd name="T1" fmla="*/ 0 h 1"/>
                <a:gd name="T2" fmla="*/ 1 w 2"/>
                <a:gd name="T3" fmla="*/ 1 h 1"/>
                <a:gd name="T4" fmla="*/ 1 w 2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">
                  <a:moveTo>
                    <a:pt x="1" y="0"/>
                  </a:moveTo>
                  <a:cubicBezTo>
                    <a:pt x="1" y="0"/>
                    <a:pt x="0" y="1"/>
                    <a:pt x="1" y="1"/>
                  </a:cubicBezTo>
                  <a:cubicBezTo>
                    <a:pt x="2" y="1"/>
                    <a:pt x="1" y="0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62" name="Freeform 157"/>
            <p:cNvSpPr>
              <a:spLocks/>
            </p:cNvSpPr>
            <p:nvPr/>
          </p:nvSpPr>
          <p:spPr bwMode="auto">
            <a:xfrm>
              <a:off x="4444095" y="5350815"/>
              <a:ext cx="46311" cy="61047"/>
            </a:xfrm>
            <a:custGeom>
              <a:avLst/>
              <a:gdLst>
                <a:gd name="T0" fmla="*/ 2 w 9"/>
                <a:gd name="T1" fmla="*/ 11 h 12"/>
                <a:gd name="T2" fmla="*/ 8 w 9"/>
                <a:gd name="T3" fmla="*/ 3 h 12"/>
                <a:gd name="T4" fmla="*/ 9 w 9"/>
                <a:gd name="T5" fmla="*/ 0 h 12"/>
                <a:gd name="T6" fmla="*/ 2 w 9"/>
                <a:gd name="T7" fmla="*/ 0 h 12"/>
                <a:gd name="T8" fmla="*/ 2 w 9"/>
                <a:gd name="T9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12">
                  <a:moveTo>
                    <a:pt x="2" y="11"/>
                  </a:moveTo>
                  <a:cubicBezTo>
                    <a:pt x="3" y="12"/>
                    <a:pt x="7" y="5"/>
                    <a:pt x="8" y="3"/>
                  </a:cubicBezTo>
                  <a:cubicBezTo>
                    <a:pt x="8" y="3"/>
                    <a:pt x="8" y="2"/>
                    <a:pt x="9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3"/>
                    <a:pt x="0" y="8"/>
                    <a:pt x="2" y="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</p:grpSp>
      <p:sp>
        <p:nvSpPr>
          <p:cNvPr id="163" name="等腰三角形 162"/>
          <p:cNvSpPr/>
          <p:nvPr/>
        </p:nvSpPr>
        <p:spPr>
          <a:xfrm flipV="1">
            <a:off x="3224209" y="3065581"/>
            <a:ext cx="311131" cy="317267"/>
          </a:xfrm>
          <a:prstGeom prst="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67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grpSp>
        <p:nvGrpSpPr>
          <p:cNvPr id="164" name="组合 163"/>
          <p:cNvGrpSpPr/>
          <p:nvPr/>
        </p:nvGrpSpPr>
        <p:grpSpPr>
          <a:xfrm>
            <a:off x="1956969" y="1487156"/>
            <a:ext cx="2844129" cy="1275594"/>
            <a:chOff x="1792403" y="1210594"/>
            <a:chExt cx="2844129" cy="1275595"/>
          </a:xfrm>
        </p:grpSpPr>
        <p:sp>
          <p:nvSpPr>
            <p:cNvPr id="165" name="矩形标注 164"/>
            <p:cNvSpPr/>
            <p:nvPr/>
          </p:nvSpPr>
          <p:spPr>
            <a:xfrm>
              <a:off x="1792403" y="1210594"/>
              <a:ext cx="2834910" cy="1275595"/>
            </a:xfrm>
            <a:prstGeom prst="wedgeRectCallout">
              <a:avLst>
                <a:gd name="adj1" fmla="val -905"/>
                <a:gd name="adj2" fmla="val 68479"/>
              </a:avLst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67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66" name="文本框 230"/>
            <p:cNvSpPr txBox="1"/>
            <p:nvPr/>
          </p:nvSpPr>
          <p:spPr>
            <a:xfrm>
              <a:off x="1798592" y="1288705"/>
              <a:ext cx="2401934" cy="3796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/>
            </a:p>
          </p:txBody>
        </p:sp>
        <p:sp>
          <p:nvSpPr>
            <p:cNvPr id="167" name="文本框 231"/>
            <p:cNvSpPr txBox="1"/>
            <p:nvPr/>
          </p:nvSpPr>
          <p:spPr>
            <a:xfrm>
              <a:off x="1798591" y="1611486"/>
              <a:ext cx="2837941" cy="7696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467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168" name="等腰三角形 167"/>
          <p:cNvSpPr/>
          <p:nvPr/>
        </p:nvSpPr>
        <p:spPr>
          <a:xfrm flipV="1">
            <a:off x="5257135" y="3634143"/>
            <a:ext cx="311131" cy="317267"/>
          </a:xfrm>
          <a:prstGeom prst="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67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grpSp>
        <p:nvGrpSpPr>
          <p:cNvPr id="169" name="组合 168"/>
          <p:cNvGrpSpPr/>
          <p:nvPr/>
        </p:nvGrpSpPr>
        <p:grpSpPr>
          <a:xfrm>
            <a:off x="4032505" y="4247761"/>
            <a:ext cx="2844129" cy="1202171"/>
            <a:chOff x="1792403" y="1331479"/>
            <a:chExt cx="2844129" cy="1202170"/>
          </a:xfrm>
        </p:grpSpPr>
        <p:sp>
          <p:nvSpPr>
            <p:cNvPr id="170" name="矩形标注 169"/>
            <p:cNvSpPr/>
            <p:nvPr/>
          </p:nvSpPr>
          <p:spPr>
            <a:xfrm flipV="1">
              <a:off x="1792403" y="1331479"/>
              <a:ext cx="2834910" cy="1202170"/>
            </a:xfrm>
            <a:prstGeom prst="wedgeRectCallout">
              <a:avLst>
                <a:gd name="adj1" fmla="val -3277"/>
                <a:gd name="adj2" fmla="val 63046"/>
              </a:avLst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67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71" name="文本框 235"/>
            <p:cNvSpPr txBox="1"/>
            <p:nvPr/>
          </p:nvSpPr>
          <p:spPr>
            <a:xfrm>
              <a:off x="1798592" y="1359040"/>
              <a:ext cx="1952650" cy="3796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/>
            </a:p>
          </p:txBody>
        </p:sp>
        <p:sp>
          <p:nvSpPr>
            <p:cNvPr id="172" name="文本框 236"/>
            <p:cNvSpPr txBox="1"/>
            <p:nvPr/>
          </p:nvSpPr>
          <p:spPr>
            <a:xfrm>
              <a:off x="1798591" y="1681821"/>
              <a:ext cx="2837941" cy="7696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467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173" name="等腰三角形 172"/>
          <p:cNvSpPr/>
          <p:nvPr/>
        </p:nvSpPr>
        <p:spPr>
          <a:xfrm flipV="1">
            <a:off x="7888873" y="2981023"/>
            <a:ext cx="311131" cy="317267"/>
          </a:xfrm>
          <a:prstGeom prst="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67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grpSp>
        <p:nvGrpSpPr>
          <p:cNvPr id="174" name="组合 173"/>
          <p:cNvGrpSpPr/>
          <p:nvPr/>
        </p:nvGrpSpPr>
        <p:grpSpPr>
          <a:xfrm>
            <a:off x="7311549" y="1160193"/>
            <a:ext cx="3022267" cy="1358438"/>
            <a:chOff x="1792402" y="1179005"/>
            <a:chExt cx="3462843" cy="1538818"/>
          </a:xfrm>
        </p:grpSpPr>
        <p:sp>
          <p:nvSpPr>
            <p:cNvPr id="175" name="矩形标注 174"/>
            <p:cNvSpPr/>
            <p:nvPr/>
          </p:nvSpPr>
          <p:spPr>
            <a:xfrm>
              <a:off x="1792402" y="1179005"/>
              <a:ext cx="3462843" cy="1538818"/>
            </a:xfrm>
            <a:prstGeom prst="wedgeRectCallout">
              <a:avLst>
                <a:gd name="adj1" fmla="val -25571"/>
                <a:gd name="adj2" fmla="val 74883"/>
              </a:avLst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67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76" name="文本框 240"/>
            <p:cNvSpPr txBox="1"/>
            <p:nvPr/>
          </p:nvSpPr>
          <p:spPr>
            <a:xfrm>
              <a:off x="1798591" y="1283442"/>
              <a:ext cx="2828721" cy="4300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/>
            </a:p>
          </p:txBody>
        </p:sp>
        <p:sp>
          <p:nvSpPr>
            <p:cNvPr id="177" name="文本框 241"/>
            <p:cNvSpPr txBox="1"/>
            <p:nvPr/>
          </p:nvSpPr>
          <p:spPr>
            <a:xfrm>
              <a:off x="1798591" y="1652438"/>
              <a:ext cx="3456654" cy="8718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467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178" name="矩形 177"/>
          <p:cNvSpPr>
            <a:spLocks noChangeArrowheads="1"/>
          </p:cNvSpPr>
          <p:nvPr/>
        </p:nvSpPr>
        <p:spPr bwMode="auto">
          <a:xfrm>
            <a:off x="634918" y="237124"/>
            <a:ext cx="2708428" cy="615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1917" tIns="60959" rIns="121917" bIns="60959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endParaRPr/>
          </a:p>
        </p:txBody>
      </p:sp>
      <p:sp>
        <p:nvSpPr>
          <p:cNvPr id="179" name="等腰三角形 178"/>
          <p:cNvSpPr>
            <a:spLocks noChangeArrowheads="1"/>
          </p:cNvSpPr>
          <p:nvPr/>
        </p:nvSpPr>
        <p:spPr bwMode="auto">
          <a:xfrm rot="5400000">
            <a:off x="-53049" y="209721"/>
            <a:ext cx="774879" cy="66878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121917" tIns="60959" rIns="121917" bIns="60959" anchor="ctr"/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zh-CN" altLang="zh-CN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  <a:sym typeface="微软雅黑" pitchFamily="34" charset="-122"/>
            </a:endParaRPr>
          </a:p>
        </p:txBody>
      </p:sp>
      <p:sp>
        <p:nvSpPr>
          <p:cNvPr id="180" name="Rectangle 179"/>
          <p:cNvSpPr/>
          <p:nvPr/>
        </p:nvSpPr>
        <p:spPr>
          <a:xfrm>
            <a:off x="0" y="1024128"/>
            <a:ext cx="12188952" cy="526694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TextBox 180"/>
          <p:cNvSpPr txBox="1"/>
          <p:nvPr/>
        </p:nvSpPr>
        <p:spPr>
          <a:xfrm>
            <a:off x="685800" y="347472"/>
            <a:ext cx="10698480" cy="502920"/>
          </a:xfrm>
          <a:prstGeom prst="rect">
            <a:avLst/>
          </a:prstGeom>
          <a:noFill/>
        </p:spPr>
        <p:txBody>
          <a:bodyPr wrap="square" lIns="50800" tIns="25400" rIns="50800" bIns="25400">
            <a:normAutofit lnSpcReduction="10000"/>
          </a:bodyPr>
          <a:lstStyle/>
          <a:p>
            <a:r>
              <a:rPr sz="3000" b="1">
                <a:solidFill>
                  <a:srgbClr val="000000"/>
                </a:solidFill>
                <a:latin typeface="KaiTi"/>
              </a:rPr>
              <a:t>级联优化结果与消融分析</a:t>
            </a:r>
          </a:p>
        </p:txBody>
      </p:sp>
      <p:graphicFrame>
        <p:nvGraphicFramePr>
          <p:cNvPr id="183" name="Table 182"/>
          <p:cNvGraphicFramePr>
            <a:graphicFrameLocks noGrp="1"/>
          </p:cNvGraphicFramePr>
          <p:nvPr/>
        </p:nvGraphicFramePr>
        <p:xfrm>
          <a:off x="777240" y="1097280"/>
          <a:ext cx="544068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007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icrosoft YaHei"/>
                        </a:rPr>
                        <a:t>方案</a:t>
                      </a:r>
                    </a:p>
                  </a:txBody>
                  <a:tcPr marL="25400" marR="25400" marT="25400" marB="25400">
                    <a:solidFill>
                      <a:srgbClr val="D9EE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icrosoft YaHei"/>
                        </a:rPr>
                        <a:t>Valid AUC</a:t>
                      </a:r>
                    </a:p>
                  </a:txBody>
                  <a:tcPr marL="25400" marR="25400" marT="25400" marB="25400">
                    <a:solidFill>
                      <a:srgbClr val="D9EE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icrosoft YaHei"/>
                        </a:rPr>
                        <a:t>说明</a:t>
                      </a:r>
                    </a:p>
                  </a:txBody>
                  <a:tcPr marL="25400" marR="25400" marT="25400" marB="25400">
                    <a:solidFill>
                      <a:srgbClr val="D9EE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Microsoft YaHei"/>
                        </a:rPr>
                        <a:t>Task1 embedding + Task2 模型</a:t>
                      </a:r>
                    </a:p>
                  </a:txBody>
                  <a:tcPr marL="25400" marR="254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Microsoft YaHei"/>
                        </a:rPr>
                        <a:t>0.9683</a:t>
                      </a:r>
                    </a:p>
                  </a:txBody>
                  <a:tcPr marL="25400" marR="254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Microsoft YaHei"/>
                        </a:rPr>
                        <a:t>无桥接</a:t>
                      </a:r>
                    </a:p>
                  </a:txBody>
                  <a:tcPr marL="25400" marR="254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Microsoft YaHei"/>
                        </a:rPr>
                        <a:t>加入级联桥接，α=0.5</a:t>
                      </a:r>
                    </a:p>
                  </a:txBody>
                  <a:tcPr marL="25400" marR="254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Microsoft YaHei"/>
                        </a:rPr>
                        <a:t>0.9705</a:t>
                      </a:r>
                    </a:p>
                  </a:txBody>
                  <a:tcPr marL="25400" marR="254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Microsoft YaHei"/>
                        </a:rPr>
                        <a:t>白化 + 相似度</a:t>
                      </a:r>
                    </a:p>
                  </a:txBody>
                  <a:tcPr marL="25400" marR="254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Microsoft YaHei"/>
                        </a:rPr>
                        <a:t>提升幅度</a:t>
                      </a:r>
                    </a:p>
                  </a:txBody>
                  <a:tcPr marL="25400" marR="254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Microsoft YaHei"/>
                        </a:rPr>
                        <a:t>+0.22%</a:t>
                      </a:r>
                    </a:p>
                  </a:txBody>
                  <a:tcPr marL="25400" marR="254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Microsoft YaHei"/>
                        </a:rPr>
                        <a:t>高基线上增益</a:t>
                      </a:r>
                    </a:p>
                  </a:txBody>
                  <a:tcPr marL="25400" marR="254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84" name="Table 183"/>
          <p:cNvGraphicFramePr>
            <a:graphicFrameLocks noGrp="1"/>
          </p:cNvGraphicFramePr>
          <p:nvPr/>
        </p:nvGraphicFramePr>
        <p:xfrm>
          <a:off x="6537960" y="1097280"/>
          <a:ext cx="429768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007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icrosoft YaHei"/>
                        </a:rPr>
                        <a:t>α</a:t>
                      </a:r>
                    </a:p>
                  </a:txBody>
                  <a:tcPr marL="25400" marR="25400" marT="25400" marB="25400">
                    <a:solidFill>
                      <a:srgbClr val="D9EE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icrosoft YaHei"/>
                        </a:rPr>
                        <a:t>Valid AUC</a:t>
                      </a:r>
                    </a:p>
                  </a:txBody>
                  <a:tcPr marL="25400" marR="25400" marT="25400" marB="25400">
                    <a:solidFill>
                      <a:srgbClr val="D9EE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icrosoft YaHei"/>
                        </a:rPr>
                        <a:t>状态</a:t>
                      </a:r>
                    </a:p>
                  </a:txBody>
                  <a:tcPr marL="25400" marR="25400" marT="25400" marB="25400">
                    <a:solidFill>
                      <a:srgbClr val="D9EE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Microsoft YaHei"/>
                        </a:rPr>
                        <a:t>0.0</a:t>
                      </a:r>
                    </a:p>
                  </a:txBody>
                  <a:tcPr marL="25400" marR="254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Microsoft YaHei"/>
                        </a:rPr>
                        <a:t>0.9581</a:t>
                      </a:r>
                    </a:p>
                  </a:txBody>
                  <a:tcPr marL="25400" marR="254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Microsoft YaHei"/>
                        </a:rPr>
                        <a:t>信号不足</a:t>
                      </a:r>
                    </a:p>
                  </a:txBody>
                  <a:tcPr marL="25400" marR="254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Microsoft YaHei"/>
                        </a:rPr>
                        <a:t>0.5</a:t>
                      </a:r>
                    </a:p>
                  </a:txBody>
                  <a:tcPr marL="25400" marR="254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Microsoft YaHei"/>
                        </a:rPr>
                        <a:t>0.9705</a:t>
                      </a:r>
                    </a:p>
                  </a:txBody>
                  <a:tcPr marL="25400" marR="254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Microsoft YaHei"/>
                        </a:rPr>
                        <a:t>最优</a:t>
                      </a:r>
                    </a:p>
                  </a:txBody>
                  <a:tcPr marL="25400" marR="254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Microsoft YaHei"/>
                        </a:rPr>
                        <a:t>&gt;0.8</a:t>
                      </a:r>
                    </a:p>
                  </a:txBody>
                  <a:tcPr marL="25400" marR="254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Microsoft YaHei"/>
                        </a:rPr>
                        <a:t>下降</a:t>
                      </a:r>
                    </a:p>
                  </a:txBody>
                  <a:tcPr marL="25400" marR="254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Microsoft YaHei"/>
                        </a:rPr>
                        <a:t>噪声放大</a:t>
                      </a:r>
                    </a:p>
                  </a:txBody>
                  <a:tcPr marL="25400" marR="254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5" name="Rounded Rectangle 184"/>
          <p:cNvSpPr/>
          <p:nvPr/>
        </p:nvSpPr>
        <p:spPr>
          <a:xfrm>
            <a:off x="914400" y="3977639"/>
            <a:ext cx="2834640" cy="822960"/>
          </a:xfrm>
          <a:prstGeom prst="roundRect">
            <a:avLst/>
          </a:prstGeom>
          <a:solidFill>
            <a:srgbClr val="E8F6F0"/>
          </a:solidFill>
          <a:ln w="13970">
            <a:solidFill>
              <a:srgbClr val="005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TextBox 185"/>
          <p:cNvSpPr txBox="1"/>
          <p:nvPr/>
        </p:nvSpPr>
        <p:spPr>
          <a:xfrm>
            <a:off x="960120" y="4087368"/>
            <a:ext cx="2743200" cy="676656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normAutofit lnSpcReduction="10000"/>
          </a:bodyPr>
          <a:lstStyle/>
          <a:p>
            <a:pPr algn="ctr"/>
            <a:r>
              <a:rPr sz="2200" b="1">
                <a:solidFill>
                  <a:srgbClr val="000000"/>
                </a:solidFill>
                <a:latin typeface="Microsoft YaHei"/>
              </a:rPr>
              <a:t>Task 1</a:t>
            </a:r>
            <a:br/>
            <a:r>
              <a:rPr sz="2200" b="1">
                <a:solidFill>
                  <a:srgbClr val="000000"/>
                </a:solidFill>
                <a:latin typeface="Microsoft YaHei"/>
              </a:rPr>
              <a:t>0.9402</a:t>
            </a:r>
          </a:p>
        </p:txBody>
      </p:sp>
      <p:sp>
        <p:nvSpPr>
          <p:cNvPr id="187" name="Rounded Rectangle 186"/>
          <p:cNvSpPr/>
          <p:nvPr/>
        </p:nvSpPr>
        <p:spPr>
          <a:xfrm>
            <a:off x="4617720" y="3977639"/>
            <a:ext cx="2834640" cy="822960"/>
          </a:xfrm>
          <a:prstGeom prst="roundRect">
            <a:avLst/>
          </a:prstGeom>
          <a:solidFill>
            <a:srgbClr val="E8F6F0"/>
          </a:solidFill>
          <a:ln w="13970">
            <a:solidFill>
              <a:srgbClr val="005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TextBox 187"/>
          <p:cNvSpPr txBox="1"/>
          <p:nvPr/>
        </p:nvSpPr>
        <p:spPr>
          <a:xfrm>
            <a:off x="4663440" y="4087368"/>
            <a:ext cx="2743200" cy="676656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normAutofit lnSpcReduction="10000"/>
          </a:bodyPr>
          <a:lstStyle/>
          <a:p>
            <a:pPr algn="ctr"/>
            <a:r>
              <a:rPr sz="2200" b="1">
                <a:solidFill>
                  <a:srgbClr val="000000"/>
                </a:solidFill>
                <a:latin typeface="Microsoft YaHei"/>
              </a:rPr>
              <a:t>Task 2</a:t>
            </a:r>
            <a:br/>
            <a:r>
              <a:rPr sz="2200" b="1">
                <a:solidFill>
                  <a:srgbClr val="000000"/>
                </a:solidFill>
                <a:latin typeface="Microsoft YaHei"/>
              </a:rPr>
              <a:t>0.9517</a:t>
            </a:r>
          </a:p>
        </p:txBody>
      </p:sp>
      <p:sp>
        <p:nvSpPr>
          <p:cNvPr id="189" name="Rounded Rectangle 188"/>
          <p:cNvSpPr/>
          <p:nvPr/>
        </p:nvSpPr>
        <p:spPr>
          <a:xfrm>
            <a:off x="8321040" y="3977639"/>
            <a:ext cx="2834640" cy="822960"/>
          </a:xfrm>
          <a:prstGeom prst="roundRect">
            <a:avLst/>
          </a:prstGeom>
          <a:solidFill>
            <a:srgbClr val="D9EEE4"/>
          </a:solidFill>
          <a:ln w="13970">
            <a:solidFill>
              <a:srgbClr val="005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0" name="TextBox 189"/>
          <p:cNvSpPr txBox="1"/>
          <p:nvPr/>
        </p:nvSpPr>
        <p:spPr>
          <a:xfrm>
            <a:off x="8366760" y="4087368"/>
            <a:ext cx="2743200" cy="676656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normAutofit lnSpcReduction="10000"/>
          </a:bodyPr>
          <a:lstStyle/>
          <a:p>
            <a:pPr algn="ctr"/>
            <a:r>
              <a:rPr sz="2200" b="1">
                <a:solidFill>
                  <a:srgbClr val="000000"/>
                </a:solidFill>
                <a:latin typeface="Microsoft YaHei"/>
              </a:rPr>
              <a:t>Task 1&amp;2</a:t>
            </a:r>
            <a:br/>
            <a:r>
              <a:rPr sz="2200" b="1">
                <a:solidFill>
                  <a:srgbClr val="000000"/>
                </a:solidFill>
                <a:latin typeface="Microsoft YaHei"/>
              </a:rPr>
              <a:t>0.9790</a:t>
            </a:r>
          </a:p>
        </p:txBody>
      </p:sp>
      <p:sp>
        <p:nvSpPr>
          <p:cNvPr id="3" name="Rectangle 107">
            <a:extLst>
              <a:ext uri="{FF2B5EF4-FFF2-40B4-BE49-F238E27FC236}">
                <a16:creationId xmlns:a16="http://schemas.microsoft.com/office/drawing/2014/main" id="{7CD66681-94BF-953A-0305-0A019635BD7D}"/>
              </a:ext>
            </a:extLst>
          </p:cNvPr>
          <p:cNvSpPr/>
          <p:nvPr/>
        </p:nvSpPr>
        <p:spPr>
          <a:xfrm>
            <a:off x="668781" y="1015559"/>
            <a:ext cx="10332720" cy="27432"/>
          </a:xfrm>
          <a:prstGeom prst="rect">
            <a:avLst/>
          </a:prstGeom>
          <a:solidFill>
            <a:srgbClr val="005643"/>
          </a:solidFill>
          <a:ln>
            <a:solidFill>
              <a:srgbClr val="005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523603322"/>
      </p:ext>
    </p:extLst>
  </p:cSld>
  <p:clrMapOvr>
    <a:masterClrMapping/>
  </p:clrMapOvr>
  <p:transition spd="slow">
    <p:cover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948E805F-2F5C-698E-ECAE-6F9B9F54CF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54" b="20219"/>
          <a:stretch>
            <a:fillRect/>
          </a:stretch>
        </p:blipFill>
        <p:spPr>
          <a:xfrm>
            <a:off x="1018030" y="4398028"/>
            <a:ext cx="8604088" cy="1795429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D28AD199-DCBF-58D0-CBAD-226542BD7B9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8030" y="2531690"/>
            <a:ext cx="8604088" cy="1700648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6E1948F8-74F5-B310-D1A9-37F6E3016A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8030" y="1343831"/>
            <a:ext cx="9167084" cy="895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157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梯形 34"/>
          <p:cNvSpPr/>
          <p:nvPr/>
        </p:nvSpPr>
        <p:spPr>
          <a:xfrm rot="16200000">
            <a:off x="7446198" y="-451317"/>
            <a:ext cx="2291737" cy="7199871"/>
          </a:xfrm>
          <a:prstGeom prst="trapezoid">
            <a:avLst>
              <a:gd name="adj" fmla="val 16935"/>
            </a:avLst>
          </a:prstGeom>
          <a:solidFill>
            <a:srgbClr val="0058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5825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7" name="梯形 36"/>
          <p:cNvSpPr/>
          <p:nvPr/>
        </p:nvSpPr>
        <p:spPr>
          <a:xfrm rot="5400000">
            <a:off x="1331640" y="636804"/>
            <a:ext cx="2344067" cy="5007345"/>
          </a:xfrm>
          <a:prstGeom prst="trapezoid">
            <a:avLst>
              <a:gd name="adj" fmla="val 17865"/>
            </a:avLst>
          </a:prstGeom>
          <a:solidFill>
            <a:schemeClr val="bg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6" name="文本框 1"/>
          <p:cNvSpPr txBox="1"/>
          <p:nvPr/>
        </p:nvSpPr>
        <p:spPr>
          <a:xfrm>
            <a:off x="3729079" y="1779865"/>
            <a:ext cx="1261884" cy="523220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/>
          </a:p>
        </p:txBody>
      </p:sp>
      <p:sp>
        <p:nvSpPr>
          <p:cNvPr id="27" name="文本框 2"/>
          <p:cNvSpPr txBox="1"/>
          <p:nvPr/>
        </p:nvSpPr>
        <p:spPr>
          <a:xfrm>
            <a:off x="3729079" y="2556165"/>
            <a:ext cx="1164101" cy="1200329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7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5638798" y="2692405"/>
            <a:ext cx="3262432" cy="830997"/>
          </a:xfrm>
          <a:prstGeom prst="rect">
            <a:avLst/>
          </a:prstGeom>
        </p:spPr>
        <p:txBody>
          <a:bodyPr wrap="none" lIns="91440" tIns="45720" rIns="91440" bIns="45720">
            <a:spAutoFit/>
          </a:bodyPr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/>
          </a:p>
        </p:txBody>
      </p:sp>
      <p:grpSp>
        <p:nvGrpSpPr>
          <p:cNvPr id="2" name="组合 1"/>
          <p:cNvGrpSpPr/>
          <p:nvPr/>
        </p:nvGrpSpPr>
        <p:grpSpPr>
          <a:xfrm>
            <a:off x="9441632" y="2366027"/>
            <a:ext cx="1570637" cy="1537031"/>
            <a:chOff x="5838758" y="1774520"/>
            <a:chExt cx="1177978" cy="1152773"/>
          </a:xfrm>
        </p:grpSpPr>
        <p:grpSp>
          <p:nvGrpSpPr>
            <p:cNvPr id="31" name="组合 30"/>
            <p:cNvGrpSpPr/>
            <p:nvPr/>
          </p:nvGrpSpPr>
          <p:grpSpPr>
            <a:xfrm>
              <a:off x="5838758" y="1774520"/>
              <a:ext cx="1164021" cy="869113"/>
              <a:chOff x="9140243" y="2649839"/>
              <a:chExt cx="1552027" cy="1158817"/>
            </a:xfrm>
          </p:grpSpPr>
          <p:sp>
            <p:nvSpPr>
              <p:cNvPr id="32" name="矩形 31"/>
              <p:cNvSpPr/>
              <p:nvPr/>
            </p:nvSpPr>
            <p:spPr>
              <a:xfrm>
                <a:off x="9140243" y="2649839"/>
                <a:ext cx="1552027" cy="37965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457189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67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  <a:sym typeface="微软雅黑" pitchFamily="34" charset="-122"/>
                </a:endParaRPr>
              </a:p>
            </p:txBody>
          </p:sp>
          <p:sp>
            <p:nvSpPr>
              <p:cNvPr id="33" name="矩形 32"/>
              <p:cNvSpPr/>
              <p:nvPr/>
            </p:nvSpPr>
            <p:spPr>
              <a:xfrm>
                <a:off x="9140243" y="3037021"/>
                <a:ext cx="1552027" cy="37965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45718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/>
              </a:p>
            </p:txBody>
          </p:sp>
          <p:sp>
            <p:nvSpPr>
              <p:cNvPr id="34" name="矩形 33"/>
              <p:cNvSpPr/>
              <p:nvPr/>
            </p:nvSpPr>
            <p:spPr>
              <a:xfrm>
                <a:off x="9140243" y="3429000"/>
                <a:ext cx="1552027" cy="37965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45718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67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endParaRPr>
              </a:p>
            </p:txBody>
          </p:sp>
        </p:grpSp>
        <p:sp>
          <p:nvSpPr>
            <p:cNvPr id="38" name="矩形 37"/>
            <p:cNvSpPr/>
            <p:nvPr/>
          </p:nvSpPr>
          <p:spPr>
            <a:xfrm>
              <a:off x="5852715" y="2642551"/>
              <a:ext cx="1164021" cy="28474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67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</p:grpSp>
      <p:sp>
        <p:nvSpPr>
          <p:cNvPr id="16" name="椭圆 15">
            <a:extLst>
              <a:ext uri="{FF2B5EF4-FFF2-40B4-BE49-F238E27FC236}">
                <a16:creationId xmlns:a16="http://schemas.microsoft.com/office/drawing/2014/main" id="{DFE1FF20-9B71-4AC0-98C8-1C6EA305C486}"/>
              </a:ext>
            </a:extLst>
          </p:cNvPr>
          <p:cNvSpPr/>
          <p:nvPr/>
        </p:nvSpPr>
        <p:spPr>
          <a:xfrm>
            <a:off x="464768" y="1391626"/>
            <a:ext cx="3102819" cy="310281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CA216E6E-219F-4B53-B6A5-0A4D5742332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7965" y="1504503"/>
            <a:ext cx="2879284" cy="2877064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FAD4F715-AAF0-4467-A247-5E18726E7B92}"/>
              </a:ext>
            </a:extLst>
          </p:cNvPr>
          <p:cNvSpPr/>
          <p:nvPr/>
        </p:nvSpPr>
        <p:spPr>
          <a:xfrm>
            <a:off x="129209" y="6241148"/>
            <a:ext cx="1254180" cy="487441"/>
          </a:xfrm>
          <a:prstGeom prst="rect">
            <a:avLst/>
          </a:prstGeom>
        </p:spPr>
        <p:txBody>
          <a:bodyPr wrap="square" lIns="91440" tIns="45720" rIns="91440" bIns="45720">
            <a:spAutoFit/>
          </a:bodyPr>
          <a:lstStyle/>
          <a:p>
            <a:pPr marL="0" marR="0" lvl="0" indent="0" algn="l" defTabSz="457189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862420" y="3002197"/>
            <a:ext cx="1828800" cy="457200"/>
          </a:xfrm>
          <a:prstGeom prst="rect">
            <a:avLst/>
          </a:prstGeom>
          <a:noFill/>
        </p:spPr>
        <p:txBody>
          <a:bodyPr wrap="square" lIns="50800" tIns="25400" rIns="50800" bIns="25400">
            <a:normAutofit/>
          </a:bodyPr>
          <a:lstStyle/>
          <a:p>
            <a:r>
              <a:rPr sz="2400" b="1" dirty="0">
                <a:solidFill>
                  <a:schemeClr val="bg1"/>
                </a:solidFill>
                <a:latin typeface="Microsoft YaHei"/>
              </a:rPr>
              <a:t>Part4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68838" y="2873252"/>
            <a:ext cx="5303520" cy="594360"/>
          </a:xfrm>
          <a:prstGeom prst="rect">
            <a:avLst/>
          </a:prstGeom>
          <a:noFill/>
        </p:spPr>
        <p:txBody>
          <a:bodyPr wrap="square" lIns="50800" tIns="25400" rIns="50800" bIns="25400">
            <a:normAutofit/>
          </a:bodyPr>
          <a:lstStyle/>
          <a:p>
            <a:r>
              <a:rPr sz="3200" b="1" dirty="0" err="1">
                <a:solidFill>
                  <a:schemeClr val="bg1"/>
                </a:solidFill>
                <a:latin typeface="KaiTi"/>
              </a:rPr>
              <a:t>总结与展望</a:t>
            </a:r>
            <a:endParaRPr sz="3200" b="1" dirty="0">
              <a:solidFill>
                <a:schemeClr val="bg1"/>
              </a:solidFill>
              <a:latin typeface="KaiTi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9460241" y="2724630"/>
            <a:ext cx="5029200" cy="256032"/>
          </a:xfrm>
          <a:prstGeom prst="rect">
            <a:avLst/>
          </a:prstGeom>
          <a:noFill/>
        </p:spPr>
        <p:txBody>
          <a:bodyPr wrap="square" lIns="50800" tIns="25400" rIns="50800" bIns="25400">
            <a:normAutofit fontScale="92500" lnSpcReduction="20000"/>
          </a:bodyPr>
          <a:lstStyle/>
          <a:p>
            <a:r>
              <a:rPr sz="1600" b="0" dirty="0">
                <a:solidFill>
                  <a:schemeClr val="bg1"/>
                </a:solidFill>
                <a:latin typeface="Microsoft YaHei"/>
              </a:rPr>
              <a:t>4-1  </a:t>
            </a:r>
            <a:r>
              <a:rPr sz="1600" b="0" dirty="0" err="1">
                <a:solidFill>
                  <a:schemeClr val="bg1"/>
                </a:solidFill>
                <a:latin typeface="Microsoft YaHei"/>
              </a:rPr>
              <a:t>研究结论</a:t>
            </a:r>
            <a:endParaRPr sz="1600" b="0" dirty="0">
              <a:solidFill>
                <a:schemeClr val="bg1"/>
              </a:solidFill>
              <a:latin typeface="Microsoft YaHei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9460241" y="3072102"/>
            <a:ext cx="5029200" cy="256032"/>
          </a:xfrm>
          <a:prstGeom prst="rect">
            <a:avLst/>
          </a:prstGeom>
          <a:noFill/>
        </p:spPr>
        <p:txBody>
          <a:bodyPr wrap="square" lIns="50800" tIns="25400" rIns="50800" bIns="25400">
            <a:normAutofit fontScale="92500" lnSpcReduction="20000"/>
          </a:bodyPr>
          <a:lstStyle/>
          <a:p>
            <a:r>
              <a:rPr sz="1600" b="0" dirty="0">
                <a:solidFill>
                  <a:schemeClr val="bg1"/>
                </a:solidFill>
                <a:latin typeface="Microsoft YaHei"/>
              </a:rPr>
              <a:t>4-2  </a:t>
            </a:r>
            <a:r>
              <a:rPr sz="1600" b="0" dirty="0" err="1">
                <a:solidFill>
                  <a:schemeClr val="bg1"/>
                </a:solidFill>
                <a:latin typeface="Microsoft YaHei"/>
              </a:rPr>
              <a:t>局限分析</a:t>
            </a:r>
            <a:endParaRPr sz="1600" b="0" dirty="0">
              <a:solidFill>
                <a:schemeClr val="bg1"/>
              </a:solidFill>
              <a:latin typeface="Microsoft YaHei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9460241" y="3419574"/>
            <a:ext cx="5029200" cy="256032"/>
          </a:xfrm>
          <a:prstGeom prst="rect">
            <a:avLst/>
          </a:prstGeom>
          <a:noFill/>
        </p:spPr>
        <p:txBody>
          <a:bodyPr wrap="square" lIns="50800" tIns="25400" rIns="50800" bIns="25400">
            <a:normAutofit fontScale="92500" lnSpcReduction="20000"/>
          </a:bodyPr>
          <a:lstStyle/>
          <a:p>
            <a:r>
              <a:rPr sz="1600" b="0" dirty="0">
                <a:solidFill>
                  <a:schemeClr val="bg1"/>
                </a:solidFill>
                <a:latin typeface="Microsoft YaHei"/>
              </a:rPr>
              <a:t>4-3  </a:t>
            </a:r>
            <a:r>
              <a:rPr sz="1600" b="0" dirty="0" err="1">
                <a:solidFill>
                  <a:schemeClr val="bg1"/>
                </a:solidFill>
                <a:latin typeface="Microsoft YaHei"/>
              </a:rPr>
              <a:t>未来工作</a:t>
            </a:r>
            <a:endParaRPr sz="1600" b="0" dirty="0">
              <a:solidFill>
                <a:schemeClr val="bg1"/>
              </a:solidFill>
              <a:latin typeface="Microsoft YaHei"/>
            </a:endParaRPr>
          </a:p>
        </p:txBody>
      </p:sp>
      <p:sp>
        <p:nvSpPr>
          <p:cNvPr id="4" name="AutoShape 11">
            <a:extLst>
              <a:ext uri="{FF2B5EF4-FFF2-40B4-BE49-F238E27FC236}">
                <a16:creationId xmlns:a16="http://schemas.microsoft.com/office/drawing/2014/main" id="{44C2A604-4D46-61E6-2541-859B1EE8DAF3}"/>
              </a:ext>
            </a:extLst>
          </p:cNvPr>
          <p:cNvSpPr/>
          <p:nvPr/>
        </p:nvSpPr>
        <p:spPr>
          <a:xfrm>
            <a:off x="127000" y="6235700"/>
            <a:ext cx="2706688" cy="482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900" b="1" i="0" u="none" strike="noStrike" dirty="0" err="1">
                <a:solidFill>
                  <a:srgbClr val="000000"/>
                </a:solidFill>
                <a:latin typeface="华文隶书"/>
                <a:ea typeface="华文隶书"/>
                <a:cs typeface="华文隶书"/>
                <a:sym typeface="华文隶书"/>
              </a:rPr>
              <a:t>同舟共济</a:t>
            </a:r>
            <a:endParaRPr lang="en-US" sz="1100" b="1" dirty="0"/>
          </a:p>
        </p:txBody>
      </p:sp>
    </p:spTree>
    <p:extLst>
      <p:ext uri="{BB962C8B-B14F-4D97-AF65-F5344CB8AC3E}">
        <p14:creationId xmlns:p14="http://schemas.microsoft.com/office/powerpoint/2010/main" val="732911608"/>
      </p:ext>
    </p:extLst>
  </p:cSld>
  <p:clrMapOvr>
    <a:masterClrMapping/>
  </p:clrMapOvr>
  <p:transition spd="slow">
    <p:cover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7"/>
          <p:cNvSpPr>
            <a:spLocks noChangeArrowheads="1"/>
          </p:cNvSpPr>
          <p:nvPr/>
        </p:nvSpPr>
        <p:spPr bwMode="auto">
          <a:xfrm>
            <a:off x="1" y="5286510"/>
            <a:ext cx="9551140" cy="850649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lIns="89477" tIns="44739" rIns="89477" bIns="44739" anchor="ctr"/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67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微软雅黑" pitchFamily="34" charset="-122"/>
              <a:cs typeface="+mn-cs"/>
            </a:endParaRPr>
          </a:p>
        </p:txBody>
      </p:sp>
      <p:sp>
        <p:nvSpPr>
          <p:cNvPr id="39" name="Line 43"/>
          <p:cNvSpPr>
            <a:spLocks noChangeShapeType="1"/>
          </p:cNvSpPr>
          <p:nvPr/>
        </p:nvSpPr>
        <p:spPr bwMode="auto">
          <a:xfrm rot="5400000">
            <a:off x="4377575" y="2176393"/>
            <a:ext cx="0" cy="7358907"/>
          </a:xfrm>
          <a:prstGeom prst="line">
            <a:avLst/>
          </a:prstGeom>
          <a:noFill/>
          <a:ln w="28575">
            <a:solidFill>
              <a:schemeClr val="bg1">
                <a:lumMod val="50000"/>
              </a:schemeClr>
            </a:solidFill>
            <a:prstDash val="lgDash"/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9477" tIns="44739" rIns="89477" bIns="44739"/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67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微软雅黑" pitchFamily="34" charset="-122"/>
              <a:cs typeface="+mn-cs"/>
            </a:endParaRPr>
          </a:p>
        </p:txBody>
      </p:sp>
      <p:sp>
        <p:nvSpPr>
          <p:cNvPr id="40" name="Rectangle 6"/>
          <p:cNvSpPr>
            <a:spLocks noChangeArrowheads="1"/>
          </p:cNvSpPr>
          <p:nvPr/>
        </p:nvSpPr>
        <p:spPr bwMode="auto">
          <a:xfrm>
            <a:off x="3699505" y="3445013"/>
            <a:ext cx="5851635" cy="845185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lIns="89477" tIns="44739" rIns="89477" bIns="44739" anchor="ctr"/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67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微软雅黑" pitchFamily="34" charset="-122"/>
              <a:cs typeface="+mn-cs"/>
            </a:endParaRPr>
          </a:p>
        </p:txBody>
      </p:sp>
      <p:sp>
        <p:nvSpPr>
          <p:cNvPr id="41" name="Line 43"/>
          <p:cNvSpPr>
            <a:spLocks noChangeShapeType="1"/>
          </p:cNvSpPr>
          <p:nvPr/>
        </p:nvSpPr>
        <p:spPr bwMode="auto">
          <a:xfrm rot="16200000" flipH="1">
            <a:off x="6525576" y="2299373"/>
            <a:ext cx="0" cy="3368535"/>
          </a:xfrm>
          <a:prstGeom prst="line">
            <a:avLst/>
          </a:prstGeom>
          <a:noFill/>
          <a:ln w="28575">
            <a:solidFill>
              <a:schemeClr val="bg1">
                <a:lumMod val="50000"/>
              </a:schemeClr>
            </a:solidFill>
            <a:prstDash val="lgDash"/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9477" tIns="44739" rIns="89477" bIns="44739"/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67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微软雅黑" pitchFamily="34" charset="-122"/>
              <a:cs typeface="+mn-cs"/>
            </a:endParaRPr>
          </a:p>
        </p:txBody>
      </p:sp>
      <p:sp>
        <p:nvSpPr>
          <p:cNvPr id="42" name="Rectangle 5"/>
          <p:cNvSpPr>
            <a:spLocks noChangeArrowheads="1"/>
          </p:cNvSpPr>
          <p:nvPr/>
        </p:nvSpPr>
        <p:spPr bwMode="auto">
          <a:xfrm rot="5400000">
            <a:off x="7969266" y="4590464"/>
            <a:ext cx="2326033" cy="841251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lIns="89477" tIns="44739" rIns="89477" bIns="44739" anchor="ctr"/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67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微软雅黑" pitchFamily="34" charset="-122"/>
              <a:cs typeface="+mn-cs"/>
            </a:endParaRPr>
          </a:p>
        </p:txBody>
      </p:sp>
      <p:sp>
        <p:nvSpPr>
          <p:cNvPr id="43" name="Line 44"/>
          <p:cNvSpPr>
            <a:spLocks noChangeShapeType="1"/>
          </p:cNvSpPr>
          <p:nvPr/>
        </p:nvSpPr>
        <p:spPr bwMode="auto">
          <a:xfrm>
            <a:off x="9149955" y="4572516"/>
            <a:ext cx="0" cy="403061"/>
          </a:xfrm>
          <a:prstGeom prst="line">
            <a:avLst/>
          </a:prstGeom>
          <a:noFill/>
          <a:ln w="28575">
            <a:solidFill>
              <a:schemeClr val="bg1">
                <a:lumMod val="50000"/>
              </a:schemeClr>
            </a:solidFill>
            <a:prstDash val="lgDash"/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9477" tIns="44739" rIns="89477" bIns="44739"/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67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微软雅黑" pitchFamily="34" charset="-122"/>
              <a:cs typeface="+mn-cs"/>
            </a:endParaRPr>
          </a:p>
        </p:txBody>
      </p:sp>
      <p:sp>
        <p:nvSpPr>
          <p:cNvPr id="44" name="Rectangle 7"/>
          <p:cNvSpPr>
            <a:spLocks noChangeArrowheads="1"/>
          </p:cNvSpPr>
          <p:nvPr/>
        </p:nvSpPr>
        <p:spPr bwMode="auto">
          <a:xfrm>
            <a:off x="4180221" y="1672969"/>
            <a:ext cx="5370921" cy="850649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lIns="89477" tIns="44739" rIns="89477" bIns="44739" anchor="ctr"/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67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微软雅黑" pitchFamily="34" charset="-122"/>
              <a:cs typeface="+mn-cs"/>
            </a:endParaRPr>
          </a:p>
        </p:txBody>
      </p:sp>
      <p:sp>
        <p:nvSpPr>
          <p:cNvPr id="45" name="Line 43"/>
          <p:cNvSpPr>
            <a:spLocks noChangeShapeType="1"/>
          </p:cNvSpPr>
          <p:nvPr/>
        </p:nvSpPr>
        <p:spPr bwMode="auto">
          <a:xfrm rot="5400000">
            <a:off x="6372760" y="499173"/>
            <a:ext cx="0" cy="3368535"/>
          </a:xfrm>
          <a:prstGeom prst="line">
            <a:avLst/>
          </a:prstGeom>
          <a:noFill/>
          <a:ln w="28575">
            <a:solidFill>
              <a:schemeClr val="bg1">
                <a:lumMod val="50000"/>
              </a:schemeClr>
            </a:solidFill>
            <a:prstDash val="lgDash"/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9477" tIns="44739" rIns="89477" bIns="44739"/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67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微软雅黑" pitchFamily="34" charset="-122"/>
              <a:cs typeface="+mn-cs"/>
            </a:endParaRPr>
          </a:p>
        </p:txBody>
      </p:sp>
      <p:sp>
        <p:nvSpPr>
          <p:cNvPr id="46" name="Rectangle 8"/>
          <p:cNvSpPr>
            <a:spLocks noChangeArrowheads="1"/>
          </p:cNvSpPr>
          <p:nvPr/>
        </p:nvSpPr>
        <p:spPr bwMode="auto">
          <a:xfrm rot="5400000">
            <a:off x="2489864" y="2560955"/>
            <a:ext cx="2617229" cy="841251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lIns="89477" tIns="44739" rIns="89477" bIns="44739" anchor="ctr"/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67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微软雅黑" pitchFamily="34" charset="-122"/>
              <a:cs typeface="+mn-cs"/>
            </a:endParaRPr>
          </a:p>
        </p:txBody>
      </p:sp>
      <p:sp>
        <p:nvSpPr>
          <p:cNvPr id="47" name="Line 42"/>
          <p:cNvSpPr>
            <a:spLocks noChangeShapeType="1"/>
          </p:cNvSpPr>
          <p:nvPr/>
        </p:nvSpPr>
        <p:spPr bwMode="auto">
          <a:xfrm>
            <a:off x="3779036" y="2749827"/>
            <a:ext cx="0" cy="453520"/>
          </a:xfrm>
          <a:prstGeom prst="line">
            <a:avLst/>
          </a:prstGeom>
          <a:noFill/>
          <a:ln w="28575">
            <a:solidFill>
              <a:schemeClr val="bg1">
                <a:lumMod val="50000"/>
              </a:schemeClr>
            </a:solidFill>
            <a:prstDash val="lgDash"/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9477" tIns="44739" rIns="89477" bIns="44739"/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67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微软雅黑" pitchFamily="34" charset="-122"/>
              <a:cs typeface="+mn-cs"/>
            </a:endParaRPr>
          </a:p>
        </p:txBody>
      </p:sp>
      <p:sp>
        <p:nvSpPr>
          <p:cNvPr id="48" name="Oval 38"/>
          <p:cNvSpPr>
            <a:spLocks noChangeArrowheads="1"/>
          </p:cNvSpPr>
          <p:nvPr/>
        </p:nvSpPr>
        <p:spPr bwMode="auto">
          <a:xfrm>
            <a:off x="8452225" y="1391351"/>
            <a:ext cx="1374464" cy="1358475"/>
          </a:xfrm>
          <a:prstGeom prst="ellipse">
            <a:avLst/>
          </a:prstGeom>
          <a:solidFill>
            <a:schemeClr val="accent1"/>
          </a:solidFill>
          <a:ln w="19050">
            <a:noFill/>
            <a:round/>
            <a:headEnd/>
            <a:tailEnd/>
          </a:ln>
        </p:spPr>
        <p:txBody>
          <a:bodyPr wrap="none" lIns="89477" tIns="44739" rIns="89477" bIns="44739" anchor="ctr"/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133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 pitchFamily="34" charset="-122"/>
              <a:cs typeface="+mn-cs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4714122" y="1785275"/>
            <a:ext cx="3550385" cy="336573"/>
          </a:xfrm>
          <a:prstGeom prst="rect">
            <a:avLst/>
          </a:prstGeom>
        </p:spPr>
        <p:txBody>
          <a:bodyPr wrap="square" lIns="89477" tIns="44739" rIns="89477" bIns="44739" anchor="ctr">
            <a:spAutoFit/>
          </a:bodyPr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53" name="Oval 38"/>
          <p:cNvSpPr>
            <a:spLocks noChangeArrowheads="1"/>
          </p:cNvSpPr>
          <p:nvPr/>
        </p:nvSpPr>
        <p:spPr bwMode="auto">
          <a:xfrm>
            <a:off x="3111244" y="1391351"/>
            <a:ext cx="1374464" cy="1358475"/>
          </a:xfrm>
          <a:prstGeom prst="ellipse">
            <a:avLst/>
          </a:prstGeom>
          <a:solidFill>
            <a:schemeClr val="accent1"/>
          </a:solidFill>
          <a:ln w="19050">
            <a:noFill/>
            <a:round/>
            <a:headEnd/>
            <a:tailEnd/>
          </a:ln>
        </p:spPr>
        <p:txBody>
          <a:bodyPr wrap="none" lIns="89477" tIns="44739" rIns="89477" bIns="44739" anchor="ctr"/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133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 pitchFamily="34" charset="-122"/>
              <a:cs typeface="+mn-cs"/>
            </a:endParaRPr>
          </a:p>
        </p:txBody>
      </p:sp>
      <p:sp>
        <p:nvSpPr>
          <p:cNvPr id="54" name="Oval 38"/>
          <p:cNvSpPr>
            <a:spLocks noChangeArrowheads="1"/>
          </p:cNvSpPr>
          <p:nvPr/>
        </p:nvSpPr>
        <p:spPr bwMode="auto">
          <a:xfrm>
            <a:off x="3111244" y="3168835"/>
            <a:ext cx="1374464" cy="1358475"/>
          </a:xfrm>
          <a:prstGeom prst="ellipse">
            <a:avLst/>
          </a:prstGeom>
          <a:solidFill>
            <a:schemeClr val="accent1"/>
          </a:solidFill>
          <a:ln w="19050">
            <a:noFill/>
            <a:round/>
            <a:headEnd/>
            <a:tailEnd/>
          </a:ln>
        </p:spPr>
        <p:txBody>
          <a:bodyPr wrap="none" lIns="89477" tIns="44739" rIns="89477" bIns="44739" anchor="ctr"/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133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 pitchFamily="34" charset="-122"/>
              <a:cs typeface="+mn-cs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4714122" y="3585475"/>
            <a:ext cx="3550385" cy="336573"/>
          </a:xfrm>
          <a:prstGeom prst="rect">
            <a:avLst/>
          </a:prstGeom>
        </p:spPr>
        <p:txBody>
          <a:bodyPr wrap="square" lIns="89477" tIns="44739" rIns="89477" bIns="44739" anchor="ctr">
            <a:spAutoFit/>
          </a:bodyPr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56" name="Oval 38"/>
          <p:cNvSpPr>
            <a:spLocks noChangeArrowheads="1"/>
          </p:cNvSpPr>
          <p:nvPr/>
        </p:nvSpPr>
        <p:spPr bwMode="auto">
          <a:xfrm>
            <a:off x="8462723" y="3168835"/>
            <a:ext cx="1374464" cy="1358475"/>
          </a:xfrm>
          <a:prstGeom prst="ellipse">
            <a:avLst/>
          </a:prstGeom>
          <a:solidFill>
            <a:schemeClr val="accent1"/>
          </a:solidFill>
          <a:ln w="19050">
            <a:noFill/>
            <a:round/>
            <a:headEnd/>
            <a:tailEnd/>
          </a:ln>
        </p:spPr>
        <p:txBody>
          <a:bodyPr wrap="none" lIns="89477" tIns="44739" rIns="89477" bIns="44739" anchor="ctr"/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133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 pitchFamily="34" charset="-122"/>
              <a:cs typeface="+mn-cs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1163734" y="5457684"/>
            <a:ext cx="6893295" cy="336573"/>
          </a:xfrm>
          <a:prstGeom prst="rect">
            <a:avLst/>
          </a:prstGeom>
        </p:spPr>
        <p:txBody>
          <a:bodyPr wrap="square" lIns="89477" tIns="44739" rIns="89477" bIns="44739" anchor="ctr">
            <a:spAutoFit/>
          </a:bodyPr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634918" y="237124"/>
            <a:ext cx="1887690" cy="615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1917" tIns="60959" rIns="121917" bIns="60959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endParaRPr/>
          </a:p>
        </p:txBody>
      </p:sp>
      <p:sp>
        <p:nvSpPr>
          <p:cNvPr id="23" name="等腰三角形 22"/>
          <p:cNvSpPr>
            <a:spLocks noChangeArrowheads="1"/>
          </p:cNvSpPr>
          <p:nvPr/>
        </p:nvSpPr>
        <p:spPr bwMode="auto">
          <a:xfrm rot="5400000">
            <a:off x="-53049" y="209721"/>
            <a:ext cx="774879" cy="66878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121917" tIns="60959" rIns="121917" bIns="60959" anchor="ctr"/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zh-CN" altLang="zh-CN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  <a:sym typeface="微软雅黑" pitchFamily="34" charset="-122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3048" y="1034161"/>
            <a:ext cx="12188952" cy="526694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85800" y="347472"/>
            <a:ext cx="10698480" cy="502920"/>
          </a:xfrm>
          <a:prstGeom prst="rect">
            <a:avLst/>
          </a:prstGeom>
          <a:noFill/>
        </p:spPr>
        <p:txBody>
          <a:bodyPr wrap="square" lIns="50800" tIns="25400" rIns="50800" bIns="25400">
            <a:normAutofit lnSpcReduction="10000"/>
          </a:bodyPr>
          <a:lstStyle/>
          <a:p>
            <a:r>
              <a:rPr sz="3000" b="1">
                <a:solidFill>
                  <a:srgbClr val="000000"/>
                </a:solidFill>
                <a:latin typeface="KaiTi"/>
              </a:rPr>
              <a:t>研究结论与后续方向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98121" y="1088195"/>
            <a:ext cx="3508119" cy="3163765"/>
          </a:xfrm>
          <a:prstGeom prst="roundRect">
            <a:avLst/>
          </a:prstGeom>
          <a:solidFill>
            <a:srgbClr val="E8F6F0"/>
          </a:solidFill>
          <a:ln w="15240">
            <a:solidFill>
              <a:srgbClr val="005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847680" y="1243584"/>
            <a:ext cx="329184" cy="329184"/>
          </a:xfrm>
          <a:prstGeom prst="ellipse">
            <a:avLst/>
          </a:prstGeom>
          <a:solidFill>
            <a:srgbClr val="005643"/>
          </a:solidFill>
          <a:ln>
            <a:solidFill>
              <a:srgbClr val="005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41248" y="1316736"/>
            <a:ext cx="329184" cy="182880"/>
          </a:xfrm>
          <a:prstGeom prst="rect">
            <a:avLst/>
          </a:prstGeom>
          <a:noFill/>
        </p:spPr>
        <p:txBody>
          <a:bodyPr wrap="square" lIns="50800" tIns="25400" rIns="50800" bIns="25400">
            <a:normAutofit fontScale="92500" lnSpcReduction="10000"/>
          </a:bodyPr>
          <a:lstStyle/>
          <a:p>
            <a:pPr algn="ctr"/>
            <a:r>
              <a:rPr sz="1000" b="1" dirty="0">
                <a:solidFill>
                  <a:schemeClr val="bg1"/>
                </a:solidFill>
                <a:latin typeface="Microsoft YaHei"/>
              </a:rPr>
              <a:t>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234440" y="1252728"/>
            <a:ext cx="3154679" cy="292608"/>
          </a:xfrm>
          <a:prstGeom prst="rect">
            <a:avLst/>
          </a:prstGeom>
          <a:noFill/>
        </p:spPr>
        <p:txBody>
          <a:bodyPr wrap="square" lIns="50800" tIns="25400" rIns="50800" bIns="25400">
            <a:normAutofit fontScale="92500" lnSpcReduction="20000"/>
          </a:bodyPr>
          <a:lstStyle/>
          <a:p>
            <a:r>
              <a:rPr sz="2000" b="1">
                <a:solidFill>
                  <a:srgbClr val="000000"/>
                </a:solidFill>
                <a:latin typeface="KaiTi"/>
              </a:rPr>
              <a:t>多模态表示有效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96111" y="1709869"/>
            <a:ext cx="3253595" cy="2423219"/>
          </a:xfrm>
          <a:prstGeom prst="rect">
            <a:avLst/>
          </a:prstGeom>
          <a:noFill/>
        </p:spPr>
        <p:txBody>
          <a:bodyPr wrap="square" lIns="50800" tIns="25400" rIns="50800" bIns="25400">
            <a:normAutofit/>
          </a:bodyPr>
          <a:lstStyle/>
          <a:p>
            <a:r>
              <a:rPr sz="1800" b="0">
                <a:solidFill>
                  <a:srgbClr val="000000"/>
                </a:solidFill>
                <a:latin typeface="Microsoft YaHei"/>
              </a:rPr>
              <a:t>图像和标题能够补充 ID 特征，对长尾物品和冷启动场景提供内容先验。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337425" y="1088195"/>
            <a:ext cx="3526415" cy="3163765"/>
          </a:xfrm>
          <a:prstGeom prst="roundRect">
            <a:avLst/>
          </a:prstGeom>
          <a:solidFill>
            <a:srgbClr val="E8F6F0"/>
          </a:solidFill>
          <a:ln w="15240">
            <a:solidFill>
              <a:srgbClr val="005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4498848" y="1236345"/>
            <a:ext cx="329184" cy="329184"/>
          </a:xfrm>
          <a:prstGeom prst="ellipse">
            <a:avLst/>
          </a:prstGeom>
          <a:solidFill>
            <a:srgbClr val="005643"/>
          </a:solidFill>
          <a:ln>
            <a:solidFill>
              <a:srgbClr val="005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4498848" y="1316736"/>
            <a:ext cx="329184" cy="182880"/>
          </a:xfrm>
          <a:prstGeom prst="rect">
            <a:avLst/>
          </a:prstGeom>
          <a:noFill/>
        </p:spPr>
        <p:txBody>
          <a:bodyPr wrap="square" lIns="50800" tIns="25400" rIns="50800" bIns="25400">
            <a:normAutofit fontScale="92500" lnSpcReduction="10000"/>
          </a:bodyPr>
          <a:lstStyle/>
          <a:p>
            <a:pPr algn="ctr"/>
            <a:r>
              <a:rPr sz="1000" b="1" dirty="0">
                <a:solidFill>
                  <a:schemeClr val="bg1"/>
                </a:solidFill>
                <a:latin typeface="Microsoft YaHei"/>
              </a:rPr>
              <a:t>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892040" y="1252728"/>
            <a:ext cx="3154679" cy="292608"/>
          </a:xfrm>
          <a:prstGeom prst="rect">
            <a:avLst/>
          </a:prstGeom>
          <a:noFill/>
        </p:spPr>
        <p:txBody>
          <a:bodyPr wrap="square" lIns="50800" tIns="25400" rIns="50800" bIns="25400">
            <a:normAutofit fontScale="92500" lnSpcReduction="20000"/>
          </a:bodyPr>
          <a:lstStyle/>
          <a:p>
            <a:r>
              <a:rPr sz="2000" b="1">
                <a:solidFill>
                  <a:srgbClr val="000000"/>
                </a:solidFill>
                <a:latin typeface="KaiTi"/>
              </a:rPr>
              <a:t>序列和交叉建模有效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553712" y="1709928"/>
            <a:ext cx="3145536" cy="2423160"/>
          </a:xfrm>
          <a:prstGeom prst="rect">
            <a:avLst/>
          </a:prstGeom>
          <a:noFill/>
        </p:spPr>
        <p:txBody>
          <a:bodyPr wrap="square" lIns="50800" tIns="25400" rIns="50800" bIns="25400">
            <a:normAutofit/>
          </a:bodyPr>
          <a:lstStyle/>
          <a:p>
            <a:r>
              <a:rPr sz="1800" b="0">
                <a:solidFill>
                  <a:srgbClr val="000000"/>
                </a:solidFill>
                <a:latin typeface="Microsoft YaHei"/>
              </a:rPr>
              <a:t>行为序列 Transformer 和 CrossNetV2 提升了用户兴趣建模和特征交叉能力。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7995025" y="1088195"/>
            <a:ext cx="3526415" cy="3163765"/>
          </a:xfrm>
          <a:prstGeom prst="roundRect">
            <a:avLst/>
          </a:prstGeom>
          <a:solidFill>
            <a:srgbClr val="E8F6F0"/>
          </a:solidFill>
          <a:ln w="15240">
            <a:solidFill>
              <a:srgbClr val="005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8156448" y="1236345"/>
            <a:ext cx="329184" cy="329184"/>
          </a:xfrm>
          <a:prstGeom prst="ellipse">
            <a:avLst/>
          </a:prstGeom>
          <a:solidFill>
            <a:srgbClr val="005643"/>
          </a:solidFill>
          <a:ln>
            <a:solidFill>
              <a:srgbClr val="005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8156448" y="1316736"/>
            <a:ext cx="329184" cy="182880"/>
          </a:xfrm>
          <a:prstGeom prst="rect">
            <a:avLst/>
          </a:prstGeom>
          <a:noFill/>
        </p:spPr>
        <p:txBody>
          <a:bodyPr wrap="square" lIns="50800" tIns="25400" rIns="50800" bIns="25400">
            <a:normAutofit fontScale="92500" lnSpcReduction="10000"/>
          </a:bodyPr>
          <a:lstStyle/>
          <a:p>
            <a:pPr algn="ctr"/>
            <a:r>
              <a:rPr sz="1000" b="1" dirty="0">
                <a:solidFill>
                  <a:schemeClr val="bg1"/>
                </a:solidFill>
                <a:latin typeface="Microsoft YaHei"/>
              </a:rPr>
              <a:t>3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549640" y="1252728"/>
            <a:ext cx="3154679" cy="292608"/>
          </a:xfrm>
          <a:prstGeom prst="rect">
            <a:avLst/>
          </a:prstGeom>
          <a:noFill/>
        </p:spPr>
        <p:txBody>
          <a:bodyPr wrap="square" lIns="50800" tIns="25400" rIns="50800" bIns="25400">
            <a:normAutofit fontScale="92500" lnSpcReduction="20000"/>
          </a:bodyPr>
          <a:lstStyle/>
          <a:p>
            <a:r>
              <a:rPr sz="2000" b="1">
                <a:solidFill>
                  <a:srgbClr val="000000"/>
                </a:solidFill>
                <a:latin typeface="KaiTi"/>
              </a:rPr>
              <a:t>级联桥接有效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211312" y="1709928"/>
            <a:ext cx="3145536" cy="2423160"/>
          </a:xfrm>
          <a:prstGeom prst="rect">
            <a:avLst/>
          </a:prstGeom>
          <a:noFill/>
        </p:spPr>
        <p:txBody>
          <a:bodyPr wrap="square" lIns="50800" tIns="25400" rIns="50800" bIns="25400">
            <a:normAutofit/>
          </a:bodyPr>
          <a:lstStyle/>
          <a:p>
            <a:r>
              <a:rPr sz="1800" b="0">
                <a:solidFill>
                  <a:srgbClr val="000000"/>
                </a:solidFill>
                <a:latin typeface="Microsoft YaHei"/>
              </a:rPr>
              <a:t>白化处理、α 控制和相似度分桶增强了两阶段模型之间的协同效果。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14400" y="4617720"/>
            <a:ext cx="8438255" cy="640080"/>
          </a:xfrm>
          <a:prstGeom prst="rect">
            <a:avLst/>
          </a:prstGeom>
          <a:noFill/>
        </p:spPr>
        <p:txBody>
          <a:bodyPr wrap="square" lIns="50800" tIns="25400" rIns="50800" bIns="25400">
            <a:noAutofit/>
          </a:bodyPr>
          <a:lstStyle/>
          <a:p>
            <a:r>
              <a:rPr sz="2400" b="0" dirty="0" err="1">
                <a:solidFill>
                  <a:srgbClr val="000000"/>
                </a:solidFill>
                <a:latin typeface="Microsoft YaHei"/>
              </a:rPr>
              <a:t>后续工作：继续比较不同图文融合权重、降维方法和多模态预训练模型，并在更细粒度的长尾物品分组上分析泛化能力</a:t>
            </a:r>
            <a:r>
              <a:rPr sz="2400" b="0" dirty="0">
                <a:solidFill>
                  <a:srgbClr val="000000"/>
                </a:solidFill>
                <a:latin typeface="Microsoft YaHei"/>
              </a:rPr>
              <a:t>。</a:t>
            </a:r>
          </a:p>
        </p:txBody>
      </p:sp>
      <p:sp>
        <p:nvSpPr>
          <p:cNvPr id="3" name="Rectangle 107">
            <a:extLst>
              <a:ext uri="{FF2B5EF4-FFF2-40B4-BE49-F238E27FC236}">
                <a16:creationId xmlns:a16="http://schemas.microsoft.com/office/drawing/2014/main" id="{6B042FF6-7564-C588-4EA6-30999426A2FA}"/>
              </a:ext>
            </a:extLst>
          </p:cNvPr>
          <p:cNvSpPr/>
          <p:nvPr/>
        </p:nvSpPr>
        <p:spPr>
          <a:xfrm>
            <a:off x="668781" y="1015559"/>
            <a:ext cx="10332720" cy="27432"/>
          </a:xfrm>
          <a:prstGeom prst="rect">
            <a:avLst/>
          </a:prstGeom>
          <a:solidFill>
            <a:srgbClr val="005643"/>
          </a:solidFill>
          <a:ln>
            <a:solidFill>
              <a:srgbClr val="005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470600334"/>
      </p:ext>
    </p:extLst>
  </p:cSld>
  <p:clrMapOvr>
    <a:masterClrMapping/>
  </p:clrMapOvr>
  <p:transition spd="slow">
    <p:cover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5"/>
          <p:cNvSpPr txBox="1"/>
          <p:nvPr/>
        </p:nvSpPr>
        <p:spPr>
          <a:xfrm>
            <a:off x="6210728" y="4441611"/>
            <a:ext cx="1661177" cy="379656"/>
          </a:xfrm>
          <a:prstGeom prst="rect">
            <a:avLst/>
          </a:prstGeom>
          <a:noFill/>
        </p:spPr>
        <p:txBody>
          <a:bodyPr wrap="square" lIns="91440" tIns="45720" rIns="91440" bIns="45720" rtlCol="0">
            <a:normAutofit fontScale="85000" lnSpcReduction="10000"/>
          </a:bodyPr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600" b="1">
                <a:solidFill>
                  <a:srgbClr val="000000"/>
                </a:solidFill>
                <a:latin typeface="Microsoft YaHei"/>
              </a:rPr>
              <a:t>数学建模期末汇报</a:t>
            </a:r>
          </a:p>
        </p:txBody>
      </p:sp>
      <p:sp>
        <p:nvSpPr>
          <p:cNvPr id="21" name="矩形 20"/>
          <p:cNvSpPr/>
          <p:nvPr/>
        </p:nvSpPr>
        <p:spPr>
          <a:xfrm>
            <a:off x="3346602" y="3710880"/>
            <a:ext cx="4563879" cy="472565"/>
          </a:xfrm>
          <a:prstGeom prst="rect">
            <a:avLst/>
          </a:prstGeom>
        </p:spPr>
        <p:txBody>
          <a:bodyPr wrap="square" lIns="91440" tIns="45720" rIns="91440" bIns="45720">
            <a:normAutofit/>
          </a:bodyPr>
          <a:lstStyle/>
          <a:p>
            <a:pPr marL="0" marR="0" lvl="0" indent="0" algn="ctr" defTabSz="457189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800" b="1">
                <a:solidFill>
                  <a:srgbClr val="005643"/>
                </a:solidFill>
                <a:latin typeface="KaiTi"/>
              </a:rPr>
              <a:t>同舟共济</a:t>
            </a:r>
          </a:p>
        </p:txBody>
      </p:sp>
      <p:sp>
        <p:nvSpPr>
          <p:cNvPr id="22" name="矩形 21"/>
          <p:cNvSpPr/>
          <p:nvPr/>
        </p:nvSpPr>
        <p:spPr>
          <a:xfrm>
            <a:off x="3364708" y="4448357"/>
            <a:ext cx="2573140" cy="379656"/>
          </a:xfrm>
          <a:prstGeom prst="rect">
            <a:avLst/>
          </a:prstGeom>
        </p:spPr>
        <p:txBody>
          <a:bodyPr wrap="square" lIns="91440" tIns="45720" rIns="91440" bIns="45720">
            <a:normAutofit fontScale="77500" lnSpcReduction="20000"/>
          </a:bodyPr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600" b="1">
                <a:solidFill>
                  <a:srgbClr val="000000"/>
                </a:solidFill>
                <a:latin typeface="Microsoft YaHei"/>
              </a:rPr>
              <a:t>答辩人：费凡、张哲豪、王浩羽</a:t>
            </a:r>
            <a:endParaRPr kumimoji="1" lang="en-US" altLang="zh-CN" sz="1867" b="1" i="0" u="none" strike="noStrike" kern="1200" cap="none" spc="0" normalizeH="0" baseline="0" noProof="0" dirty="0">
              <a:ln>
                <a:noFill/>
              </a:ln>
              <a:solidFill>
                <a:srgbClr val="005825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3253255" y="2368209"/>
            <a:ext cx="7785980" cy="1118319"/>
          </a:xfrm>
          <a:prstGeom prst="rect">
            <a:avLst/>
          </a:prstGeom>
        </p:spPr>
        <p:txBody>
          <a:bodyPr wrap="square" lIns="91440" tIns="45720" rIns="91440" bIns="45720">
            <a:normAutofit/>
          </a:bodyPr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5400" b="1">
                <a:solidFill>
                  <a:srgbClr val="000000"/>
                </a:solidFill>
                <a:latin typeface="KaiTi"/>
              </a:rPr>
              <a:t>演示完毕  感谢</a:t>
            </a:r>
            <a:r>
              <a:rPr lang="zh-CN" altLang="en-US" sz="5400" b="1">
                <a:solidFill>
                  <a:srgbClr val="000000"/>
                </a:solidFill>
                <a:latin typeface="KaiTi"/>
              </a:rPr>
              <a:t>垂</a:t>
            </a:r>
            <a:r>
              <a:rPr sz="5400" b="1">
                <a:solidFill>
                  <a:srgbClr val="000000"/>
                </a:solidFill>
                <a:latin typeface="KaiTi"/>
              </a:rPr>
              <a:t>听！</a:t>
            </a:r>
          </a:p>
        </p:txBody>
      </p:sp>
      <p:cxnSp>
        <p:nvCxnSpPr>
          <p:cNvPr id="24" name="直接连接符 23"/>
          <p:cNvCxnSpPr/>
          <p:nvPr/>
        </p:nvCxnSpPr>
        <p:spPr>
          <a:xfrm flipH="1">
            <a:off x="3364708" y="3645991"/>
            <a:ext cx="67090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 28"/>
          <p:cNvSpPr/>
          <p:nvPr/>
        </p:nvSpPr>
        <p:spPr>
          <a:xfrm>
            <a:off x="3346602" y="1956876"/>
            <a:ext cx="4777895" cy="379656"/>
          </a:xfrm>
          <a:prstGeom prst="rect">
            <a:avLst/>
          </a:prstGeom>
        </p:spPr>
        <p:txBody>
          <a:bodyPr wrap="square" lIns="91440" tIns="45720" rIns="91440" bIns="45720">
            <a:normAutofit/>
          </a:bodyPr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600" b="1">
                <a:solidFill>
                  <a:srgbClr val="000000"/>
                </a:solidFill>
                <a:latin typeface="Microsoft YaHei"/>
              </a:rPr>
              <a:t>国豪书院  ·  2026.7.2</a:t>
            </a:r>
          </a:p>
        </p:txBody>
      </p:sp>
      <p:sp>
        <p:nvSpPr>
          <p:cNvPr id="14" name="Freeform 5"/>
          <p:cNvSpPr>
            <a:spLocks noEditPoints="1"/>
          </p:cNvSpPr>
          <p:nvPr/>
        </p:nvSpPr>
        <p:spPr bwMode="auto">
          <a:xfrm>
            <a:off x="1" y="1552169"/>
            <a:ext cx="2387969" cy="3826419"/>
          </a:xfrm>
          <a:custGeom>
            <a:avLst/>
            <a:gdLst>
              <a:gd name="T0" fmla="*/ 0 w 7449"/>
              <a:gd name="T1" fmla="*/ 0 h 11906"/>
              <a:gd name="T2" fmla="*/ 7449 w 7449"/>
              <a:gd name="T3" fmla="*/ 4223 h 11906"/>
              <a:gd name="T4" fmla="*/ 0 w 7449"/>
              <a:gd name="T5" fmla="*/ 4223 h 11906"/>
              <a:gd name="T6" fmla="*/ 0 w 7449"/>
              <a:gd name="T7" fmla="*/ 0 h 11906"/>
              <a:gd name="T8" fmla="*/ 7449 w 7449"/>
              <a:gd name="T9" fmla="*/ 4302 h 11906"/>
              <a:gd name="T10" fmla="*/ 0 w 7449"/>
              <a:gd name="T11" fmla="*/ 8525 h 11906"/>
              <a:gd name="T12" fmla="*/ 0 w 7449"/>
              <a:gd name="T13" fmla="*/ 4302 h 11906"/>
              <a:gd name="T14" fmla="*/ 7449 w 7449"/>
              <a:gd name="T15" fmla="*/ 4302 h 11906"/>
              <a:gd name="T16" fmla="*/ 2857 w 7449"/>
              <a:gd name="T17" fmla="*/ 10038 h 11906"/>
              <a:gd name="T18" fmla="*/ 5 w 7449"/>
              <a:gd name="T19" fmla="*/ 11903 h 11906"/>
              <a:gd name="T20" fmla="*/ 0 w 7449"/>
              <a:gd name="T21" fmla="*/ 11906 h 11906"/>
              <a:gd name="T22" fmla="*/ 0 w 7449"/>
              <a:gd name="T23" fmla="*/ 8789 h 11906"/>
              <a:gd name="T24" fmla="*/ 2857 w 7449"/>
              <a:gd name="T25" fmla="*/ 7136 h 11906"/>
              <a:gd name="T26" fmla="*/ 2857 w 7449"/>
              <a:gd name="T27" fmla="*/ 10038 h 119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7449" h="11906">
                <a:moveTo>
                  <a:pt x="0" y="0"/>
                </a:moveTo>
                <a:lnTo>
                  <a:pt x="7449" y="4223"/>
                </a:lnTo>
                <a:lnTo>
                  <a:pt x="0" y="4223"/>
                </a:lnTo>
                <a:lnTo>
                  <a:pt x="0" y="0"/>
                </a:lnTo>
                <a:close/>
                <a:moveTo>
                  <a:pt x="7449" y="4302"/>
                </a:moveTo>
                <a:lnTo>
                  <a:pt x="0" y="8525"/>
                </a:lnTo>
                <a:lnTo>
                  <a:pt x="0" y="4302"/>
                </a:lnTo>
                <a:lnTo>
                  <a:pt x="7449" y="4302"/>
                </a:lnTo>
                <a:close/>
                <a:moveTo>
                  <a:pt x="2857" y="10038"/>
                </a:moveTo>
                <a:cubicBezTo>
                  <a:pt x="2537" y="11326"/>
                  <a:pt x="721" y="11825"/>
                  <a:pt x="5" y="11903"/>
                </a:cubicBezTo>
                <a:lnTo>
                  <a:pt x="0" y="11906"/>
                </a:lnTo>
                <a:lnTo>
                  <a:pt x="0" y="8789"/>
                </a:lnTo>
                <a:lnTo>
                  <a:pt x="2857" y="7136"/>
                </a:lnTo>
                <a:lnTo>
                  <a:pt x="2857" y="10038"/>
                </a:lnTo>
                <a:close/>
              </a:path>
            </a:pathLst>
          </a:custGeom>
          <a:solidFill>
            <a:srgbClr val="005825"/>
          </a:solidFill>
          <a:ln w="5" cap="flat">
            <a:solidFill>
              <a:srgbClr val="005825"/>
            </a:solidFill>
            <a:prstDash val="solid"/>
            <a:miter lim="800000"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6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15" name="Freeform 6"/>
          <p:cNvSpPr>
            <a:spLocks noEditPoints="1"/>
          </p:cNvSpPr>
          <p:nvPr/>
        </p:nvSpPr>
        <p:spPr bwMode="auto">
          <a:xfrm>
            <a:off x="2296560" y="2937549"/>
            <a:ext cx="182819" cy="2259004"/>
          </a:xfrm>
          <a:custGeom>
            <a:avLst/>
            <a:gdLst>
              <a:gd name="T0" fmla="*/ 246 w 571"/>
              <a:gd name="T1" fmla="*/ 0 h 7028"/>
              <a:gd name="T2" fmla="*/ 246 w 571"/>
              <a:gd name="T3" fmla="*/ 2716 h 7028"/>
              <a:gd name="T4" fmla="*/ 178 w 571"/>
              <a:gd name="T5" fmla="*/ 2816 h 7028"/>
              <a:gd name="T6" fmla="*/ 286 w 571"/>
              <a:gd name="T7" fmla="*/ 2924 h 7028"/>
              <a:gd name="T8" fmla="*/ 394 w 571"/>
              <a:gd name="T9" fmla="*/ 2816 h 7028"/>
              <a:gd name="T10" fmla="*/ 325 w 571"/>
              <a:gd name="T11" fmla="*/ 2716 h 7028"/>
              <a:gd name="T12" fmla="*/ 325 w 571"/>
              <a:gd name="T13" fmla="*/ 0 h 7028"/>
              <a:gd name="T14" fmla="*/ 246 w 571"/>
              <a:gd name="T15" fmla="*/ 0 h 7028"/>
              <a:gd name="T16" fmla="*/ 0 w 571"/>
              <a:gd name="T17" fmla="*/ 3749 h 7028"/>
              <a:gd name="T18" fmla="*/ 571 w 571"/>
              <a:gd name="T19" fmla="*/ 3749 h 7028"/>
              <a:gd name="T20" fmla="*/ 571 w 571"/>
              <a:gd name="T21" fmla="*/ 3790 h 7028"/>
              <a:gd name="T22" fmla="*/ 0 w 571"/>
              <a:gd name="T23" fmla="*/ 3790 h 7028"/>
              <a:gd name="T24" fmla="*/ 0 w 571"/>
              <a:gd name="T25" fmla="*/ 3749 h 7028"/>
              <a:gd name="T26" fmla="*/ 0 w 571"/>
              <a:gd name="T27" fmla="*/ 3323 h 7028"/>
              <a:gd name="T28" fmla="*/ 0 w 571"/>
              <a:gd name="T29" fmla="*/ 3323 h 7028"/>
              <a:gd name="T30" fmla="*/ 0 w 571"/>
              <a:gd name="T31" fmla="*/ 3323 h 7028"/>
              <a:gd name="T32" fmla="*/ 286 w 571"/>
              <a:gd name="T33" fmla="*/ 3037 h 7028"/>
              <a:gd name="T34" fmla="*/ 571 w 571"/>
              <a:gd name="T35" fmla="*/ 3323 h 7028"/>
              <a:gd name="T36" fmla="*/ 571 w 571"/>
              <a:gd name="T37" fmla="*/ 3323 h 7028"/>
              <a:gd name="T38" fmla="*/ 571 w 571"/>
              <a:gd name="T39" fmla="*/ 3323 h 7028"/>
              <a:gd name="T40" fmla="*/ 571 w 571"/>
              <a:gd name="T41" fmla="*/ 3683 h 7028"/>
              <a:gd name="T42" fmla="*/ 0 w 571"/>
              <a:gd name="T43" fmla="*/ 3683 h 7028"/>
              <a:gd name="T44" fmla="*/ 0 w 571"/>
              <a:gd name="T45" fmla="*/ 3323 h 7028"/>
              <a:gd name="T46" fmla="*/ 37 w 571"/>
              <a:gd name="T47" fmla="*/ 3885 h 7028"/>
              <a:gd name="T48" fmla="*/ 0 w 571"/>
              <a:gd name="T49" fmla="*/ 3885 h 7028"/>
              <a:gd name="T50" fmla="*/ 0 w 571"/>
              <a:gd name="T51" fmla="*/ 7028 h 7028"/>
              <a:gd name="T52" fmla="*/ 37 w 571"/>
              <a:gd name="T53" fmla="*/ 7028 h 7028"/>
              <a:gd name="T54" fmla="*/ 37 w 571"/>
              <a:gd name="T55" fmla="*/ 3885 h 7028"/>
              <a:gd name="T56" fmla="*/ 126 w 571"/>
              <a:gd name="T57" fmla="*/ 3885 h 7028"/>
              <a:gd name="T58" fmla="*/ 89 w 571"/>
              <a:gd name="T59" fmla="*/ 3885 h 7028"/>
              <a:gd name="T60" fmla="*/ 89 w 571"/>
              <a:gd name="T61" fmla="*/ 7028 h 7028"/>
              <a:gd name="T62" fmla="*/ 126 w 571"/>
              <a:gd name="T63" fmla="*/ 7028 h 7028"/>
              <a:gd name="T64" fmla="*/ 126 w 571"/>
              <a:gd name="T65" fmla="*/ 3885 h 7028"/>
              <a:gd name="T66" fmla="*/ 215 w 571"/>
              <a:gd name="T67" fmla="*/ 3885 h 7028"/>
              <a:gd name="T68" fmla="*/ 178 w 571"/>
              <a:gd name="T69" fmla="*/ 3885 h 7028"/>
              <a:gd name="T70" fmla="*/ 178 w 571"/>
              <a:gd name="T71" fmla="*/ 7028 h 7028"/>
              <a:gd name="T72" fmla="*/ 215 w 571"/>
              <a:gd name="T73" fmla="*/ 7028 h 7028"/>
              <a:gd name="T74" fmla="*/ 215 w 571"/>
              <a:gd name="T75" fmla="*/ 3885 h 7028"/>
              <a:gd name="T76" fmla="*/ 304 w 571"/>
              <a:gd name="T77" fmla="*/ 3885 h 7028"/>
              <a:gd name="T78" fmla="*/ 267 w 571"/>
              <a:gd name="T79" fmla="*/ 3885 h 7028"/>
              <a:gd name="T80" fmla="*/ 267 w 571"/>
              <a:gd name="T81" fmla="*/ 7028 h 7028"/>
              <a:gd name="T82" fmla="*/ 304 w 571"/>
              <a:gd name="T83" fmla="*/ 7028 h 7028"/>
              <a:gd name="T84" fmla="*/ 304 w 571"/>
              <a:gd name="T85" fmla="*/ 3885 h 7028"/>
              <a:gd name="T86" fmla="*/ 393 w 571"/>
              <a:gd name="T87" fmla="*/ 3885 h 7028"/>
              <a:gd name="T88" fmla="*/ 356 w 571"/>
              <a:gd name="T89" fmla="*/ 3885 h 7028"/>
              <a:gd name="T90" fmla="*/ 356 w 571"/>
              <a:gd name="T91" fmla="*/ 7028 h 7028"/>
              <a:gd name="T92" fmla="*/ 393 w 571"/>
              <a:gd name="T93" fmla="*/ 7028 h 7028"/>
              <a:gd name="T94" fmla="*/ 393 w 571"/>
              <a:gd name="T95" fmla="*/ 3885 h 7028"/>
              <a:gd name="T96" fmla="*/ 482 w 571"/>
              <a:gd name="T97" fmla="*/ 3885 h 7028"/>
              <a:gd name="T98" fmla="*/ 445 w 571"/>
              <a:gd name="T99" fmla="*/ 3885 h 7028"/>
              <a:gd name="T100" fmla="*/ 445 w 571"/>
              <a:gd name="T101" fmla="*/ 7028 h 7028"/>
              <a:gd name="T102" fmla="*/ 482 w 571"/>
              <a:gd name="T103" fmla="*/ 7028 h 7028"/>
              <a:gd name="T104" fmla="*/ 482 w 571"/>
              <a:gd name="T105" fmla="*/ 3885 h 7028"/>
              <a:gd name="T106" fmla="*/ 571 w 571"/>
              <a:gd name="T107" fmla="*/ 3885 h 7028"/>
              <a:gd name="T108" fmla="*/ 534 w 571"/>
              <a:gd name="T109" fmla="*/ 3885 h 7028"/>
              <a:gd name="T110" fmla="*/ 534 w 571"/>
              <a:gd name="T111" fmla="*/ 7028 h 7028"/>
              <a:gd name="T112" fmla="*/ 571 w 571"/>
              <a:gd name="T113" fmla="*/ 7028 h 7028"/>
              <a:gd name="T114" fmla="*/ 571 w 571"/>
              <a:gd name="T115" fmla="*/ 3885 h 70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571" h="7028">
                <a:moveTo>
                  <a:pt x="246" y="0"/>
                </a:moveTo>
                <a:lnTo>
                  <a:pt x="246" y="2716"/>
                </a:lnTo>
                <a:cubicBezTo>
                  <a:pt x="206" y="2731"/>
                  <a:pt x="178" y="2770"/>
                  <a:pt x="178" y="2816"/>
                </a:cubicBezTo>
                <a:cubicBezTo>
                  <a:pt x="178" y="2876"/>
                  <a:pt x="226" y="2924"/>
                  <a:pt x="286" y="2924"/>
                </a:cubicBezTo>
                <a:cubicBezTo>
                  <a:pt x="345" y="2924"/>
                  <a:pt x="394" y="2876"/>
                  <a:pt x="394" y="2816"/>
                </a:cubicBezTo>
                <a:cubicBezTo>
                  <a:pt x="394" y="2770"/>
                  <a:pt x="365" y="2731"/>
                  <a:pt x="325" y="2716"/>
                </a:cubicBezTo>
                <a:lnTo>
                  <a:pt x="325" y="0"/>
                </a:lnTo>
                <a:lnTo>
                  <a:pt x="246" y="0"/>
                </a:lnTo>
                <a:close/>
                <a:moveTo>
                  <a:pt x="0" y="3749"/>
                </a:moveTo>
                <a:lnTo>
                  <a:pt x="571" y="3749"/>
                </a:lnTo>
                <a:lnTo>
                  <a:pt x="571" y="3790"/>
                </a:lnTo>
                <a:lnTo>
                  <a:pt x="0" y="3790"/>
                </a:lnTo>
                <a:lnTo>
                  <a:pt x="0" y="3749"/>
                </a:lnTo>
                <a:close/>
                <a:moveTo>
                  <a:pt x="0" y="3323"/>
                </a:moveTo>
                <a:lnTo>
                  <a:pt x="0" y="3323"/>
                </a:lnTo>
                <a:lnTo>
                  <a:pt x="0" y="3323"/>
                </a:lnTo>
                <a:cubicBezTo>
                  <a:pt x="0" y="3165"/>
                  <a:pt x="128" y="3037"/>
                  <a:pt x="286" y="3037"/>
                </a:cubicBezTo>
                <a:cubicBezTo>
                  <a:pt x="443" y="3037"/>
                  <a:pt x="571" y="3165"/>
                  <a:pt x="571" y="3323"/>
                </a:cubicBezTo>
                <a:lnTo>
                  <a:pt x="571" y="3323"/>
                </a:lnTo>
                <a:lnTo>
                  <a:pt x="571" y="3323"/>
                </a:lnTo>
                <a:lnTo>
                  <a:pt x="571" y="3683"/>
                </a:lnTo>
                <a:lnTo>
                  <a:pt x="0" y="3683"/>
                </a:lnTo>
                <a:lnTo>
                  <a:pt x="0" y="3323"/>
                </a:lnTo>
                <a:close/>
                <a:moveTo>
                  <a:pt x="37" y="3885"/>
                </a:moveTo>
                <a:lnTo>
                  <a:pt x="0" y="3885"/>
                </a:lnTo>
                <a:lnTo>
                  <a:pt x="0" y="7028"/>
                </a:lnTo>
                <a:lnTo>
                  <a:pt x="37" y="7028"/>
                </a:lnTo>
                <a:lnTo>
                  <a:pt x="37" y="3885"/>
                </a:lnTo>
                <a:close/>
                <a:moveTo>
                  <a:pt x="126" y="3885"/>
                </a:moveTo>
                <a:lnTo>
                  <a:pt x="89" y="3885"/>
                </a:lnTo>
                <a:lnTo>
                  <a:pt x="89" y="7028"/>
                </a:lnTo>
                <a:lnTo>
                  <a:pt x="126" y="7028"/>
                </a:lnTo>
                <a:lnTo>
                  <a:pt x="126" y="3885"/>
                </a:lnTo>
                <a:close/>
                <a:moveTo>
                  <a:pt x="215" y="3885"/>
                </a:moveTo>
                <a:lnTo>
                  <a:pt x="178" y="3885"/>
                </a:lnTo>
                <a:lnTo>
                  <a:pt x="178" y="7028"/>
                </a:lnTo>
                <a:lnTo>
                  <a:pt x="215" y="7028"/>
                </a:lnTo>
                <a:lnTo>
                  <a:pt x="215" y="3885"/>
                </a:lnTo>
                <a:close/>
                <a:moveTo>
                  <a:pt x="304" y="3885"/>
                </a:moveTo>
                <a:lnTo>
                  <a:pt x="267" y="3885"/>
                </a:lnTo>
                <a:lnTo>
                  <a:pt x="267" y="7028"/>
                </a:lnTo>
                <a:lnTo>
                  <a:pt x="304" y="7028"/>
                </a:lnTo>
                <a:lnTo>
                  <a:pt x="304" y="3885"/>
                </a:lnTo>
                <a:close/>
                <a:moveTo>
                  <a:pt x="393" y="3885"/>
                </a:moveTo>
                <a:lnTo>
                  <a:pt x="356" y="3885"/>
                </a:lnTo>
                <a:lnTo>
                  <a:pt x="356" y="7028"/>
                </a:lnTo>
                <a:lnTo>
                  <a:pt x="393" y="7028"/>
                </a:lnTo>
                <a:lnTo>
                  <a:pt x="393" y="3885"/>
                </a:lnTo>
                <a:close/>
                <a:moveTo>
                  <a:pt x="482" y="3885"/>
                </a:moveTo>
                <a:lnTo>
                  <a:pt x="445" y="3885"/>
                </a:lnTo>
                <a:lnTo>
                  <a:pt x="445" y="7028"/>
                </a:lnTo>
                <a:lnTo>
                  <a:pt x="482" y="7028"/>
                </a:lnTo>
                <a:lnTo>
                  <a:pt x="482" y="3885"/>
                </a:lnTo>
                <a:close/>
                <a:moveTo>
                  <a:pt x="571" y="3885"/>
                </a:moveTo>
                <a:lnTo>
                  <a:pt x="534" y="3885"/>
                </a:lnTo>
                <a:lnTo>
                  <a:pt x="534" y="7028"/>
                </a:lnTo>
                <a:lnTo>
                  <a:pt x="571" y="7028"/>
                </a:lnTo>
                <a:lnTo>
                  <a:pt x="571" y="3885"/>
                </a:lnTo>
                <a:close/>
              </a:path>
            </a:pathLst>
          </a:custGeom>
          <a:solidFill>
            <a:srgbClr val="005825"/>
          </a:solidFill>
          <a:ln>
            <a:noFill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6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97668765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第一PPT，www.1ppt.com">
  <a:themeElements>
    <a:clrScheme name="自定义 2">
      <a:dk1>
        <a:sysClr val="windowText" lastClr="000000"/>
      </a:dk1>
      <a:lt1>
        <a:sysClr val="window" lastClr="FFFFFF"/>
      </a:lt1>
      <a:dk2>
        <a:srgbClr val="3F3F3F"/>
      </a:dk2>
      <a:lt2>
        <a:srgbClr val="E3DED1"/>
      </a:lt2>
      <a:accent1>
        <a:srgbClr val="005825"/>
      </a:accent1>
      <a:accent2>
        <a:srgbClr val="7F7F7F"/>
      </a:accent2>
      <a:accent3>
        <a:srgbClr val="414456"/>
      </a:accent3>
      <a:accent4>
        <a:srgbClr val="444455"/>
      </a:accent4>
      <a:accent5>
        <a:srgbClr val="444455"/>
      </a:accent5>
      <a:accent6>
        <a:srgbClr val="7F7F7F"/>
      </a:accent6>
      <a:hlink>
        <a:srgbClr val="002060"/>
      </a:hlink>
      <a:folHlink>
        <a:srgbClr val="B26B02"/>
      </a:folHlink>
    </a:clrScheme>
    <a:fontScheme name="自定义 1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lnSpc>
            <a:spcPct val="130000"/>
          </a:lnSpc>
          <a:defRPr sz="1400" dirty="0" smtClean="0">
            <a:latin typeface="Arial" panose="020B0604020202020204" pitchFamily="34" charset="0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</TotalTime>
  <Words>577</Words>
  <Application>Microsoft Office PowerPoint</Application>
  <PresentationFormat>宽屏</PresentationFormat>
  <Paragraphs>236</Paragraphs>
  <Slides>18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0" baseType="lpstr">
      <vt:lpstr>等线</vt:lpstr>
      <vt:lpstr>华文隶书</vt:lpstr>
      <vt:lpstr>KaiTi</vt:lpstr>
      <vt:lpstr>微软雅黑</vt:lpstr>
      <vt:lpstr>微软雅黑</vt:lpstr>
      <vt:lpstr>幼圆</vt:lpstr>
      <vt:lpstr>Arial</vt:lpstr>
      <vt:lpstr>Arial Black</vt:lpstr>
      <vt:lpstr>Calibri</vt:lpstr>
      <vt:lpstr>Calibri Light</vt:lpstr>
      <vt:lpstr>Wingdings 2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ASUS</dc:creator>
  <cp:lastModifiedBy>哲豪 张</cp:lastModifiedBy>
  <cp:revision>21</cp:revision>
  <dcterms:created xsi:type="dcterms:W3CDTF">2020-10-03T12:01:17Z</dcterms:created>
  <dcterms:modified xsi:type="dcterms:W3CDTF">2026-07-05T02:45:08Z</dcterms:modified>
</cp:coreProperties>
</file>